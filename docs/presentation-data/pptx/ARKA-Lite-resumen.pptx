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Apertura
PRESENTA: Desarrollo 1 · orquesta
LO QUE SE LLEVA EL STAFF
En 40 minutos, prácticas que pueden aplicar en sus propios sistemas, no solo teoría.
QUÉ DECIR (▶ CLIC = hacer clic)
“Buenos días a todos. Somos el equipo arka-litos, del curso Upskilling Backend Java, y hoy les presentamos ARKA-Lite, nuestro proyecto final.”
“Somos un equipo de tres áreas, las mismas que tienen ustedes: desarrollo, base de datos e infraestructura, y cada parte la presenta quien la construyó. A mí, que vengo de desarrollo y conozco el negocio de punta a punta, me toca abrir, conectar las partes y cerrar.”
“El título lo resume: empezamos escribiendo un endpoint, una sola operación en Java, y terminamos con un sistema completo corriendo en un clúster de Kubernetes, con sus bases de datos, su pipeline y su monitoreo.”
“El equipo anterior ya les explicó los fundamentos y la arquitectura. Nosotros les vamos a contar el proyecto desde la práctica, con diagramas y una demostración en vivo, y nos vamos a enfocar en lo que les puede servir en su día a día: cómo se cuidan los datos, cómo se hablan los sistemas y cómo se despliega y se opera todo.”
QUÉ HACER (no se dice)
• Antes de empezar, abrir la UI (http://localhost:8088, o el puerto 8088 del Codespace) y comprobar que los dos servicios aparecen en verde. Guía del Codespace: docs/operaciones/codespaces.md.
• Tener abiertas en otras pestañas Grafana (http://localhost:3000) y la carpeta k8s/ del repositorio, por si preguntan.
• Cada diagrama se arma con clics: en el texto, ▶ CLIC marca el momento de hacer clic.
SI HAY TIEMPO, SE PUEDE AGREGAR
“ARKA-Lite nació como el laboratorio del curso: cada tema que veíamos lo aplicábamos al mismo sistema. Por eso creció por capas: primero un endpoint, después la base de datos, la comunicación entre servicios, los contenedores, el pipeline y la observabilidad.”
“Todo lo que van a ver está en un solo repositorio, con su documentación, y se levanta con un solo comando. Si a alguien le interesa revisarlo después, con gusto se lo compartimos.”
“Trabajamos como trabajaría un equipo real: cada cambio en una rama, revisado por otra persona y probado por el pipeline antes de entrar. Mezclar áreas nos obligó a ponernos de acuerdo en contratos claros: qué expone cada servicio, qué guarda cada base y cómo se despliega cada pieza.”
PARA PASAR
“Este es el recorrido.”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Apertura
PRESENTA: Desarrollo 1 · orquesta
LO QUE SE LLEVA EL STAFF
Saber desde el inicio dónde vamos a profundizar y qué se van a llevar.
QUÉ DECIR (▶ CLIC = hacer clic)
“Todos los equipos presentamos las mismas secciones, pero cada uno profundiza en algunas para no repetirnos. El equipo anterior se enfocó en los fundamentos y en la arquitectura hexagonal, así que esas dos partes las vamos a ver rápido, en vista general.”
“▶ CLIC Donde vamos a fondo es en tres temas que tocan directo el trabajo de ustedes: la base de datos, cómo se comunican los servicios sin perder información, y DevOps, con Docker, Kubernetes y el pipeline. ▶ CLIC Después, una mirada general a la observabilidad, ▶ CLIC y cerramos con una demostración en vivo: vamos a tumbar un servicio a propósito para que vean cómo se comporta el sistema.”
“Al final de cada parte les dejamos lo que aprendimos y cómo se puede aplicar en cualquier proyecto, también en los que usan procedimientos almacenados.”
SI HAY TIEMPO, SE PUEDE AGREGAR
“Las partes generales son cortas a propósito: el equipo anterior ya las explicó. El tiempo lo dedicamos a lo que más valor les deja: los datos, la comunicación entre sistemas y la operación.”
“Al final juntamos lo que pueden aplicar desde mañana, aunque sus sistemas usen procedimientos almacenados.”
PARA PASAR
“Empecemos por los fundamentos, y por lo primero: el qué.”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1 · Fundamentos
PRESENTA: Desarrollo 1 · orquesta
LO QUE SE LLEVA EL STAFF
Pensar primero en el qué y después en el cómo: las reglas claras hacen el código simple.
QUÉ DECIR (▶ CLIC = hacer clic)
“Antes de entrar a la tecnología, el aprendizaje más importante de los fundamentos: primero pensamos en el qué y después en el cómo. ¿Qué tiene que pasar, quién lo hace y qué no se puede permitir? Este es el negocio, en una lámina. Alguien registra una solicitud, por ejemplo una incidencia o un pedido de cambio: qué necesita y de qué tipo.”
“▶ CLIC Cuando está lista, la envía. ▶ CLIC En ese momento, el sistema le avisa a quien debe atenderla. ▶ CLIC Y esa persona la aprueba o la rechaza: es la decisión final.”
“▶ CLIC Igual de importante es lo que no se permite: enviar dos veces la misma solicitud, o aprobar una que todavía nadie ha enviado. El sistema no lo hace y explica por qué. Esas son las reglas del negocio, y con ellas claras, el código salió simple: un servicio para las solicitudes y otro para los avisos.”
SI HAY TIEMPO, SE PUEDE AGREGAR
“Antes de escribir una línea de código nos hicimos tres preguntas: qué tiene que pasar, quién hace cada paso y qué no se puede permitir. Las respuestas se volvieron las reglas del sistema.”
“Por dentro, esos pasos son cuatro estados: borrador, enviada, aprobada y rechazada. La base de datos también los cuida: la columna estado solo acepta esos cuatro valores.”
“Al arrancar, el sistema siempre registra dos solicitudes de ejemplo: INC-001, una incidencia en borrador, y CAM-002, un cambio que se envía. El pipeline usa CAM-002 para comprobar que el servicio arrancó de verdad.”
SI PREGUNTAN
¿Por qué los avisos van en otro servicio?
RESPUESTA CORTA
Porque cambian por motivos distintos, y así el trámite sigue funcionando aunque el servicio de avisos esté caído.
PARA PASAR
“Con el qué claro, el cómo: código que se pueda cambiar sin miedo.”
PARA LEER MÁS
docs/inicio/proyecto.md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1 · Fundamentos
PRESENTA: Desarrollo 1 · orquesta
LO QUE SE LLEVA EL STAFF
Cuando cambia una regla, se toca un solo lugar y una prueba confirma que nada se rompió.
QUÉ DECIR (▶ CLIC = hacer clic)
“Con el qué claro, viene el cómo. El equipo anterior ya cubrió los fundamentos, así que nos quedamos con seis prácticas que nos sirvieron y que se pueden usar en cualquier lenguaje, sea Java, C#, Python o PL/SQL. Primera: cada pieza hace una sola tarea; la que recibe la petición no decide, y la que decide no guarda.”
“▶ CLIC Segunda: las piezas se conectan desde afuera, así se pueden cambiar o probar por separado. ▶ CLIC Tercera: las reglas del negocio viven en un solo lugar, no repetidas en la pantalla y en la base. ▶ CLIC Cuarta: los errores responden siempre igual: un 400 si faltan datos, un 404 si algo no existe, un 409 si la regla no lo permite.”
“▶ CLIC Quinta: los nombres son los del negocio, así el código se lee como el proceso. ▶ CLIC Y sexta: cada regla tiene una prueba automática que avisa si un cambio rompió algo. El resultado: cuando cambia una regla, se toca un solo lugar.”
SI HAY TIEMPO, SE PUEDE AGREGAR
“Un ejemplo concreto: el controlador de solicitudes no decide nada; solo convierte el JSON y llama al servicio. Si mañana cambia la regla de envío, se toca la clase Solicitud y su prueba, nada más.”
“Lo de las piezas que se conectan desde afuera tiene un nombre: inyección de dependencias. En ARKA-Lite todo llega por el constructor, y por eso en las pruebas cambiamos la base real por una en memoria sin tocar el negocio.”
SI PREGUNTAN
¿Esto no hace el código más largo?
RESPUESTA CORTA
Un poco más de piezas, pero cada una es corta y se entiende sola. El costo se recupera en el primer cambio.
PARA PASAR
“Y como somos varios trabajando sobre el mismo código, también necesitamos orden.”
PARA LEER MÁS
docs/desarrollo/flujo-de-trabajo.md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2 · Arquitectura
PRESENTA: Desarrollo 2
LO QUE SE LLEVA EL STAFF
Cada capa se puede cambiar sin romper las otras.
QUÉ DECIR (▶ CLIC = hacer clic)
“Gracias. ARKA-Lite no es una aplicación grande: son piezas pequeñas, cada una con una responsabilidad. Arriba está la experiencia: la persona usa la interfaz, y la interfaz no guarda nada, solo les pasa las peticiones a los servicios.”
“▶ CLIC En el medio, los dos microservicios: solicitudes lleva el trámite y sus estados; notificaciones crea los avisos. ▶ CLIC Debajo, cada uno con su propia base PostgreSQL; ninguno lee la base del otro. ▶ CLIC Y abajo, la plataforma: dónde corre, cómo se prueba cada cambio y dónde se ven los logs.”
SI HAY TIEMPO, SE PUEDE AGREGAR
“La interfaz es delgada a propósito: no guarda nada ni toma decisiones. Si mañana se cambia por otra, los servicios no se enteran.”
“La plataforma es la misma para los dos servicios: el mismo Compose, el mismo pipeline y el mismo lugar para los logs. Eso baja mucho el costo de tener dos servicios en lugar de uno.”
SI PREGUNTAN
¿Por qué no comparten una sola base de datos?
RESPUESTA CORTA
Para que cada servicio sea dueño de sus datos y pueda cambiar sin romper al otro.
PARA PASAR
“Ahora veamos cómo trabajan juntas esas piezas en la práctica.”
PARA LEER MÁS
docs/inicio/proyecto.md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2 · Arquitectura
PRESENTA: Desarrollo 2
LO QUE SE LLEVA EL STAFF
Los sistemas se comunican con mensajes claros, no compartiendo tablas.
QUÉ DECIR (▶ CLIC = hacer clic)
“Ahora, cómo trabajan juntas en la práctica. Sigamos los números. ▶ CLIC Uno: la persona usa la interfaz. ▶ CLIC Dos: cuando crea, envía o decide una solicitud, la interfaz se lo pide al servicio de solicitudes. ▶ CLIC Tres: solicitudes lo guarda en su propia base.”
“▶ CLIC Cuatro, el paso más importante: cuando una solicitud se envía, solicitudes le avisa a notificaciones. Fíjense en que esa flecha no es una pieza del sistema: es un dato que viaja, un mensaje pequeño con el número del evento, la solicitud y su tipo.”
“▶ CLIC Cinco: notificaciones crea el aviso y anota que ya recibió ese evento. ▶ CLIC Seis: la interfaz le consulta a notificaciones para mostrar los avisos.”
“▶ CLIC Y lo que no hay también dice mucho: ninguna flecha une las dos bases. Si un servicio necesita algo del otro, se lo pide; nunca entra a su base.”
SI HAY TIEMPO, SE PUEDE AGREGAR
“El mensaje que viaja entre servicios lleva solo tres datos: el número del evento, el identificador de la solicitud y su tipo. Mientras más pequeño el mensaje, más fácil es que los dos lados se pongan de acuerdo.”
“Ese contrato está copiado en los dos servicios. Si un día cambia, se cambia en los dos al mismo tiempo: es lo único que comparten.”
SI PREGUNTAN
¿Qué pasa si notificaciones está caído en el paso cuatro?
RESPUESTA CORTA
Solicitudes sigue funcionando y el aviso espera guardado. Lo vemos en la parte de interconexión y en la demostración.
PARA PASAR
“¿Y cómo está ordenado cada servicio por dentro?”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3 · Base de datos
PRESENTA: Base de datos
LO QUE SE LLEVA EL STAFF
Cada base cambia a su ritmo, sin coordinar despliegues con otros equipos.
QUÉ DECIR (▶ CLIC = hacer clic)
“Gracias. Como les contó mi compañero de arquitectura, el sistema tiene dos bases de datos, una para cada microservicio: db-solicitudes y db-notificaciones. ▶ CLIC Las dos están montadas en PostgreSQL, versión diecisiete.”
“¿Por qué dos y no una? Porque cada servicio es dueño de sus datos. Solicitudes guarda las solicitudes y los avisos que tiene pendientes; notificaciones guarda qué avisos ya recibió. Si mañana una cambia su estructura, la otra ni se entera.”
“▶ CLIC Eso tiene una consecuencia que para quienes trabajamos con bases de datos pesa mucho: no hay ningún JOIN entre las dos bases, ni llaves foráneas que crucen. Si un servicio necesita algo del otro, se lo pregunta por HTTP.”
“▶ CLIC Y cada base corre en su propio contenedor. En Kubernetes, además, tiene su disco persistente: los datos sobreviven aunque el contenedor se reinicie.”
SI HAY TIEMPO, SE PUEDE AGREGAR
“En nuestra computadora, la base de notificaciones se publica en el puerto 5433 para consultarla con cualquier herramienta; la de solicitudes solo se ve dentro de la red de Docker. Lo que no se publica, no se alcanza desde afuera.”
“En Kubernetes, cada base tiene su disco persistente: si el contenedor se reinicia, los datos siguen ahí. Solo se perderían si se borra el disco.”
SI PREGUNTAN
¿Y si necesito un reporte que junte datos de las dos?
RESPUESTA CORTA
Se arma fuera de los servicios, por ejemplo con una réplica o un proceso de reportes que lea de ambas. Lo que no se hace es que un servicio lea la base del otro.
SI PREGUNTAN
¿No es más difícil administrar dos bases?
RESPUESTA CORTA
Son dos bases pequeñas con una sola responsabilidad cada una. Se respaldan y se monitorean como cualquier PostgreSQL, y la caída de una no tumba a la otra.
PARA PASAR
“Veamos qué hay dentro de cada una.”
PARA LEER MÁS
docs/inicio/bases-de-datos-locales.md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3 · Base de datos
PRESENTA: Base de datos
LO QUE SE LLEVA EL STAFF
Reglas que se prueban en segundos y una base que sigue cuidando los datos.
QUÉ DECIR (▶ CLIC = hacer clic)
“Esta es la gran diferencia con muchas de las aplicaciones que gestionamos hoy, y no es la base de datos: es dónde vive la regla del negocio. Arriba, el enfoque que conocemos: la persona pulsa enviar, la aplicación solo pasa parámetros con un EXEC, y el procedimiento almacenado decide y guarda. La regla vive en la base.”
“▶ CLIC Abajo, ARKA-Lite: la regla vive en el servicio Java, junto con su prueba. Cuando decide que sí, Hibernate, que es el ORM, escribe el UPDATE y el INSERT. La base sigue guardando y cuidando llaves, restricciones e índices. Lo único que se movió es la decisión.”
SI HAY TIEMPO, SE PUEDE AGREGAR
“No estamos diciendo que los procedimientos estén mal: son la herramienta correcta para procesos masivos y reportes. Lo que cambia es dónde ponemos las reglas que más cambian y que más necesitamos probar.”
“Una ventaja que no se ve a primera vista: con la regla en el código, cada cambio pasa por revisión, pruebas automáticas y pipeline, igual que cualquier otra línea del sistema.”
SI PREGUNTAN
¿Y el rendimiento? ¿El SQL que genera Hibernate es bueno?
RESPUESTA CORTA
Para guardar y buscar por llave, sí. Para consultas complejas se puede escribir SQL propio; además, los índices y las restricciones siguen siendo trabajo de la base.
SI PREGUNTAN
¿Hay que migrar todos los procedimientos?
RESPUESTA CORTA
No. Se puede empezar por las reglas que más cambian; los reportes y los procesos masivos pueden seguir en la base.
PARA PASAR
“Mi compañero de desarrollo se los muestra con una regla real, escrita de las dos formas.”
PARA LEER MÁS
docs/arquitectura/datos-y-consistencia.md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3 · Base de datos
PRESENTA: Desarrollo 3
LO QUE SE LLEVA EL STAFF
Las claves fuera del código: rotarlas o cambiar de servidor no requiere recompilar.
QUÉ DECIR (▶ CLIC = hacer clic)
“Esta es la pregunta que siempre nos hacen: ¿dónde está la cadena de conexión? Empecemos por el centro: el servicio, al arrancar, lee su archivo de configuración, y ese archivo no tiene la dirección ni la clave. Solo tiene marcadores: DB_URL, DB_USER y DB_PASSWORD.”
“¿Quién llena esos marcadores? El ambiente donde corre. ▶ CLIC En Docker Compose, las variables se definen para cada servicio en el archivo compose.yaml. ▶ CLIC En Kubernetes, la dirección y el usuario van en el Deployment, ▶ CLIC y la clave se guarda aparte, en un Secret: un objeto del clúster hecho para datos sensibles, que el contenedor recibe como variable al arrancar.”
“▶ CLIC Con esos valores, el servicio abre su pool de conexiones contra la base.”
“▶ CLIC ¿Y la imagen Docker? No lleva ni dirección ni clave. Es la misma imagen en desarrollo, en pruebas y en producción. Cambiar de servidor de base de datos o rotar una clave no obliga a recompilar ni a tocar el código.”
SI HAY TIEMPO, SE PUEDE AGREGAR
“Un detalle honesto: el archivo de configuración trae un valor por defecto para trabajar en la computadora de cada uno. En un ambiente real nunca se usa, porque ahí siempre llegan las variables.”
“En el pipeline, la clave de la base de pruebas cambia en cada ejecución: se arma con el número de la corrida. Ni siquiera la base temporal tiene una clave fija.”
SI PREGUNTAN
¿El Secret no está en el repositorio?
RESPUESTA CORTA
En este laboratorio sí, con una clave de ejemplo, para que cualquiera lo levante. En un ambiente real el Secret se crea aparte, o lo alimenta un gestor de secretos, y nunca se versiona.
SI PREGUNTAN
¿Y si no usamos Kubernetes?
RESPUESTA CORTA
La misma idea funciona con variables de entorno del servidor o con un gestor de secretos. Lo importante es que la clave no viva en el código ni en el paquete que se despliega.
SI PREGUNTAN
¿Quién puede ver la clave en Kubernetes?
RESPUESTA CORTA
Quien tenga permiso de leer Secrets en ese espacio del clúster; ese acceso se controla con roles.
PARA PASAR
“Con la conexión resuelta, mi compañero de base de datos les cuenta qué pasa cuando se guarda: la transacción.”
PARA LEER MÁS
docs/inicio/bases-de-datos-locales.md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4 · Interconexión de servicios
PRESENTA: Desarrollo 4
LO QUE SE LLEVA EL STAFF
La caída de un sistema secundario no detiene a quien está atendiendo al usuario.
QUÉ DECIR (▶ CLIC = hacer clic)
“Hay dos formas de comunicarse. La síncrona es como una llamada telefónica: la interfaz llama y espera a que el proceso se complete. La respuesta es inmediata, y por eso la usamos para crear, aprobar o rechazar: la persona necesita saber el resultado en ese momento. El costo es que, si el servicio se cae, la persona ve el error.”
“▶ CLIC La asíncrona es como un correo: el servicio de solicitudes envía el evento a notificaciones y continúa con su proceso, sin esperar. La respuesta puede demorar unos segundos, pero si notificaciones se cae, el evento no se pierde: espera hasta que el servicio vuelva.”
“La regla que aprendimos: lo que la persona necesita ver, síncrono; lo que puede esperar, asíncrono. Y esto pasa también en sus sistemas de hoy: un procedimiento que llama a otro sistema y espera su respuesta falla si el otro está caído.”
SI HAY TIEMPO, SE PUEDE AGREGAR
“Un ejemplo de la vida diaria: cuando pagamos con tarjeta, la aprobación es síncrona, porque necesitamos saber si pasó; el correo con el comprobante es asíncrono, porque puede llegar un minuto después.”
“La pregunta que nos hacemos en cada caso es: si el otro sistema está caído, ¿la persona tiene que enterarse? Si la respuesta es no, va asíncrono.”
SI PREGUNTAN
¿Por qué no hacerlo todo asíncrono?
RESPUESTA CORTA
Porque quien crea o aprueba una solicitud necesita saber en ese momento si se pudo. Lo asíncrono es para lo que puede esperar.
PARA PASAR
“¿Y cómo logramos que el evento espere sin perderse? Con el patrón Outbox.”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4 · Interconexión de servicios
PRESENTA: Desarrollo 4
LO QUE SE LLEVA EL STAFF
Ningún aviso se pierde, aunque el otro sistema esté caído. Y se puede aplicar también con procedimientos y un job.
QUÉ DECIR (▶ CLIC = hacer clic)
“Pensemos en el problema. Si al enviar una solicitud llamáramos directamente a notificaciones y justo estuviera caído, la solicitud quedaría enviada y nadie se enteraría. Por eso usamos el patrón Outbox, o bandeja de salida, que se apoya en la transacción que vimos en la parte de datos.”
“Al enviar, en una sola transacción se guardan la solicitud como enviada y su aviso pendiente. O se guardan las dos cosas, o ninguna, y la persona recibe su respuesta enseguida. ▶ CLIC El aviso queda esperando en la tabla evento, como una carta en la bandeja de salida.”
“▶ CLIC Después, un proceso que llamamos el relevador revisa la bandeja cada cinco segundos y entrega los pendientes, con hasta tres intentos. ▶ CLIC Si notificaciones lo recibe, la fila se marca como procesada. ▶ CLIC Si falla, la fila sigue pendiente, con el mismo número de evento, y se reintenta en el siguiente ciclo.”
“Esto se puede aplicar hoy mismo en un sistema con procedimientos almacenados: en lugar de llamar a otro sistema dentro del procedimiento, se anota el aviso en una tabla de pendientes y un job lo entrega.”
SI HAY TIEMPO, SE PUEDE AGREGAR
“El relevador hace hasta tres intentos por ciclo, esperando un poco más entre cada uno. Si los tres fallan, no pasa nada grave: la fila sigue pendiente y el siguiente ciclo, cinco segundos después, vuelve a intentar.”
“El número del evento se genera una sola vez, al guardar. Por eso cada reintento manda exactamente el mismo número, y del otro lado se puede reconocer como repetido.”
“En un sistema con procedimientos se traduce así: una tabla de pendientes con una columna procesado, un INSERT dentro de la misma transacción del procedimiento y un job que recorre los pendientes.”
SI PREGUNTAN
¿Que el envío responda bien significa que el aviso ya existe?
RESPUESTA CORTA
No. Significa que la solicitud y el evento quedaron guardados; el aviso llega después.
SI PREGUNTAN
¿Qué pasa si se cae solicitudes con avisos pendientes?
RESPUESTA CORTA
Nada se pierde: están en la base. Cuando el servicio vuelve, el relevador los encuentra y los entrega.
PARA PASAR
“Pero si se reintenta, ¿no puede llegar el aviso dos veces?”
PARA LEER MÁS
docs/arquitectura/flujo-y-referencias.md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5 · DevOps: Docker y Kubernetes
PRESENTA: Infraestructura 1
LO QUE SE LLEVA EL STAFF
El mismo paquete del laptop al servidor, y un sistema que se cuida solo.
QUÉ DECIR (▶ CLIC = hacer clic)
“Docker y Kubernetes muchas veces se presentan como si uno reemplazara al otro, y no es así: no compiten, se complementan. Docker resuelve el clásico “en mi máquina funciona”: empaqueta la aplicación con Java y todo lo que necesita en una imagen, un paquete que no cambia y que corre igual en una laptop o en un servidor.”
“▶ CLIC Kubernetes empieza donde termina Docker. No empaqueta nada: toma esas imágenes y las administra. Decide dónde corre cada contenedor, lo vigila y, si uno se cae, levanta otro.”
“Piénsenlo como el transporte de carga: Docker es el contenedor estándar y Kubernetes es el puerto que los acomoda y reemplaza el que se daña. En nuestra computadora, Docker Compose levanta los ocho contenedores del sistema con un solo comando; en el clúster, esas mismas imágenes las administra Kubernetes, sin recompilar nada.”
SI HAY TIEMPO, SE PUEDE AGREGAR
“La imagen de cada servicio se construye en dos etapas: una con Maven para compilar y otra solo con Java para correr. Así la imagen final es más liviana y no lleva herramientas de compilación.”
“Además, el contenedor corre con un usuario sin privilegios: si alguien comprometiera la aplicación, no sería administrador del contenedor.”
SI PREGUNTAN
¿Docker es una máquina virtual?
RESPUESTA CORTA
No. Es más liviano: comparte el sistema operativo y solo aísla la aplicación y lo que necesita.
SI PREGUNTAN
¿Necesitamos Kubernetes para todo?
RESPUESTA CORTA
No. Para un sistema pequeño basta Docker Compose en un servidor. Kubernetes vale la pena cuando hay varios servicios, varias copias o hay que recuperarse solo.
PARA PASAR
“Veamos cómo nace un contenedor.”
PARA LEER MÁS
docs/operaciones/docker-y-compose.md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5 · DevOps: Docker y Kubernetes
PRESENTA: Infraestructura 2
LO QUE SE LLEVA EL STAFF
Un sistema que se recupera solo, sin que nadie se despierte a las tres de la mañana.
QUÉ DECIR (▶ CLIC = hacer clic)
“Ya vimos que Kubernetes compara todo el tiempo lo que hay con lo que pedimos. Veamos qué pasa cuando se cae el Pod de solicitudes, por un error, porque se reinició el servidor o porque alguien lo borró.”
“▶ CLIC En el mismo instante, el Deployment detecta que falta una copia. ▶ CLIC En un segundo, crea un Pod nuevo con la misma imagen. ▶ CLIC El Pod nuevo espera a que su base y notificaciones respondan, ▶ CLIC y solo cuando su prueba de salud contesta, vuelve a recibir tráfico.”
“▶ CLIC Nadie intervino. Y como los avisos pendientes están en la base, no en memoria, nada se pierde mientras tanto. Aquí se juntan las tres partes que vimos a fondo: la base guarda, el Outbox espera y Kubernetes repara.”
QUÉ HACER (no se dice)
• Mostrar: kubectl delete pod -l app=servicio-solicitudes y luego kubectl get pods -w. Debe verse: Aparece un Pod nuevo que vuelve a estar Ready.
SI HAY TIEMPO, SE PUEDE AGREGAR
“Se demuestra en un minuto: se borra el Pod con kubectl delete y, mirando la lista de Pods, aparece uno nuevo que en unos segundos vuelve a estar listo.”
“Si lo que se cae es la base, pasa lo mismo: su Pod se recrea y los datos siguen en el disco persistente.”
SI PREGUNTAN
¿Y si se cae la base?
RESPUESTA CORTA
Su Pod también se recrea y los datos siguen en el disco persistente; los servicios esperan a que vuelva.
PARA PASAR
“Esto es lo que aprendimos de DevOps.”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6 · Observabilidad
PRESENTA: Infraestructura 1
LO QUE SE LLEVA EL STAFF
Diagnosticar un error entre sistemas en minutos, con una sola búsqueda.
QUÉ DECIR (▶ CLIC = hacer clic)
“Gracias. La observabilidad la vemos de forma general. Con varios servicios, cada uno tiene sus logs, y si algo falla no queremos entrar contenedor por contenedor. Cada servicio escribe sus logs en JSON, con un formato estándar. ▶ CLIC Promtail los recoge de todos los contenedores, ▶ CLIC Loki los guarda etiquetados por servicio ▶ CLIC y Grafana nos deja buscarlos en un solo lugar.”
“Como cada llamada lleva su traceId, con una sola búsqueda vemos el viaje completo de un evento: cuándo lo publicó el relevador y cuándo lo consumió notificaciones. Y cada servicio expone su salud, que la interfaz muestra en verde o en rojo; lo van a ver en la demostración.”
QUÉ HACER (no se dice)
• Mostrar: Grafana › Explore › Loki: {service="servicio-notificaciones"} |= "evento". Debe verse: Las líneas “Consume evento” y “aviso creado” con el número del evento.
SI HAY TIEMPO, SE PUEDE AGREGAR
“Para buscar en Grafana basta una consulta como: los logs del servicio de notificaciones que contengan la palabra evento. En segundos aparecen las líneas con el número del evento.”
“Los logs salen en un formato estándar, ECS, sin tocar el código del negocio: es una línea de configuración de Spring Boot.”
PARA PASAR
“Esto es lo que aprendimos de observar el sistema.”
PARA LEER MÁS
docs/operaciones/observabilidad.md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7 · Demostración con la UI
PRESENTA: Desarrollo 2
LO QUE SE LLEVA EL STAFF
Ver con sus propios ojos que una caída no hace perder ni duplicar información.
QUÉ DECIR (▶ CLIC = hacer clic)
“Detenemos notificaciones a propósito; en Salud aparece en rojo. ▶ CLIC Ahora enviamos una solicitud. La respuesta es buena: la solicitud queda enviada y su evento queda guardado. La persona no ve ningún error, porque enviar no depende del otro servicio. Eso es lo asíncrono.”
“▶ CLIC Mientras tanto, el relevador intenta entregar el evento cada cinco segundos y falla, pero no lo pierde. ▶ CLIC La pantalla de Enviadas lo muestra: notificaciones no responde, y hay un evento en camino.”
“▶ CLIC Levantamos notificaciones, y en el siguiente ciclo el evento se entrega con el mismo número: aparece exactamente un aviso. Eso es el Outbox. ▶ CLIC Y para cerrar, reentregamos ese mismo evento a propósito: notificaciones lo reconoce y no crea otro aviso. Cero perdidos y cero duplicados, en vivo.”
QUÉ HACER (no se dice)
• Antes: docker compose stop servicio-notificaciones. Mostrar Salud en rojo (DOWN).
• Crear y enviar DEMO-01; mostrar en Enviadas el aviso amarillo “Notificaciones no responde” y “1 en camino”. No hace falta recargar: la pantalla se actualiza sola.
• docker compose start servicio-notificaciones y esperar unos segundos: el evento pasa a entregado y aparece 1 aviso.
• En Enviadas, pulsar Reentregar sobre ese evento: aparece “El aviso no se duplicó” y Avisos duplicados sigue en 0.
• Los clics de la lámina acompañan lo que pasa en la UI; si la demostración en vivo falla, contarla con la lámina.
• Mostrar: Detener notificaciones, enviar DEMO-01, mirar Enviadas, volver a iniciar notificaciones y reentregar el evento. Debe verse: Evento en camino mientras está caído; al volver, entregado y 1 aviso; al reentregar, 0 duplicados.
SI HAY TIEMPO, SE PUEDE AGREGAR
“Si la red de la sala falla, la demostración se puede contar con esta misma lámina: cada clic muestra lo que se vería en la pantalla.”
“Si una operación que cambia datos tarda demasiado, la interfaz no la repite sola, porque el cambio pudo haberse guardado aunque la respuesta no llegara.”
SI PREGUNTAN
¿Cuánto tiempo puede esperar un evento pendiente?
RESPUESTA CORTA
Indefinidamente: está en la base. Se entrega en el primer ciclo después de que notificaciones vuelve.
PARA PASAR
“Esto es lo que aprendimos de la demostración.”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Valor y cierre
PRESENTA: Desarrollo 1 · orquesta
LO QUE SE LLEVA EL STAFF
Cinco pilares que cualquier equipo puede adoptar.
QUÉ DECIR (▶ CLIC = hacer clic)
“Gracias. Si tuviéramos que resumir el valor en una lámina, sería esta. Datos consistentes: ante una caída, no se pierde ni se duplica un aviso. ▶ CLIC Conexión segura: la cadena de conexión y las claves viven fuera del código.”
“▶ CLIC Reproducibilidad: un comando y la misma imagen en cualquier ambiente. ▶ CLIC Calidad: pruebas automáticas en cada cambio, antes de integrarlo. ▶ CLIC Y trazabilidad: logs en un solo lugar e imágenes rastreables hasta su commit.”
SI HAY TIEMPO, SE PUEDE AGREGAR
“Si alguien pregunta por números: cero avisos perdidos o duplicados en las pruebas de caída, un comando para levantar los ocho contenedores y una imagen rastreable por cada commit.”
PARA PASAR
“Y lo más importante: qué pueden aplicar ustedes desde mañana.”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Valor y cierre
PRESENTA: Desarrollo 1 · orquesta
LO QUE SE LLEVA EL STAFF
Cinco prácticas concretas que se pueden empezar a aplicar sin cambiar de tecnología.
QUÉ DECIR (▶ CLIC = hacer clic)
“Esta es la lámina que más nos importa que se lleven. Nada de esto exige reescribir sus sistemas; todo funciona también con procedimientos almacenados. Primero: saquen la cadena de conexión del código; usen variables de entorno o un gestor de secretos.”
“▶ CLIC Segundo: si un procedimiento tiene que avisarle a otro sistema, no lo llamen ahí mismo. Anoten el aviso en una tabla de pendientes, en la misma transacción, y que un job lo entregue. Ese es el Outbox. ▶ CLIC Tercero: todo lo que se reintenta, un pago, un correo, un registro, debe ser idempotente: una tabla de procesados con llave única.”
“▶ CLIC Cuarto: un mismo identificador en todos los logs, para seguir una operación de un sistema a otro. ▶ CLIC Y quinto: el mismo paquete en todos los ambientes, para que lo que se prueba sea lo que se despliega.”
SI HAY TIEMPO, SE PUEDE AGREGAR
“El orden que recomendamos: primero la cadena de conexión, porque es un cambio pequeño que baja un riesgo real; después la tabla de pendientes en el proceso que más falla hoy; y luego la idempotencia en lo que se reintenta.”
“Ninguna de estas prácticas exige Java, microservicios ni Kubernetes. Son decisiones de diseño que se pueden tomar en el sistema que ya tienen.”
SI PREGUNTAN
¿Por dónde empezamos?
RESPUESTA CORTA
Por la cadena de conexión: es el cambio más pequeño y baja un riesgo real de seguridad. Después, la tabla de pendientes en el proceso que más falle hoy.
PARA PASAR
“Si nos llevamos solo tres ideas, que sean estas.”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Valor y cierre
PRESENTA: Desarrollo 1 · orquesta
LO QUE SE LLEVA EL STAFF
Tres ideas para recordar al salir de la sala.
QUÉ DECIR (▶ CLIC = hacer clic)
“Tres ideas para cerrar. ▶ CLIC Diseñar para la falla: en un sistema distribuido algo siempre va a fallar, y la diferencia está en cómo reacciona. ▶ CLIC Automatizar la confianza: pruebas, pipeline e infraestructura declarada para cambiar rápido sin miedo. ▶ CLIC Y hacer visible el sistema: lo que no se ve no se puede diagnosticar ni explicar.”
SI HAY TIEMPO, SE PUEDE AGREGAR
“Si se llevan una sola frase: diseñen pensando en qué pasa cuando algo falla, no solo cuando todo sale bien. Y antes de pensar en el cómo, tengan claro el qué.”
PARA PASAR
“Gracias por su atención.”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Valor y cierre
PRESENTA: Desarrollo 1 · orquesta
QUÉ DECIR (▶ CLIC = hacer clic)
“Empezamos con un endpoint y terminamos con dos microservicios con sus bases de datos, empaquetados, desplegados, observados y documentados, que saben comportarse cuando algo falla.”
“Muchas gracias por acompañarnos, de parte de todo el equipo arka-litos. Con gusto respondemos sus preguntas.”
QUÉ HACER (no se dice)
• Quien orquesta recibe las preguntas y se las pasa a quien presentó esa parte.
PARA LEER MÁS
docs/inicio/proyecto.md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BA6CB"/>
          </a:solidFill>
          <a:ln w="12700">
            <a:solidFill>
              <a:srgbClr val="2BA6CB"/>
            </a:solidFill>
            <a:prstDash val="solid"/>
          </a:ln>
        </p:spPr>
      </p:sp>
      <p:sp>
        <p:nvSpPr>
          <p:cNvPr id="3" name="Shape 1"/>
          <p:cNvSpPr/>
          <p:nvPr/>
        </p:nvSpPr>
        <p:spPr>
          <a:xfrm>
            <a:off x="6080760" y="749808"/>
            <a:ext cx="5303520" cy="5303520"/>
          </a:xfrm>
          <a:prstGeom prst="ellipse">
            <a:avLst/>
          </a:prstGeom>
          <a:solidFill>
            <a:srgbClr val="0B1F3A">
              <a:alpha val="0"/>
            </a:srgbClr>
          </a:solidFill>
          <a:ln w="9525">
            <a:solidFill>
              <a:srgbClr val="2BA6CB">
                <a:alpha val="18000"/>
              </a:srgbClr>
            </a:solidFill>
            <a:prstDash val="solid"/>
          </a:ln>
        </p:spPr>
      </p:sp>
      <p:sp>
        <p:nvSpPr>
          <p:cNvPr id="4" name="Shape 2"/>
          <p:cNvSpPr/>
          <p:nvPr/>
        </p:nvSpPr>
        <p:spPr>
          <a:xfrm>
            <a:off x="6766560" y="1435608"/>
            <a:ext cx="3931920" cy="3931920"/>
          </a:xfrm>
          <a:prstGeom prst="ellipse">
            <a:avLst/>
          </a:prstGeom>
          <a:solidFill>
            <a:srgbClr val="0B1F3A">
              <a:alpha val="0"/>
            </a:srgbClr>
          </a:solidFill>
          <a:ln w="15875">
            <a:solidFill>
              <a:srgbClr val="2BA6CB">
                <a:alpha val="50000"/>
              </a:srgbClr>
            </a:solidFill>
            <a:prstDash val="dash"/>
          </a:ln>
        </p:spPr>
      </p:sp>
      <p:sp>
        <p:nvSpPr>
          <p:cNvPr id="5" name="Shape 3"/>
          <p:cNvSpPr/>
          <p:nvPr/>
        </p:nvSpPr>
        <p:spPr>
          <a:xfrm>
            <a:off x="7543800" y="2212848"/>
            <a:ext cx="2377440" cy="2377440"/>
          </a:xfrm>
          <a:prstGeom prst="ellipse">
            <a:avLst/>
          </a:prstGeom>
          <a:solidFill>
            <a:srgbClr val="0B1F3A">
              <a:alpha val="0"/>
            </a:srgbClr>
          </a:solidFill>
          <a:ln w="9525">
            <a:solidFill>
              <a:srgbClr val="2BA6CB">
                <a:alpha val="25000"/>
              </a:srgbClr>
            </a:solidFill>
            <a:prstDash val="solid"/>
          </a:ln>
        </p:spPr>
      </p:sp>
      <p:sp>
        <p:nvSpPr>
          <p:cNvPr id="6" name="Shape 4"/>
          <p:cNvSpPr/>
          <p:nvPr/>
        </p:nvSpPr>
        <p:spPr>
          <a:xfrm flipV="1">
            <a:off x="9121328" y="1926884"/>
            <a:ext cx="321362" cy="667315"/>
          </a:xfrm>
          <a:prstGeom prst="line">
            <a:avLst/>
          </a:prstGeom>
          <a:noFill/>
          <a:ln w="12700">
            <a:solidFill>
              <a:srgbClr val="2BA6CB">
                <a:alpha val="40000"/>
              </a:srgbClr>
            </a:solidFill>
            <a:prstDash val="solid"/>
          </a:ln>
        </p:spPr>
      </p:sp>
      <p:sp>
        <p:nvSpPr>
          <p:cNvPr id="7" name="Shape 5"/>
          <p:cNvSpPr/>
          <p:nvPr/>
        </p:nvSpPr>
        <p:spPr>
          <a:xfrm flipV="1">
            <a:off x="9606165" y="3037351"/>
            <a:ext cx="722094" cy="164813"/>
          </a:xfrm>
          <a:prstGeom prst="line">
            <a:avLst/>
          </a:prstGeom>
          <a:noFill/>
          <a:ln w="12700">
            <a:solidFill>
              <a:srgbClr val="2BA6CB">
                <a:alpha val="40000"/>
              </a:srgbClr>
            </a:solidFill>
            <a:prstDash val="solid"/>
          </a:ln>
        </p:spPr>
      </p:sp>
      <p:sp>
        <p:nvSpPr>
          <p:cNvPr id="8" name="Shape 6"/>
          <p:cNvSpPr/>
          <p:nvPr/>
        </p:nvSpPr>
        <p:spPr>
          <a:xfrm>
            <a:off x="9433129" y="3960285"/>
            <a:ext cx="579074" cy="461796"/>
          </a:xfrm>
          <a:prstGeom prst="line">
            <a:avLst/>
          </a:prstGeom>
          <a:noFill/>
          <a:ln w="12700">
            <a:solidFill>
              <a:srgbClr val="2BA6CB">
                <a:alpha val="40000"/>
              </a:srgbClr>
            </a:solidFill>
            <a:prstDash val="solid"/>
          </a:ln>
        </p:spPr>
      </p:sp>
      <p:sp>
        <p:nvSpPr>
          <p:cNvPr id="9" name="Shape 7"/>
          <p:cNvSpPr/>
          <p:nvPr/>
        </p:nvSpPr>
        <p:spPr>
          <a:xfrm>
            <a:off x="8732520" y="4297680"/>
            <a:ext cx="0" cy="740664"/>
          </a:xfrm>
          <a:prstGeom prst="line">
            <a:avLst/>
          </a:prstGeom>
          <a:noFill/>
          <a:ln w="12700">
            <a:solidFill>
              <a:srgbClr val="2BA6CB">
                <a:alpha val="40000"/>
              </a:srgbClr>
            </a:solidFill>
            <a:prstDash val="solid"/>
          </a:ln>
        </p:spPr>
      </p:sp>
      <p:sp>
        <p:nvSpPr>
          <p:cNvPr id="10" name="Shape 8"/>
          <p:cNvSpPr/>
          <p:nvPr/>
        </p:nvSpPr>
        <p:spPr>
          <a:xfrm flipH="1">
            <a:off x="7452837" y="3960285"/>
            <a:ext cx="579074" cy="461796"/>
          </a:xfrm>
          <a:prstGeom prst="line">
            <a:avLst/>
          </a:prstGeom>
          <a:noFill/>
          <a:ln w="12700">
            <a:solidFill>
              <a:srgbClr val="2BA6CB">
                <a:alpha val="40000"/>
              </a:srgbClr>
            </a:solidFill>
            <a:prstDash val="solid"/>
          </a:ln>
        </p:spPr>
      </p:sp>
      <p:sp>
        <p:nvSpPr>
          <p:cNvPr id="11" name="Shape 9"/>
          <p:cNvSpPr/>
          <p:nvPr/>
        </p:nvSpPr>
        <p:spPr>
          <a:xfrm flipH="1" flipV="1">
            <a:off x="7136781" y="3037351"/>
            <a:ext cx="722094" cy="164813"/>
          </a:xfrm>
          <a:prstGeom prst="line">
            <a:avLst/>
          </a:prstGeom>
          <a:noFill/>
          <a:ln w="12700">
            <a:solidFill>
              <a:srgbClr val="2BA6CB">
                <a:alpha val="40000"/>
              </a:srgbClr>
            </a:solidFill>
            <a:prstDash val="solid"/>
          </a:ln>
        </p:spPr>
      </p:sp>
      <p:sp>
        <p:nvSpPr>
          <p:cNvPr id="12" name="Shape 10"/>
          <p:cNvSpPr/>
          <p:nvPr/>
        </p:nvSpPr>
        <p:spPr>
          <a:xfrm flipH="1" flipV="1">
            <a:off x="8022350" y="1926884"/>
            <a:ext cx="321362" cy="667315"/>
          </a:xfrm>
          <a:prstGeom prst="line">
            <a:avLst/>
          </a:prstGeom>
          <a:noFill/>
          <a:ln w="12700">
            <a:solidFill>
              <a:srgbClr val="2BA6CB">
                <a:alpha val="40000"/>
              </a:srgbClr>
            </a:solidFill>
            <a:prstDash val="solid"/>
          </a:ln>
        </p:spPr>
      </p:sp>
      <p:sp>
        <p:nvSpPr>
          <p:cNvPr id="13" name="Shape 11"/>
          <p:cNvSpPr/>
          <p:nvPr/>
        </p:nvSpPr>
        <p:spPr>
          <a:xfrm>
            <a:off x="7744968" y="2414016"/>
            <a:ext cx="1975104" cy="1975104"/>
          </a:xfrm>
          <a:prstGeom prst="ellipse">
            <a:avLst/>
          </a:prstGeom>
          <a:solidFill>
            <a:srgbClr val="2BA6CB">
              <a:alpha val="15000"/>
            </a:srgbClr>
          </a:solidFill>
          <a:ln w="9525">
            <a:solidFill>
              <a:srgbClr val="2BA6CB">
                <a:alpha val="40000"/>
              </a:srgbClr>
            </a:solidFill>
            <a:prstDash val="solid"/>
          </a:ln>
        </p:spPr>
      </p:sp>
      <p:sp>
        <p:nvSpPr>
          <p:cNvPr id="14" name="Shape 12"/>
          <p:cNvSpPr/>
          <p:nvPr/>
        </p:nvSpPr>
        <p:spPr>
          <a:xfrm>
            <a:off x="7909560" y="2578608"/>
            <a:ext cx="1645920" cy="1645920"/>
          </a:xfrm>
          <a:prstGeom prst="ellipse">
            <a:avLst/>
          </a:prstGeom>
          <a:solidFill>
            <a:srgbClr val="0B2350"/>
          </a:solidFill>
          <a:ln w="25400">
            <a:solidFill>
              <a:srgbClr val="2BA6CB"/>
            </a:solidFill>
            <a:prstDash val="solid"/>
          </a:ln>
          <a:effectLst>
            <a:outerShdw sx="100000" sy="100000" kx="0" ky="0" algn="bl" rotWithShape="0" blurRad="114300" dist="50800" dir="16200000">
              <a:srgbClr val="2BA6CB">
                <a:alpha val="60000"/>
              </a:srgbClr>
            </a:outerShdw>
          </a:effectLst>
        </p:spPr>
      </p:sp>
      <p:sp>
        <p:nvSpPr>
          <p:cNvPr id="15" name="Icono ship-wheel"/>
          <p:cNvSpPr/>
          <p:nvPr/>
        </p:nvSpPr>
        <p:spPr>
          <a:xfrm>
            <a:off x="8430768" y="2871216"/>
            <a:ext cx="603504" cy="603504"/>
          </a:xfrm>
          <a:custGeom>
            <a:avLst/>
            <a:gdLst/>
            <a:ahLst/>
            <a:cxnLst/>
            <a:rect l="l" t="t" r="r" b="b"/>
            <a:pathLst>
              <a:path w="603504" h="603504">
                <a:moveTo>
                  <a:pt x="502920" y="301752"/>
                </a:moveTo>
                <a:cubicBezTo>
                  <a:pt x="502920" y="412854"/>
                  <a:pt x="412854" y="502920"/>
                  <a:pt x="301752" y="502920"/>
                </a:cubicBezTo>
                <a:cubicBezTo>
                  <a:pt x="190650" y="502920"/>
                  <a:pt x="100584" y="412854"/>
                  <a:pt x="100584" y="301752"/>
                </a:cubicBezTo>
                <a:cubicBezTo>
                  <a:pt x="100584" y="190650"/>
                  <a:pt x="190650" y="100584"/>
                  <a:pt x="301752" y="100584"/>
                </a:cubicBezTo>
                <a:cubicBezTo>
                  <a:pt x="412854" y="100584"/>
                  <a:pt x="502920" y="190650"/>
                  <a:pt x="502920" y="301752"/>
                </a:cubicBezTo>
                <a:close/>
                <a:moveTo>
                  <a:pt x="301752" y="50292"/>
                </a:moveTo>
                <a:lnTo>
                  <a:pt x="301752" y="238887"/>
                </a:lnTo>
                <a:moveTo>
                  <a:pt x="477774" y="125730"/>
                </a:moveTo>
                <a:lnTo>
                  <a:pt x="346260" y="257244"/>
                </a:lnTo>
                <a:moveTo>
                  <a:pt x="553212" y="301752"/>
                </a:moveTo>
                <a:lnTo>
                  <a:pt x="364617" y="301752"/>
                </a:lnTo>
                <a:moveTo>
                  <a:pt x="477774" y="477774"/>
                </a:moveTo>
                <a:lnTo>
                  <a:pt x="346260" y="346260"/>
                </a:lnTo>
                <a:moveTo>
                  <a:pt x="301752" y="364617"/>
                </a:moveTo>
                <a:lnTo>
                  <a:pt x="301752" y="553212"/>
                </a:lnTo>
                <a:moveTo>
                  <a:pt x="257244" y="346260"/>
                </a:moveTo>
                <a:lnTo>
                  <a:pt x="125730" y="477774"/>
                </a:lnTo>
                <a:moveTo>
                  <a:pt x="238887" y="301752"/>
                </a:moveTo>
                <a:lnTo>
                  <a:pt x="50292" y="301752"/>
                </a:lnTo>
                <a:moveTo>
                  <a:pt x="257244" y="257244"/>
                </a:moveTo>
                <a:lnTo>
                  <a:pt x="125730" y="125730"/>
                </a:lnTo>
                <a:moveTo>
                  <a:pt x="364617" y="301752"/>
                </a:moveTo>
                <a:cubicBezTo>
                  <a:pt x="364617" y="336471"/>
                  <a:pt x="336471" y="364617"/>
                  <a:pt x="301752" y="364617"/>
                </a:cubicBezTo>
                <a:cubicBezTo>
                  <a:pt x="267033" y="364617"/>
                  <a:pt x="238887" y="336471"/>
                  <a:pt x="238887" y="301752"/>
                </a:cubicBezTo>
                <a:cubicBezTo>
                  <a:pt x="238887" y="267033"/>
                  <a:pt x="267033" y="238887"/>
                  <a:pt x="301752" y="238887"/>
                </a:cubicBezTo>
                <a:cubicBezTo>
                  <a:pt x="336471" y="238887"/>
                  <a:pt x="364617" y="267033"/>
                  <a:pt x="364617" y="301752"/>
                </a:cubicBezTo>
                <a:close/>
              </a:path>
            </a:pathLst>
          </a:custGeom>
          <a:noFill/>
          <a:ln w="37719" cap="rnd">
            <a:solidFill>
              <a:srgbClr val="2BA6CB"/>
            </a:solidFill>
            <a:prstDash val="solid"/>
            <a:round/>
          </a:ln>
        </p:spPr>
      </p:sp>
      <p:sp>
        <p:nvSpPr>
          <p:cNvPr id="16" name="Text 14"/>
          <p:cNvSpPr/>
          <p:nvPr/>
        </p:nvSpPr>
        <p:spPr>
          <a:xfrm>
            <a:off x="8001000" y="3547872"/>
            <a:ext cx="1463040"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Segoe UI Semibold" pitchFamily="34" charset="0"/>
                <a:ea typeface="Segoe UI Semibold" pitchFamily="34" charset="-122"/>
                <a:cs typeface="Segoe UI Semibold" pitchFamily="34" charset="-120"/>
              </a:rPr>
              <a:t>ARKA-Lite</a:t>
            </a:r>
            <a:endParaRPr lang="en-US" sz="1500" dirty="0"/>
          </a:p>
        </p:txBody>
      </p:sp>
      <p:sp>
        <p:nvSpPr>
          <p:cNvPr id="17" name="Shape 15"/>
          <p:cNvSpPr/>
          <p:nvPr/>
        </p:nvSpPr>
        <p:spPr>
          <a:xfrm>
            <a:off x="9283766" y="1328547"/>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18" name="Icono code"/>
          <p:cNvSpPr/>
          <p:nvPr/>
        </p:nvSpPr>
        <p:spPr>
          <a:xfrm>
            <a:off x="9430070" y="1474851"/>
            <a:ext cx="310896" cy="310896"/>
          </a:xfrm>
          <a:custGeom>
            <a:avLst/>
            <a:gdLst/>
            <a:ahLst/>
            <a:cxnLst/>
            <a:rect l="l" t="t" r="r" b="b"/>
            <a:pathLst>
              <a:path w="310896" h="310896">
                <a:moveTo>
                  <a:pt x="207264" y="233172"/>
                </a:moveTo>
                <a:lnTo>
                  <a:pt x="284988" y="155448"/>
                </a:lnTo>
                <a:lnTo>
                  <a:pt x="207264" y="77724"/>
                </a:lnTo>
                <a:moveTo>
                  <a:pt x="103632" y="77724"/>
                </a:moveTo>
                <a:lnTo>
                  <a:pt x="25908" y="155448"/>
                </a:lnTo>
                <a:lnTo>
                  <a:pt x="103632" y="233172"/>
                </a:lnTo>
              </a:path>
            </a:pathLst>
          </a:custGeom>
          <a:noFill/>
          <a:ln w="25908" cap="rnd">
            <a:solidFill>
              <a:srgbClr val="2BA6CB"/>
            </a:solidFill>
            <a:prstDash val="solid"/>
            <a:round/>
          </a:ln>
        </p:spPr>
      </p:sp>
      <p:sp>
        <p:nvSpPr>
          <p:cNvPr id="19" name="Text 17"/>
          <p:cNvSpPr/>
          <p:nvPr/>
        </p:nvSpPr>
        <p:spPr>
          <a:xfrm>
            <a:off x="9704390" y="1255395"/>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1</a:t>
            </a:r>
            <a:endParaRPr lang="en-US" sz="900" dirty="0"/>
          </a:p>
        </p:txBody>
      </p:sp>
      <p:sp>
        <p:nvSpPr>
          <p:cNvPr id="20" name="Text 18"/>
          <p:cNvSpPr/>
          <p:nvPr/>
        </p:nvSpPr>
        <p:spPr>
          <a:xfrm>
            <a:off x="9978710" y="1483995"/>
            <a:ext cx="1143000" cy="292608"/>
          </a:xfrm>
          <a:prstGeom prst="rect">
            <a:avLst/>
          </a:prstGeom>
          <a:noFill/>
          <a:ln/>
        </p:spPr>
        <p:txBody>
          <a:bodyPr wrap="square" lIns="0" tIns="0" rIns="0" bIns="0" rtlCol="0" anchor="ctr"/>
          <a:lstStyle/>
          <a:p>
            <a:pPr algn="l" indent="0" marL="0">
              <a:buNone/>
            </a:pPr>
            <a:r>
              <a:rPr lang="en-US" sz="1050" b="1" dirty="0">
                <a:solidFill>
                  <a:srgbClr val="E8EDF8"/>
                </a:solidFill>
                <a:latin typeface="Segoe UI" pitchFamily="34" charset="0"/>
                <a:ea typeface="Segoe UI" pitchFamily="34" charset="-122"/>
                <a:cs typeface="Segoe UI" pitchFamily="34" charset="-120"/>
              </a:rPr>
              <a:t>Fundamentos</a:t>
            </a:r>
            <a:endParaRPr lang="en-US" sz="1050" dirty="0"/>
          </a:p>
        </p:txBody>
      </p:sp>
      <p:sp>
        <p:nvSpPr>
          <p:cNvPr id="21" name="Shape 19"/>
          <p:cNvSpPr/>
          <p:nvPr/>
        </p:nvSpPr>
        <p:spPr>
          <a:xfrm>
            <a:off x="10347437" y="2662349"/>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22" name="Icono network"/>
          <p:cNvSpPr/>
          <p:nvPr/>
        </p:nvSpPr>
        <p:spPr>
          <a:xfrm>
            <a:off x="10493741" y="2808653"/>
            <a:ext cx="310896" cy="310896"/>
          </a:xfrm>
          <a:custGeom>
            <a:avLst/>
            <a:gdLst/>
            <a:ahLst/>
            <a:cxnLst/>
            <a:rect l="l" t="t" r="r" b="b"/>
            <a:pathLst>
              <a:path w="310896" h="310896">
                <a:moveTo>
                  <a:pt x="220218" y="207264"/>
                </a:moveTo>
                <a:lnTo>
                  <a:pt x="272034" y="207264"/>
                </a:lnTo>
                <a:cubicBezTo>
                  <a:pt x="279188" y="207264"/>
                  <a:pt x="284988" y="213064"/>
                  <a:pt x="284988" y="220218"/>
                </a:cubicBezTo>
                <a:lnTo>
                  <a:pt x="284988" y="272034"/>
                </a:lnTo>
                <a:cubicBezTo>
                  <a:pt x="284988" y="279188"/>
                  <a:pt x="279188" y="284988"/>
                  <a:pt x="272034" y="284988"/>
                </a:cubicBezTo>
                <a:lnTo>
                  <a:pt x="220218" y="284988"/>
                </a:lnTo>
                <a:cubicBezTo>
                  <a:pt x="213064" y="284988"/>
                  <a:pt x="207264" y="279188"/>
                  <a:pt x="207264" y="272034"/>
                </a:cubicBezTo>
                <a:lnTo>
                  <a:pt x="207264" y="220218"/>
                </a:lnTo>
                <a:cubicBezTo>
                  <a:pt x="207264" y="213064"/>
                  <a:pt x="213064" y="207264"/>
                  <a:pt x="220218" y="207264"/>
                </a:cubicBezTo>
                <a:close/>
                <a:moveTo>
                  <a:pt x="38862" y="207264"/>
                </a:moveTo>
                <a:lnTo>
                  <a:pt x="90678" y="207264"/>
                </a:lnTo>
                <a:cubicBezTo>
                  <a:pt x="97832" y="207264"/>
                  <a:pt x="103632" y="213064"/>
                  <a:pt x="103632" y="220218"/>
                </a:cubicBezTo>
                <a:lnTo>
                  <a:pt x="103632" y="272034"/>
                </a:lnTo>
                <a:cubicBezTo>
                  <a:pt x="103632" y="279188"/>
                  <a:pt x="97832" y="284988"/>
                  <a:pt x="90678" y="284988"/>
                </a:cubicBezTo>
                <a:lnTo>
                  <a:pt x="38862" y="284988"/>
                </a:lnTo>
                <a:cubicBezTo>
                  <a:pt x="31708" y="284988"/>
                  <a:pt x="25908" y="279188"/>
                  <a:pt x="25908" y="272034"/>
                </a:cubicBezTo>
                <a:lnTo>
                  <a:pt x="25908" y="220218"/>
                </a:lnTo>
                <a:cubicBezTo>
                  <a:pt x="25908" y="213064"/>
                  <a:pt x="31708" y="207264"/>
                  <a:pt x="38862" y="207264"/>
                </a:cubicBezTo>
                <a:close/>
                <a:moveTo>
                  <a:pt x="129540" y="25908"/>
                </a:moveTo>
                <a:lnTo>
                  <a:pt x="181356" y="25908"/>
                </a:lnTo>
                <a:cubicBezTo>
                  <a:pt x="188510" y="25908"/>
                  <a:pt x="194310" y="31708"/>
                  <a:pt x="194310" y="38862"/>
                </a:cubicBezTo>
                <a:lnTo>
                  <a:pt x="194310" y="90678"/>
                </a:lnTo>
                <a:cubicBezTo>
                  <a:pt x="194310" y="97832"/>
                  <a:pt x="188510" y="103632"/>
                  <a:pt x="181356" y="103632"/>
                </a:cubicBezTo>
                <a:lnTo>
                  <a:pt x="129540" y="103632"/>
                </a:lnTo>
                <a:cubicBezTo>
                  <a:pt x="122386" y="103632"/>
                  <a:pt x="116586" y="97832"/>
                  <a:pt x="116586" y="90678"/>
                </a:cubicBezTo>
                <a:lnTo>
                  <a:pt x="116586" y="38862"/>
                </a:lnTo>
                <a:cubicBezTo>
                  <a:pt x="116586" y="31708"/>
                  <a:pt x="122386" y="25908"/>
                  <a:pt x="129540" y="25908"/>
                </a:cubicBezTo>
                <a:close/>
                <a:moveTo>
                  <a:pt x="64770" y="207264"/>
                </a:moveTo>
                <a:lnTo>
                  <a:pt x="64770" y="168402"/>
                </a:lnTo>
                <a:cubicBezTo>
                  <a:pt x="64770" y="161248"/>
                  <a:pt x="70570" y="155448"/>
                  <a:pt x="77724" y="155448"/>
                </a:cubicBezTo>
                <a:lnTo>
                  <a:pt x="233172" y="155448"/>
                </a:lnTo>
                <a:cubicBezTo>
                  <a:pt x="240326" y="155448"/>
                  <a:pt x="246126" y="161248"/>
                  <a:pt x="246126" y="168402"/>
                </a:cubicBezTo>
                <a:lnTo>
                  <a:pt x="246126" y="207264"/>
                </a:lnTo>
                <a:moveTo>
                  <a:pt x="155448" y="155448"/>
                </a:moveTo>
                <a:lnTo>
                  <a:pt x="155448" y="103632"/>
                </a:lnTo>
              </a:path>
            </a:pathLst>
          </a:custGeom>
          <a:noFill/>
          <a:ln w="25908" cap="rnd">
            <a:solidFill>
              <a:srgbClr val="2BA6CB"/>
            </a:solidFill>
            <a:prstDash val="solid"/>
            <a:round/>
          </a:ln>
        </p:spPr>
      </p:sp>
      <p:sp>
        <p:nvSpPr>
          <p:cNvPr id="23" name="Text 21"/>
          <p:cNvSpPr/>
          <p:nvPr/>
        </p:nvSpPr>
        <p:spPr>
          <a:xfrm>
            <a:off x="10768061" y="2589197"/>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2</a:t>
            </a:r>
            <a:endParaRPr lang="en-US" sz="900" dirty="0"/>
          </a:p>
        </p:txBody>
      </p:sp>
      <p:sp>
        <p:nvSpPr>
          <p:cNvPr id="24" name="Text 22"/>
          <p:cNvSpPr/>
          <p:nvPr/>
        </p:nvSpPr>
        <p:spPr>
          <a:xfrm>
            <a:off x="10077689" y="3302429"/>
            <a:ext cx="1143000" cy="292608"/>
          </a:xfrm>
          <a:prstGeom prst="rect">
            <a:avLst/>
          </a:prstGeom>
          <a:noFill/>
          <a:ln/>
        </p:spPr>
        <p:txBody>
          <a:bodyPr wrap="square" lIns="0" tIns="0" rIns="0" bIns="0" rtlCol="0" anchor="ctr"/>
          <a:lstStyle/>
          <a:p>
            <a:pPr algn="ctr" indent="0" marL="0">
              <a:buNone/>
            </a:pPr>
            <a:r>
              <a:rPr lang="en-US" sz="1050" b="1" dirty="0">
                <a:solidFill>
                  <a:srgbClr val="E8EDF8"/>
                </a:solidFill>
                <a:latin typeface="Segoe UI" pitchFamily="34" charset="0"/>
                <a:ea typeface="Segoe UI" pitchFamily="34" charset="-122"/>
                <a:cs typeface="Segoe UI" pitchFamily="34" charset="-120"/>
              </a:rPr>
              <a:t>Arquitectura</a:t>
            </a:r>
            <a:endParaRPr lang="en-US" sz="1050" dirty="0"/>
          </a:p>
        </p:txBody>
      </p:sp>
      <p:sp>
        <p:nvSpPr>
          <p:cNvPr id="25" name="Shape 23"/>
          <p:cNvSpPr/>
          <p:nvPr/>
        </p:nvSpPr>
        <p:spPr>
          <a:xfrm>
            <a:off x="9967817" y="4325572"/>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26" name="Icono database"/>
          <p:cNvSpPr/>
          <p:nvPr/>
        </p:nvSpPr>
        <p:spPr>
          <a:xfrm>
            <a:off x="10114121" y="4471876"/>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2BA6CB"/>
            </a:solidFill>
            <a:prstDash val="solid"/>
            <a:round/>
          </a:ln>
        </p:spPr>
      </p:sp>
      <p:sp>
        <p:nvSpPr>
          <p:cNvPr id="27" name="Text 25"/>
          <p:cNvSpPr/>
          <p:nvPr/>
        </p:nvSpPr>
        <p:spPr>
          <a:xfrm>
            <a:off x="10388441" y="4252420"/>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3</a:t>
            </a:r>
            <a:endParaRPr lang="en-US" sz="900" dirty="0"/>
          </a:p>
        </p:txBody>
      </p:sp>
      <p:sp>
        <p:nvSpPr>
          <p:cNvPr id="28" name="Text 26"/>
          <p:cNvSpPr/>
          <p:nvPr/>
        </p:nvSpPr>
        <p:spPr>
          <a:xfrm>
            <a:off x="10662761" y="4481020"/>
            <a:ext cx="1143000" cy="292608"/>
          </a:xfrm>
          <a:prstGeom prst="rect">
            <a:avLst/>
          </a:prstGeom>
          <a:noFill/>
          <a:ln/>
        </p:spPr>
        <p:txBody>
          <a:bodyPr wrap="square" lIns="0" tIns="0" rIns="0" bIns="0" rtlCol="0" anchor="ctr"/>
          <a:lstStyle/>
          <a:p>
            <a:pPr algn="l" indent="0" marL="0">
              <a:buNone/>
            </a:pPr>
            <a:r>
              <a:rPr lang="en-US" sz="1050" b="1" dirty="0">
                <a:solidFill>
                  <a:srgbClr val="E8EDF8"/>
                </a:solidFill>
                <a:latin typeface="Segoe UI" pitchFamily="34" charset="0"/>
                <a:ea typeface="Segoe UI" pitchFamily="34" charset="-122"/>
                <a:cs typeface="Segoe UI" pitchFamily="34" charset="-120"/>
              </a:rPr>
              <a:t>Base de datos</a:t>
            </a:r>
            <a:endParaRPr lang="en-US" sz="1050" dirty="0"/>
          </a:p>
        </p:txBody>
      </p:sp>
      <p:sp>
        <p:nvSpPr>
          <p:cNvPr id="29" name="Shape 27"/>
          <p:cNvSpPr/>
          <p:nvPr/>
        </p:nvSpPr>
        <p:spPr>
          <a:xfrm>
            <a:off x="8430768" y="5065776"/>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30" name="Icono waypoints"/>
          <p:cNvSpPr/>
          <p:nvPr/>
        </p:nvSpPr>
        <p:spPr>
          <a:xfrm>
            <a:off x="8577072" y="5212080"/>
            <a:ext cx="310896" cy="310896"/>
          </a:xfrm>
          <a:custGeom>
            <a:avLst/>
            <a:gdLst/>
            <a:ahLst/>
            <a:cxnLst/>
            <a:rect l="l" t="t" r="r" b="b"/>
            <a:pathLst>
              <a:path w="310896" h="310896">
                <a:moveTo>
                  <a:pt x="187833" y="58293"/>
                </a:moveTo>
                <a:cubicBezTo>
                  <a:pt x="187833" y="76179"/>
                  <a:pt x="173334" y="90678"/>
                  <a:pt x="155448" y="90678"/>
                </a:cubicBezTo>
                <a:cubicBezTo>
                  <a:pt x="137562" y="90678"/>
                  <a:pt x="123063" y="76179"/>
                  <a:pt x="123063" y="58293"/>
                </a:cubicBezTo>
                <a:cubicBezTo>
                  <a:pt x="123063" y="40407"/>
                  <a:pt x="137562" y="25908"/>
                  <a:pt x="155448" y="25908"/>
                </a:cubicBezTo>
                <a:cubicBezTo>
                  <a:pt x="173334" y="25908"/>
                  <a:pt x="187833" y="40407"/>
                  <a:pt x="187833" y="58293"/>
                </a:cubicBezTo>
                <a:close/>
                <a:moveTo>
                  <a:pt x="132131" y="81610"/>
                </a:moveTo>
                <a:lnTo>
                  <a:pt x="81610" y="132131"/>
                </a:lnTo>
                <a:moveTo>
                  <a:pt x="90678" y="155448"/>
                </a:moveTo>
                <a:cubicBezTo>
                  <a:pt x="90678" y="173334"/>
                  <a:pt x="76179" y="187833"/>
                  <a:pt x="58293" y="187833"/>
                </a:cubicBezTo>
                <a:cubicBezTo>
                  <a:pt x="40407" y="187833"/>
                  <a:pt x="25908" y="173334"/>
                  <a:pt x="25908" y="155448"/>
                </a:cubicBezTo>
                <a:cubicBezTo>
                  <a:pt x="25908" y="137562"/>
                  <a:pt x="40407" y="123063"/>
                  <a:pt x="58293" y="123063"/>
                </a:cubicBezTo>
                <a:cubicBezTo>
                  <a:pt x="76179" y="123063"/>
                  <a:pt x="90678" y="137562"/>
                  <a:pt x="90678" y="155448"/>
                </a:cubicBezTo>
                <a:close/>
                <a:moveTo>
                  <a:pt x="90678" y="155448"/>
                </a:moveTo>
                <a:lnTo>
                  <a:pt x="220218" y="155448"/>
                </a:lnTo>
                <a:moveTo>
                  <a:pt x="284988" y="155448"/>
                </a:moveTo>
                <a:cubicBezTo>
                  <a:pt x="284988" y="173334"/>
                  <a:pt x="270489" y="187833"/>
                  <a:pt x="252603" y="187833"/>
                </a:cubicBezTo>
                <a:cubicBezTo>
                  <a:pt x="234717" y="187833"/>
                  <a:pt x="220218" y="173334"/>
                  <a:pt x="220218" y="155448"/>
                </a:cubicBezTo>
                <a:cubicBezTo>
                  <a:pt x="220218" y="137562"/>
                  <a:pt x="234717" y="123063"/>
                  <a:pt x="252603" y="123063"/>
                </a:cubicBezTo>
                <a:cubicBezTo>
                  <a:pt x="270489" y="123063"/>
                  <a:pt x="284988" y="137562"/>
                  <a:pt x="284988" y="155448"/>
                </a:cubicBezTo>
                <a:close/>
                <a:moveTo>
                  <a:pt x="178765" y="229286"/>
                </a:moveTo>
                <a:lnTo>
                  <a:pt x="229286" y="178765"/>
                </a:lnTo>
                <a:moveTo>
                  <a:pt x="187833" y="252603"/>
                </a:moveTo>
                <a:cubicBezTo>
                  <a:pt x="187833" y="270489"/>
                  <a:pt x="173334" y="284988"/>
                  <a:pt x="155448" y="284988"/>
                </a:cubicBezTo>
                <a:cubicBezTo>
                  <a:pt x="137562" y="284988"/>
                  <a:pt x="123063" y="270489"/>
                  <a:pt x="123063" y="252603"/>
                </a:cubicBezTo>
                <a:cubicBezTo>
                  <a:pt x="123063" y="234717"/>
                  <a:pt x="137562" y="220218"/>
                  <a:pt x="155448" y="220218"/>
                </a:cubicBezTo>
                <a:cubicBezTo>
                  <a:pt x="173334" y="220218"/>
                  <a:pt x="187833" y="234717"/>
                  <a:pt x="187833" y="252603"/>
                </a:cubicBezTo>
                <a:close/>
              </a:path>
            </a:pathLst>
          </a:custGeom>
          <a:noFill/>
          <a:ln w="25908" cap="rnd">
            <a:solidFill>
              <a:srgbClr val="2BA6CB"/>
            </a:solidFill>
            <a:prstDash val="solid"/>
            <a:round/>
          </a:ln>
        </p:spPr>
      </p:sp>
      <p:sp>
        <p:nvSpPr>
          <p:cNvPr id="31" name="Text 29"/>
          <p:cNvSpPr/>
          <p:nvPr/>
        </p:nvSpPr>
        <p:spPr>
          <a:xfrm>
            <a:off x="8851392" y="4992624"/>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4</a:t>
            </a:r>
            <a:endParaRPr lang="en-US" sz="900" dirty="0"/>
          </a:p>
        </p:txBody>
      </p:sp>
      <p:sp>
        <p:nvSpPr>
          <p:cNvPr id="32" name="Text 30"/>
          <p:cNvSpPr/>
          <p:nvPr/>
        </p:nvSpPr>
        <p:spPr>
          <a:xfrm>
            <a:off x="9125712" y="5221224"/>
            <a:ext cx="1143000" cy="292608"/>
          </a:xfrm>
          <a:prstGeom prst="rect">
            <a:avLst/>
          </a:prstGeom>
          <a:noFill/>
          <a:ln/>
        </p:spPr>
        <p:txBody>
          <a:bodyPr wrap="square" lIns="0" tIns="0" rIns="0" bIns="0" rtlCol="0" anchor="ctr"/>
          <a:lstStyle/>
          <a:p>
            <a:pPr algn="l" indent="0" marL="0">
              <a:buNone/>
            </a:pPr>
            <a:r>
              <a:rPr lang="en-US" sz="1050" b="1" dirty="0">
                <a:solidFill>
                  <a:srgbClr val="E8EDF8"/>
                </a:solidFill>
                <a:latin typeface="Segoe UI" pitchFamily="34" charset="0"/>
                <a:ea typeface="Segoe UI" pitchFamily="34" charset="-122"/>
                <a:cs typeface="Segoe UI" pitchFamily="34" charset="-120"/>
              </a:rPr>
              <a:t>Interconexión</a:t>
            </a:r>
            <a:endParaRPr lang="en-US" sz="1050" dirty="0"/>
          </a:p>
        </p:txBody>
      </p:sp>
      <p:sp>
        <p:nvSpPr>
          <p:cNvPr id="33" name="Shape 31"/>
          <p:cNvSpPr/>
          <p:nvPr/>
        </p:nvSpPr>
        <p:spPr>
          <a:xfrm>
            <a:off x="6893719" y="4325572"/>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34" name="Icono container"/>
          <p:cNvSpPr/>
          <p:nvPr/>
        </p:nvSpPr>
        <p:spPr>
          <a:xfrm>
            <a:off x="7040023" y="4471876"/>
            <a:ext cx="310896" cy="310896"/>
          </a:xfrm>
          <a:custGeom>
            <a:avLst/>
            <a:gdLst/>
            <a:ahLst/>
            <a:cxnLst/>
            <a:rect l="l" t="t" r="r" b="b"/>
            <a:pathLst>
              <a:path w="310896" h="310896">
                <a:moveTo>
                  <a:pt x="284988" y="99746"/>
                </a:moveTo>
                <a:cubicBezTo>
                  <a:pt x="284988" y="91973"/>
                  <a:pt x="279806" y="84201"/>
                  <a:pt x="274625" y="80315"/>
                </a:cubicBezTo>
                <a:lnTo>
                  <a:pt x="193015" y="29794"/>
                </a:lnTo>
                <a:cubicBezTo>
                  <a:pt x="186187" y="25913"/>
                  <a:pt x="177820" y="25913"/>
                  <a:pt x="170993" y="29794"/>
                </a:cubicBezTo>
                <a:lnTo>
                  <a:pt x="37567" y="107518"/>
                </a:lnTo>
                <a:cubicBezTo>
                  <a:pt x="31090" y="110109"/>
                  <a:pt x="25908" y="117881"/>
                  <a:pt x="25908" y="125654"/>
                </a:cubicBezTo>
                <a:lnTo>
                  <a:pt x="25908" y="211150"/>
                </a:lnTo>
                <a:cubicBezTo>
                  <a:pt x="25908" y="217627"/>
                  <a:pt x="31090" y="226695"/>
                  <a:pt x="36271" y="230581"/>
                </a:cubicBezTo>
                <a:lnTo>
                  <a:pt x="117881" y="281102"/>
                </a:lnTo>
                <a:cubicBezTo>
                  <a:pt x="124709" y="284983"/>
                  <a:pt x="133076" y="284983"/>
                  <a:pt x="139903" y="281102"/>
                </a:cubicBezTo>
                <a:lnTo>
                  <a:pt x="273329" y="203378"/>
                </a:lnTo>
                <a:cubicBezTo>
                  <a:pt x="279806" y="199492"/>
                  <a:pt x="284988" y="190424"/>
                  <a:pt x="284988" y="183947"/>
                </a:cubicBezTo>
                <a:close/>
                <a:moveTo>
                  <a:pt x="129540" y="283693"/>
                </a:moveTo>
                <a:lnTo>
                  <a:pt x="129540" y="181356"/>
                </a:lnTo>
                <a:lnTo>
                  <a:pt x="27203" y="117881"/>
                </a:lnTo>
                <a:moveTo>
                  <a:pt x="129540" y="181356"/>
                </a:moveTo>
                <a:lnTo>
                  <a:pt x="283693" y="91973"/>
                </a:lnTo>
                <a:moveTo>
                  <a:pt x="181356" y="256489"/>
                </a:moveTo>
                <a:lnTo>
                  <a:pt x="181356" y="151562"/>
                </a:lnTo>
                <a:moveTo>
                  <a:pt x="233172" y="226695"/>
                </a:moveTo>
                <a:lnTo>
                  <a:pt x="233172" y="121768"/>
                </a:lnTo>
              </a:path>
            </a:pathLst>
          </a:custGeom>
          <a:noFill/>
          <a:ln w="25908" cap="rnd">
            <a:solidFill>
              <a:srgbClr val="2BA6CB"/>
            </a:solidFill>
            <a:prstDash val="solid"/>
            <a:round/>
          </a:ln>
        </p:spPr>
      </p:sp>
      <p:sp>
        <p:nvSpPr>
          <p:cNvPr id="35" name="Text 33"/>
          <p:cNvSpPr/>
          <p:nvPr/>
        </p:nvSpPr>
        <p:spPr>
          <a:xfrm>
            <a:off x="7314343" y="4252420"/>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5</a:t>
            </a:r>
            <a:endParaRPr lang="en-US" sz="900" dirty="0"/>
          </a:p>
        </p:txBody>
      </p:sp>
      <p:sp>
        <p:nvSpPr>
          <p:cNvPr id="36" name="Text 34"/>
          <p:cNvSpPr/>
          <p:nvPr/>
        </p:nvSpPr>
        <p:spPr>
          <a:xfrm>
            <a:off x="5659279" y="4481020"/>
            <a:ext cx="1143000" cy="292608"/>
          </a:xfrm>
          <a:prstGeom prst="rect">
            <a:avLst/>
          </a:prstGeom>
          <a:noFill/>
          <a:ln/>
        </p:spPr>
        <p:txBody>
          <a:bodyPr wrap="square" lIns="0" tIns="0" rIns="0" bIns="0" rtlCol="0" anchor="ctr"/>
          <a:lstStyle/>
          <a:p>
            <a:pPr algn="r" indent="0" marL="0">
              <a:buNone/>
            </a:pPr>
            <a:r>
              <a:rPr lang="en-US" sz="1050" b="1" dirty="0">
                <a:solidFill>
                  <a:srgbClr val="E8EDF8"/>
                </a:solidFill>
                <a:latin typeface="Segoe UI" pitchFamily="34" charset="0"/>
                <a:ea typeface="Segoe UI" pitchFamily="34" charset="-122"/>
                <a:cs typeface="Segoe UI" pitchFamily="34" charset="-120"/>
              </a:rPr>
              <a:t>DevOps</a:t>
            </a:r>
            <a:endParaRPr lang="en-US" sz="1050" dirty="0"/>
          </a:p>
        </p:txBody>
      </p:sp>
      <p:sp>
        <p:nvSpPr>
          <p:cNvPr id="37" name="Shape 35"/>
          <p:cNvSpPr/>
          <p:nvPr/>
        </p:nvSpPr>
        <p:spPr>
          <a:xfrm>
            <a:off x="6514099" y="2662349"/>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38" name="Icono chart-line"/>
          <p:cNvSpPr/>
          <p:nvPr/>
        </p:nvSpPr>
        <p:spPr>
          <a:xfrm>
            <a:off x="6660403" y="2808653"/>
            <a:ext cx="310896" cy="310896"/>
          </a:xfrm>
          <a:custGeom>
            <a:avLst/>
            <a:gdLst/>
            <a:ahLst/>
            <a:cxnLst/>
            <a:rect l="l" t="t" r="r" b="b"/>
            <a:pathLst>
              <a:path w="310896" h="310896">
                <a:moveTo>
                  <a:pt x="38862" y="38862"/>
                </a:moveTo>
                <a:lnTo>
                  <a:pt x="38862" y="246126"/>
                </a:lnTo>
                <a:cubicBezTo>
                  <a:pt x="38862" y="260435"/>
                  <a:pt x="50461" y="272034"/>
                  <a:pt x="64770" y="272034"/>
                </a:cubicBezTo>
                <a:lnTo>
                  <a:pt x="272034" y="272034"/>
                </a:lnTo>
                <a:moveTo>
                  <a:pt x="246126" y="116586"/>
                </a:moveTo>
                <a:lnTo>
                  <a:pt x="181356" y="181356"/>
                </a:lnTo>
                <a:lnTo>
                  <a:pt x="129540" y="129540"/>
                </a:lnTo>
                <a:lnTo>
                  <a:pt x="90678" y="168402"/>
                </a:lnTo>
              </a:path>
            </a:pathLst>
          </a:custGeom>
          <a:noFill/>
          <a:ln w="25908" cap="rnd">
            <a:solidFill>
              <a:srgbClr val="2BA6CB"/>
            </a:solidFill>
            <a:prstDash val="solid"/>
            <a:round/>
          </a:ln>
        </p:spPr>
      </p:sp>
      <p:sp>
        <p:nvSpPr>
          <p:cNvPr id="39" name="Text 37"/>
          <p:cNvSpPr/>
          <p:nvPr/>
        </p:nvSpPr>
        <p:spPr>
          <a:xfrm>
            <a:off x="6934723" y="2589197"/>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6</a:t>
            </a:r>
            <a:endParaRPr lang="en-US" sz="900" dirty="0"/>
          </a:p>
        </p:txBody>
      </p:sp>
      <p:sp>
        <p:nvSpPr>
          <p:cNvPr id="40" name="Text 38"/>
          <p:cNvSpPr/>
          <p:nvPr/>
        </p:nvSpPr>
        <p:spPr>
          <a:xfrm>
            <a:off x="5279659" y="2817797"/>
            <a:ext cx="1143000" cy="292608"/>
          </a:xfrm>
          <a:prstGeom prst="rect">
            <a:avLst/>
          </a:prstGeom>
          <a:noFill/>
          <a:ln/>
        </p:spPr>
        <p:txBody>
          <a:bodyPr wrap="square" lIns="0" tIns="0" rIns="0" bIns="0" rtlCol="0" anchor="ctr"/>
          <a:lstStyle/>
          <a:p>
            <a:pPr algn="r" indent="0" marL="0">
              <a:buNone/>
            </a:pPr>
            <a:r>
              <a:rPr lang="en-US" sz="1050" b="1" dirty="0">
                <a:solidFill>
                  <a:srgbClr val="E8EDF8"/>
                </a:solidFill>
                <a:latin typeface="Segoe UI" pitchFamily="34" charset="0"/>
                <a:ea typeface="Segoe UI" pitchFamily="34" charset="-122"/>
                <a:cs typeface="Segoe UI" pitchFamily="34" charset="-120"/>
              </a:rPr>
              <a:t>Observabilidad</a:t>
            </a:r>
            <a:endParaRPr lang="en-US" sz="1050" dirty="0"/>
          </a:p>
        </p:txBody>
      </p:sp>
      <p:sp>
        <p:nvSpPr>
          <p:cNvPr id="41" name="Shape 39"/>
          <p:cNvSpPr/>
          <p:nvPr/>
        </p:nvSpPr>
        <p:spPr>
          <a:xfrm>
            <a:off x="7577770" y="1328547"/>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42" name="Icono monitor"/>
          <p:cNvSpPr/>
          <p:nvPr/>
        </p:nvSpPr>
        <p:spPr>
          <a:xfrm>
            <a:off x="7724074" y="1474851"/>
            <a:ext cx="310896" cy="310896"/>
          </a:xfrm>
          <a:custGeom>
            <a:avLst/>
            <a:gdLst/>
            <a:ahLst/>
            <a:cxnLst/>
            <a:rect l="l" t="t" r="r" b="b"/>
            <a:pathLst>
              <a:path w="310896" h="310896">
                <a:moveTo>
                  <a:pt x="51816" y="38862"/>
                </a:moveTo>
                <a:lnTo>
                  <a:pt x="259080" y="38862"/>
                </a:lnTo>
                <a:cubicBezTo>
                  <a:pt x="273389" y="38862"/>
                  <a:pt x="284988" y="50461"/>
                  <a:pt x="284988" y="64770"/>
                </a:cubicBezTo>
                <a:lnTo>
                  <a:pt x="284988" y="194310"/>
                </a:lnTo>
                <a:cubicBezTo>
                  <a:pt x="284988" y="208619"/>
                  <a:pt x="273389" y="220218"/>
                  <a:pt x="259080" y="220218"/>
                </a:cubicBezTo>
                <a:lnTo>
                  <a:pt x="51816" y="220218"/>
                </a:lnTo>
                <a:cubicBezTo>
                  <a:pt x="37507" y="220218"/>
                  <a:pt x="25908" y="208619"/>
                  <a:pt x="25908" y="194310"/>
                </a:cubicBezTo>
                <a:lnTo>
                  <a:pt x="25908" y="64770"/>
                </a:lnTo>
                <a:cubicBezTo>
                  <a:pt x="25908" y="50461"/>
                  <a:pt x="37507" y="38862"/>
                  <a:pt x="51816" y="38862"/>
                </a:cubicBezTo>
                <a:close/>
                <a:moveTo>
                  <a:pt x="103632" y="272034"/>
                </a:moveTo>
                <a:lnTo>
                  <a:pt x="207264" y="272034"/>
                </a:lnTo>
                <a:moveTo>
                  <a:pt x="155448" y="220218"/>
                </a:moveTo>
                <a:lnTo>
                  <a:pt x="155448" y="272034"/>
                </a:lnTo>
              </a:path>
            </a:pathLst>
          </a:custGeom>
          <a:noFill/>
          <a:ln w="25908" cap="rnd">
            <a:solidFill>
              <a:srgbClr val="2BA6CB"/>
            </a:solidFill>
            <a:prstDash val="solid"/>
            <a:round/>
          </a:ln>
        </p:spPr>
      </p:sp>
      <p:sp>
        <p:nvSpPr>
          <p:cNvPr id="43" name="Text 41"/>
          <p:cNvSpPr/>
          <p:nvPr/>
        </p:nvSpPr>
        <p:spPr>
          <a:xfrm>
            <a:off x="7998394" y="1255395"/>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7</a:t>
            </a:r>
            <a:endParaRPr lang="en-US" sz="900" dirty="0"/>
          </a:p>
        </p:txBody>
      </p:sp>
      <p:sp>
        <p:nvSpPr>
          <p:cNvPr id="44" name="Text 42"/>
          <p:cNvSpPr/>
          <p:nvPr/>
        </p:nvSpPr>
        <p:spPr>
          <a:xfrm>
            <a:off x="6343330" y="1483995"/>
            <a:ext cx="1143000" cy="292608"/>
          </a:xfrm>
          <a:prstGeom prst="rect">
            <a:avLst/>
          </a:prstGeom>
          <a:noFill/>
          <a:ln/>
        </p:spPr>
        <p:txBody>
          <a:bodyPr wrap="square" lIns="0" tIns="0" rIns="0" bIns="0" rtlCol="0" anchor="ctr"/>
          <a:lstStyle/>
          <a:p>
            <a:pPr algn="r" indent="0" marL="0">
              <a:buNone/>
            </a:pPr>
            <a:r>
              <a:rPr lang="en-US" sz="1050" b="1" dirty="0">
                <a:solidFill>
                  <a:srgbClr val="E8EDF8"/>
                </a:solidFill>
                <a:latin typeface="Segoe UI" pitchFamily="34" charset="0"/>
                <a:ea typeface="Segoe UI" pitchFamily="34" charset="-122"/>
                <a:cs typeface="Segoe UI" pitchFamily="34" charset="-120"/>
              </a:rPr>
              <a:t>Demostración</a:t>
            </a:r>
            <a:endParaRPr lang="en-US" sz="1050" dirty="0"/>
          </a:p>
        </p:txBody>
      </p:sp>
      <p:sp>
        <p:nvSpPr>
          <p:cNvPr id="45" name="Shape 43"/>
          <p:cNvSpPr/>
          <p:nvPr/>
        </p:nvSpPr>
        <p:spPr>
          <a:xfrm>
            <a:off x="758952" y="530352"/>
            <a:ext cx="329184" cy="329184"/>
          </a:xfrm>
          <a:prstGeom prst="ellipse">
            <a:avLst/>
          </a:prstGeom>
          <a:solidFill>
            <a:srgbClr val="2BA6CB"/>
          </a:solidFill>
          <a:ln w="12700">
            <a:solidFill>
              <a:srgbClr val="2BA6CB"/>
            </a:solidFill>
            <a:prstDash val="solid"/>
          </a:ln>
        </p:spPr>
      </p:sp>
      <p:sp>
        <p:nvSpPr>
          <p:cNvPr id="46" name="Text 44"/>
          <p:cNvSpPr/>
          <p:nvPr/>
        </p:nvSpPr>
        <p:spPr>
          <a:xfrm>
            <a:off x="758952" y="530352"/>
            <a:ext cx="329184" cy="329184"/>
          </a:xfrm>
          <a:prstGeom prst="rect">
            <a:avLst/>
          </a:prstGeom>
          <a:noFill/>
          <a:ln/>
        </p:spPr>
        <p:txBody>
          <a:bodyPr wrap="square" lIns="0" tIns="0" rIns="0" bIns="0" rtlCol="0" anchor="ctr"/>
          <a:lstStyle/>
          <a:p>
            <a:pPr algn="ctr" indent="0" marL="0">
              <a:buNone/>
            </a:pPr>
            <a:r>
              <a:rPr lang="en-US" sz="1300" b="1" dirty="0">
                <a:solidFill>
                  <a:srgbClr val="0B1F3A"/>
                </a:solidFill>
                <a:latin typeface="Segoe UI Semibold" pitchFamily="34" charset="0"/>
                <a:ea typeface="Segoe UI Semibold" pitchFamily="34" charset="-122"/>
                <a:cs typeface="Segoe UI Semibold" pitchFamily="34" charset="-120"/>
              </a:rPr>
              <a:t>A</a:t>
            </a:r>
            <a:endParaRPr lang="en-US" sz="1300" dirty="0"/>
          </a:p>
        </p:txBody>
      </p:sp>
      <p:sp>
        <p:nvSpPr>
          <p:cNvPr id="47" name="Text 45"/>
          <p:cNvSpPr/>
          <p:nvPr/>
        </p:nvSpPr>
        <p:spPr>
          <a:xfrm>
            <a:off x="1179576" y="530352"/>
            <a:ext cx="2011680" cy="329184"/>
          </a:xfrm>
          <a:prstGeom prst="rect">
            <a:avLst/>
          </a:prstGeom>
          <a:noFill/>
          <a:ln/>
        </p:spPr>
        <p:txBody>
          <a:bodyPr wrap="square" lIns="0" tIns="0" rIns="0" bIns="0" rtlCol="0" anchor="ctr"/>
          <a:lstStyle/>
          <a:p>
            <a:pPr indent="0" marL="0">
              <a:buNone/>
            </a:pPr>
            <a:r>
              <a:rPr lang="en-US" sz="1500" b="1" dirty="0">
                <a:solidFill>
                  <a:srgbClr val="FFFFFF"/>
                </a:solidFill>
                <a:latin typeface="Segoe UI Semibold" pitchFamily="34" charset="0"/>
                <a:ea typeface="Segoe UI Semibold" pitchFamily="34" charset="-122"/>
                <a:cs typeface="Segoe UI Semibold" pitchFamily="34" charset="-120"/>
              </a:rPr>
              <a:t>ARKA-Lite</a:t>
            </a:r>
            <a:endParaRPr lang="en-US" sz="1500" dirty="0"/>
          </a:p>
        </p:txBody>
      </p:sp>
      <p:sp>
        <p:nvSpPr>
          <p:cNvPr id="48" name="Text 46"/>
          <p:cNvSpPr/>
          <p:nvPr/>
        </p:nvSpPr>
        <p:spPr>
          <a:xfrm>
            <a:off x="758952" y="1371600"/>
            <a:ext cx="5669280" cy="274320"/>
          </a:xfrm>
          <a:prstGeom prst="rect">
            <a:avLst/>
          </a:prstGeom>
          <a:noFill/>
          <a:ln/>
        </p:spPr>
        <p:txBody>
          <a:bodyPr wrap="square" lIns="0" tIns="0" rIns="0" bIns="0" rtlCol="0" anchor="ctr">
            <a:normAutofit/>
          </a:bodyPr>
          <a:lstStyle/>
          <a:p>
            <a:pPr indent="0" marL="0">
              <a:buNone/>
            </a:pPr>
            <a:r>
              <a:rPr lang="en-US" sz="1200" b="1" spc="300" kern="0" dirty="0">
                <a:solidFill>
                  <a:srgbClr val="2BA6CB"/>
                </a:solidFill>
                <a:latin typeface="Segoe UI" pitchFamily="34" charset="0"/>
                <a:ea typeface="Segoe UI" pitchFamily="34" charset="-122"/>
                <a:cs typeface="Segoe UI" pitchFamily="34" charset="-120"/>
              </a:rPr>
              <a:t>EQUIPO ARKA-LITOS · UPSKILLING BACKEND JAVA</a:t>
            </a:r>
            <a:endParaRPr lang="en-US" sz="1200" dirty="0"/>
          </a:p>
        </p:txBody>
      </p:sp>
      <p:sp>
        <p:nvSpPr>
          <p:cNvPr id="49" name="Text 47"/>
          <p:cNvSpPr/>
          <p:nvPr/>
        </p:nvSpPr>
        <p:spPr>
          <a:xfrm>
            <a:off x="758952" y="1719072"/>
            <a:ext cx="5486400" cy="1783080"/>
          </a:xfrm>
          <a:prstGeom prst="rect">
            <a:avLst/>
          </a:prstGeom>
          <a:noFill/>
          <a:ln/>
        </p:spPr>
        <p:txBody>
          <a:bodyPr wrap="square" lIns="0" tIns="0" rIns="0" bIns="0" rtlCol="0" anchor="t">
            <a:normAutofit/>
          </a:bodyPr>
          <a:lstStyle/>
          <a:p>
            <a:pPr indent="0" marL="0">
              <a:lnSpc>
                <a:spcPct val="95000"/>
              </a:lnSpc>
              <a:buNone/>
            </a:pPr>
            <a:r>
              <a:rPr lang="en-US" sz="5400" b="1" dirty="0">
                <a:solidFill>
                  <a:srgbClr val="FFFFFF"/>
                </a:solidFill>
                <a:latin typeface="Segoe UI Semibold" pitchFamily="34" charset="0"/>
                <a:ea typeface="Segoe UI Semibold" pitchFamily="34" charset="-122"/>
                <a:cs typeface="Segoe UI Semibold" pitchFamily="34" charset="-120"/>
              </a:rPr>
              <a:t>Del endpoint</a:t>
            </a:r>
            <a:endParaRPr lang="en-US" sz="5400" dirty="0"/>
          </a:p>
          <a:p>
            <a:pPr indent="0" marL="0">
              <a:lnSpc>
                <a:spcPct val="95000"/>
              </a:lnSpc>
              <a:buNone/>
            </a:pPr>
            <a:r>
              <a:rPr lang="en-US" sz="5400" b="1" dirty="0">
                <a:solidFill>
                  <a:srgbClr val="FFFFFF"/>
                </a:solidFill>
                <a:latin typeface="Segoe UI Semibold" pitchFamily="34" charset="0"/>
                <a:ea typeface="Segoe UI Semibold" pitchFamily="34" charset="-122"/>
                <a:cs typeface="Segoe UI Semibold" pitchFamily="34" charset="-120"/>
              </a:rPr>
              <a:t>al clúster</a:t>
            </a:r>
            <a:endParaRPr lang="en-US" sz="5400" dirty="0"/>
          </a:p>
        </p:txBody>
      </p:sp>
      <p:sp>
        <p:nvSpPr>
          <p:cNvPr id="50" name="Text 48"/>
          <p:cNvSpPr/>
          <p:nvPr/>
        </p:nvSpPr>
        <p:spPr>
          <a:xfrm>
            <a:off x="758952" y="3584448"/>
            <a:ext cx="4480560" cy="731520"/>
          </a:xfrm>
          <a:prstGeom prst="rect">
            <a:avLst/>
          </a:prstGeom>
          <a:noFill/>
          <a:ln/>
        </p:spPr>
        <p:txBody>
          <a:bodyPr wrap="square" lIns="0" tIns="0" rIns="0" bIns="0" rtlCol="0" anchor="t"/>
          <a:lstStyle/>
          <a:p>
            <a:pPr indent="0" marL="0">
              <a:buNone/>
            </a:pPr>
            <a:r>
              <a:rPr lang="en-US" sz="1700" dirty="0">
                <a:solidFill>
                  <a:srgbClr val="9FBEE0"/>
                </a:solidFill>
                <a:latin typeface="Segoe UI" pitchFamily="34" charset="0"/>
                <a:ea typeface="Segoe UI" pitchFamily="34" charset="-122"/>
                <a:cs typeface="Segoe UI" pitchFamily="34" charset="-120"/>
              </a:rPr>
              <a:t>Cómo construimos dos microservicios con sus datos, su plataforma y su operación.</a:t>
            </a:r>
            <a:endParaRPr lang="en-US" sz="1700" dirty="0"/>
          </a:p>
        </p:txBody>
      </p:sp>
      <p:sp>
        <p:nvSpPr>
          <p:cNvPr id="51" name="Shape 49"/>
          <p:cNvSpPr/>
          <p:nvPr/>
        </p:nvSpPr>
        <p:spPr>
          <a:xfrm>
            <a:off x="758952" y="4498848"/>
            <a:ext cx="1225296" cy="914400"/>
          </a:xfrm>
          <a:prstGeom prst="roundRect">
            <a:avLst>
              <a:gd name="adj" fmla="val 10000"/>
            </a:avLst>
          </a:prstGeom>
          <a:solidFill>
            <a:srgbClr val="1C2F48"/>
          </a:solidFill>
          <a:ln w="9525">
            <a:solidFill>
              <a:srgbClr val="164E6D"/>
            </a:solidFill>
            <a:prstDash val="solid"/>
          </a:ln>
        </p:spPr>
      </p:sp>
      <p:sp>
        <p:nvSpPr>
          <p:cNvPr id="52" name="Shape 50"/>
          <p:cNvSpPr/>
          <p:nvPr/>
        </p:nvSpPr>
        <p:spPr>
          <a:xfrm>
            <a:off x="758952" y="4590288"/>
            <a:ext cx="45720" cy="731520"/>
          </a:xfrm>
          <a:prstGeom prst="rect">
            <a:avLst/>
          </a:prstGeom>
          <a:solidFill>
            <a:srgbClr val="2BA6CB"/>
          </a:solidFill>
          <a:ln w="12700">
            <a:solidFill>
              <a:srgbClr val="2BA6CB"/>
            </a:solidFill>
            <a:prstDash val="solid"/>
          </a:ln>
        </p:spPr>
      </p:sp>
      <p:sp>
        <p:nvSpPr>
          <p:cNvPr id="53" name="Text 51"/>
          <p:cNvSpPr/>
          <p:nvPr/>
        </p:nvSpPr>
        <p:spPr>
          <a:xfrm>
            <a:off x="905256" y="4553712"/>
            <a:ext cx="1005840" cy="420624"/>
          </a:xfrm>
          <a:prstGeom prst="rect">
            <a:avLst/>
          </a:prstGeom>
          <a:noFill/>
          <a:ln/>
        </p:spPr>
        <p:txBody>
          <a:bodyPr wrap="square" lIns="0" tIns="0" rIns="0" bIns="0" rtlCol="0" anchor="ctr">
            <a:normAutofit/>
          </a:bodyPr>
          <a:lstStyle/>
          <a:p>
            <a:pPr indent="0" marL="0">
              <a:buNone/>
            </a:pPr>
            <a:r>
              <a:rPr lang="en-US" sz="2600" b="1" dirty="0">
                <a:solidFill>
                  <a:srgbClr val="FFFFFF"/>
                </a:solidFill>
                <a:latin typeface="Segoe UI Semibold" pitchFamily="34" charset="0"/>
                <a:ea typeface="Segoe UI Semibold" pitchFamily="34" charset="-122"/>
                <a:cs typeface="Segoe UI Semibold" pitchFamily="34" charset="-120"/>
              </a:rPr>
              <a:t>2</a:t>
            </a:r>
            <a:endParaRPr lang="en-US" sz="2600" dirty="0"/>
          </a:p>
        </p:txBody>
      </p:sp>
      <p:sp>
        <p:nvSpPr>
          <p:cNvPr id="54" name="Text 52"/>
          <p:cNvSpPr/>
          <p:nvPr/>
        </p:nvSpPr>
        <p:spPr>
          <a:xfrm>
            <a:off x="905256" y="4974336"/>
            <a:ext cx="1024128" cy="384048"/>
          </a:xfrm>
          <a:prstGeom prst="rect">
            <a:avLst/>
          </a:prstGeom>
          <a:noFill/>
          <a:ln/>
        </p:spPr>
        <p:txBody>
          <a:bodyPr wrap="square" lIns="0" tIns="0" rIns="0" bIns="0" rtlCol="0" anchor="t"/>
          <a:lstStyle/>
          <a:p>
            <a:pPr indent="0" marL="0">
              <a:buNone/>
            </a:pPr>
            <a:r>
              <a:rPr lang="en-US" sz="1000" dirty="0">
                <a:solidFill>
                  <a:srgbClr val="9FBEE0"/>
                </a:solidFill>
                <a:latin typeface="Segoe UI" pitchFamily="34" charset="0"/>
                <a:ea typeface="Segoe UI" pitchFamily="34" charset="-122"/>
                <a:cs typeface="Segoe UI" pitchFamily="34" charset="-120"/>
              </a:rPr>
              <a:t>microservicios</a:t>
            </a:r>
            <a:endParaRPr lang="en-US" sz="1000" dirty="0"/>
          </a:p>
        </p:txBody>
      </p:sp>
      <p:sp>
        <p:nvSpPr>
          <p:cNvPr id="55" name="Shape 53"/>
          <p:cNvSpPr/>
          <p:nvPr/>
        </p:nvSpPr>
        <p:spPr>
          <a:xfrm>
            <a:off x="2075688" y="4498848"/>
            <a:ext cx="1225296" cy="914400"/>
          </a:xfrm>
          <a:prstGeom prst="roundRect">
            <a:avLst>
              <a:gd name="adj" fmla="val 10000"/>
            </a:avLst>
          </a:prstGeom>
          <a:solidFill>
            <a:srgbClr val="1C2F48"/>
          </a:solidFill>
          <a:ln w="9525">
            <a:solidFill>
              <a:srgbClr val="164E6D"/>
            </a:solidFill>
            <a:prstDash val="solid"/>
          </a:ln>
        </p:spPr>
      </p:sp>
      <p:sp>
        <p:nvSpPr>
          <p:cNvPr id="56" name="Shape 54"/>
          <p:cNvSpPr/>
          <p:nvPr/>
        </p:nvSpPr>
        <p:spPr>
          <a:xfrm>
            <a:off x="2075688" y="4590288"/>
            <a:ext cx="45720" cy="731520"/>
          </a:xfrm>
          <a:prstGeom prst="rect">
            <a:avLst/>
          </a:prstGeom>
          <a:solidFill>
            <a:srgbClr val="2BA6CB"/>
          </a:solidFill>
          <a:ln w="12700">
            <a:solidFill>
              <a:srgbClr val="2BA6CB"/>
            </a:solidFill>
            <a:prstDash val="solid"/>
          </a:ln>
        </p:spPr>
      </p:sp>
      <p:sp>
        <p:nvSpPr>
          <p:cNvPr id="57" name="Text 55"/>
          <p:cNvSpPr/>
          <p:nvPr/>
        </p:nvSpPr>
        <p:spPr>
          <a:xfrm>
            <a:off x="2221992" y="4553712"/>
            <a:ext cx="1005840" cy="420624"/>
          </a:xfrm>
          <a:prstGeom prst="rect">
            <a:avLst/>
          </a:prstGeom>
          <a:noFill/>
          <a:ln/>
        </p:spPr>
        <p:txBody>
          <a:bodyPr wrap="square" lIns="0" tIns="0" rIns="0" bIns="0" rtlCol="0" anchor="ctr">
            <a:normAutofit/>
          </a:bodyPr>
          <a:lstStyle/>
          <a:p>
            <a:pPr indent="0" marL="0">
              <a:buNone/>
            </a:pPr>
            <a:r>
              <a:rPr lang="en-US" sz="2600" b="1" dirty="0">
                <a:solidFill>
                  <a:srgbClr val="FFFFFF"/>
                </a:solidFill>
                <a:latin typeface="Segoe UI Semibold" pitchFamily="34" charset="0"/>
                <a:ea typeface="Segoe UI Semibold" pitchFamily="34" charset="-122"/>
                <a:cs typeface="Segoe UI Semibold" pitchFamily="34" charset="-120"/>
              </a:rPr>
              <a:t>2</a:t>
            </a:r>
            <a:endParaRPr lang="en-US" sz="2600" dirty="0"/>
          </a:p>
        </p:txBody>
      </p:sp>
      <p:sp>
        <p:nvSpPr>
          <p:cNvPr id="58" name="Text 56"/>
          <p:cNvSpPr/>
          <p:nvPr/>
        </p:nvSpPr>
        <p:spPr>
          <a:xfrm>
            <a:off x="2221992" y="4974336"/>
            <a:ext cx="1024128" cy="384048"/>
          </a:xfrm>
          <a:prstGeom prst="rect">
            <a:avLst/>
          </a:prstGeom>
          <a:noFill/>
          <a:ln/>
        </p:spPr>
        <p:txBody>
          <a:bodyPr wrap="square" lIns="0" tIns="0" rIns="0" bIns="0" rtlCol="0" anchor="t"/>
          <a:lstStyle/>
          <a:p>
            <a:pPr indent="0" marL="0">
              <a:buNone/>
            </a:pPr>
            <a:r>
              <a:rPr lang="en-US" sz="1000" dirty="0">
                <a:solidFill>
                  <a:srgbClr val="9FBEE0"/>
                </a:solidFill>
                <a:latin typeface="Segoe UI" pitchFamily="34" charset="0"/>
                <a:ea typeface="Segoe UI" pitchFamily="34" charset="-122"/>
                <a:cs typeface="Segoe UI" pitchFamily="34" charset="-120"/>
              </a:rPr>
              <a:t>bases PostgreSQL</a:t>
            </a:r>
            <a:endParaRPr lang="en-US" sz="1000" dirty="0"/>
          </a:p>
        </p:txBody>
      </p:sp>
      <p:sp>
        <p:nvSpPr>
          <p:cNvPr id="59" name="Shape 57"/>
          <p:cNvSpPr/>
          <p:nvPr/>
        </p:nvSpPr>
        <p:spPr>
          <a:xfrm>
            <a:off x="3392424" y="4498848"/>
            <a:ext cx="1225296" cy="914400"/>
          </a:xfrm>
          <a:prstGeom prst="roundRect">
            <a:avLst>
              <a:gd name="adj" fmla="val 10000"/>
            </a:avLst>
          </a:prstGeom>
          <a:solidFill>
            <a:srgbClr val="1C2F48"/>
          </a:solidFill>
          <a:ln w="9525">
            <a:solidFill>
              <a:srgbClr val="164E6D"/>
            </a:solidFill>
            <a:prstDash val="solid"/>
          </a:ln>
        </p:spPr>
      </p:sp>
      <p:sp>
        <p:nvSpPr>
          <p:cNvPr id="60" name="Shape 58"/>
          <p:cNvSpPr/>
          <p:nvPr/>
        </p:nvSpPr>
        <p:spPr>
          <a:xfrm>
            <a:off x="3392424" y="4590288"/>
            <a:ext cx="45720" cy="731520"/>
          </a:xfrm>
          <a:prstGeom prst="rect">
            <a:avLst/>
          </a:prstGeom>
          <a:solidFill>
            <a:srgbClr val="2BA6CB"/>
          </a:solidFill>
          <a:ln w="12700">
            <a:solidFill>
              <a:srgbClr val="2BA6CB"/>
            </a:solidFill>
            <a:prstDash val="solid"/>
          </a:ln>
        </p:spPr>
      </p:sp>
      <p:sp>
        <p:nvSpPr>
          <p:cNvPr id="61" name="Text 59"/>
          <p:cNvSpPr/>
          <p:nvPr/>
        </p:nvSpPr>
        <p:spPr>
          <a:xfrm>
            <a:off x="3538728" y="4553712"/>
            <a:ext cx="1005840" cy="420624"/>
          </a:xfrm>
          <a:prstGeom prst="rect">
            <a:avLst/>
          </a:prstGeom>
          <a:noFill/>
          <a:ln/>
        </p:spPr>
        <p:txBody>
          <a:bodyPr wrap="square" lIns="0" tIns="0" rIns="0" bIns="0" rtlCol="0" anchor="ctr">
            <a:normAutofit/>
          </a:bodyPr>
          <a:lstStyle/>
          <a:p>
            <a:pPr indent="0" marL="0">
              <a:buNone/>
            </a:pPr>
            <a:r>
              <a:rPr lang="en-US" sz="2600" b="1" dirty="0">
                <a:solidFill>
                  <a:srgbClr val="FFFFFF"/>
                </a:solidFill>
                <a:latin typeface="Segoe UI Semibold" pitchFamily="34" charset="0"/>
                <a:ea typeface="Segoe UI Semibold" pitchFamily="34" charset="-122"/>
                <a:cs typeface="Segoe UI Semibold" pitchFamily="34" charset="-120"/>
              </a:rPr>
              <a:t>1</a:t>
            </a:r>
            <a:endParaRPr lang="en-US" sz="2600" dirty="0"/>
          </a:p>
        </p:txBody>
      </p:sp>
      <p:sp>
        <p:nvSpPr>
          <p:cNvPr id="62" name="Text 60"/>
          <p:cNvSpPr/>
          <p:nvPr/>
        </p:nvSpPr>
        <p:spPr>
          <a:xfrm>
            <a:off x="3538728" y="4974336"/>
            <a:ext cx="1024128" cy="384048"/>
          </a:xfrm>
          <a:prstGeom prst="rect">
            <a:avLst/>
          </a:prstGeom>
          <a:noFill/>
          <a:ln/>
        </p:spPr>
        <p:txBody>
          <a:bodyPr wrap="square" lIns="0" tIns="0" rIns="0" bIns="0" rtlCol="0" anchor="t"/>
          <a:lstStyle/>
          <a:p>
            <a:pPr indent="0" marL="0">
              <a:buNone/>
            </a:pPr>
            <a:r>
              <a:rPr lang="en-US" sz="1000" dirty="0">
                <a:solidFill>
                  <a:srgbClr val="9FBEE0"/>
                </a:solidFill>
                <a:latin typeface="Segoe UI" pitchFamily="34" charset="0"/>
                <a:ea typeface="Segoe UI" pitchFamily="34" charset="-122"/>
                <a:cs typeface="Segoe UI" pitchFamily="34" charset="-120"/>
              </a:rPr>
              <a:t>comando levanta todo</a:t>
            </a:r>
            <a:endParaRPr lang="en-US" sz="1000" dirty="0"/>
          </a:p>
        </p:txBody>
      </p:sp>
      <p:sp>
        <p:nvSpPr>
          <p:cNvPr id="63" name="Shape 61"/>
          <p:cNvSpPr/>
          <p:nvPr/>
        </p:nvSpPr>
        <p:spPr>
          <a:xfrm>
            <a:off x="4709160" y="4498848"/>
            <a:ext cx="1225296" cy="914400"/>
          </a:xfrm>
          <a:prstGeom prst="roundRect">
            <a:avLst>
              <a:gd name="adj" fmla="val 10000"/>
            </a:avLst>
          </a:prstGeom>
          <a:solidFill>
            <a:srgbClr val="1C2F48"/>
          </a:solidFill>
          <a:ln w="9525">
            <a:solidFill>
              <a:srgbClr val="164E6D"/>
            </a:solidFill>
            <a:prstDash val="solid"/>
          </a:ln>
        </p:spPr>
      </p:sp>
      <p:sp>
        <p:nvSpPr>
          <p:cNvPr id="64" name="Shape 62"/>
          <p:cNvSpPr/>
          <p:nvPr/>
        </p:nvSpPr>
        <p:spPr>
          <a:xfrm>
            <a:off x="4709160" y="4590288"/>
            <a:ext cx="45720" cy="731520"/>
          </a:xfrm>
          <a:prstGeom prst="rect">
            <a:avLst/>
          </a:prstGeom>
          <a:solidFill>
            <a:srgbClr val="2BA6CB"/>
          </a:solidFill>
          <a:ln w="12700">
            <a:solidFill>
              <a:srgbClr val="2BA6CB"/>
            </a:solidFill>
            <a:prstDash val="solid"/>
          </a:ln>
        </p:spPr>
      </p:sp>
      <p:sp>
        <p:nvSpPr>
          <p:cNvPr id="65" name="Text 63"/>
          <p:cNvSpPr/>
          <p:nvPr/>
        </p:nvSpPr>
        <p:spPr>
          <a:xfrm>
            <a:off x="4855464" y="4553712"/>
            <a:ext cx="1005840" cy="420624"/>
          </a:xfrm>
          <a:prstGeom prst="rect">
            <a:avLst/>
          </a:prstGeom>
          <a:noFill/>
          <a:ln/>
        </p:spPr>
        <p:txBody>
          <a:bodyPr wrap="square" lIns="0" tIns="0" rIns="0" bIns="0" rtlCol="0" anchor="ctr">
            <a:normAutofit/>
          </a:bodyPr>
          <a:lstStyle/>
          <a:p>
            <a:pPr indent="0" marL="0">
              <a:buNone/>
            </a:pPr>
            <a:r>
              <a:rPr lang="en-US" sz="2600" b="1" dirty="0">
                <a:solidFill>
                  <a:srgbClr val="FFFFFF"/>
                </a:solidFill>
                <a:latin typeface="Segoe UI Semibold" pitchFamily="34" charset="0"/>
                <a:ea typeface="Segoe UI Semibold" pitchFamily="34" charset="-122"/>
                <a:cs typeface="Segoe UI Semibold" pitchFamily="34" charset="-120"/>
              </a:rPr>
              <a:t>0</a:t>
            </a:r>
            <a:endParaRPr lang="en-US" sz="2600" dirty="0"/>
          </a:p>
        </p:txBody>
      </p:sp>
      <p:sp>
        <p:nvSpPr>
          <p:cNvPr id="66" name="Text 64"/>
          <p:cNvSpPr/>
          <p:nvPr/>
        </p:nvSpPr>
        <p:spPr>
          <a:xfrm>
            <a:off x="4855464" y="4974336"/>
            <a:ext cx="1024128" cy="384048"/>
          </a:xfrm>
          <a:prstGeom prst="rect">
            <a:avLst/>
          </a:prstGeom>
          <a:noFill/>
          <a:ln/>
        </p:spPr>
        <p:txBody>
          <a:bodyPr wrap="square" lIns="0" tIns="0" rIns="0" bIns="0" rtlCol="0" anchor="t"/>
          <a:lstStyle/>
          <a:p>
            <a:pPr indent="0" marL="0">
              <a:buNone/>
            </a:pPr>
            <a:r>
              <a:rPr lang="en-US" sz="950" dirty="0">
                <a:solidFill>
                  <a:srgbClr val="9FBEE0"/>
                </a:solidFill>
                <a:latin typeface="Segoe UI" pitchFamily="34" charset="0"/>
                <a:ea typeface="Segoe UI" pitchFamily="34" charset="-122"/>
                <a:cs typeface="Segoe UI" pitchFamily="34" charset="-120"/>
              </a:rPr>
              <a:t>avisos perdidos o duplicados</a:t>
            </a:r>
            <a:endParaRPr lang="en-US" sz="950" dirty="0"/>
          </a:p>
        </p:txBody>
      </p:sp>
      <p:sp>
        <p:nvSpPr>
          <p:cNvPr id="67" name="Text 65"/>
          <p:cNvSpPr/>
          <p:nvPr/>
        </p:nvSpPr>
        <p:spPr>
          <a:xfrm>
            <a:off x="758952" y="5742432"/>
            <a:ext cx="3840480" cy="329184"/>
          </a:xfrm>
          <a:prstGeom prst="roundRect">
            <a:avLst>
              <a:gd name="adj" fmla="val 50000"/>
            </a:avLst>
          </a:prstGeom>
          <a:solidFill>
            <a:srgbClr val="113A57"/>
          </a:solidFill>
          <a:ln w="12700">
            <a:solidFill>
              <a:srgbClr val="2BA6CB"/>
            </a:solidFill>
          </a:ln>
        </p:spPr>
        <p:txBody>
          <a:bodyPr wrap="square" lIns="0" tIns="0" rIns="0" bIns="0" rtlCol="0" anchor="ctr"/>
          <a:lstStyle/>
          <a:p>
            <a:pPr algn="ctr" indent="0" marL="0">
              <a:buNone/>
            </a:pPr>
            <a:r>
              <a:rPr lang="en-US" sz="1000" b="1" spc="100" kern="0" dirty="0">
                <a:solidFill>
                  <a:srgbClr val="2BA6CB"/>
                </a:solidFill>
                <a:latin typeface="Segoe UI" pitchFamily="34" charset="0"/>
                <a:ea typeface="Segoe UI" pitchFamily="34" charset="-122"/>
                <a:cs typeface="Segoe UI" pitchFamily="34" charset="-120"/>
              </a:rPr>
              <a:t>VERSIÓN RESUMEN · STAFF DE TECNOLOGÍA</a:t>
            </a:r>
            <a:endParaRPr lang="en-US" sz="10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APERTURA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Qué vamos a ver</a:t>
            </a:r>
            <a:endParaRPr lang="en-US" sz="2800" dirty="0"/>
          </a:p>
        </p:txBody>
      </p:sp>
      <p:sp>
        <p:nvSpPr>
          <p:cNvPr id="5" name="Text 3"/>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650" dirty="0">
                <a:solidFill>
                  <a:srgbClr val="55627E"/>
                </a:solidFill>
                <a:latin typeface="Segoe UI" pitchFamily="34" charset="0"/>
                <a:ea typeface="Segoe UI" pitchFamily="34" charset="-122"/>
                <a:cs typeface="Segoe UI" pitchFamily="34" charset="-120"/>
              </a:rPr>
              <a:t>Las mismas secciones que todos los equipos; nosotros vamos a fondo en datos, interconexión y DevOps.</a:t>
            </a:r>
            <a:endParaRPr lang="en-US" sz="1650" dirty="0"/>
          </a:p>
        </p:txBody>
      </p:sp>
      <p:sp>
        <p:nvSpPr>
          <p:cNvPr id="6" name="Shape 4"/>
          <p:cNvSpPr/>
          <p:nvPr/>
        </p:nvSpPr>
        <p:spPr>
          <a:xfrm>
            <a:off x="1395962" y="3145536"/>
            <a:ext cx="9399771" cy="0"/>
          </a:xfrm>
          <a:prstGeom prst="line">
            <a:avLst/>
          </a:prstGeom>
          <a:noFill/>
          <a:ln w="50800">
            <a:solidFill>
              <a:srgbClr val="75C5DD"/>
            </a:solidFill>
            <a:prstDash val="solid"/>
          </a:ln>
        </p:spPr>
      </p:sp>
      <p:sp>
        <p:nvSpPr>
          <p:cNvPr id="7" name="Shape 5"/>
          <p:cNvSpPr/>
          <p:nvPr/>
        </p:nvSpPr>
        <p:spPr>
          <a:xfrm>
            <a:off x="1021515" y="2771089"/>
            <a:ext cx="748894" cy="748894"/>
          </a:xfrm>
          <a:prstGeom prst="ellipse">
            <a:avLst/>
          </a:prstGeom>
          <a:solidFill>
            <a:srgbClr val="546585"/>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8" name="Icono code"/>
          <p:cNvSpPr/>
          <p:nvPr/>
        </p:nvSpPr>
        <p:spPr>
          <a:xfrm>
            <a:off x="1208739" y="2958313"/>
            <a:ext cx="374447" cy="374447"/>
          </a:xfrm>
          <a:custGeom>
            <a:avLst/>
            <a:gdLst/>
            <a:ahLst/>
            <a:cxnLst/>
            <a:rect l="l" t="t" r="r" b="b"/>
            <a:pathLst>
              <a:path w="374447" h="374447">
                <a:moveTo>
                  <a:pt x="249631" y="280835"/>
                </a:moveTo>
                <a:lnTo>
                  <a:pt x="343243" y="187223"/>
                </a:lnTo>
                <a:lnTo>
                  <a:pt x="249631" y="93612"/>
                </a:lnTo>
                <a:moveTo>
                  <a:pt x="124816" y="93612"/>
                </a:moveTo>
                <a:lnTo>
                  <a:pt x="31204" y="187223"/>
                </a:lnTo>
                <a:lnTo>
                  <a:pt x="124816" y="280835"/>
                </a:lnTo>
              </a:path>
            </a:pathLst>
          </a:custGeom>
          <a:noFill/>
          <a:ln w="31204" cap="rnd">
            <a:solidFill>
              <a:srgbClr val="FFFFFF"/>
            </a:solidFill>
            <a:prstDash val="solid"/>
            <a:round/>
          </a:ln>
        </p:spPr>
      </p:sp>
      <p:sp>
        <p:nvSpPr>
          <p:cNvPr id="9" name="Text 7"/>
          <p:cNvSpPr/>
          <p:nvPr/>
        </p:nvSpPr>
        <p:spPr>
          <a:xfrm>
            <a:off x="1515785" y="2697937"/>
            <a:ext cx="310896" cy="310896"/>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150" b="1" dirty="0">
                <a:solidFill>
                  <a:srgbClr val="0B1F3A"/>
                </a:solidFill>
                <a:latin typeface="Segoe UI Semibold" pitchFamily="34" charset="0"/>
                <a:ea typeface="Segoe UI Semibold" pitchFamily="34" charset="-122"/>
                <a:cs typeface="Segoe UI Semibold" pitchFamily="34" charset="-120"/>
              </a:rPr>
              <a:t>1</a:t>
            </a:r>
            <a:endParaRPr lang="en-US" sz="1150" dirty="0"/>
          </a:p>
        </p:txBody>
      </p:sp>
      <p:sp>
        <p:nvSpPr>
          <p:cNvPr id="10" name="Text 8"/>
          <p:cNvSpPr/>
          <p:nvPr/>
        </p:nvSpPr>
        <p:spPr>
          <a:xfrm>
            <a:off x="649224" y="3753612"/>
            <a:ext cx="1493476" cy="566928"/>
          </a:xfrm>
          <a:prstGeom prst="rect">
            <a:avLst/>
          </a:prstGeom>
          <a:noFill/>
          <a:ln/>
        </p:spPr>
        <p:txBody>
          <a:bodyPr wrap="square" lIns="0" tIns="0" rIns="0" bIns="0" rtlCol="0" anchor="t">
            <a:normAutofit/>
          </a:bodyPr>
          <a:lstStyle/>
          <a:p>
            <a:pPr algn="ctr" indent="0" marL="0">
              <a:buNone/>
            </a:pPr>
            <a:r>
              <a:rPr lang="en-US" sz="1500" b="1" dirty="0">
                <a:solidFill>
                  <a:srgbClr val="0B1A3C"/>
                </a:solidFill>
                <a:latin typeface="Segoe UI Semibold" pitchFamily="34" charset="0"/>
                <a:ea typeface="Segoe UI Semibold" pitchFamily="34" charset="-122"/>
                <a:cs typeface="Segoe UI Semibold" pitchFamily="34" charset="-120"/>
              </a:rPr>
              <a:t>Fundamentos</a:t>
            </a:r>
            <a:endParaRPr lang="en-US" sz="1500" dirty="0"/>
          </a:p>
        </p:txBody>
      </p:sp>
      <p:sp>
        <p:nvSpPr>
          <p:cNvPr id="11" name="Text 9"/>
          <p:cNvSpPr/>
          <p:nvPr/>
        </p:nvSpPr>
        <p:spPr>
          <a:xfrm>
            <a:off x="707876" y="4393692"/>
            <a:ext cx="1376172" cy="274320"/>
          </a:xfrm>
          <a:prstGeom prst="roundRect">
            <a:avLst>
              <a:gd name="adj" fmla="val 50000"/>
            </a:avLst>
          </a:prstGeom>
          <a:solidFill>
            <a:srgbClr val="FFFFFF"/>
          </a:solidFill>
          <a:ln w="12700">
            <a:solidFill>
              <a:srgbClr val="DFE6F0"/>
            </a:solidFill>
          </a:ln>
        </p:spPr>
        <p:txBody>
          <a:bodyPr wrap="square" lIns="0" tIns="0" rIns="0" bIns="0" rtlCol="0" anchor="ctr"/>
          <a:lstStyle/>
          <a:p>
            <a:pPr algn="ctr" indent="0" marL="0">
              <a:buNone/>
            </a:pPr>
            <a:r>
              <a:rPr lang="en-US" sz="950" b="1" spc="100" kern="0" dirty="0">
                <a:solidFill>
                  <a:srgbClr val="55627E"/>
                </a:solidFill>
                <a:latin typeface="Segoe UI" pitchFamily="34" charset="0"/>
                <a:ea typeface="Segoe UI" pitchFamily="34" charset="-122"/>
                <a:cs typeface="Segoe UI" pitchFamily="34" charset="-120"/>
              </a:rPr>
              <a:t>VISTA GENERAL</a:t>
            </a:r>
            <a:endParaRPr lang="en-US" sz="950" dirty="0"/>
          </a:p>
        </p:txBody>
      </p:sp>
      <p:sp>
        <p:nvSpPr>
          <p:cNvPr id="12" name="Text 10"/>
          <p:cNvSpPr/>
          <p:nvPr/>
        </p:nvSpPr>
        <p:spPr>
          <a:xfrm>
            <a:off x="667512" y="4777740"/>
            <a:ext cx="1456900" cy="1577340"/>
          </a:xfrm>
          <a:prstGeom prst="rect">
            <a:avLst/>
          </a:prstGeom>
          <a:noFill/>
          <a:ln/>
        </p:spPr>
        <p:txBody>
          <a:bodyPr wrap="square" lIns="0" tIns="0" rIns="0" bIns="0" rtlCol="0" anchor="t">
            <a:normAutofit/>
          </a:bodyPr>
          <a:lstStyle/>
          <a:p>
            <a:pPr algn="ctr" indent="0" marL="0">
              <a:buNone/>
            </a:pPr>
            <a:r>
              <a:rPr lang="en-US" sz="1150" dirty="0">
                <a:solidFill>
                  <a:srgbClr val="55627E"/>
                </a:solidFill>
                <a:latin typeface="Segoe UI" pitchFamily="34" charset="0"/>
                <a:ea typeface="Segoe UI" pitchFamily="34" charset="-122"/>
                <a:cs typeface="Segoe UI" pitchFamily="34" charset="-120"/>
              </a:rPr>
              <a:t>Primero el qué · Código mantenible · Git y documentación</a:t>
            </a:r>
            <a:endParaRPr lang="en-US" sz="1150" dirty="0"/>
          </a:p>
        </p:txBody>
      </p:sp>
      <p:sp>
        <p:nvSpPr>
          <p:cNvPr id="13" name="Shape 11"/>
          <p:cNvSpPr/>
          <p:nvPr/>
        </p:nvSpPr>
        <p:spPr>
          <a:xfrm>
            <a:off x="2588144" y="2771089"/>
            <a:ext cx="748894" cy="748894"/>
          </a:xfrm>
          <a:prstGeom prst="ellipse">
            <a:avLst/>
          </a:prstGeom>
          <a:solidFill>
            <a:srgbClr val="546585"/>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14" name="Icono network"/>
          <p:cNvSpPr/>
          <p:nvPr/>
        </p:nvSpPr>
        <p:spPr>
          <a:xfrm>
            <a:off x="2775367" y="2958313"/>
            <a:ext cx="374447" cy="374447"/>
          </a:xfrm>
          <a:custGeom>
            <a:avLst/>
            <a:gdLst/>
            <a:ahLst/>
            <a:cxnLst/>
            <a:rect l="l" t="t" r="r" b="b"/>
            <a:pathLst>
              <a:path w="374447" h="374447">
                <a:moveTo>
                  <a:pt x="265233" y="249631"/>
                </a:moveTo>
                <a:lnTo>
                  <a:pt x="327641" y="249631"/>
                </a:lnTo>
                <a:cubicBezTo>
                  <a:pt x="336258" y="249631"/>
                  <a:pt x="343243" y="256616"/>
                  <a:pt x="343243" y="265233"/>
                </a:cubicBezTo>
                <a:lnTo>
                  <a:pt x="343243" y="327641"/>
                </a:lnTo>
                <a:cubicBezTo>
                  <a:pt x="343243" y="336258"/>
                  <a:pt x="336258" y="343243"/>
                  <a:pt x="327641" y="343243"/>
                </a:cubicBezTo>
                <a:lnTo>
                  <a:pt x="265233" y="343243"/>
                </a:lnTo>
                <a:cubicBezTo>
                  <a:pt x="256616" y="343243"/>
                  <a:pt x="249631" y="336258"/>
                  <a:pt x="249631" y="327641"/>
                </a:cubicBezTo>
                <a:lnTo>
                  <a:pt x="249631" y="265233"/>
                </a:lnTo>
                <a:cubicBezTo>
                  <a:pt x="249631" y="256616"/>
                  <a:pt x="256616" y="249631"/>
                  <a:pt x="265233" y="249631"/>
                </a:cubicBezTo>
                <a:close/>
                <a:moveTo>
                  <a:pt x="46806" y="249631"/>
                </a:moveTo>
                <a:lnTo>
                  <a:pt x="109214" y="249631"/>
                </a:lnTo>
                <a:cubicBezTo>
                  <a:pt x="117830" y="249631"/>
                  <a:pt x="124816" y="256616"/>
                  <a:pt x="124816" y="265233"/>
                </a:cubicBezTo>
                <a:lnTo>
                  <a:pt x="124816" y="327641"/>
                </a:lnTo>
                <a:cubicBezTo>
                  <a:pt x="124816" y="336258"/>
                  <a:pt x="117830" y="343243"/>
                  <a:pt x="109214" y="343243"/>
                </a:cubicBezTo>
                <a:lnTo>
                  <a:pt x="46806" y="343243"/>
                </a:lnTo>
                <a:cubicBezTo>
                  <a:pt x="38189" y="343243"/>
                  <a:pt x="31204" y="336258"/>
                  <a:pt x="31204" y="327641"/>
                </a:cubicBezTo>
                <a:lnTo>
                  <a:pt x="31204" y="265233"/>
                </a:lnTo>
                <a:cubicBezTo>
                  <a:pt x="31204" y="256616"/>
                  <a:pt x="38189" y="249631"/>
                  <a:pt x="46806" y="249631"/>
                </a:cubicBezTo>
                <a:close/>
                <a:moveTo>
                  <a:pt x="156020" y="31204"/>
                </a:moveTo>
                <a:lnTo>
                  <a:pt x="218427" y="31204"/>
                </a:lnTo>
                <a:cubicBezTo>
                  <a:pt x="227044" y="31204"/>
                  <a:pt x="234029" y="38189"/>
                  <a:pt x="234029" y="46806"/>
                </a:cubicBezTo>
                <a:lnTo>
                  <a:pt x="234029" y="109214"/>
                </a:lnTo>
                <a:cubicBezTo>
                  <a:pt x="234029" y="117830"/>
                  <a:pt x="227044" y="124816"/>
                  <a:pt x="218427" y="124816"/>
                </a:cubicBezTo>
                <a:lnTo>
                  <a:pt x="156020" y="124816"/>
                </a:lnTo>
                <a:cubicBezTo>
                  <a:pt x="147403" y="124816"/>
                  <a:pt x="140418" y="117830"/>
                  <a:pt x="140418" y="109214"/>
                </a:cubicBezTo>
                <a:lnTo>
                  <a:pt x="140418" y="46806"/>
                </a:lnTo>
                <a:cubicBezTo>
                  <a:pt x="140418" y="38189"/>
                  <a:pt x="147403" y="31204"/>
                  <a:pt x="156020" y="31204"/>
                </a:cubicBezTo>
                <a:close/>
                <a:moveTo>
                  <a:pt x="78010" y="249631"/>
                </a:moveTo>
                <a:lnTo>
                  <a:pt x="78010" y="202825"/>
                </a:lnTo>
                <a:cubicBezTo>
                  <a:pt x="78010" y="194209"/>
                  <a:pt x="84995" y="187223"/>
                  <a:pt x="93612" y="187223"/>
                </a:cubicBezTo>
                <a:lnTo>
                  <a:pt x="280835" y="187223"/>
                </a:lnTo>
                <a:cubicBezTo>
                  <a:pt x="289452" y="187223"/>
                  <a:pt x="296437" y="194209"/>
                  <a:pt x="296437" y="202825"/>
                </a:cubicBezTo>
                <a:lnTo>
                  <a:pt x="296437" y="249631"/>
                </a:lnTo>
                <a:moveTo>
                  <a:pt x="187223" y="187223"/>
                </a:moveTo>
                <a:lnTo>
                  <a:pt x="187223" y="124816"/>
                </a:lnTo>
              </a:path>
            </a:pathLst>
          </a:custGeom>
          <a:noFill/>
          <a:ln w="31204" cap="rnd">
            <a:solidFill>
              <a:srgbClr val="FFFFFF"/>
            </a:solidFill>
            <a:prstDash val="solid"/>
            <a:round/>
          </a:ln>
        </p:spPr>
      </p:sp>
      <p:sp>
        <p:nvSpPr>
          <p:cNvPr id="15" name="Text 13"/>
          <p:cNvSpPr/>
          <p:nvPr/>
        </p:nvSpPr>
        <p:spPr>
          <a:xfrm>
            <a:off x="3082414" y="2697937"/>
            <a:ext cx="310896" cy="310896"/>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150" b="1" dirty="0">
                <a:solidFill>
                  <a:srgbClr val="0B1F3A"/>
                </a:solidFill>
                <a:latin typeface="Segoe UI Semibold" pitchFamily="34" charset="0"/>
                <a:ea typeface="Segoe UI Semibold" pitchFamily="34" charset="-122"/>
                <a:cs typeface="Segoe UI Semibold" pitchFamily="34" charset="-120"/>
              </a:rPr>
              <a:t>2</a:t>
            </a:r>
            <a:endParaRPr lang="en-US" sz="1150" dirty="0"/>
          </a:p>
        </p:txBody>
      </p:sp>
      <p:sp>
        <p:nvSpPr>
          <p:cNvPr id="16" name="Text 14"/>
          <p:cNvSpPr/>
          <p:nvPr/>
        </p:nvSpPr>
        <p:spPr>
          <a:xfrm>
            <a:off x="2215852" y="3753612"/>
            <a:ext cx="1493476" cy="566928"/>
          </a:xfrm>
          <a:prstGeom prst="rect">
            <a:avLst/>
          </a:prstGeom>
          <a:noFill/>
          <a:ln/>
        </p:spPr>
        <p:txBody>
          <a:bodyPr wrap="square" lIns="0" tIns="0" rIns="0" bIns="0" rtlCol="0" anchor="t">
            <a:normAutofit/>
          </a:bodyPr>
          <a:lstStyle/>
          <a:p>
            <a:pPr algn="ctr" indent="0" marL="0">
              <a:buNone/>
            </a:pPr>
            <a:r>
              <a:rPr lang="en-US" sz="1500" b="1" dirty="0">
                <a:solidFill>
                  <a:srgbClr val="0B1A3C"/>
                </a:solidFill>
                <a:latin typeface="Segoe UI Semibold" pitchFamily="34" charset="0"/>
                <a:ea typeface="Segoe UI Semibold" pitchFamily="34" charset="-122"/>
                <a:cs typeface="Segoe UI Semibold" pitchFamily="34" charset="-120"/>
              </a:rPr>
              <a:t>Arquitectura</a:t>
            </a:r>
            <a:endParaRPr lang="en-US" sz="1500" dirty="0"/>
          </a:p>
        </p:txBody>
      </p:sp>
      <p:sp>
        <p:nvSpPr>
          <p:cNvPr id="17" name="Text 15"/>
          <p:cNvSpPr/>
          <p:nvPr/>
        </p:nvSpPr>
        <p:spPr>
          <a:xfrm>
            <a:off x="2274505" y="4393692"/>
            <a:ext cx="1376172" cy="274320"/>
          </a:xfrm>
          <a:prstGeom prst="roundRect">
            <a:avLst>
              <a:gd name="adj" fmla="val 50000"/>
            </a:avLst>
          </a:prstGeom>
          <a:solidFill>
            <a:srgbClr val="FFFFFF"/>
          </a:solidFill>
          <a:ln w="12700">
            <a:solidFill>
              <a:srgbClr val="DFE6F0"/>
            </a:solidFill>
          </a:ln>
        </p:spPr>
        <p:txBody>
          <a:bodyPr wrap="square" lIns="0" tIns="0" rIns="0" bIns="0" rtlCol="0" anchor="ctr"/>
          <a:lstStyle/>
          <a:p>
            <a:pPr algn="ctr" indent="0" marL="0">
              <a:buNone/>
            </a:pPr>
            <a:r>
              <a:rPr lang="en-US" sz="950" b="1" spc="100" kern="0" dirty="0">
                <a:solidFill>
                  <a:srgbClr val="55627E"/>
                </a:solidFill>
                <a:latin typeface="Segoe UI" pitchFamily="34" charset="0"/>
                <a:ea typeface="Segoe UI" pitchFamily="34" charset="-122"/>
                <a:cs typeface="Segoe UI" pitchFamily="34" charset="-120"/>
              </a:rPr>
              <a:t>VISTA GENERAL</a:t>
            </a:r>
            <a:endParaRPr lang="en-US" sz="950" dirty="0"/>
          </a:p>
        </p:txBody>
      </p:sp>
      <p:sp>
        <p:nvSpPr>
          <p:cNvPr id="18" name="Text 16"/>
          <p:cNvSpPr/>
          <p:nvPr/>
        </p:nvSpPr>
        <p:spPr>
          <a:xfrm>
            <a:off x="2234140" y="4777740"/>
            <a:ext cx="1456900" cy="1577340"/>
          </a:xfrm>
          <a:prstGeom prst="rect">
            <a:avLst/>
          </a:prstGeom>
          <a:noFill/>
          <a:ln/>
        </p:spPr>
        <p:txBody>
          <a:bodyPr wrap="square" lIns="0" tIns="0" rIns="0" bIns="0" rtlCol="0" anchor="t">
            <a:normAutofit/>
          </a:bodyPr>
          <a:lstStyle/>
          <a:p>
            <a:pPr algn="ctr" indent="0" marL="0">
              <a:buNone/>
            </a:pPr>
            <a:r>
              <a:rPr lang="en-US" sz="1150" dirty="0">
                <a:solidFill>
                  <a:srgbClr val="55627E"/>
                </a:solidFill>
                <a:latin typeface="Segoe UI" pitchFamily="34" charset="0"/>
                <a:ea typeface="Segoe UI" pitchFamily="34" charset="-122"/>
                <a:cs typeface="Segoe UI" pitchFamily="34" charset="-120"/>
              </a:rPr>
              <a:t>Microservicios · Una base por servicio · Hexagonal en una frase</a:t>
            </a:r>
            <a:endParaRPr lang="en-US" sz="1150" dirty="0"/>
          </a:p>
        </p:txBody>
      </p:sp>
      <p:sp>
        <p:nvSpPr>
          <p:cNvPr id="19" name="[p1] Forma"/>
          <p:cNvSpPr/>
          <p:nvPr/>
        </p:nvSpPr>
        <p:spPr>
          <a:xfrm>
            <a:off x="4049159" y="2665476"/>
            <a:ext cx="960120" cy="960120"/>
          </a:xfrm>
          <a:prstGeom prst="ellipse">
            <a:avLst/>
          </a:prstGeom>
          <a:solidFill>
            <a:srgbClr val="0B2350"/>
          </a:solidFill>
          <a:ln w="44450">
            <a:solidFill>
              <a:srgbClr val="2BA6CB"/>
            </a:solidFill>
            <a:prstDash val="solid"/>
          </a:ln>
          <a:effectLst>
            <a:outerShdw sx="100000" sy="100000" kx="0" ky="0" algn="bl" rotWithShape="0" blurRad="114300" dist="50800" dir="16200000">
              <a:srgbClr val="2BA6CB">
                <a:alpha val="60000"/>
              </a:srgbClr>
            </a:outerShdw>
          </a:effectLst>
        </p:spPr>
      </p:sp>
      <p:sp>
        <p:nvSpPr>
          <p:cNvPr id="20" name="[p1] Icono database"/>
          <p:cNvSpPr/>
          <p:nvPr/>
        </p:nvSpPr>
        <p:spPr>
          <a:xfrm>
            <a:off x="4289189" y="2905506"/>
            <a:ext cx="480060" cy="480060"/>
          </a:xfrm>
          <a:custGeom>
            <a:avLst/>
            <a:gdLst/>
            <a:ahLst/>
            <a:cxnLst/>
            <a:rect l="l" t="t" r="r" b="b"/>
            <a:pathLst>
              <a:path w="480060" h="480060">
                <a:moveTo>
                  <a:pt x="420053" y="100013"/>
                </a:moveTo>
                <a:cubicBezTo>
                  <a:pt x="420053" y="133154"/>
                  <a:pt x="339454" y="160020"/>
                  <a:pt x="240030" y="160020"/>
                </a:cubicBezTo>
                <a:cubicBezTo>
                  <a:pt x="140606" y="160020"/>
                  <a:pt x="60008" y="133154"/>
                  <a:pt x="60008" y="100013"/>
                </a:cubicBezTo>
                <a:cubicBezTo>
                  <a:pt x="60008" y="66871"/>
                  <a:pt x="140606" y="40005"/>
                  <a:pt x="240030" y="40005"/>
                </a:cubicBezTo>
                <a:cubicBezTo>
                  <a:pt x="339454" y="40005"/>
                  <a:pt x="420053" y="66871"/>
                  <a:pt x="420053" y="100013"/>
                </a:cubicBezTo>
                <a:close/>
                <a:moveTo>
                  <a:pt x="60008" y="100013"/>
                </a:moveTo>
                <a:lnTo>
                  <a:pt x="60008" y="380048"/>
                </a:lnTo>
                <a:cubicBezTo>
                  <a:pt x="60008" y="413189"/>
                  <a:pt x="140606" y="440055"/>
                  <a:pt x="240030" y="440055"/>
                </a:cubicBezTo>
                <a:cubicBezTo>
                  <a:pt x="339454" y="440055"/>
                  <a:pt x="420053" y="413189"/>
                  <a:pt x="420053" y="380048"/>
                </a:cubicBezTo>
                <a:lnTo>
                  <a:pt x="420053" y="100013"/>
                </a:lnTo>
                <a:moveTo>
                  <a:pt x="60008" y="240030"/>
                </a:moveTo>
                <a:cubicBezTo>
                  <a:pt x="60008" y="273171"/>
                  <a:pt x="140606" y="300038"/>
                  <a:pt x="240030" y="300038"/>
                </a:cubicBezTo>
                <a:cubicBezTo>
                  <a:pt x="339454" y="300038"/>
                  <a:pt x="420053" y="273171"/>
                  <a:pt x="420053" y="240030"/>
                </a:cubicBezTo>
              </a:path>
            </a:pathLst>
          </a:custGeom>
          <a:noFill/>
          <a:ln w="40005" cap="rnd">
            <a:solidFill>
              <a:srgbClr val="FFFFFF"/>
            </a:solidFill>
            <a:prstDash val="solid"/>
            <a:round/>
          </a:ln>
        </p:spPr>
      </p:sp>
      <p:sp>
        <p:nvSpPr>
          <p:cNvPr id="21" name="[p1] Forma"/>
          <p:cNvSpPr/>
          <p:nvPr/>
        </p:nvSpPr>
        <p:spPr>
          <a:xfrm>
            <a:off x="4682838" y="2592324"/>
            <a:ext cx="310896" cy="310896"/>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150" b="1" dirty="0">
                <a:solidFill>
                  <a:srgbClr val="0B1F3A"/>
                </a:solidFill>
                <a:latin typeface="Segoe UI Semibold" pitchFamily="34" charset="0"/>
                <a:ea typeface="Segoe UI Semibold" pitchFamily="34" charset="-122"/>
                <a:cs typeface="Segoe UI Semibold" pitchFamily="34" charset="-120"/>
              </a:rPr>
              <a:t>3</a:t>
            </a:r>
            <a:endParaRPr lang="en-US" sz="1150" dirty="0"/>
          </a:p>
        </p:txBody>
      </p:sp>
      <p:sp>
        <p:nvSpPr>
          <p:cNvPr id="22" name="[p1] Forma"/>
          <p:cNvSpPr/>
          <p:nvPr/>
        </p:nvSpPr>
        <p:spPr>
          <a:xfrm>
            <a:off x="3782481" y="3753612"/>
            <a:ext cx="1493476" cy="566928"/>
          </a:xfrm>
          <a:prstGeom prst="rect">
            <a:avLst/>
          </a:prstGeom>
          <a:noFill/>
          <a:ln/>
        </p:spPr>
        <p:txBody>
          <a:bodyPr wrap="square" lIns="0" tIns="0" rIns="0" bIns="0" rtlCol="0" anchor="t">
            <a:normAutofit/>
          </a:bodyPr>
          <a:lstStyle/>
          <a:p>
            <a:pPr algn="ctr" indent="0" marL="0">
              <a:buNone/>
            </a:pPr>
            <a:r>
              <a:rPr lang="en-US" sz="1500" b="1" dirty="0">
                <a:solidFill>
                  <a:srgbClr val="0B1A3C"/>
                </a:solidFill>
                <a:latin typeface="Segoe UI Semibold" pitchFamily="34" charset="0"/>
                <a:ea typeface="Segoe UI Semibold" pitchFamily="34" charset="-122"/>
                <a:cs typeface="Segoe UI Semibold" pitchFamily="34" charset="-120"/>
              </a:rPr>
              <a:t>Base de datos</a:t>
            </a:r>
            <a:endParaRPr lang="en-US" sz="1500" dirty="0"/>
          </a:p>
        </p:txBody>
      </p:sp>
      <p:sp>
        <p:nvSpPr>
          <p:cNvPr id="23" name="[p1] Forma"/>
          <p:cNvSpPr/>
          <p:nvPr/>
        </p:nvSpPr>
        <p:spPr>
          <a:xfrm>
            <a:off x="4074305" y="4393692"/>
            <a:ext cx="909828" cy="274320"/>
          </a:xfrm>
          <a:prstGeom prst="roundRect">
            <a:avLst>
              <a:gd name="adj" fmla="val 50000"/>
            </a:avLst>
          </a:prstGeom>
          <a:solidFill>
            <a:srgbClr val="2BA6CB"/>
          </a:solidFill>
          <a:ln w="12700">
            <a:solidFill>
              <a:srgbClr val="2BA6CB"/>
            </a:solidFill>
          </a:ln>
        </p:spPr>
        <p:txBody>
          <a:bodyPr wrap="square" lIns="0" tIns="0" rIns="0" bIns="0" rtlCol="0" anchor="ctr"/>
          <a:lstStyle/>
          <a:p>
            <a:pPr algn="ctr" indent="0" marL="0">
              <a:buNone/>
            </a:pPr>
            <a:r>
              <a:rPr lang="en-US" sz="950" b="1" spc="100" kern="0" dirty="0">
                <a:solidFill>
                  <a:srgbClr val="0B1F3A"/>
                </a:solidFill>
                <a:latin typeface="Segoe UI" pitchFamily="34" charset="0"/>
                <a:ea typeface="Segoe UI" pitchFamily="34" charset="-122"/>
                <a:cs typeface="Segoe UI" pitchFamily="34" charset="-120"/>
              </a:rPr>
              <a:t>A FONDO</a:t>
            </a:r>
            <a:endParaRPr lang="en-US" sz="950" dirty="0"/>
          </a:p>
        </p:txBody>
      </p:sp>
      <p:sp>
        <p:nvSpPr>
          <p:cNvPr id="24" name="[p1] Forma"/>
          <p:cNvSpPr/>
          <p:nvPr/>
        </p:nvSpPr>
        <p:spPr>
          <a:xfrm>
            <a:off x="3800769" y="4777740"/>
            <a:ext cx="1456900" cy="1577340"/>
          </a:xfrm>
          <a:prstGeom prst="rect">
            <a:avLst/>
          </a:prstGeom>
          <a:noFill/>
          <a:ln/>
        </p:spPr>
        <p:txBody>
          <a:bodyPr wrap="square" lIns="0" tIns="0" rIns="0" bIns="0" rtlCol="0" anchor="t">
            <a:normAutofit/>
          </a:bodyPr>
          <a:lstStyle/>
          <a:p>
            <a:pPr algn="ctr" indent="0" marL="0">
              <a:buNone/>
            </a:pPr>
            <a:r>
              <a:rPr lang="en-US" sz="1150" dirty="0">
                <a:solidFill>
                  <a:srgbClr val="55627E"/>
                </a:solidFill>
                <a:latin typeface="Segoe UI" pitchFamily="34" charset="0"/>
                <a:ea typeface="Segoe UI" pitchFamily="34" charset="-122"/>
                <a:cs typeface="Segoe UI" pitchFamily="34" charset="-120"/>
              </a:rPr>
              <a:t>Modelo de datos · ORM con JPA · Cadena de conexión</a:t>
            </a:r>
            <a:endParaRPr lang="en-US" sz="1150" dirty="0"/>
          </a:p>
        </p:txBody>
      </p:sp>
      <p:sp>
        <p:nvSpPr>
          <p:cNvPr id="25" name="[p1] Forma"/>
          <p:cNvSpPr/>
          <p:nvPr/>
        </p:nvSpPr>
        <p:spPr>
          <a:xfrm>
            <a:off x="5615788" y="2665476"/>
            <a:ext cx="960120" cy="960120"/>
          </a:xfrm>
          <a:prstGeom prst="ellipse">
            <a:avLst/>
          </a:prstGeom>
          <a:solidFill>
            <a:srgbClr val="0B2350"/>
          </a:solidFill>
          <a:ln w="44450">
            <a:solidFill>
              <a:srgbClr val="2BA6CB"/>
            </a:solidFill>
            <a:prstDash val="solid"/>
          </a:ln>
          <a:effectLst>
            <a:outerShdw sx="100000" sy="100000" kx="0" ky="0" algn="bl" rotWithShape="0" blurRad="114300" dist="50800" dir="16200000">
              <a:srgbClr val="2BA6CB">
                <a:alpha val="60000"/>
              </a:srgbClr>
            </a:outerShdw>
          </a:effectLst>
        </p:spPr>
      </p:sp>
      <p:sp>
        <p:nvSpPr>
          <p:cNvPr id="26" name="[p1] Icono waypoints"/>
          <p:cNvSpPr/>
          <p:nvPr/>
        </p:nvSpPr>
        <p:spPr>
          <a:xfrm>
            <a:off x="5855818" y="2905506"/>
            <a:ext cx="480060" cy="480060"/>
          </a:xfrm>
          <a:custGeom>
            <a:avLst/>
            <a:gdLst/>
            <a:ahLst/>
            <a:cxnLst/>
            <a:rect l="l" t="t" r="r" b="b"/>
            <a:pathLst>
              <a:path w="480060" h="480060">
                <a:moveTo>
                  <a:pt x="290036" y="90011"/>
                </a:moveTo>
                <a:cubicBezTo>
                  <a:pt x="290036" y="117629"/>
                  <a:pt x="267648" y="140018"/>
                  <a:pt x="240030" y="140018"/>
                </a:cubicBezTo>
                <a:cubicBezTo>
                  <a:pt x="212412" y="140018"/>
                  <a:pt x="190024" y="117629"/>
                  <a:pt x="190024" y="90011"/>
                </a:cubicBezTo>
                <a:cubicBezTo>
                  <a:pt x="190024" y="62394"/>
                  <a:pt x="212412" y="40005"/>
                  <a:pt x="240030" y="40005"/>
                </a:cubicBezTo>
                <a:cubicBezTo>
                  <a:pt x="267648" y="40005"/>
                  <a:pt x="290036" y="62394"/>
                  <a:pt x="290036" y="90011"/>
                </a:cubicBezTo>
                <a:close/>
                <a:moveTo>
                  <a:pt x="204026" y="126016"/>
                </a:moveTo>
                <a:lnTo>
                  <a:pt x="126016" y="204026"/>
                </a:lnTo>
                <a:moveTo>
                  <a:pt x="140018" y="240030"/>
                </a:moveTo>
                <a:cubicBezTo>
                  <a:pt x="140018" y="267648"/>
                  <a:pt x="117629" y="290036"/>
                  <a:pt x="90011" y="290036"/>
                </a:cubicBezTo>
                <a:cubicBezTo>
                  <a:pt x="62394" y="290036"/>
                  <a:pt x="40005" y="267648"/>
                  <a:pt x="40005" y="240030"/>
                </a:cubicBezTo>
                <a:cubicBezTo>
                  <a:pt x="40005" y="212412"/>
                  <a:pt x="62394" y="190024"/>
                  <a:pt x="90011" y="190024"/>
                </a:cubicBezTo>
                <a:cubicBezTo>
                  <a:pt x="117629" y="190024"/>
                  <a:pt x="140018" y="212412"/>
                  <a:pt x="140018" y="240030"/>
                </a:cubicBezTo>
                <a:close/>
                <a:moveTo>
                  <a:pt x="140018" y="240030"/>
                </a:moveTo>
                <a:lnTo>
                  <a:pt x="340043" y="240030"/>
                </a:lnTo>
                <a:moveTo>
                  <a:pt x="440055" y="240030"/>
                </a:moveTo>
                <a:cubicBezTo>
                  <a:pt x="440055" y="267648"/>
                  <a:pt x="417666" y="290036"/>
                  <a:pt x="390049" y="290036"/>
                </a:cubicBezTo>
                <a:cubicBezTo>
                  <a:pt x="362431" y="290036"/>
                  <a:pt x="340043" y="267648"/>
                  <a:pt x="340043" y="240030"/>
                </a:cubicBezTo>
                <a:cubicBezTo>
                  <a:pt x="340043" y="212412"/>
                  <a:pt x="362431" y="190024"/>
                  <a:pt x="390049" y="190024"/>
                </a:cubicBezTo>
                <a:cubicBezTo>
                  <a:pt x="417666" y="190024"/>
                  <a:pt x="440055" y="212412"/>
                  <a:pt x="440055" y="240030"/>
                </a:cubicBezTo>
                <a:close/>
                <a:moveTo>
                  <a:pt x="276035" y="354044"/>
                </a:moveTo>
                <a:lnTo>
                  <a:pt x="354044" y="276035"/>
                </a:lnTo>
                <a:moveTo>
                  <a:pt x="290036" y="390049"/>
                </a:moveTo>
                <a:cubicBezTo>
                  <a:pt x="290036" y="417666"/>
                  <a:pt x="267648" y="440055"/>
                  <a:pt x="240030" y="440055"/>
                </a:cubicBezTo>
                <a:cubicBezTo>
                  <a:pt x="212412" y="440055"/>
                  <a:pt x="190024" y="417666"/>
                  <a:pt x="190024" y="390049"/>
                </a:cubicBezTo>
                <a:cubicBezTo>
                  <a:pt x="190024" y="362431"/>
                  <a:pt x="212412" y="340043"/>
                  <a:pt x="240030" y="340043"/>
                </a:cubicBezTo>
                <a:cubicBezTo>
                  <a:pt x="267648" y="340043"/>
                  <a:pt x="290036" y="362431"/>
                  <a:pt x="290036" y="390049"/>
                </a:cubicBezTo>
                <a:close/>
              </a:path>
            </a:pathLst>
          </a:custGeom>
          <a:noFill/>
          <a:ln w="40005" cap="rnd">
            <a:solidFill>
              <a:srgbClr val="FFFFFF"/>
            </a:solidFill>
            <a:prstDash val="solid"/>
            <a:round/>
          </a:ln>
        </p:spPr>
      </p:sp>
      <p:sp>
        <p:nvSpPr>
          <p:cNvPr id="27" name="[p1] Forma"/>
          <p:cNvSpPr/>
          <p:nvPr/>
        </p:nvSpPr>
        <p:spPr>
          <a:xfrm>
            <a:off x="6249467" y="2592324"/>
            <a:ext cx="310896" cy="310896"/>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150" b="1" dirty="0">
                <a:solidFill>
                  <a:srgbClr val="0B1F3A"/>
                </a:solidFill>
                <a:latin typeface="Segoe UI Semibold" pitchFamily="34" charset="0"/>
                <a:ea typeface="Segoe UI Semibold" pitchFamily="34" charset="-122"/>
                <a:cs typeface="Segoe UI Semibold" pitchFamily="34" charset="-120"/>
              </a:rPr>
              <a:t>4</a:t>
            </a:r>
            <a:endParaRPr lang="en-US" sz="1150" dirty="0"/>
          </a:p>
        </p:txBody>
      </p:sp>
      <p:sp>
        <p:nvSpPr>
          <p:cNvPr id="28" name="[p1] Forma"/>
          <p:cNvSpPr/>
          <p:nvPr/>
        </p:nvSpPr>
        <p:spPr>
          <a:xfrm>
            <a:off x="5349109" y="3753612"/>
            <a:ext cx="1493476" cy="566928"/>
          </a:xfrm>
          <a:prstGeom prst="rect">
            <a:avLst/>
          </a:prstGeom>
          <a:noFill/>
          <a:ln/>
        </p:spPr>
        <p:txBody>
          <a:bodyPr wrap="square" lIns="0" tIns="0" rIns="0" bIns="0" rtlCol="0" anchor="t">
            <a:normAutofit/>
          </a:bodyPr>
          <a:lstStyle/>
          <a:p>
            <a:pPr algn="ctr" indent="0" marL="0">
              <a:buNone/>
            </a:pPr>
            <a:r>
              <a:rPr lang="en-US" sz="1500" b="1" dirty="0">
                <a:solidFill>
                  <a:srgbClr val="0B1A3C"/>
                </a:solidFill>
                <a:latin typeface="Segoe UI Semibold" pitchFamily="34" charset="0"/>
                <a:ea typeface="Segoe UI Semibold" pitchFamily="34" charset="-122"/>
                <a:cs typeface="Segoe UI Semibold" pitchFamily="34" charset="-120"/>
              </a:rPr>
              <a:t>Interconexión de servicios</a:t>
            </a:r>
            <a:endParaRPr lang="en-US" sz="1500" dirty="0"/>
          </a:p>
        </p:txBody>
      </p:sp>
      <p:sp>
        <p:nvSpPr>
          <p:cNvPr id="29" name="[p1] Forma"/>
          <p:cNvSpPr/>
          <p:nvPr/>
        </p:nvSpPr>
        <p:spPr>
          <a:xfrm>
            <a:off x="5640934" y="4393692"/>
            <a:ext cx="909828" cy="274320"/>
          </a:xfrm>
          <a:prstGeom prst="roundRect">
            <a:avLst>
              <a:gd name="adj" fmla="val 50000"/>
            </a:avLst>
          </a:prstGeom>
          <a:solidFill>
            <a:srgbClr val="2BA6CB"/>
          </a:solidFill>
          <a:ln w="12700">
            <a:solidFill>
              <a:srgbClr val="2BA6CB"/>
            </a:solidFill>
          </a:ln>
        </p:spPr>
        <p:txBody>
          <a:bodyPr wrap="square" lIns="0" tIns="0" rIns="0" bIns="0" rtlCol="0" anchor="ctr"/>
          <a:lstStyle/>
          <a:p>
            <a:pPr algn="ctr" indent="0" marL="0">
              <a:buNone/>
            </a:pPr>
            <a:r>
              <a:rPr lang="en-US" sz="950" b="1" spc="100" kern="0" dirty="0">
                <a:solidFill>
                  <a:srgbClr val="0B1F3A"/>
                </a:solidFill>
                <a:latin typeface="Segoe UI" pitchFamily="34" charset="0"/>
                <a:ea typeface="Segoe UI" pitchFamily="34" charset="-122"/>
                <a:cs typeface="Segoe UI" pitchFamily="34" charset="-120"/>
              </a:rPr>
              <a:t>A FONDO</a:t>
            </a:r>
            <a:endParaRPr lang="en-US" sz="950" dirty="0"/>
          </a:p>
        </p:txBody>
      </p:sp>
      <p:sp>
        <p:nvSpPr>
          <p:cNvPr id="30" name="[p1] Forma"/>
          <p:cNvSpPr/>
          <p:nvPr/>
        </p:nvSpPr>
        <p:spPr>
          <a:xfrm>
            <a:off x="5367397" y="4777740"/>
            <a:ext cx="1456900" cy="1577340"/>
          </a:xfrm>
          <a:prstGeom prst="rect">
            <a:avLst/>
          </a:prstGeom>
          <a:noFill/>
          <a:ln/>
        </p:spPr>
        <p:txBody>
          <a:bodyPr wrap="square" lIns="0" tIns="0" rIns="0" bIns="0" rtlCol="0" anchor="t">
            <a:normAutofit/>
          </a:bodyPr>
          <a:lstStyle/>
          <a:p>
            <a:pPr algn="ctr" indent="0" marL="0">
              <a:buNone/>
            </a:pPr>
            <a:r>
              <a:rPr lang="en-US" sz="1150" dirty="0">
                <a:solidFill>
                  <a:srgbClr val="55627E"/>
                </a:solidFill>
                <a:latin typeface="Segoe UI" pitchFamily="34" charset="0"/>
                <a:ea typeface="Segoe UI" pitchFamily="34" charset="-122"/>
                <a:cs typeface="Segoe UI" pitchFamily="34" charset="-120"/>
              </a:rPr>
              <a:t>Síncrono y asíncrono · Patrón Outbox · Idempotencia</a:t>
            </a:r>
            <a:endParaRPr lang="en-US" sz="1150" dirty="0"/>
          </a:p>
        </p:txBody>
      </p:sp>
      <p:sp>
        <p:nvSpPr>
          <p:cNvPr id="31" name="[p1] Forma"/>
          <p:cNvSpPr/>
          <p:nvPr/>
        </p:nvSpPr>
        <p:spPr>
          <a:xfrm>
            <a:off x="7182416" y="2665476"/>
            <a:ext cx="960120" cy="960120"/>
          </a:xfrm>
          <a:prstGeom prst="ellipse">
            <a:avLst/>
          </a:prstGeom>
          <a:solidFill>
            <a:srgbClr val="0B2350"/>
          </a:solidFill>
          <a:ln w="44450">
            <a:solidFill>
              <a:srgbClr val="2BA6CB"/>
            </a:solidFill>
            <a:prstDash val="solid"/>
          </a:ln>
          <a:effectLst>
            <a:outerShdw sx="100000" sy="100000" kx="0" ky="0" algn="bl" rotWithShape="0" blurRad="114300" dist="50800" dir="16200000">
              <a:srgbClr val="2BA6CB">
                <a:alpha val="60000"/>
              </a:srgbClr>
            </a:outerShdw>
          </a:effectLst>
        </p:spPr>
      </p:sp>
      <p:sp>
        <p:nvSpPr>
          <p:cNvPr id="32" name="[p1] Icono container"/>
          <p:cNvSpPr/>
          <p:nvPr/>
        </p:nvSpPr>
        <p:spPr>
          <a:xfrm>
            <a:off x="7422446" y="2905506"/>
            <a:ext cx="480060" cy="480060"/>
          </a:xfrm>
          <a:custGeom>
            <a:avLst/>
            <a:gdLst/>
            <a:ahLst/>
            <a:cxnLst/>
            <a:rect l="l" t="t" r="r" b="b"/>
            <a:pathLst>
              <a:path w="480060" h="480060">
                <a:moveTo>
                  <a:pt x="440055" y="154019"/>
                </a:moveTo>
                <a:cubicBezTo>
                  <a:pt x="440055" y="142018"/>
                  <a:pt x="432054" y="130016"/>
                  <a:pt x="424053" y="124016"/>
                </a:cubicBezTo>
                <a:lnTo>
                  <a:pt x="298037" y="46006"/>
                </a:lnTo>
                <a:cubicBezTo>
                  <a:pt x="287495" y="40013"/>
                  <a:pt x="274576" y="40013"/>
                  <a:pt x="264033" y="46006"/>
                </a:cubicBezTo>
                <a:lnTo>
                  <a:pt x="58007" y="166021"/>
                </a:lnTo>
                <a:cubicBezTo>
                  <a:pt x="48006" y="170021"/>
                  <a:pt x="40005" y="182023"/>
                  <a:pt x="40005" y="194024"/>
                </a:cubicBezTo>
                <a:lnTo>
                  <a:pt x="40005" y="326041"/>
                </a:lnTo>
                <a:cubicBezTo>
                  <a:pt x="40005" y="336042"/>
                  <a:pt x="48006" y="350044"/>
                  <a:pt x="56007" y="356045"/>
                </a:cubicBezTo>
                <a:lnTo>
                  <a:pt x="182023" y="434054"/>
                </a:lnTo>
                <a:cubicBezTo>
                  <a:pt x="192565" y="440047"/>
                  <a:pt x="205484" y="440047"/>
                  <a:pt x="216027" y="434054"/>
                </a:cubicBezTo>
                <a:lnTo>
                  <a:pt x="422053" y="314039"/>
                </a:lnTo>
                <a:cubicBezTo>
                  <a:pt x="432054" y="308039"/>
                  <a:pt x="440055" y="294037"/>
                  <a:pt x="440055" y="284036"/>
                </a:cubicBezTo>
                <a:close/>
                <a:moveTo>
                  <a:pt x="200025" y="438055"/>
                </a:moveTo>
                <a:lnTo>
                  <a:pt x="200025" y="280035"/>
                </a:lnTo>
                <a:lnTo>
                  <a:pt x="42005" y="182023"/>
                </a:lnTo>
                <a:moveTo>
                  <a:pt x="200025" y="280035"/>
                </a:moveTo>
                <a:lnTo>
                  <a:pt x="438055" y="142018"/>
                </a:lnTo>
                <a:moveTo>
                  <a:pt x="280035" y="396050"/>
                </a:moveTo>
                <a:lnTo>
                  <a:pt x="280035" y="234029"/>
                </a:lnTo>
                <a:moveTo>
                  <a:pt x="360045" y="350044"/>
                </a:moveTo>
                <a:lnTo>
                  <a:pt x="360045" y="188024"/>
                </a:lnTo>
              </a:path>
            </a:pathLst>
          </a:custGeom>
          <a:noFill/>
          <a:ln w="40005" cap="rnd">
            <a:solidFill>
              <a:srgbClr val="FFFFFF"/>
            </a:solidFill>
            <a:prstDash val="solid"/>
            <a:round/>
          </a:ln>
        </p:spPr>
      </p:sp>
      <p:sp>
        <p:nvSpPr>
          <p:cNvPr id="33" name="[p1] Forma"/>
          <p:cNvSpPr/>
          <p:nvPr/>
        </p:nvSpPr>
        <p:spPr>
          <a:xfrm>
            <a:off x="7816095" y="2592324"/>
            <a:ext cx="310896" cy="310896"/>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150" b="1" dirty="0">
                <a:solidFill>
                  <a:srgbClr val="0B1F3A"/>
                </a:solidFill>
                <a:latin typeface="Segoe UI Semibold" pitchFamily="34" charset="0"/>
                <a:ea typeface="Segoe UI Semibold" pitchFamily="34" charset="-122"/>
                <a:cs typeface="Segoe UI Semibold" pitchFamily="34" charset="-120"/>
              </a:rPr>
              <a:t>5</a:t>
            </a:r>
            <a:endParaRPr lang="en-US" sz="1150" dirty="0"/>
          </a:p>
        </p:txBody>
      </p:sp>
      <p:sp>
        <p:nvSpPr>
          <p:cNvPr id="34" name="[p1] Forma"/>
          <p:cNvSpPr/>
          <p:nvPr/>
        </p:nvSpPr>
        <p:spPr>
          <a:xfrm>
            <a:off x="6915738" y="3753612"/>
            <a:ext cx="1493476" cy="566928"/>
          </a:xfrm>
          <a:prstGeom prst="rect">
            <a:avLst/>
          </a:prstGeom>
          <a:noFill/>
          <a:ln/>
        </p:spPr>
        <p:txBody>
          <a:bodyPr wrap="square" lIns="0" tIns="0" rIns="0" bIns="0" rtlCol="0" anchor="t">
            <a:normAutofit/>
          </a:bodyPr>
          <a:lstStyle/>
          <a:p>
            <a:pPr algn="ctr" indent="0" marL="0">
              <a:buNone/>
            </a:pPr>
            <a:r>
              <a:rPr lang="en-US" sz="1400" b="1" dirty="0">
                <a:solidFill>
                  <a:srgbClr val="0B1A3C"/>
                </a:solidFill>
                <a:latin typeface="Segoe UI Semibold" pitchFamily="34" charset="0"/>
                <a:ea typeface="Segoe UI Semibold" pitchFamily="34" charset="-122"/>
                <a:cs typeface="Segoe UI Semibold" pitchFamily="34" charset="-120"/>
              </a:rPr>
              <a:t>DevOps: Docker y Kubernetes</a:t>
            </a:r>
            <a:endParaRPr lang="en-US" sz="1400" dirty="0"/>
          </a:p>
        </p:txBody>
      </p:sp>
      <p:sp>
        <p:nvSpPr>
          <p:cNvPr id="35" name="[p1] Forma"/>
          <p:cNvSpPr/>
          <p:nvPr/>
        </p:nvSpPr>
        <p:spPr>
          <a:xfrm>
            <a:off x="7207562" y="4393692"/>
            <a:ext cx="909828" cy="274320"/>
          </a:xfrm>
          <a:prstGeom prst="roundRect">
            <a:avLst>
              <a:gd name="adj" fmla="val 50000"/>
            </a:avLst>
          </a:prstGeom>
          <a:solidFill>
            <a:srgbClr val="2BA6CB"/>
          </a:solidFill>
          <a:ln w="12700">
            <a:solidFill>
              <a:srgbClr val="2BA6CB"/>
            </a:solidFill>
          </a:ln>
        </p:spPr>
        <p:txBody>
          <a:bodyPr wrap="square" lIns="0" tIns="0" rIns="0" bIns="0" rtlCol="0" anchor="ctr"/>
          <a:lstStyle/>
          <a:p>
            <a:pPr algn="ctr" indent="0" marL="0">
              <a:buNone/>
            </a:pPr>
            <a:r>
              <a:rPr lang="en-US" sz="950" b="1" spc="100" kern="0" dirty="0">
                <a:solidFill>
                  <a:srgbClr val="0B1F3A"/>
                </a:solidFill>
                <a:latin typeface="Segoe UI" pitchFamily="34" charset="0"/>
                <a:ea typeface="Segoe UI" pitchFamily="34" charset="-122"/>
                <a:cs typeface="Segoe UI" pitchFamily="34" charset="-120"/>
              </a:rPr>
              <a:t>A FONDO</a:t>
            </a:r>
            <a:endParaRPr lang="en-US" sz="950" dirty="0"/>
          </a:p>
        </p:txBody>
      </p:sp>
      <p:sp>
        <p:nvSpPr>
          <p:cNvPr id="36" name="[p1] Forma"/>
          <p:cNvSpPr/>
          <p:nvPr/>
        </p:nvSpPr>
        <p:spPr>
          <a:xfrm>
            <a:off x="6934026" y="4777740"/>
            <a:ext cx="1456900" cy="1577340"/>
          </a:xfrm>
          <a:prstGeom prst="rect">
            <a:avLst/>
          </a:prstGeom>
          <a:noFill/>
          <a:ln/>
        </p:spPr>
        <p:txBody>
          <a:bodyPr wrap="square" lIns="0" tIns="0" rIns="0" bIns="0" rtlCol="0" anchor="t">
            <a:normAutofit/>
          </a:bodyPr>
          <a:lstStyle/>
          <a:p>
            <a:pPr algn="ctr" indent="0" marL="0">
              <a:buNone/>
            </a:pPr>
            <a:r>
              <a:rPr lang="en-US" sz="1150" dirty="0">
                <a:solidFill>
                  <a:srgbClr val="55627E"/>
                </a:solidFill>
                <a:latin typeface="Segoe UI" pitchFamily="34" charset="0"/>
                <a:ea typeface="Segoe UI" pitchFamily="34" charset="-122"/>
                <a:cs typeface="Segoe UI" pitchFamily="34" charset="-120"/>
              </a:rPr>
              <a:t>Docker y Compose · CI/CD con GitHub Actions · Kubernetes</a:t>
            </a:r>
            <a:endParaRPr lang="en-US" sz="1150" dirty="0"/>
          </a:p>
        </p:txBody>
      </p:sp>
      <p:sp>
        <p:nvSpPr>
          <p:cNvPr id="37" name="[p2] Forma"/>
          <p:cNvSpPr/>
          <p:nvPr/>
        </p:nvSpPr>
        <p:spPr>
          <a:xfrm>
            <a:off x="8854658" y="2771089"/>
            <a:ext cx="748894" cy="748894"/>
          </a:xfrm>
          <a:prstGeom prst="ellipse">
            <a:avLst/>
          </a:prstGeom>
          <a:solidFill>
            <a:srgbClr val="546585"/>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38" name="[p2] Icono chart-line"/>
          <p:cNvSpPr/>
          <p:nvPr/>
        </p:nvSpPr>
        <p:spPr>
          <a:xfrm>
            <a:off x="9041881" y="2958313"/>
            <a:ext cx="374447" cy="374447"/>
          </a:xfrm>
          <a:custGeom>
            <a:avLst/>
            <a:gdLst/>
            <a:ahLst/>
            <a:cxnLst/>
            <a:rect l="l" t="t" r="r" b="b"/>
            <a:pathLst>
              <a:path w="374447" h="374447">
                <a:moveTo>
                  <a:pt x="46806" y="46806"/>
                </a:moveTo>
                <a:lnTo>
                  <a:pt x="46806" y="296437"/>
                </a:lnTo>
                <a:cubicBezTo>
                  <a:pt x="46806" y="313670"/>
                  <a:pt x="60776" y="327641"/>
                  <a:pt x="78010" y="327641"/>
                </a:cubicBezTo>
                <a:lnTo>
                  <a:pt x="327641" y="327641"/>
                </a:lnTo>
                <a:moveTo>
                  <a:pt x="296437" y="140418"/>
                </a:moveTo>
                <a:lnTo>
                  <a:pt x="218427" y="218427"/>
                </a:lnTo>
                <a:lnTo>
                  <a:pt x="156020" y="156020"/>
                </a:lnTo>
                <a:lnTo>
                  <a:pt x="109214" y="202825"/>
                </a:lnTo>
              </a:path>
            </a:pathLst>
          </a:custGeom>
          <a:noFill/>
          <a:ln w="31204" cap="rnd">
            <a:solidFill>
              <a:srgbClr val="FFFFFF"/>
            </a:solidFill>
            <a:prstDash val="solid"/>
            <a:round/>
          </a:ln>
        </p:spPr>
      </p:sp>
      <p:sp>
        <p:nvSpPr>
          <p:cNvPr id="39" name="[p2] Forma"/>
          <p:cNvSpPr/>
          <p:nvPr/>
        </p:nvSpPr>
        <p:spPr>
          <a:xfrm>
            <a:off x="9348927" y="2697937"/>
            <a:ext cx="310896" cy="310896"/>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150" b="1" dirty="0">
                <a:solidFill>
                  <a:srgbClr val="0B1F3A"/>
                </a:solidFill>
                <a:latin typeface="Segoe UI Semibold" pitchFamily="34" charset="0"/>
                <a:ea typeface="Segoe UI Semibold" pitchFamily="34" charset="-122"/>
                <a:cs typeface="Segoe UI Semibold" pitchFamily="34" charset="-120"/>
              </a:rPr>
              <a:t>6</a:t>
            </a:r>
            <a:endParaRPr lang="en-US" sz="1150" dirty="0"/>
          </a:p>
        </p:txBody>
      </p:sp>
      <p:sp>
        <p:nvSpPr>
          <p:cNvPr id="40" name="[p2] Forma"/>
          <p:cNvSpPr/>
          <p:nvPr/>
        </p:nvSpPr>
        <p:spPr>
          <a:xfrm>
            <a:off x="8482366" y="3753612"/>
            <a:ext cx="1493476" cy="566928"/>
          </a:xfrm>
          <a:prstGeom prst="rect">
            <a:avLst/>
          </a:prstGeom>
          <a:noFill/>
          <a:ln/>
        </p:spPr>
        <p:txBody>
          <a:bodyPr wrap="square" lIns="0" tIns="0" rIns="0" bIns="0" rtlCol="0" anchor="t">
            <a:normAutofit/>
          </a:bodyPr>
          <a:lstStyle/>
          <a:p>
            <a:pPr algn="ctr" indent="0" marL="0">
              <a:buNone/>
            </a:pPr>
            <a:r>
              <a:rPr lang="en-US" sz="1400" b="1" dirty="0">
                <a:solidFill>
                  <a:srgbClr val="0B1A3C"/>
                </a:solidFill>
                <a:latin typeface="Segoe UI Semibold" pitchFamily="34" charset="0"/>
                <a:ea typeface="Segoe UI Semibold" pitchFamily="34" charset="-122"/>
                <a:cs typeface="Segoe UI Semibold" pitchFamily="34" charset="-120"/>
              </a:rPr>
              <a:t>Observabilidad</a:t>
            </a:r>
            <a:endParaRPr lang="en-US" sz="1400" dirty="0"/>
          </a:p>
        </p:txBody>
      </p:sp>
      <p:sp>
        <p:nvSpPr>
          <p:cNvPr id="41" name="[p2] Forma"/>
          <p:cNvSpPr/>
          <p:nvPr/>
        </p:nvSpPr>
        <p:spPr>
          <a:xfrm>
            <a:off x="8541019" y="4393692"/>
            <a:ext cx="1376172" cy="274320"/>
          </a:xfrm>
          <a:prstGeom prst="roundRect">
            <a:avLst>
              <a:gd name="adj" fmla="val 50000"/>
            </a:avLst>
          </a:prstGeom>
          <a:solidFill>
            <a:srgbClr val="FFFFFF"/>
          </a:solidFill>
          <a:ln w="12700">
            <a:solidFill>
              <a:srgbClr val="DFE6F0"/>
            </a:solidFill>
          </a:ln>
        </p:spPr>
        <p:txBody>
          <a:bodyPr wrap="square" lIns="0" tIns="0" rIns="0" bIns="0" rtlCol="0" anchor="ctr"/>
          <a:lstStyle/>
          <a:p>
            <a:pPr algn="ctr" indent="0" marL="0">
              <a:buNone/>
            </a:pPr>
            <a:r>
              <a:rPr lang="en-US" sz="950" b="1" spc="100" kern="0" dirty="0">
                <a:solidFill>
                  <a:srgbClr val="55627E"/>
                </a:solidFill>
                <a:latin typeface="Segoe UI" pitchFamily="34" charset="0"/>
                <a:ea typeface="Segoe UI" pitchFamily="34" charset="-122"/>
                <a:cs typeface="Segoe UI" pitchFamily="34" charset="-120"/>
              </a:rPr>
              <a:t>VISTA GENERAL</a:t>
            </a:r>
            <a:endParaRPr lang="en-US" sz="950" dirty="0"/>
          </a:p>
        </p:txBody>
      </p:sp>
      <p:sp>
        <p:nvSpPr>
          <p:cNvPr id="42" name="[p2] Forma"/>
          <p:cNvSpPr/>
          <p:nvPr/>
        </p:nvSpPr>
        <p:spPr>
          <a:xfrm>
            <a:off x="8500654" y="4777740"/>
            <a:ext cx="1456900" cy="1577340"/>
          </a:xfrm>
          <a:prstGeom prst="rect">
            <a:avLst/>
          </a:prstGeom>
          <a:noFill/>
          <a:ln/>
        </p:spPr>
        <p:txBody>
          <a:bodyPr wrap="square" lIns="0" tIns="0" rIns="0" bIns="0" rtlCol="0" anchor="t">
            <a:normAutofit/>
          </a:bodyPr>
          <a:lstStyle/>
          <a:p>
            <a:pPr algn="ctr" indent="0" marL="0">
              <a:buNone/>
            </a:pPr>
            <a:r>
              <a:rPr lang="en-US" sz="1150" dirty="0">
                <a:solidFill>
                  <a:srgbClr val="55627E"/>
                </a:solidFill>
                <a:latin typeface="Segoe UI" pitchFamily="34" charset="0"/>
                <a:ea typeface="Segoe UI" pitchFamily="34" charset="-122"/>
                <a:cs typeface="Segoe UI" pitchFamily="34" charset="-120"/>
              </a:rPr>
              <a:t>Logs centralizados · Trazas · Salud con Actuator</a:t>
            </a:r>
            <a:endParaRPr lang="en-US" sz="1150" dirty="0"/>
          </a:p>
        </p:txBody>
      </p:sp>
      <p:sp>
        <p:nvSpPr>
          <p:cNvPr id="43" name="[p3] Forma"/>
          <p:cNvSpPr/>
          <p:nvPr/>
        </p:nvSpPr>
        <p:spPr>
          <a:xfrm>
            <a:off x="10421286" y="2771089"/>
            <a:ext cx="748894" cy="748894"/>
          </a:xfrm>
          <a:prstGeom prst="ellipse">
            <a:avLst/>
          </a:prstGeom>
          <a:solidFill>
            <a:srgbClr val="5B3FC4"/>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44" name="[p3] Icono monitor"/>
          <p:cNvSpPr/>
          <p:nvPr/>
        </p:nvSpPr>
        <p:spPr>
          <a:xfrm>
            <a:off x="10608510" y="2958313"/>
            <a:ext cx="374447" cy="374447"/>
          </a:xfrm>
          <a:custGeom>
            <a:avLst/>
            <a:gdLst/>
            <a:ahLst/>
            <a:cxnLst/>
            <a:rect l="l" t="t" r="r" b="b"/>
            <a:pathLst>
              <a:path w="374447" h="374447">
                <a:moveTo>
                  <a:pt x="62408" y="46806"/>
                </a:moveTo>
                <a:lnTo>
                  <a:pt x="312039" y="46806"/>
                </a:lnTo>
                <a:cubicBezTo>
                  <a:pt x="329272" y="46806"/>
                  <a:pt x="343243" y="60776"/>
                  <a:pt x="343243" y="78010"/>
                </a:cubicBezTo>
                <a:lnTo>
                  <a:pt x="343243" y="234029"/>
                </a:lnTo>
                <a:cubicBezTo>
                  <a:pt x="343243" y="251263"/>
                  <a:pt x="329272" y="265233"/>
                  <a:pt x="312039" y="265233"/>
                </a:cubicBezTo>
                <a:lnTo>
                  <a:pt x="62408" y="265233"/>
                </a:lnTo>
                <a:cubicBezTo>
                  <a:pt x="45174" y="265233"/>
                  <a:pt x="31204" y="251263"/>
                  <a:pt x="31204" y="234029"/>
                </a:cubicBezTo>
                <a:lnTo>
                  <a:pt x="31204" y="78010"/>
                </a:lnTo>
                <a:cubicBezTo>
                  <a:pt x="31204" y="60776"/>
                  <a:pt x="45174" y="46806"/>
                  <a:pt x="62408" y="46806"/>
                </a:cubicBezTo>
                <a:close/>
                <a:moveTo>
                  <a:pt x="124816" y="327641"/>
                </a:moveTo>
                <a:lnTo>
                  <a:pt x="249631" y="327641"/>
                </a:lnTo>
                <a:moveTo>
                  <a:pt x="187223" y="265233"/>
                </a:moveTo>
                <a:lnTo>
                  <a:pt x="187223" y="327641"/>
                </a:lnTo>
              </a:path>
            </a:pathLst>
          </a:custGeom>
          <a:noFill/>
          <a:ln w="31204" cap="rnd">
            <a:solidFill>
              <a:srgbClr val="FFFFFF"/>
            </a:solidFill>
            <a:prstDash val="solid"/>
            <a:round/>
          </a:ln>
        </p:spPr>
      </p:sp>
      <p:sp>
        <p:nvSpPr>
          <p:cNvPr id="45" name="[p3] Forma"/>
          <p:cNvSpPr/>
          <p:nvPr/>
        </p:nvSpPr>
        <p:spPr>
          <a:xfrm>
            <a:off x="10915556" y="2697937"/>
            <a:ext cx="310896" cy="310896"/>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150" b="1" dirty="0">
                <a:solidFill>
                  <a:srgbClr val="0B1F3A"/>
                </a:solidFill>
                <a:latin typeface="Segoe UI Semibold" pitchFamily="34" charset="0"/>
                <a:ea typeface="Segoe UI Semibold" pitchFamily="34" charset="-122"/>
                <a:cs typeface="Segoe UI Semibold" pitchFamily="34" charset="-120"/>
              </a:rPr>
              <a:t>7</a:t>
            </a:r>
            <a:endParaRPr lang="en-US" sz="1150" dirty="0"/>
          </a:p>
        </p:txBody>
      </p:sp>
      <p:sp>
        <p:nvSpPr>
          <p:cNvPr id="46" name="[p3] Forma"/>
          <p:cNvSpPr/>
          <p:nvPr/>
        </p:nvSpPr>
        <p:spPr>
          <a:xfrm>
            <a:off x="10048995" y="3753612"/>
            <a:ext cx="1493476" cy="566928"/>
          </a:xfrm>
          <a:prstGeom prst="rect">
            <a:avLst/>
          </a:prstGeom>
          <a:noFill/>
          <a:ln/>
        </p:spPr>
        <p:txBody>
          <a:bodyPr wrap="square" lIns="0" tIns="0" rIns="0" bIns="0" rtlCol="0" anchor="t">
            <a:normAutofit/>
          </a:bodyPr>
          <a:lstStyle/>
          <a:p>
            <a:pPr algn="ctr" indent="0" marL="0">
              <a:buNone/>
            </a:pPr>
            <a:r>
              <a:rPr lang="en-US" sz="1500" b="1" dirty="0">
                <a:solidFill>
                  <a:srgbClr val="0B1A3C"/>
                </a:solidFill>
                <a:latin typeface="Segoe UI Semibold" pitchFamily="34" charset="0"/>
                <a:ea typeface="Segoe UI Semibold" pitchFamily="34" charset="-122"/>
                <a:cs typeface="Segoe UI Semibold" pitchFamily="34" charset="-120"/>
              </a:rPr>
              <a:t>Demostración con la UI</a:t>
            </a:r>
            <a:endParaRPr lang="en-US" sz="1500" dirty="0"/>
          </a:p>
        </p:txBody>
      </p:sp>
      <p:sp>
        <p:nvSpPr>
          <p:cNvPr id="47" name="[p3] Forma"/>
          <p:cNvSpPr/>
          <p:nvPr/>
        </p:nvSpPr>
        <p:spPr>
          <a:xfrm>
            <a:off x="10340819" y="4393692"/>
            <a:ext cx="909828" cy="274320"/>
          </a:xfrm>
          <a:prstGeom prst="roundRect">
            <a:avLst>
              <a:gd name="adj" fmla="val 50000"/>
            </a:avLst>
          </a:prstGeom>
          <a:solidFill>
            <a:srgbClr val="5B3FC4"/>
          </a:solidFill>
          <a:ln w="12700">
            <a:solidFill>
              <a:srgbClr val="5B3FC4"/>
            </a:solidFill>
          </a:ln>
        </p:spPr>
        <p:txBody>
          <a:bodyPr wrap="square" lIns="0" tIns="0" rIns="0" bIns="0" rtlCol="0" anchor="ctr"/>
          <a:lstStyle/>
          <a:p>
            <a:pPr algn="ctr" indent="0" marL="0">
              <a:buNone/>
            </a:pPr>
            <a:r>
              <a:rPr lang="en-US" sz="950" b="1" spc="100" kern="0" dirty="0">
                <a:solidFill>
                  <a:srgbClr val="FFFFFF"/>
                </a:solidFill>
                <a:latin typeface="Segoe UI" pitchFamily="34" charset="0"/>
                <a:ea typeface="Segoe UI" pitchFamily="34" charset="-122"/>
                <a:cs typeface="Segoe UI" pitchFamily="34" charset="-120"/>
              </a:rPr>
              <a:t>EN VIVO</a:t>
            </a:r>
            <a:endParaRPr lang="en-US" sz="950" dirty="0"/>
          </a:p>
        </p:txBody>
      </p:sp>
      <p:sp>
        <p:nvSpPr>
          <p:cNvPr id="48" name="[p3] Forma"/>
          <p:cNvSpPr/>
          <p:nvPr/>
        </p:nvSpPr>
        <p:spPr>
          <a:xfrm>
            <a:off x="10067283" y="4777740"/>
            <a:ext cx="1456900" cy="1577340"/>
          </a:xfrm>
          <a:prstGeom prst="rect">
            <a:avLst/>
          </a:prstGeom>
          <a:noFill/>
          <a:ln/>
        </p:spPr>
        <p:txBody>
          <a:bodyPr wrap="square" lIns="0" tIns="0" rIns="0" bIns="0" rtlCol="0" anchor="t">
            <a:normAutofit/>
          </a:bodyPr>
          <a:lstStyle/>
          <a:p>
            <a:pPr algn="ctr" indent="0" marL="0">
              <a:buNone/>
            </a:pPr>
            <a:r>
              <a:rPr lang="en-US" sz="1150" dirty="0">
                <a:solidFill>
                  <a:srgbClr val="55627E"/>
                </a:solidFill>
                <a:latin typeface="Segoe UI" pitchFamily="34" charset="0"/>
                <a:ea typeface="Segoe UI" pitchFamily="34" charset="-122"/>
                <a:cs typeface="Segoe UI" pitchFamily="34" charset="-120"/>
              </a:rPr>
              <a:t>Crear y enviar · Una caída en vivo · Reentregar</a:t>
            </a:r>
            <a:endParaRPr lang="en-US" sz="1150" dirty="0"/>
          </a:p>
        </p:txBody>
      </p:sp>
      <p:sp>
        <p:nvSpPr>
          <p:cNvPr id="49" name="Text 4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APERTURA</a:t>
            </a:r>
            <a:endParaRPr lang="en-US" sz="800" dirty="0"/>
          </a:p>
        </p:txBody>
      </p:sp>
      <p:sp>
        <p:nvSpPr>
          <p:cNvPr id="50"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7" fill="hold">
                      <p:stCondLst>
                        <p:cond delay="indefinite"/>
                      </p:stCondLst>
                      <p:childTnLst>
                        <p:par>
                          <p:cTn id="58"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9"/>
                                        </p:tgtEl>
                                        <p:attrNameLst>
                                          <p:attrName>style.visibility</p:attrName>
                                        </p:attrNameLst>
                                      </p:cBhvr>
                                      <p:to>
                                        <p:strVal val="visible"/>
                                      </p:to>
                                    </p:set>
                                    <p:animEffect transition="in" filter="fade">
                                      <p:cBhvr>
                                        <p:cTn id="5" dur="400"/>
                                        <p:tgtEl>
                                          <p:spTgt spid="1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0"/>
                                        </p:tgtEl>
                                        <p:attrNameLst>
                                          <p:attrName>style.visibility</p:attrName>
                                        </p:attrNameLst>
                                      </p:cBhvr>
                                      <p:to>
                                        <p:strVal val="visible"/>
                                      </p:to>
                                    </p:set>
                                    <p:animEffect transition="in" filter="fade">
                                      <p:cBhvr>
                                        <p:cTn id="8" dur="400"/>
                                        <p:tgtEl>
                                          <p:spTgt spid="2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fade">
                                      <p:cBhvr>
                                        <p:cTn id="11" dur="400"/>
                                        <p:tgtEl>
                                          <p:spTgt spid="21"/>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400"/>
                                        <p:tgtEl>
                                          <p:spTgt spid="2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400"/>
                                        <p:tgtEl>
                                          <p:spTgt spid="23"/>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fade">
                                      <p:cBhvr>
                                        <p:cTn id="20" dur="400"/>
                                        <p:tgtEl>
                                          <p:spTgt spid="24"/>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fade">
                                      <p:cBhvr>
                                        <p:cTn id="23" dur="400"/>
                                        <p:tgtEl>
                                          <p:spTgt spid="2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fade">
                                      <p:cBhvr>
                                        <p:cTn id="26" dur="400"/>
                                        <p:tgtEl>
                                          <p:spTgt spid="26"/>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7"/>
                                        </p:tgtEl>
                                        <p:attrNameLst>
                                          <p:attrName>style.visibility</p:attrName>
                                        </p:attrNameLst>
                                      </p:cBhvr>
                                      <p:to>
                                        <p:strVal val="visible"/>
                                      </p:to>
                                    </p:set>
                                    <p:animEffect transition="in" filter="fade">
                                      <p:cBhvr>
                                        <p:cTn id="29" dur="400"/>
                                        <p:tgtEl>
                                          <p:spTgt spid="27"/>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400"/>
                                        <p:tgtEl>
                                          <p:spTgt spid="2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9"/>
                                        </p:tgtEl>
                                        <p:attrNameLst>
                                          <p:attrName>style.visibility</p:attrName>
                                        </p:attrNameLst>
                                      </p:cBhvr>
                                      <p:to>
                                        <p:strVal val="visible"/>
                                      </p:to>
                                    </p:set>
                                    <p:animEffect transition="in" filter="fade">
                                      <p:cBhvr>
                                        <p:cTn id="35" dur="400"/>
                                        <p:tgtEl>
                                          <p:spTgt spid="2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0"/>
                                        </p:tgtEl>
                                        <p:attrNameLst>
                                          <p:attrName>style.visibility</p:attrName>
                                        </p:attrNameLst>
                                      </p:cBhvr>
                                      <p:to>
                                        <p:strVal val="visible"/>
                                      </p:to>
                                    </p:set>
                                    <p:animEffect transition="in" filter="fade">
                                      <p:cBhvr>
                                        <p:cTn id="38" dur="400"/>
                                        <p:tgtEl>
                                          <p:spTgt spid="3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400"/>
                                        <p:tgtEl>
                                          <p:spTgt spid="3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2"/>
                                        </p:tgtEl>
                                        <p:attrNameLst>
                                          <p:attrName>style.visibility</p:attrName>
                                        </p:attrNameLst>
                                      </p:cBhvr>
                                      <p:to>
                                        <p:strVal val="visible"/>
                                      </p:to>
                                    </p:set>
                                    <p:animEffect transition="in" filter="fade">
                                      <p:cBhvr>
                                        <p:cTn id="44" dur="400"/>
                                        <p:tgtEl>
                                          <p:spTgt spid="32"/>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animEffect transition="in" filter="fade">
                                      <p:cBhvr>
                                        <p:cTn id="47" dur="400"/>
                                        <p:tgtEl>
                                          <p:spTgt spid="3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4"/>
                                        </p:tgtEl>
                                        <p:attrNameLst>
                                          <p:attrName>style.visibility</p:attrName>
                                        </p:attrNameLst>
                                      </p:cBhvr>
                                      <p:to>
                                        <p:strVal val="visible"/>
                                      </p:to>
                                    </p:set>
                                    <p:animEffect transition="in" filter="fade">
                                      <p:cBhvr>
                                        <p:cTn id="50" dur="400"/>
                                        <p:tgtEl>
                                          <p:spTgt spid="34"/>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5"/>
                                        </p:tgtEl>
                                        <p:attrNameLst>
                                          <p:attrName>style.visibility</p:attrName>
                                        </p:attrNameLst>
                                      </p:cBhvr>
                                      <p:to>
                                        <p:strVal val="visible"/>
                                      </p:to>
                                    </p:set>
                                    <p:animEffect transition="in" filter="fade">
                                      <p:cBhvr>
                                        <p:cTn id="53" dur="400"/>
                                        <p:tgtEl>
                                          <p:spTgt spid="35"/>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6"/>
                                        </p:tgtEl>
                                        <p:attrNameLst>
                                          <p:attrName>style.visibility</p:attrName>
                                        </p:attrNameLst>
                                      </p:cBhvr>
                                      <p:to>
                                        <p:strVal val="visible"/>
                                      </p:to>
                                    </p:set>
                                    <p:animEffect transition="in" filter="fade">
                                      <p:cBhvr>
                                        <p:cTn id="56" dur="400"/>
                                        <p:tgtEl>
                                          <p:spTgt spid="36"/>
                                        </p:tgtEl>
                                      </p:cBhvr>
                                    </p:animEffect>
                                  </p:childTnLst>
                                </p:cTn>
                              </p:par>
                            </p:childTnLst>
                          </p:cTn>
                        </p:par>
                      </p:childTnLst>
                    </p:cTn>
                  </p:par>
                  <p:par>
                    <p:cTn id="77" fill="hold">
                      <p:stCondLst>
                        <p:cond delay="indefinite"/>
                      </p:stCondLst>
                      <p:childTnLst>
                        <p:par>
                          <p:cTn id="7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37"/>
                                        </p:tgtEl>
                                        <p:attrNameLst>
                                          <p:attrName>style.visibility</p:attrName>
                                        </p:attrNameLst>
                                      </p:cBhvr>
                                      <p:to>
                                        <p:strVal val="visible"/>
                                      </p:to>
                                    </p:set>
                                    <p:animEffect transition="in" filter="fade">
                                      <p:cBhvr>
                                        <p:cTn id="61" dur="400"/>
                                        <p:tgtEl>
                                          <p:spTgt spid="37"/>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8"/>
                                        </p:tgtEl>
                                        <p:attrNameLst>
                                          <p:attrName>style.visibility</p:attrName>
                                        </p:attrNameLst>
                                      </p:cBhvr>
                                      <p:to>
                                        <p:strVal val="visible"/>
                                      </p:to>
                                    </p:set>
                                    <p:animEffect transition="in" filter="fade">
                                      <p:cBhvr>
                                        <p:cTn id="64" dur="400"/>
                                        <p:tgtEl>
                                          <p:spTgt spid="38"/>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9"/>
                                        </p:tgtEl>
                                        <p:attrNameLst>
                                          <p:attrName>style.visibility</p:attrName>
                                        </p:attrNameLst>
                                      </p:cBhvr>
                                      <p:to>
                                        <p:strVal val="visible"/>
                                      </p:to>
                                    </p:set>
                                    <p:animEffect transition="in" filter="fade">
                                      <p:cBhvr>
                                        <p:cTn id="67" dur="400"/>
                                        <p:tgtEl>
                                          <p:spTgt spid="39"/>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40"/>
                                        </p:tgtEl>
                                        <p:attrNameLst>
                                          <p:attrName>style.visibility</p:attrName>
                                        </p:attrNameLst>
                                      </p:cBhvr>
                                      <p:to>
                                        <p:strVal val="visible"/>
                                      </p:to>
                                    </p:set>
                                    <p:animEffect transition="in" filter="fade">
                                      <p:cBhvr>
                                        <p:cTn id="70" dur="400"/>
                                        <p:tgtEl>
                                          <p:spTgt spid="40"/>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41"/>
                                        </p:tgtEl>
                                        <p:attrNameLst>
                                          <p:attrName>style.visibility</p:attrName>
                                        </p:attrNameLst>
                                      </p:cBhvr>
                                      <p:to>
                                        <p:strVal val="visible"/>
                                      </p:to>
                                    </p:set>
                                    <p:animEffect transition="in" filter="fade">
                                      <p:cBhvr>
                                        <p:cTn id="73" dur="400"/>
                                        <p:tgtEl>
                                          <p:spTgt spid="41"/>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42"/>
                                        </p:tgtEl>
                                        <p:attrNameLst>
                                          <p:attrName>style.visibility</p:attrName>
                                        </p:attrNameLst>
                                      </p:cBhvr>
                                      <p:to>
                                        <p:strVal val="visible"/>
                                      </p:to>
                                    </p:set>
                                    <p:animEffect transition="in" filter="fade">
                                      <p:cBhvr>
                                        <p:cTn id="76" dur="400"/>
                                        <p:tgtEl>
                                          <p:spTgt spid="42"/>
                                        </p:tgtEl>
                                      </p:cBhvr>
                                    </p:animEffect>
                                  </p:childTnLst>
                                </p:cTn>
                              </p:par>
                            </p:childTnLst>
                          </p:cTn>
                        </p:par>
                      </p:childTnLst>
                    </p:cTn>
                  </p:par>
                  <p:par>
                    <p:cTn id="97" fill="hold">
                      <p:stCondLst>
                        <p:cond delay="indefinite"/>
                      </p:stCondLst>
                      <p:childTnLst>
                        <p:par>
                          <p:cTn id="9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43"/>
                                        </p:tgtEl>
                                        <p:attrNameLst>
                                          <p:attrName>style.visibility</p:attrName>
                                        </p:attrNameLst>
                                      </p:cBhvr>
                                      <p:to>
                                        <p:strVal val="visible"/>
                                      </p:to>
                                    </p:set>
                                    <p:animEffect transition="in" filter="fade">
                                      <p:cBhvr>
                                        <p:cTn id="81" dur="400"/>
                                        <p:tgtEl>
                                          <p:spTgt spid="43"/>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4"/>
                                        </p:tgtEl>
                                        <p:attrNameLst>
                                          <p:attrName>style.visibility</p:attrName>
                                        </p:attrNameLst>
                                      </p:cBhvr>
                                      <p:to>
                                        <p:strVal val="visible"/>
                                      </p:to>
                                    </p:set>
                                    <p:animEffect transition="in" filter="fade">
                                      <p:cBhvr>
                                        <p:cTn id="84" dur="400"/>
                                        <p:tgtEl>
                                          <p:spTgt spid="44"/>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45"/>
                                        </p:tgtEl>
                                        <p:attrNameLst>
                                          <p:attrName>style.visibility</p:attrName>
                                        </p:attrNameLst>
                                      </p:cBhvr>
                                      <p:to>
                                        <p:strVal val="visible"/>
                                      </p:to>
                                    </p:set>
                                    <p:animEffect transition="in" filter="fade">
                                      <p:cBhvr>
                                        <p:cTn id="87" dur="400"/>
                                        <p:tgtEl>
                                          <p:spTgt spid="45"/>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46"/>
                                        </p:tgtEl>
                                        <p:attrNameLst>
                                          <p:attrName>style.visibility</p:attrName>
                                        </p:attrNameLst>
                                      </p:cBhvr>
                                      <p:to>
                                        <p:strVal val="visible"/>
                                      </p:to>
                                    </p:set>
                                    <p:animEffect transition="in" filter="fade">
                                      <p:cBhvr>
                                        <p:cTn id="90" dur="400"/>
                                        <p:tgtEl>
                                          <p:spTgt spid="46"/>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47"/>
                                        </p:tgtEl>
                                        <p:attrNameLst>
                                          <p:attrName>style.visibility</p:attrName>
                                        </p:attrNameLst>
                                      </p:cBhvr>
                                      <p:to>
                                        <p:strVal val="visible"/>
                                      </p:to>
                                    </p:set>
                                    <p:animEffect transition="in" filter="fade">
                                      <p:cBhvr>
                                        <p:cTn id="93" dur="400"/>
                                        <p:tgtEl>
                                          <p:spTgt spid="47"/>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48"/>
                                        </p:tgtEl>
                                        <p:attrNameLst>
                                          <p:attrName>style.visibility</p:attrName>
                                        </p:attrNameLst>
                                      </p:cBhvr>
                                      <p:to>
                                        <p:strVal val="visible"/>
                                      </p:to>
                                    </p:set>
                                    <p:animEffect transition="in" filter="fade">
                                      <p:cBhvr>
                                        <p:cTn id="96" dur="4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FUNDAMENTOS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Primero el qué: el negocio en una lámina</a:t>
            </a:r>
            <a:endParaRPr lang="en-US" sz="2800" dirty="0"/>
          </a:p>
        </p:txBody>
      </p:sp>
      <p:sp>
        <p:nvSpPr>
          <p:cNvPr id="5" name="Shape 3"/>
          <p:cNvSpPr/>
          <p:nvPr/>
        </p:nvSpPr>
        <p:spPr>
          <a:xfrm>
            <a:off x="9210751" y="429768"/>
            <a:ext cx="274320" cy="73152"/>
          </a:xfrm>
          <a:prstGeom prst="roundRect">
            <a:avLst>
              <a:gd name="adj" fmla="val 50000"/>
            </a:avLst>
          </a:prstGeom>
          <a:solidFill>
            <a:srgbClr val="2BA6CB"/>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DFE6F0"/>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Antes de escribir código, entendimos qué tiene que pasar, quién lo hace y qué no se permite.</a:t>
            </a:r>
            <a:endParaRPr lang="en-US" sz="1700" dirty="0"/>
          </a:p>
        </p:txBody>
      </p:sp>
      <p:sp>
        <p:nvSpPr>
          <p:cNvPr id="13" name="Shape 11"/>
          <p:cNvSpPr/>
          <p:nvPr/>
        </p:nvSpPr>
        <p:spPr>
          <a:xfrm>
            <a:off x="1251928" y="1828800"/>
            <a:ext cx="1463040" cy="1463040"/>
          </a:xfrm>
          <a:prstGeom prst="ellipse">
            <a:avLst/>
          </a:prstGeom>
          <a:solidFill>
            <a:srgbClr val="F1EEFD"/>
          </a:solidFill>
          <a:ln w="31750">
            <a:solidFill>
              <a:srgbClr val="5B3FC4"/>
            </a:solidFill>
            <a:prstDash val="solid"/>
          </a:ln>
          <a:effectLst>
            <a:outerShdw sx="100000" sy="100000" kx="0" ky="0" algn="bl" rotWithShape="0" blurRad="76200" dist="19050" dir="5400000">
              <a:srgbClr val="0B1F3A">
                <a:alpha val="14000"/>
              </a:srgbClr>
            </a:outerShdw>
          </a:effectLst>
        </p:spPr>
      </p:sp>
      <p:sp>
        <p:nvSpPr>
          <p:cNvPr id="14" name="Icono user"/>
          <p:cNvSpPr/>
          <p:nvPr/>
        </p:nvSpPr>
        <p:spPr>
          <a:xfrm>
            <a:off x="1588427" y="2165299"/>
            <a:ext cx="790042" cy="790042"/>
          </a:xfrm>
          <a:custGeom>
            <a:avLst/>
            <a:gdLst/>
            <a:ahLst/>
            <a:cxnLst/>
            <a:rect l="l" t="t" r="r" b="b"/>
            <a:pathLst>
              <a:path w="790042" h="790042">
                <a:moveTo>
                  <a:pt x="625450" y="691286"/>
                </a:moveTo>
                <a:lnTo>
                  <a:pt x="625450" y="625450"/>
                </a:lnTo>
                <a:cubicBezTo>
                  <a:pt x="625450" y="552728"/>
                  <a:pt x="566497" y="493776"/>
                  <a:pt x="493776" y="493776"/>
                </a:cubicBezTo>
                <a:lnTo>
                  <a:pt x="296266" y="493776"/>
                </a:lnTo>
                <a:cubicBezTo>
                  <a:pt x="223544" y="493776"/>
                  <a:pt x="164592" y="552728"/>
                  <a:pt x="164592" y="625450"/>
                </a:cubicBezTo>
                <a:lnTo>
                  <a:pt x="164592" y="691286"/>
                </a:lnTo>
                <a:moveTo>
                  <a:pt x="526694" y="230429"/>
                </a:moveTo>
                <a:cubicBezTo>
                  <a:pt x="526694" y="303150"/>
                  <a:pt x="467742" y="362102"/>
                  <a:pt x="395021" y="362102"/>
                </a:cubicBezTo>
                <a:cubicBezTo>
                  <a:pt x="322299" y="362102"/>
                  <a:pt x="263347" y="303150"/>
                  <a:pt x="263347" y="230429"/>
                </a:cubicBezTo>
                <a:cubicBezTo>
                  <a:pt x="263347" y="157707"/>
                  <a:pt x="322299" y="98755"/>
                  <a:pt x="395021" y="98755"/>
                </a:cubicBezTo>
                <a:cubicBezTo>
                  <a:pt x="467742" y="98755"/>
                  <a:pt x="526694" y="157707"/>
                  <a:pt x="526694" y="230429"/>
                </a:cubicBezTo>
                <a:close/>
              </a:path>
            </a:pathLst>
          </a:custGeom>
          <a:noFill/>
          <a:ln w="57607" cap="rnd">
            <a:solidFill>
              <a:srgbClr val="5B3FC4"/>
            </a:solidFill>
            <a:prstDash val="solid"/>
            <a:round/>
          </a:ln>
        </p:spPr>
      </p:sp>
      <p:sp>
        <p:nvSpPr>
          <p:cNvPr id="15" name="Text 13"/>
          <p:cNvSpPr/>
          <p:nvPr/>
        </p:nvSpPr>
        <p:spPr>
          <a:xfrm>
            <a:off x="1215352" y="1792224"/>
            <a:ext cx="347472" cy="347472"/>
          </a:xfrm>
          <a:prstGeom prst="ellipse">
            <a:avLst/>
          </a:prstGeom>
          <a:solidFill>
            <a:srgbClr val="5B3FC4"/>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16" name="Text 14"/>
          <p:cNvSpPr/>
          <p:nvPr/>
        </p:nvSpPr>
        <p:spPr>
          <a:xfrm>
            <a:off x="658368" y="3419856"/>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Quien solicita</a:t>
            </a:r>
            <a:endParaRPr lang="en-US" sz="1800" dirty="0"/>
          </a:p>
        </p:txBody>
      </p:sp>
      <p:sp>
        <p:nvSpPr>
          <p:cNvPr id="17" name="Text 15"/>
          <p:cNvSpPr/>
          <p:nvPr/>
        </p:nvSpPr>
        <p:spPr>
          <a:xfrm>
            <a:off x="722376" y="3858768"/>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Registra qué necesita y de qué tipo.</a:t>
            </a:r>
            <a:endParaRPr lang="en-US" sz="1400" dirty="0"/>
          </a:p>
        </p:txBody>
      </p:sp>
      <p:sp>
        <p:nvSpPr>
          <p:cNvPr id="18" name="[p1] Forma"/>
          <p:cNvSpPr/>
          <p:nvPr/>
        </p:nvSpPr>
        <p:spPr>
          <a:xfrm>
            <a:off x="2806408" y="2560320"/>
            <a:ext cx="1095680" cy="0"/>
          </a:xfrm>
          <a:prstGeom prst="line">
            <a:avLst/>
          </a:prstGeom>
          <a:noFill/>
          <a:ln w="38100">
            <a:solidFill>
              <a:srgbClr val="2BA6CB"/>
            </a:solidFill>
            <a:prstDash val="solid"/>
            <a:tailEnd type="triangle"/>
          </a:ln>
        </p:spPr>
      </p:sp>
      <p:sp>
        <p:nvSpPr>
          <p:cNvPr id="19" name="[p1] Forma"/>
          <p:cNvSpPr/>
          <p:nvPr/>
        </p:nvSpPr>
        <p:spPr>
          <a:xfrm>
            <a:off x="3993528" y="1828800"/>
            <a:ext cx="1463040" cy="146304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20" name="[p1] Icono send"/>
          <p:cNvSpPr/>
          <p:nvPr/>
        </p:nvSpPr>
        <p:spPr>
          <a:xfrm>
            <a:off x="4330027" y="2165299"/>
            <a:ext cx="790042" cy="790042"/>
          </a:xfrm>
          <a:custGeom>
            <a:avLst/>
            <a:gdLst/>
            <a:ahLst/>
            <a:cxnLst/>
            <a:rect l="l" t="t" r="r" b="b"/>
            <a:pathLst>
              <a:path w="790042" h="790042">
                <a:moveTo>
                  <a:pt x="478502" y="713868"/>
                </a:moveTo>
                <a:cubicBezTo>
                  <a:pt x="481063" y="720252"/>
                  <a:pt x="487323" y="724369"/>
                  <a:pt x="494199" y="724193"/>
                </a:cubicBezTo>
                <a:cubicBezTo>
                  <a:pt x="501074" y="724017"/>
                  <a:pt x="507115" y="719584"/>
                  <a:pt x="509346" y="713078"/>
                </a:cubicBezTo>
                <a:lnTo>
                  <a:pt x="723316" y="87629"/>
                </a:lnTo>
                <a:cubicBezTo>
                  <a:pt x="725467" y="81674"/>
                  <a:pt x="723981" y="75013"/>
                  <a:pt x="719505" y="70537"/>
                </a:cubicBezTo>
                <a:cubicBezTo>
                  <a:pt x="715028" y="66060"/>
                  <a:pt x="708367" y="64575"/>
                  <a:pt x="702413" y="66726"/>
                </a:cubicBezTo>
                <a:lnTo>
                  <a:pt x="76963" y="280695"/>
                </a:lnTo>
                <a:cubicBezTo>
                  <a:pt x="70457" y="282926"/>
                  <a:pt x="66025" y="288967"/>
                  <a:pt x="65849" y="295843"/>
                </a:cubicBezTo>
                <a:cubicBezTo>
                  <a:pt x="65673" y="302718"/>
                  <a:pt x="69790" y="308979"/>
                  <a:pt x="76173" y="311540"/>
                </a:cubicBezTo>
                <a:lnTo>
                  <a:pt x="337216" y="416220"/>
                </a:lnTo>
                <a:cubicBezTo>
                  <a:pt x="353891" y="422897"/>
                  <a:pt x="367115" y="436096"/>
                  <a:pt x="373821" y="452760"/>
                </a:cubicBezTo>
                <a:close/>
                <a:moveTo>
                  <a:pt x="719399" y="70676"/>
                </a:moveTo>
                <a:lnTo>
                  <a:pt x="359271" y="430770"/>
                </a:lnTo>
              </a:path>
            </a:pathLst>
          </a:custGeom>
          <a:noFill/>
          <a:ln w="57607" cap="rnd">
            <a:solidFill>
              <a:srgbClr val="0B2350"/>
            </a:solidFill>
            <a:prstDash val="solid"/>
            <a:round/>
          </a:ln>
        </p:spPr>
      </p:sp>
      <p:sp>
        <p:nvSpPr>
          <p:cNvPr id="21" name="[p1] Forma"/>
          <p:cNvSpPr/>
          <p:nvPr/>
        </p:nvSpPr>
        <p:spPr>
          <a:xfrm>
            <a:off x="3956952" y="1792224"/>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22" name="[p1] Forma"/>
          <p:cNvSpPr/>
          <p:nvPr/>
        </p:nvSpPr>
        <p:spPr>
          <a:xfrm>
            <a:off x="3399968" y="3419856"/>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La envía</a:t>
            </a:r>
            <a:endParaRPr lang="en-US" sz="1800" dirty="0"/>
          </a:p>
        </p:txBody>
      </p:sp>
      <p:sp>
        <p:nvSpPr>
          <p:cNvPr id="23" name="[p1] Forma"/>
          <p:cNvSpPr/>
          <p:nvPr/>
        </p:nvSpPr>
        <p:spPr>
          <a:xfrm>
            <a:off x="3463976" y="3858768"/>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Cuando está lista.</a:t>
            </a:r>
            <a:endParaRPr lang="en-US" sz="1400" dirty="0"/>
          </a:p>
        </p:txBody>
      </p:sp>
      <p:sp>
        <p:nvSpPr>
          <p:cNvPr id="24" name="[p2] Forma"/>
          <p:cNvSpPr/>
          <p:nvPr/>
        </p:nvSpPr>
        <p:spPr>
          <a:xfrm>
            <a:off x="5548008" y="2560320"/>
            <a:ext cx="1095680" cy="0"/>
          </a:xfrm>
          <a:prstGeom prst="line">
            <a:avLst/>
          </a:prstGeom>
          <a:noFill/>
          <a:ln w="38100">
            <a:solidFill>
              <a:srgbClr val="2BA6CB"/>
            </a:solidFill>
            <a:prstDash val="solid"/>
            <a:tailEnd type="triangle"/>
          </a:ln>
        </p:spPr>
      </p:sp>
      <p:sp>
        <p:nvSpPr>
          <p:cNvPr id="25" name="[p2] Forma"/>
          <p:cNvSpPr/>
          <p:nvPr/>
        </p:nvSpPr>
        <p:spPr>
          <a:xfrm>
            <a:off x="6735128" y="1828800"/>
            <a:ext cx="1463040" cy="1463040"/>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26" name="[p2] Icono bell"/>
          <p:cNvSpPr/>
          <p:nvPr/>
        </p:nvSpPr>
        <p:spPr>
          <a:xfrm>
            <a:off x="7071627" y="2165299"/>
            <a:ext cx="790042" cy="790042"/>
          </a:xfrm>
          <a:custGeom>
            <a:avLst/>
            <a:gdLst/>
            <a:ahLst/>
            <a:cxnLst/>
            <a:rect l="l" t="t" r="r" b="b"/>
            <a:pathLst>
              <a:path w="790042" h="790042">
                <a:moveTo>
                  <a:pt x="338006" y="691286"/>
                </a:moveTo>
                <a:cubicBezTo>
                  <a:pt x="349767" y="711655"/>
                  <a:pt x="371501" y="724202"/>
                  <a:pt x="395021" y="724202"/>
                </a:cubicBezTo>
                <a:cubicBezTo>
                  <a:pt x="418541" y="724202"/>
                  <a:pt x="440274" y="711655"/>
                  <a:pt x="452035" y="691286"/>
                </a:cubicBezTo>
                <a:moveTo>
                  <a:pt x="107380" y="504507"/>
                </a:moveTo>
                <a:cubicBezTo>
                  <a:pt x="98594" y="514138"/>
                  <a:pt x="96318" y="528045"/>
                  <a:pt x="101577" y="539974"/>
                </a:cubicBezTo>
                <a:cubicBezTo>
                  <a:pt x="106835" y="551902"/>
                  <a:pt x="118638" y="559603"/>
                  <a:pt x="131674" y="559613"/>
                </a:cubicBezTo>
                <a:lnTo>
                  <a:pt x="658368" y="559613"/>
                </a:lnTo>
                <a:cubicBezTo>
                  <a:pt x="671402" y="559617"/>
                  <a:pt x="683212" y="551931"/>
                  <a:pt x="688485" y="540010"/>
                </a:cubicBezTo>
                <a:cubicBezTo>
                  <a:pt x="693757" y="528090"/>
                  <a:pt x="691500" y="514181"/>
                  <a:pt x="682728" y="504540"/>
                </a:cubicBezTo>
                <a:cubicBezTo>
                  <a:pt x="638946" y="459409"/>
                  <a:pt x="592531" y="411447"/>
                  <a:pt x="592531" y="263347"/>
                </a:cubicBezTo>
                <a:cubicBezTo>
                  <a:pt x="592531" y="154265"/>
                  <a:pt x="504103" y="65837"/>
                  <a:pt x="395021" y="65837"/>
                </a:cubicBezTo>
                <a:cubicBezTo>
                  <a:pt x="285939" y="65837"/>
                  <a:pt x="197510" y="154265"/>
                  <a:pt x="197510" y="263347"/>
                </a:cubicBezTo>
                <a:cubicBezTo>
                  <a:pt x="197510" y="411447"/>
                  <a:pt x="151063" y="459409"/>
                  <a:pt x="107380" y="504507"/>
                </a:cubicBezTo>
              </a:path>
            </a:pathLst>
          </a:custGeom>
          <a:noFill/>
          <a:ln w="57607" cap="rnd">
            <a:solidFill>
              <a:srgbClr val="0B6E8A"/>
            </a:solidFill>
            <a:prstDash val="solid"/>
            <a:round/>
          </a:ln>
        </p:spPr>
      </p:sp>
      <p:sp>
        <p:nvSpPr>
          <p:cNvPr id="27" name="[p2] Forma"/>
          <p:cNvSpPr/>
          <p:nvPr/>
        </p:nvSpPr>
        <p:spPr>
          <a:xfrm>
            <a:off x="6698552" y="1792224"/>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28" name="[p2] Forma"/>
          <p:cNvSpPr/>
          <p:nvPr/>
        </p:nvSpPr>
        <p:spPr>
          <a:xfrm>
            <a:off x="6141568" y="3419856"/>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El sistema avisa</a:t>
            </a:r>
            <a:endParaRPr lang="en-US" sz="1800" dirty="0"/>
          </a:p>
        </p:txBody>
      </p:sp>
      <p:sp>
        <p:nvSpPr>
          <p:cNvPr id="29" name="[p2] Forma"/>
          <p:cNvSpPr/>
          <p:nvPr/>
        </p:nvSpPr>
        <p:spPr>
          <a:xfrm>
            <a:off x="6205576" y="3858768"/>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A quien debe atenderla.</a:t>
            </a:r>
            <a:endParaRPr lang="en-US" sz="1400" dirty="0"/>
          </a:p>
        </p:txBody>
      </p:sp>
      <p:sp>
        <p:nvSpPr>
          <p:cNvPr id="30" name="[p3] Forma"/>
          <p:cNvSpPr/>
          <p:nvPr/>
        </p:nvSpPr>
        <p:spPr>
          <a:xfrm>
            <a:off x="8289608" y="2560320"/>
            <a:ext cx="1095680" cy="0"/>
          </a:xfrm>
          <a:prstGeom prst="line">
            <a:avLst/>
          </a:prstGeom>
          <a:noFill/>
          <a:ln w="38100">
            <a:solidFill>
              <a:srgbClr val="2BA6CB"/>
            </a:solidFill>
            <a:prstDash val="solid"/>
            <a:tailEnd type="triangle"/>
          </a:ln>
        </p:spPr>
      </p:sp>
      <p:sp>
        <p:nvSpPr>
          <p:cNvPr id="31" name="[p3] Forma"/>
          <p:cNvSpPr/>
          <p:nvPr/>
        </p:nvSpPr>
        <p:spPr>
          <a:xfrm>
            <a:off x="9476727" y="1828800"/>
            <a:ext cx="1463040" cy="1463040"/>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32" name="[p3] Icono circle-check"/>
          <p:cNvSpPr/>
          <p:nvPr/>
        </p:nvSpPr>
        <p:spPr>
          <a:xfrm>
            <a:off x="9813226" y="2165299"/>
            <a:ext cx="790042" cy="790042"/>
          </a:xfrm>
          <a:custGeom>
            <a:avLst/>
            <a:gdLst/>
            <a:ahLst/>
            <a:cxnLst/>
            <a:rect l="l" t="t" r="r" b="b"/>
            <a:pathLst>
              <a:path w="790042" h="790042">
                <a:moveTo>
                  <a:pt x="724205" y="395021"/>
                </a:moveTo>
                <a:cubicBezTo>
                  <a:pt x="724205" y="576824"/>
                  <a:pt x="576824" y="724205"/>
                  <a:pt x="395021" y="724205"/>
                </a:cubicBezTo>
                <a:cubicBezTo>
                  <a:pt x="213217" y="724205"/>
                  <a:pt x="65837" y="576824"/>
                  <a:pt x="65837" y="395021"/>
                </a:cubicBezTo>
                <a:cubicBezTo>
                  <a:pt x="65837" y="213217"/>
                  <a:pt x="213217" y="65837"/>
                  <a:pt x="395021" y="65837"/>
                </a:cubicBezTo>
                <a:cubicBezTo>
                  <a:pt x="576824" y="65837"/>
                  <a:pt x="724205" y="213217"/>
                  <a:pt x="724205" y="395021"/>
                </a:cubicBezTo>
                <a:close/>
                <a:moveTo>
                  <a:pt x="296266" y="395021"/>
                </a:moveTo>
                <a:lnTo>
                  <a:pt x="362102" y="460858"/>
                </a:lnTo>
                <a:lnTo>
                  <a:pt x="493776" y="329184"/>
                </a:lnTo>
              </a:path>
            </a:pathLst>
          </a:custGeom>
          <a:noFill/>
          <a:ln w="57607" cap="rnd">
            <a:solidFill>
              <a:srgbClr val="0A6648"/>
            </a:solidFill>
            <a:prstDash val="solid"/>
            <a:round/>
          </a:ln>
        </p:spPr>
      </p:sp>
      <p:sp>
        <p:nvSpPr>
          <p:cNvPr id="33" name="[p3] Forma"/>
          <p:cNvSpPr/>
          <p:nvPr/>
        </p:nvSpPr>
        <p:spPr>
          <a:xfrm>
            <a:off x="9440151" y="1792224"/>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4" name="[p3] Forma"/>
          <p:cNvSpPr/>
          <p:nvPr/>
        </p:nvSpPr>
        <p:spPr>
          <a:xfrm>
            <a:off x="8883167" y="3419856"/>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Alguien decide</a:t>
            </a:r>
            <a:endParaRPr lang="en-US" sz="1800" dirty="0"/>
          </a:p>
        </p:txBody>
      </p:sp>
      <p:sp>
        <p:nvSpPr>
          <p:cNvPr id="35" name="[p3] Forma"/>
          <p:cNvSpPr/>
          <p:nvPr/>
        </p:nvSpPr>
        <p:spPr>
          <a:xfrm>
            <a:off x="8947175" y="3858768"/>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La aprueba o la rechaza.</a:t>
            </a:r>
            <a:endParaRPr lang="en-US" sz="1400" dirty="0"/>
          </a:p>
        </p:txBody>
      </p:sp>
      <p:sp>
        <p:nvSpPr>
          <p:cNvPr id="36" name="[p4] Forma"/>
          <p:cNvSpPr/>
          <p:nvPr/>
        </p:nvSpPr>
        <p:spPr>
          <a:xfrm>
            <a:off x="4725048" y="4352544"/>
            <a:ext cx="0" cy="1568196"/>
          </a:xfrm>
          <a:prstGeom prst="line">
            <a:avLst/>
          </a:prstGeom>
          <a:noFill/>
          <a:ln w="25400">
            <a:solidFill>
              <a:srgbClr val="AB243E"/>
            </a:solidFill>
            <a:prstDash val="dash"/>
          </a:ln>
        </p:spPr>
      </p:sp>
      <p:sp>
        <p:nvSpPr>
          <p:cNvPr id="37" name="[p4] Forma"/>
          <p:cNvSpPr/>
          <p:nvPr/>
        </p:nvSpPr>
        <p:spPr>
          <a:xfrm>
            <a:off x="4725048" y="5920740"/>
            <a:ext cx="457200" cy="0"/>
          </a:xfrm>
          <a:prstGeom prst="line">
            <a:avLst/>
          </a:prstGeom>
          <a:noFill/>
          <a:ln w="25400">
            <a:solidFill>
              <a:srgbClr val="AB243E"/>
            </a:solidFill>
            <a:prstDash val="dash"/>
            <a:tailEnd type="triangle"/>
          </a:ln>
        </p:spPr>
      </p:sp>
      <p:sp>
        <p:nvSpPr>
          <p:cNvPr id="38" name="[p4] Forma"/>
          <p:cNvSpPr/>
          <p:nvPr/>
        </p:nvSpPr>
        <p:spPr>
          <a:xfrm>
            <a:off x="3262008" y="5591556"/>
            <a:ext cx="1371600" cy="274320"/>
          </a:xfrm>
          <a:prstGeom prst="rect">
            <a:avLst/>
          </a:prstGeom>
          <a:noFill/>
          <a:ln/>
        </p:spPr>
        <p:txBody>
          <a:bodyPr wrap="square" lIns="0" tIns="0" rIns="0" bIns="0" rtlCol="0" anchor="t">
            <a:normAutofit/>
          </a:bodyPr>
          <a:lstStyle/>
          <a:p>
            <a:pPr algn="r" indent="0" marL="0">
              <a:buNone/>
            </a:pPr>
            <a:r>
              <a:rPr lang="en-US" sz="950" b="1" dirty="0">
                <a:solidFill>
                  <a:srgbClr val="AB243E"/>
                </a:solidFill>
                <a:latin typeface="Segoe UI" pitchFamily="34" charset="0"/>
                <a:ea typeface="Segoe UI" pitchFamily="34" charset="-122"/>
                <a:cs typeface="Segoe UI" pitchFamily="34" charset="-120"/>
              </a:rPr>
              <a:t>si se salta un paso</a:t>
            </a:r>
            <a:endParaRPr lang="en-US" sz="950" dirty="0"/>
          </a:p>
        </p:txBody>
      </p:sp>
      <p:sp>
        <p:nvSpPr>
          <p:cNvPr id="39" name="[p4] Forma"/>
          <p:cNvSpPr/>
          <p:nvPr/>
        </p:nvSpPr>
        <p:spPr>
          <a:xfrm>
            <a:off x="5182248" y="5486400"/>
            <a:ext cx="4206240" cy="868680"/>
          </a:xfrm>
          <a:prstGeom prst="roundRect">
            <a:avLst>
              <a:gd name="adj" fmla="val 14737"/>
            </a:avLst>
          </a:prstGeom>
          <a:solidFill>
            <a:srgbClr val="F7E3E7"/>
          </a:solidFill>
          <a:ln w="12700">
            <a:solidFill>
              <a:srgbClr val="D5929F"/>
            </a:solidFill>
            <a:prstDash val="solid"/>
          </a:ln>
          <a:effectLst>
            <a:outerShdw sx="100000" sy="100000" kx="0" ky="0" algn="bl" rotWithShape="0" blurRad="76200" dist="19050" dir="5400000">
              <a:srgbClr val="0B1F3A">
                <a:alpha val="14000"/>
              </a:srgbClr>
            </a:outerShdw>
          </a:effectLst>
        </p:spPr>
      </p:sp>
      <p:sp>
        <p:nvSpPr>
          <p:cNvPr id="40" name="[p4] Forma"/>
          <p:cNvSpPr/>
          <p:nvPr/>
        </p:nvSpPr>
        <p:spPr>
          <a:xfrm>
            <a:off x="5346840" y="5641848"/>
            <a:ext cx="548640" cy="548640"/>
          </a:xfrm>
          <a:prstGeom prst="ellipse">
            <a:avLst/>
          </a:prstGeom>
          <a:solidFill>
            <a:srgbClr val="FFFFFF"/>
          </a:solidFill>
          <a:ln w="12700">
            <a:solidFill>
              <a:srgbClr val="FFFFFF"/>
            </a:solidFill>
            <a:prstDash val="solid"/>
          </a:ln>
        </p:spPr>
      </p:sp>
      <p:sp>
        <p:nvSpPr>
          <p:cNvPr id="41" name="[p4] Icono ban"/>
          <p:cNvSpPr/>
          <p:nvPr/>
        </p:nvSpPr>
        <p:spPr>
          <a:xfrm>
            <a:off x="5478513" y="5773522"/>
            <a:ext cx="285293" cy="285293"/>
          </a:xfrm>
          <a:custGeom>
            <a:avLst/>
            <a:gdLst/>
            <a:ahLst/>
            <a:cxnLst/>
            <a:rect l="l" t="t" r="r" b="b"/>
            <a:pathLst>
              <a:path w="285293" h="285293">
                <a:moveTo>
                  <a:pt x="261518" y="142646"/>
                </a:moveTo>
                <a:cubicBezTo>
                  <a:pt x="261518" y="208298"/>
                  <a:pt x="208298" y="261518"/>
                  <a:pt x="142646" y="261518"/>
                </a:cubicBezTo>
                <a:cubicBezTo>
                  <a:pt x="76995" y="261518"/>
                  <a:pt x="23774" y="208298"/>
                  <a:pt x="23774" y="142646"/>
                </a:cubicBezTo>
                <a:cubicBezTo>
                  <a:pt x="23774" y="76995"/>
                  <a:pt x="76995" y="23774"/>
                  <a:pt x="142646" y="23774"/>
                </a:cubicBezTo>
                <a:cubicBezTo>
                  <a:pt x="208298" y="23774"/>
                  <a:pt x="261518" y="76995"/>
                  <a:pt x="261518" y="142646"/>
                </a:cubicBezTo>
                <a:close/>
                <a:moveTo>
                  <a:pt x="58247" y="58247"/>
                </a:moveTo>
                <a:lnTo>
                  <a:pt x="227046" y="227046"/>
                </a:lnTo>
              </a:path>
            </a:pathLst>
          </a:custGeom>
          <a:noFill/>
          <a:ln w="23774" cap="rnd">
            <a:solidFill>
              <a:srgbClr val="AB243E"/>
            </a:solidFill>
            <a:prstDash val="solid"/>
            <a:round/>
          </a:ln>
        </p:spPr>
      </p:sp>
      <p:sp>
        <p:nvSpPr>
          <p:cNvPr id="42" name="[p4] Forma"/>
          <p:cNvSpPr/>
          <p:nvPr/>
        </p:nvSpPr>
        <p:spPr>
          <a:xfrm>
            <a:off x="6023496" y="5596128"/>
            <a:ext cx="3246120" cy="329184"/>
          </a:xfrm>
          <a:prstGeom prst="rect">
            <a:avLst/>
          </a:prstGeom>
          <a:noFill/>
          <a:ln/>
        </p:spPr>
        <p:txBody>
          <a:bodyPr wrap="square" lIns="0" tIns="0" rIns="0" bIns="0" rtlCol="0" anchor="t">
            <a:normAutofit/>
          </a:bodyPr>
          <a:lstStyle/>
          <a:p>
            <a:pPr algn="l" indent="0" marL="0">
              <a:buNone/>
            </a:pPr>
            <a:r>
              <a:rPr lang="en-US" sz="1450" b="1" dirty="0">
                <a:solidFill>
                  <a:srgbClr val="AB243E"/>
                </a:solidFill>
                <a:latin typeface="Segoe UI Semibold" pitchFamily="34" charset="0"/>
                <a:ea typeface="Segoe UI Semibold" pitchFamily="34" charset="-122"/>
                <a:cs typeface="Segoe UI Semibold" pitchFamily="34" charset="-120"/>
              </a:rPr>
              <a:t>No se permite</a:t>
            </a:r>
            <a:endParaRPr lang="en-US" sz="1450" dirty="0"/>
          </a:p>
        </p:txBody>
      </p:sp>
      <p:sp>
        <p:nvSpPr>
          <p:cNvPr id="43" name="[p4] Forma"/>
          <p:cNvSpPr/>
          <p:nvPr/>
        </p:nvSpPr>
        <p:spPr>
          <a:xfrm>
            <a:off x="6023496" y="5925312"/>
            <a:ext cx="3246120" cy="365760"/>
          </a:xfrm>
          <a:prstGeom prst="rect">
            <a:avLst/>
          </a:prstGeom>
          <a:noFill/>
          <a:ln/>
        </p:spPr>
        <p:txBody>
          <a:bodyPr wrap="square" lIns="0" tIns="0" rIns="0" bIns="0" rtlCol="0" anchor="t">
            <a:normAutofit/>
          </a:bodyPr>
          <a:lstStyle/>
          <a:p>
            <a:pPr algn="l" indent="0" marL="0">
              <a:buNone/>
            </a:pPr>
            <a:r>
              <a:rPr lang="en-US" sz="1150" dirty="0">
                <a:solidFill>
                  <a:srgbClr val="0B1A3C"/>
                </a:solidFill>
                <a:latin typeface="Segoe UI" pitchFamily="34" charset="0"/>
                <a:ea typeface="Segoe UI" pitchFamily="34" charset="-122"/>
                <a:cs typeface="Segoe UI" pitchFamily="34" charset="-120"/>
              </a:rPr>
              <a:t>Enviar dos veces o decidir sobre un borrador: el sistema explica por qué.</a:t>
            </a:r>
            <a:endParaRPr lang="en-US" sz="1150" dirty="0"/>
          </a:p>
        </p:txBody>
      </p:sp>
      <p:sp>
        <p:nvSpPr>
          <p:cNvPr id="44" name="Text 42"/>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FUNDAMENTOS</a:t>
            </a:r>
            <a:endParaRPr lang="en-US" sz="800" dirty="0"/>
          </a:p>
        </p:txBody>
      </p:sp>
      <p:sp>
        <p:nvSpPr>
          <p:cNvPr id="4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8"/>
                                        </p:tgtEl>
                                        <p:attrNameLst>
                                          <p:attrName>style.visibility</p:attrName>
                                        </p:attrNameLst>
                                      </p:cBhvr>
                                      <p:to>
                                        <p:strVal val="visible"/>
                                      </p:to>
                                    </p:set>
                                    <p:animEffect transition="in" filter="fade">
                                      <p:cBhvr>
                                        <p:cTn id="5" dur="400"/>
                                        <p:tgtEl>
                                          <p:spTgt spid="1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9"/>
                                        </p:tgtEl>
                                        <p:attrNameLst>
                                          <p:attrName>style.visibility</p:attrName>
                                        </p:attrNameLst>
                                      </p:cBhvr>
                                      <p:to>
                                        <p:strVal val="visible"/>
                                      </p:to>
                                    </p:set>
                                    <p:animEffect transition="in" filter="fade">
                                      <p:cBhvr>
                                        <p:cTn id="8" dur="400"/>
                                        <p:tgtEl>
                                          <p:spTgt spid="1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fade">
                                      <p:cBhvr>
                                        <p:cTn id="11" dur="400"/>
                                        <p:tgtEl>
                                          <p:spTgt spid="2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fade">
                                      <p:cBhvr>
                                        <p:cTn id="14" dur="400"/>
                                        <p:tgtEl>
                                          <p:spTgt spid="2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fade">
                                      <p:cBhvr>
                                        <p:cTn id="20" dur="400"/>
                                        <p:tgtEl>
                                          <p:spTgt spid="23"/>
                                        </p:tgtEl>
                                      </p:cBhvr>
                                    </p:animEffect>
                                  </p:childTnLst>
                                </p:cTn>
                              </p:par>
                            </p:childTnLst>
                          </p:cTn>
                        </p:par>
                      </p:childTnLst>
                    </p:cTn>
                  </p:par>
                  <p:par>
                    <p:cTn id="41" fill="hold">
                      <p:stCondLst>
                        <p:cond delay="indefinite"/>
                      </p:stCondLst>
                      <p:childTnLst>
                        <p:par>
                          <p:cTn id="4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400"/>
                                        <p:tgtEl>
                                          <p:spTgt spid="2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fade">
                                      <p:cBhvr>
                                        <p:cTn id="28" dur="400"/>
                                        <p:tgtEl>
                                          <p:spTgt spid="2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400"/>
                                        <p:tgtEl>
                                          <p:spTgt spid="2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400"/>
                                        <p:tgtEl>
                                          <p:spTgt spid="2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fade">
                                      <p:cBhvr>
                                        <p:cTn id="37" dur="400"/>
                                        <p:tgtEl>
                                          <p:spTgt spid="2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9"/>
                                        </p:tgtEl>
                                        <p:attrNameLst>
                                          <p:attrName>style.visibility</p:attrName>
                                        </p:attrNameLst>
                                      </p:cBhvr>
                                      <p:to>
                                        <p:strVal val="visible"/>
                                      </p:to>
                                    </p:set>
                                    <p:animEffect transition="in" filter="fade">
                                      <p:cBhvr>
                                        <p:cTn id="40" dur="400"/>
                                        <p:tgtEl>
                                          <p:spTgt spid="29"/>
                                        </p:tgtEl>
                                      </p:cBhvr>
                                    </p:animEffect>
                                  </p:childTnLst>
                                </p:cTn>
                              </p:par>
                            </p:childTnLst>
                          </p:cTn>
                        </p:par>
                      </p:childTnLst>
                    </p:cTn>
                  </p:par>
                  <p:par>
                    <p:cTn id="61" fill="hold">
                      <p:stCondLst>
                        <p:cond delay="indefinite"/>
                      </p:stCondLst>
                      <p:childTnLst>
                        <p:par>
                          <p:cTn id="6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0"/>
                                        </p:tgtEl>
                                        <p:attrNameLst>
                                          <p:attrName>style.visibility</p:attrName>
                                        </p:attrNameLst>
                                      </p:cBhvr>
                                      <p:to>
                                        <p:strVal val="visible"/>
                                      </p:to>
                                    </p:set>
                                    <p:animEffect transition="in" filter="fade">
                                      <p:cBhvr>
                                        <p:cTn id="45" dur="400"/>
                                        <p:tgtEl>
                                          <p:spTgt spid="30"/>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1"/>
                                        </p:tgtEl>
                                        <p:attrNameLst>
                                          <p:attrName>style.visibility</p:attrName>
                                        </p:attrNameLst>
                                      </p:cBhvr>
                                      <p:to>
                                        <p:strVal val="visible"/>
                                      </p:to>
                                    </p:set>
                                    <p:animEffect transition="in" filter="fade">
                                      <p:cBhvr>
                                        <p:cTn id="48" dur="400"/>
                                        <p:tgtEl>
                                          <p:spTgt spid="31"/>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2"/>
                                        </p:tgtEl>
                                        <p:attrNameLst>
                                          <p:attrName>style.visibility</p:attrName>
                                        </p:attrNameLst>
                                      </p:cBhvr>
                                      <p:to>
                                        <p:strVal val="visible"/>
                                      </p:to>
                                    </p:set>
                                    <p:animEffect transition="in" filter="fade">
                                      <p:cBhvr>
                                        <p:cTn id="51" dur="400"/>
                                        <p:tgtEl>
                                          <p:spTgt spid="32"/>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3"/>
                                        </p:tgtEl>
                                        <p:attrNameLst>
                                          <p:attrName>style.visibility</p:attrName>
                                        </p:attrNameLst>
                                      </p:cBhvr>
                                      <p:to>
                                        <p:strVal val="visible"/>
                                      </p:to>
                                    </p:set>
                                    <p:animEffect transition="in" filter="fade">
                                      <p:cBhvr>
                                        <p:cTn id="54" dur="400"/>
                                        <p:tgtEl>
                                          <p:spTgt spid="33"/>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4"/>
                                        </p:tgtEl>
                                        <p:attrNameLst>
                                          <p:attrName>style.visibility</p:attrName>
                                        </p:attrNameLst>
                                      </p:cBhvr>
                                      <p:to>
                                        <p:strVal val="visible"/>
                                      </p:to>
                                    </p:set>
                                    <p:animEffect transition="in" filter="fade">
                                      <p:cBhvr>
                                        <p:cTn id="57" dur="400"/>
                                        <p:tgtEl>
                                          <p:spTgt spid="34"/>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5"/>
                                        </p:tgtEl>
                                        <p:attrNameLst>
                                          <p:attrName>style.visibility</p:attrName>
                                        </p:attrNameLst>
                                      </p:cBhvr>
                                      <p:to>
                                        <p:strVal val="visible"/>
                                      </p:to>
                                    </p:set>
                                    <p:animEffect transition="in" filter="fade">
                                      <p:cBhvr>
                                        <p:cTn id="60" dur="400"/>
                                        <p:tgtEl>
                                          <p:spTgt spid="35"/>
                                        </p:tgtEl>
                                      </p:cBhvr>
                                    </p:animEffect>
                                  </p:childTnLst>
                                </p:cTn>
                              </p:par>
                            </p:childTnLst>
                          </p:cTn>
                        </p:par>
                      </p:childTnLst>
                    </p:cTn>
                  </p:par>
                  <p:par>
                    <p:cTn id="87" fill="hold">
                      <p:stCondLst>
                        <p:cond delay="indefinite"/>
                      </p:stCondLst>
                      <p:childTnLst>
                        <p:par>
                          <p:cTn id="88"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36"/>
                                        </p:tgtEl>
                                        <p:attrNameLst>
                                          <p:attrName>style.visibility</p:attrName>
                                        </p:attrNameLst>
                                      </p:cBhvr>
                                      <p:to>
                                        <p:strVal val="visible"/>
                                      </p:to>
                                    </p:set>
                                    <p:animEffect transition="in" filter="fade">
                                      <p:cBhvr>
                                        <p:cTn id="65" dur="400"/>
                                        <p:tgtEl>
                                          <p:spTgt spid="36"/>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7"/>
                                        </p:tgtEl>
                                        <p:attrNameLst>
                                          <p:attrName>style.visibility</p:attrName>
                                        </p:attrNameLst>
                                      </p:cBhvr>
                                      <p:to>
                                        <p:strVal val="visible"/>
                                      </p:to>
                                    </p:set>
                                    <p:animEffect transition="in" filter="fade">
                                      <p:cBhvr>
                                        <p:cTn id="68" dur="400"/>
                                        <p:tgtEl>
                                          <p:spTgt spid="37"/>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8"/>
                                        </p:tgtEl>
                                        <p:attrNameLst>
                                          <p:attrName>style.visibility</p:attrName>
                                        </p:attrNameLst>
                                      </p:cBhvr>
                                      <p:to>
                                        <p:strVal val="visible"/>
                                      </p:to>
                                    </p:set>
                                    <p:animEffect transition="in" filter="fade">
                                      <p:cBhvr>
                                        <p:cTn id="71" dur="400"/>
                                        <p:tgtEl>
                                          <p:spTgt spid="38"/>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9"/>
                                        </p:tgtEl>
                                        <p:attrNameLst>
                                          <p:attrName>style.visibility</p:attrName>
                                        </p:attrNameLst>
                                      </p:cBhvr>
                                      <p:to>
                                        <p:strVal val="visible"/>
                                      </p:to>
                                    </p:set>
                                    <p:animEffect transition="in" filter="fade">
                                      <p:cBhvr>
                                        <p:cTn id="74" dur="400"/>
                                        <p:tgtEl>
                                          <p:spTgt spid="39"/>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0"/>
                                        </p:tgtEl>
                                        <p:attrNameLst>
                                          <p:attrName>style.visibility</p:attrName>
                                        </p:attrNameLst>
                                      </p:cBhvr>
                                      <p:to>
                                        <p:strVal val="visible"/>
                                      </p:to>
                                    </p:set>
                                    <p:animEffect transition="in" filter="fade">
                                      <p:cBhvr>
                                        <p:cTn id="77" dur="400"/>
                                        <p:tgtEl>
                                          <p:spTgt spid="40"/>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41"/>
                                        </p:tgtEl>
                                        <p:attrNameLst>
                                          <p:attrName>style.visibility</p:attrName>
                                        </p:attrNameLst>
                                      </p:cBhvr>
                                      <p:to>
                                        <p:strVal val="visible"/>
                                      </p:to>
                                    </p:set>
                                    <p:animEffect transition="in" filter="fade">
                                      <p:cBhvr>
                                        <p:cTn id="80" dur="400"/>
                                        <p:tgtEl>
                                          <p:spTgt spid="41"/>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42"/>
                                        </p:tgtEl>
                                        <p:attrNameLst>
                                          <p:attrName>style.visibility</p:attrName>
                                        </p:attrNameLst>
                                      </p:cBhvr>
                                      <p:to>
                                        <p:strVal val="visible"/>
                                      </p:to>
                                    </p:set>
                                    <p:animEffect transition="in" filter="fade">
                                      <p:cBhvr>
                                        <p:cTn id="83" dur="400"/>
                                        <p:tgtEl>
                                          <p:spTgt spid="42"/>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43"/>
                                        </p:tgtEl>
                                        <p:attrNameLst>
                                          <p:attrName>style.visibility</p:attrName>
                                        </p:attrNameLst>
                                      </p:cBhvr>
                                      <p:to>
                                        <p:strVal val="visible"/>
                                      </p:to>
                                    </p:set>
                                    <p:animEffect transition="in" filter="fade">
                                      <p:cBhvr>
                                        <p:cTn id="86" dur="4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FUNDAMENTOS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Código mantenible: buenas prácticas</a:t>
            </a:r>
            <a:endParaRPr lang="en-US" sz="2800" dirty="0"/>
          </a:p>
        </p:txBody>
      </p:sp>
      <p:sp>
        <p:nvSpPr>
          <p:cNvPr id="5" name="Shape 3"/>
          <p:cNvSpPr/>
          <p:nvPr/>
        </p:nvSpPr>
        <p:spPr>
          <a:xfrm>
            <a:off x="9210751" y="429768"/>
            <a:ext cx="274320" cy="73152"/>
          </a:xfrm>
          <a:prstGeom prst="roundRect">
            <a:avLst>
              <a:gd name="adj" fmla="val 50000"/>
            </a:avLst>
          </a:prstGeom>
          <a:solidFill>
            <a:srgbClr val="2BA6CB"/>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DFE6F0"/>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650" dirty="0">
                <a:solidFill>
                  <a:srgbClr val="55627E"/>
                </a:solidFill>
                <a:latin typeface="Segoe UI" pitchFamily="34" charset="0"/>
                <a:ea typeface="Segoe UI" pitchFamily="34" charset="-122"/>
                <a:cs typeface="Segoe UI" pitchFamily="34" charset="-120"/>
              </a:rPr>
              <a:t>Después, el cómo: seis prácticas que hacen que un cambio toque un solo lugar, en cualquier lenguaje.</a:t>
            </a:r>
            <a:endParaRPr lang="en-US" sz="1650" dirty="0"/>
          </a:p>
        </p:txBody>
      </p:sp>
      <p:sp>
        <p:nvSpPr>
          <p:cNvPr id="13" name="Shape 11"/>
          <p:cNvSpPr/>
          <p:nvPr/>
        </p:nvSpPr>
        <p:spPr>
          <a:xfrm>
            <a:off x="612648" y="1719072"/>
            <a:ext cx="3533546"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4" name="Shape 12"/>
          <p:cNvSpPr/>
          <p:nvPr/>
        </p:nvSpPr>
        <p:spPr>
          <a:xfrm>
            <a:off x="612648" y="1847088"/>
            <a:ext cx="64008" cy="1970532"/>
          </a:xfrm>
          <a:prstGeom prst="rect">
            <a:avLst/>
          </a:prstGeom>
          <a:solidFill>
            <a:srgbClr val="0B2350"/>
          </a:solidFill>
          <a:ln w="12700">
            <a:solidFill>
              <a:srgbClr val="0B2350"/>
            </a:solidFill>
            <a:prstDash val="solid"/>
          </a:ln>
        </p:spPr>
      </p:sp>
      <p:sp>
        <p:nvSpPr>
          <p:cNvPr id="15" name="Shape 13"/>
          <p:cNvSpPr/>
          <p:nvPr/>
        </p:nvSpPr>
        <p:spPr>
          <a:xfrm>
            <a:off x="813816" y="1901952"/>
            <a:ext cx="676656" cy="676656"/>
          </a:xfrm>
          <a:prstGeom prst="ellipse">
            <a:avLst/>
          </a:prstGeom>
          <a:solidFill>
            <a:srgbClr val="E8EEF8"/>
          </a:solidFill>
          <a:ln w="12700">
            <a:solidFill>
              <a:srgbClr val="E8EEF8"/>
            </a:solidFill>
            <a:prstDash val="solid"/>
          </a:ln>
        </p:spPr>
      </p:sp>
      <p:sp>
        <p:nvSpPr>
          <p:cNvPr id="16" name="Icono layers"/>
          <p:cNvSpPr/>
          <p:nvPr/>
        </p:nvSpPr>
        <p:spPr>
          <a:xfrm>
            <a:off x="976213" y="2064349"/>
            <a:ext cx="351861" cy="351861"/>
          </a:xfrm>
          <a:custGeom>
            <a:avLst/>
            <a:gdLst/>
            <a:ahLst/>
            <a:cxnLst/>
            <a:rect l="l" t="t" r="r" b="b"/>
            <a:pathLst>
              <a:path w="351861" h="351861">
                <a:moveTo>
                  <a:pt x="188099" y="31961"/>
                </a:moveTo>
                <a:cubicBezTo>
                  <a:pt x="180370" y="28435"/>
                  <a:pt x="171491" y="28435"/>
                  <a:pt x="163762" y="31961"/>
                </a:cubicBezTo>
                <a:lnTo>
                  <a:pt x="38118" y="89138"/>
                </a:lnTo>
                <a:cubicBezTo>
                  <a:pt x="32803" y="91482"/>
                  <a:pt x="29372" y="96743"/>
                  <a:pt x="29372" y="102553"/>
                </a:cubicBezTo>
                <a:cubicBezTo>
                  <a:pt x="29372" y="108362"/>
                  <a:pt x="32803" y="113624"/>
                  <a:pt x="38118" y="115968"/>
                </a:cubicBezTo>
                <a:lnTo>
                  <a:pt x="163909" y="173292"/>
                </a:lnTo>
                <a:cubicBezTo>
                  <a:pt x="171638" y="176817"/>
                  <a:pt x="180516" y="176817"/>
                  <a:pt x="188246" y="173292"/>
                </a:cubicBezTo>
                <a:lnTo>
                  <a:pt x="314036" y="116114"/>
                </a:lnTo>
                <a:cubicBezTo>
                  <a:pt x="319352" y="113770"/>
                  <a:pt x="322782" y="108509"/>
                  <a:pt x="322782" y="102699"/>
                </a:cubicBezTo>
                <a:cubicBezTo>
                  <a:pt x="322782" y="96890"/>
                  <a:pt x="319352" y="91629"/>
                  <a:pt x="314036" y="89285"/>
                </a:cubicBezTo>
                <a:close/>
                <a:moveTo>
                  <a:pt x="29322" y="175931"/>
                </a:moveTo>
                <a:cubicBezTo>
                  <a:pt x="29308" y="181657"/>
                  <a:pt x="32628" y="186867"/>
                  <a:pt x="37825" y="189272"/>
                </a:cubicBezTo>
                <a:lnTo>
                  <a:pt x="163909" y="246596"/>
                </a:lnTo>
                <a:cubicBezTo>
                  <a:pt x="171596" y="250077"/>
                  <a:pt x="180411" y="250077"/>
                  <a:pt x="188099" y="246596"/>
                </a:cubicBezTo>
                <a:lnTo>
                  <a:pt x="313889" y="189419"/>
                </a:lnTo>
                <a:cubicBezTo>
                  <a:pt x="319192" y="187035"/>
                  <a:pt x="322585" y="181744"/>
                  <a:pt x="322539" y="175931"/>
                </a:cubicBezTo>
                <a:moveTo>
                  <a:pt x="29322" y="249235"/>
                </a:moveTo>
                <a:cubicBezTo>
                  <a:pt x="29308" y="254961"/>
                  <a:pt x="32628" y="260171"/>
                  <a:pt x="37825" y="262576"/>
                </a:cubicBezTo>
                <a:lnTo>
                  <a:pt x="163909" y="319900"/>
                </a:lnTo>
                <a:cubicBezTo>
                  <a:pt x="171596" y="323382"/>
                  <a:pt x="180411" y="323382"/>
                  <a:pt x="188099" y="319900"/>
                </a:cubicBezTo>
                <a:lnTo>
                  <a:pt x="313889" y="262723"/>
                </a:lnTo>
                <a:cubicBezTo>
                  <a:pt x="319192" y="260340"/>
                  <a:pt x="322585" y="255048"/>
                  <a:pt x="322539" y="249235"/>
                </a:cubicBezTo>
              </a:path>
            </a:pathLst>
          </a:custGeom>
          <a:noFill/>
          <a:ln w="29322" cap="rnd">
            <a:solidFill>
              <a:srgbClr val="0B2350"/>
            </a:solidFill>
            <a:prstDash val="solid"/>
            <a:round/>
          </a:ln>
        </p:spPr>
      </p:sp>
      <p:sp>
        <p:nvSpPr>
          <p:cNvPr id="17" name="Text 15"/>
          <p:cNvSpPr/>
          <p:nvPr/>
        </p:nvSpPr>
        <p:spPr>
          <a:xfrm>
            <a:off x="1636776" y="1901952"/>
            <a:ext cx="2372258" cy="676656"/>
          </a:xfrm>
          <a:prstGeom prst="rect">
            <a:avLst/>
          </a:prstGeom>
          <a:noFill/>
          <a:ln/>
        </p:spPr>
        <p:txBody>
          <a:bodyPr wrap="square" lIns="0" tIns="0" rIns="0" bIns="0" rtlCol="0" anchor="ctr">
            <a:normAutofit/>
          </a:bodyPr>
          <a:lstStyle/>
          <a:p>
            <a:pPr algn="l" indent="0" marL="0">
              <a:buNone/>
            </a:pPr>
            <a:r>
              <a:rPr lang="en-US" sz="1800" b="1" dirty="0">
                <a:solidFill>
                  <a:srgbClr val="0B2350"/>
                </a:solidFill>
                <a:latin typeface="Segoe UI Semibold" pitchFamily="34" charset="0"/>
                <a:ea typeface="Segoe UI Semibold" pitchFamily="34" charset="-122"/>
                <a:cs typeface="Segoe UI Semibold" pitchFamily="34" charset="-120"/>
              </a:rPr>
              <a:t>Una tarea por pieza</a:t>
            </a:r>
            <a:endParaRPr lang="en-US" sz="1800" dirty="0"/>
          </a:p>
        </p:txBody>
      </p:sp>
      <p:sp>
        <p:nvSpPr>
          <p:cNvPr id="18" name="Text 16"/>
          <p:cNvSpPr/>
          <p:nvPr/>
        </p:nvSpPr>
        <p:spPr>
          <a:xfrm>
            <a:off x="868680" y="2724912"/>
            <a:ext cx="3122066" cy="1092708"/>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Quien recibe la petición no decide; quien decide no guarda.</a:t>
            </a:r>
            <a:endParaRPr lang="en-US" sz="1600" dirty="0"/>
          </a:p>
        </p:txBody>
      </p:sp>
      <p:sp>
        <p:nvSpPr>
          <p:cNvPr id="19" name="[p1] Forma"/>
          <p:cNvSpPr/>
          <p:nvPr/>
        </p:nvSpPr>
        <p:spPr>
          <a:xfrm>
            <a:off x="4329074" y="1719072"/>
            <a:ext cx="3533546"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0" name="[p1] Forma"/>
          <p:cNvSpPr/>
          <p:nvPr/>
        </p:nvSpPr>
        <p:spPr>
          <a:xfrm>
            <a:off x="4329074" y="1847088"/>
            <a:ext cx="64008" cy="1970532"/>
          </a:xfrm>
          <a:prstGeom prst="rect">
            <a:avLst/>
          </a:prstGeom>
          <a:solidFill>
            <a:srgbClr val="0B6E8A"/>
          </a:solidFill>
          <a:ln w="12700">
            <a:solidFill>
              <a:srgbClr val="0B6E8A"/>
            </a:solidFill>
            <a:prstDash val="solid"/>
          </a:ln>
        </p:spPr>
      </p:sp>
      <p:sp>
        <p:nvSpPr>
          <p:cNvPr id="21" name="[p1] Forma"/>
          <p:cNvSpPr/>
          <p:nvPr/>
        </p:nvSpPr>
        <p:spPr>
          <a:xfrm>
            <a:off x="4530242" y="1901952"/>
            <a:ext cx="676656" cy="676656"/>
          </a:xfrm>
          <a:prstGeom prst="ellipse">
            <a:avLst/>
          </a:prstGeom>
          <a:solidFill>
            <a:srgbClr val="E3F4FA"/>
          </a:solidFill>
          <a:ln w="12700">
            <a:solidFill>
              <a:srgbClr val="E3F4FA"/>
            </a:solidFill>
            <a:prstDash val="solid"/>
          </a:ln>
        </p:spPr>
      </p:sp>
      <p:sp>
        <p:nvSpPr>
          <p:cNvPr id="22" name="[p1] Icono plug"/>
          <p:cNvSpPr/>
          <p:nvPr/>
        </p:nvSpPr>
        <p:spPr>
          <a:xfrm>
            <a:off x="4692640" y="2064349"/>
            <a:ext cx="351861" cy="351861"/>
          </a:xfrm>
          <a:custGeom>
            <a:avLst/>
            <a:gdLst/>
            <a:ahLst/>
            <a:cxnLst/>
            <a:rect l="l" t="t" r="r" b="b"/>
            <a:pathLst>
              <a:path w="351861" h="351861">
                <a:moveTo>
                  <a:pt x="175931" y="322539"/>
                </a:moveTo>
                <a:lnTo>
                  <a:pt x="175931" y="249235"/>
                </a:lnTo>
                <a:moveTo>
                  <a:pt x="131948" y="117287"/>
                </a:moveTo>
                <a:lnTo>
                  <a:pt x="131948" y="29322"/>
                </a:lnTo>
                <a:moveTo>
                  <a:pt x="219913" y="117287"/>
                </a:moveTo>
                <a:lnTo>
                  <a:pt x="219913" y="29322"/>
                </a:lnTo>
                <a:moveTo>
                  <a:pt x="263896" y="117287"/>
                </a:moveTo>
                <a:lnTo>
                  <a:pt x="263896" y="190591"/>
                </a:lnTo>
                <a:cubicBezTo>
                  <a:pt x="263896" y="222979"/>
                  <a:pt x="237640" y="249235"/>
                  <a:pt x="205252" y="249235"/>
                </a:cubicBezTo>
                <a:lnTo>
                  <a:pt x="146609" y="249235"/>
                </a:lnTo>
                <a:cubicBezTo>
                  <a:pt x="114221" y="249235"/>
                  <a:pt x="87965" y="222979"/>
                  <a:pt x="87965" y="190591"/>
                </a:cubicBezTo>
                <a:lnTo>
                  <a:pt x="87965" y="117287"/>
                </a:lnTo>
                <a:close/>
              </a:path>
            </a:pathLst>
          </a:custGeom>
          <a:noFill/>
          <a:ln w="29322" cap="rnd">
            <a:solidFill>
              <a:srgbClr val="0B6E8A"/>
            </a:solidFill>
            <a:prstDash val="solid"/>
            <a:round/>
          </a:ln>
        </p:spPr>
      </p:sp>
      <p:sp>
        <p:nvSpPr>
          <p:cNvPr id="23" name="[p1] Forma"/>
          <p:cNvSpPr/>
          <p:nvPr/>
        </p:nvSpPr>
        <p:spPr>
          <a:xfrm>
            <a:off x="5353202" y="1901952"/>
            <a:ext cx="2372258" cy="676656"/>
          </a:xfrm>
          <a:prstGeom prst="rect">
            <a:avLst/>
          </a:prstGeom>
          <a:noFill/>
          <a:ln/>
        </p:spPr>
        <p:txBody>
          <a:bodyPr wrap="square" lIns="0" tIns="0" rIns="0" bIns="0" rtlCol="0" anchor="ctr">
            <a:normAutofit/>
          </a:bodyPr>
          <a:lstStyle/>
          <a:p>
            <a:pPr algn="l" indent="0" marL="0">
              <a:buNone/>
            </a:pPr>
            <a:r>
              <a:rPr lang="en-US" sz="1800" b="1" dirty="0">
                <a:solidFill>
                  <a:srgbClr val="0B6E8A"/>
                </a:solidFill>
                <a:latin typeface="Segoe UI Semibold" pitchFamily="34" charset="0"/>
                <a:ea typeface="Segoe UI Semibold" pitchFamily="34" charset="-122"/>
                <a:cs typeface="Segoe UI Semibold" pitchFamily="34" charset="-120"/>
              </a:rPr>
              <a:t>Piezas que se conectan</a:t>
            </a:r>
            <a:endParaRPr lang="en-US" sz="1800" dirty="0"/>
          </a:p>
        </p:txBody>
      </p:sp>
      <p:sp>
        <p:nvSpPr>
          <p:cNvPr id="24" name="[p1] Forma"/>
          <p:cNvSpPr/>
          <p:nvPr/>
        </p:nvSpPr>
        <p:spPr>
          <a:xfrm>
            <a:off x="4585106" y="2724912"/>
            <a:ext cx="3122066" cy="1092708"/>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Cada pieza recibe lo que necesita: se cambia o se prueba sola.</a:t>
            </a:r>
            <a:endParaRPr lang="en-US" sz="1600" dirty="0"/>
          </a:p>
        </p:txBody>
      </p:sp>
      <p:sp>
        <p:nvSpPr>
          <p:cNvPr id="25" name="[p2] Forma"/>
          <p:cNvSpPr/>
          <p:nvPr/>
        </p:nvSpPr>
        <p:spPr>
          <a:xfrm>
            <a:off x="8045501" y="1719072"/>
            <a:ext cx="3533546"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6" name="[p2] Forma"/>
          <p:cNvSpPr/>
          <p:nvPr/>
        </p:nvSpPr>
        <p:spPr>
          <a:xfrm>
            <a:off x="8045501" y="1847088"/>
            <a:ext cx="64008" cy="1970532"/>
          </a:xfrm>
          <a:prstGeom prst="rect">
            <a:avLst/>
          </a:prstGeom>
          <a:solidFill>
            <a:srgbClr val="5B3FC4"/>
          </a:solidFill>
          <a:ln w="12700">
            <a:solidFill>
              <a:srgbClr val="5B3FC4"/>
            </a:solidFill>
            <a:prstDash val="solid"/>
          </a:ln>
        </p:spPr>
      </p:sp>
      <p:sp>
        <p:nvSpPr>
          <p:cNvPr id="27" name="[p2] Forma"/>
          <p:cNvSpPr/>
          <p:nvPr/>
        </p:nvSpPr>
        <p:spPr>
          <a:xfrm>
            <a:off x="8246669" y="1901952"/>
            <a:ext cx="676656" cy="676656"/>
          </a:xfrm>
          <a:prstGeom prst="ellipse">
            <a:avLst/>
          </a:prstGeom>
          <a:solidFill>
            <a:srgbClr val="F1EEFD"/>
          </a:solidFill>
          <a:ln w="12700">
            <a:solidFill>
              <a:srgbClr val="F1EEFD"/>
            </a:solidFill>
            <a:prstDash val="solid"/>
          </a:ln>
        </p:spPr>
      </p:sp>
      <p:sp>
        <p:nvSpPr>
          <p:cNvPr id="28" name="[p2] Icono puzzle"/>
          <p:cNvSpPr/>
          <p:nvPr/>
        </p:nvSpPr>
        <p:spPr>
          <a:xfrm>
            <a:off x="8409066" y="2064349"/>
            <a:ext cx="351861" cy="351861"/>
          </a:xfrm>
          <a:custGeom>
            <a:avLst/>
            <a:gdLst/>
            <a:ahLst/>
            <a:cxnLst/>
            <a:rect l="l" t="t" r="r" b="b"/>
            <a:pathLst>
              <a:path w="351861" h="351861">
                <a:moveTo>
                  <a:pt x="225631" y="64361"/>
                </a:moveTo>
                <a:cubicBezTo>
                  <a:pt x="229384" y="68118"/>
                  <a:pt x="234874" y="69552"/>
                  <a:pt x="239984" y="68110"/>
                </a:cubicBezTo>
                <a:cubicBezTo>
                  <a:pt x="245094" y="66668"/>
                  <a:pt x="249025" y="62576"/>
                  <a:pt x="250261" y="57412"/>
                </a:cubicBezTo>
                <a:cubicBezTo>
                  <a:pt x="254473" y="39882"/>
                  <a:pt x="270808" y="28017"/>
                  <a:pt x="288781" y="29435"/>
                </a:cubicBezTo>
                <a:cubicBezTo>
                  <a:pt x="306754" y="30852"/>
                  <a:pt x="321028" y="45130"/>
                  <a:pt x="322439" y="63104"/>
                </a:cubicBezTo>
                <a:cubicBezTo>
                  <a:pt x="323851" y="81078"/>
                  <a:pt x="311981" y="97409"/>
                  <a:pt x="294449" y="101615"/>
                </a:cubicBezTo>
                <a:cubicBezTo>
                  <a:pt x="289285" y="102850"/>
                  <a:pt x="285193" y="106782"/>
                  <a:pt x="283751" y="111892"/>
                </a:cubicBezTo>
                <a:cubicBezTo>
                  <a:pt x="282310" y="117002"/>
                  <a:pt x="283743" y="122492"/>
                  <a:pt x="287500" y="126245"/>
                </a:cubicBezTo>
                <a:lnTo>
                  <a:pt x="312174" y="150904"/>
                </a:lnTo>
                <a:cubicBezTo>
                  <a:pt x="318812" y="157542"/>
                  <a:pt x="322541" y="166544"/>
                  <a:pt x="322541" y="175931"/>
                </a:cubicBezTo>
                <a:cubicBezTo>
                  <a:pt x="322541" y="185317"/>
                  <a:pt x="318812" y="194319"/>
                  <a:pt x="312174" y="200957"/>
                </a:cubicBezTo>
                <a:lnTo>
                  <a:pt x="287500" y="225631"/>
                </a:lnTo>
                <a:cubicBezTo>
                  <a:pt x="283747" y="229387"/>
                  <a:pt x="278257" y="230821"/>
                  <a:pt x="273147" y="229379"/>
                </a:cubicBezTo>
                <a:cubicBezTo>
                  <a:pt x="268037" y="227938"/>
                  <a:pt x="264105" y="223846"/>
                  <a:pt x="262870" y="218682"/>
                </a:cubicBezTo>
                <a:cubicBezTo>
                  <a:pt x="258658" y="201151"/>
                  <a:pt x="242323" y="189287"/>
                  <a:pt x="224350" y="190704"/>
                </a:cubicBezTo>
                <a:cubicBezTo>
                  <a:pt x="206376" y="192122"/>
                  <a:pt x="192103" y="206400"/>
                  <a:pt x="190692" y="224374"/>
                </a:cubicBezTo>
                <a:cubicBezTo>
                  <a:pt x="189280" y="242348"/>
                  <a:pt x="201150" y="258679"/>
                  <a:pt x="218682" y="262884"/>
                </a:cubicBezTo>
                <a:cubicBezTo>
                  <a:pt x="223846" y="264120"/>
                  <a:pt x="227938" y="268051"/>
                  <a:pt x="229379" y="273161"/>
                </a:cubicBezTo>
                <a:cubicBezTo>
                  <a:pt x="230821" y="278272"/>
                  <a:pt x="229387" y="283762"/>
                  <a:pt x="225631" y="287515"/>
                </a:cubicBezTo>
                <a:lnTo>
                  <a:pt x="200957" y="312174"/>
                </a:lnTo>
                <a:cubicBezTo>
                  <a:pt x="194319" y="318812"/>
                  <a:pt x="185317" y="322541"/>
                  <a:pt x="175931" y="322541"/>
                </a:cubicBezTo>
                <a:cubicBezTo>
                  <a:pt x="166544" y="322541"/>
                  <a:pt x="157542" y="318812"/>
                  <a:pt x="150904" y="312174"/>
                </a:cubicBezTo>
                <a:lnTo>
                  <a:pt x="126230" y="287500"/>
                </a:lnTo>
                <a:cubicBezTo>
                  <a:pt x="122478" y="283743"/>
                  <a:pt x="116987" y="282310"/>
                  <a:pt x="111877" y="283751"/>
                </a:cubicBezTo>
                <a:cubicBezTo>
                  <a:pt x="106767" y="285193"/>
                  <a:pt x="102836" y="289285"/>
                  <a:pt x="101600" y="294449"/>
                </a:cubicBezTo>
                <a:cubicBezTo>
                  <a:pt x="97389" y="311979"/>
                  <a:pt x="81053" y="323844"/>
                  <a:pt x="63080" y="322426"/>
                </a:cubicBezTo>
                <a:cubicBezTo>
                  <a:pt x="45107" y="321009"/>
                  <a:pt x="30833" y="306731"/>
                  <a:pt x="29422" y="288757"/>
                </a:cubicBezTo>
                <a:cubicBezTo>
                  <a:pt x="28010" y="270783"/>
                  <a:pt x="39880" y="254452"/>
                  <a:pt x="57412" y="250247"/>
                </a:cubicBezTo>
                <a:cubicBezTo>
                  <a:pt x="62576" y="249011"/>
                  <a:pt x="66668" y="245080"/>
                  <a:pt x="68110" y="239969"/>
                </a:cubicBezTo>
                <a:cubicBezTo>
                  <a:pt x="69552" y="234859"/>
                  <a:pt x="68118" y="229369"/>
                  <a:pt x="64361" y="225616"/>
                </a:cubicBezTo>
                <a:lnTo>
                  <a:pt x="39687" y="200957"/>
                </a:lnTo>
                <a:cubicBezTo>
                  <a:pt x="33049" y="194319"/>
                  <a:pt x="29320" y="185317"/>
                  <a:pt x="29320" y="175931"/>
                </a:cubicBezTo>
                <a:cubicBezTo>
                  <a:pt x="29320" y="166544"/>
                  <a:pt x="33049" y="157542"/>
                  <a:pt x="39687" y="150904"/>
                </a:cubicBezTo>
                <a:lnTo>
                  <a:pt x="64361" y="126230"/>
                </a:lnTo>
                <a:cubicBezTo>
                  <a:pt x="68114" y="122474"/>
                  <a:pt x="73604" y="121040"/>
                  <a:pt x="78714" y="122482"/>
                </a:cubicBezTo>
                <a:cubicBezTo>
                  <a:pt x="83824" y="123924"/>
                  <a:pt x="87756" y="128016"/>
                  <a:pt x="88992" y="133179"/>
                </a:cubicBezTo>
                <a:cubicBezTo>
                  <a:pt x="93203" y="150710"/>
                  <a:pt x="109538" y="162574"/>
                  <a:pt x="127511" y="161157"/>
                </a:cubicBezTo>
                <a:cubicBezTo>
                  <a:pt x="145485" y="159739"/>
                  <a:pt x="159758" y="145461"/>
                  <a:pt x="161170" y="127487"/>
                </a:cubicBezTo>
                <a:cubicBezTo>
                  <a:pt x="162581" y="109514"/>
                  <a:pt x="150711" y="93182"/>
                  <a:pt x="133179" y="88977"/>
                </a:cubicBezTo>
                <a:cubicBezTo>
                  <a:pt x="128016" y="87741"/>
                  <a:pt x="123924" y="83810"/>
                  <a:pt x="122482" y="78700"/>
                </a:cubicBezTo>
                <a:cubicBezTo>
                  <a:pt x="121040" y="73590"/>
                  <a:pt x="122474" y="68099"/>
                  <a:pt x="126230" y="64347"/>
                </a:cubicBezTo>
                <a:lnTo>
                  <a:pt x="150904" y="39687"/>
                </a:lnTo>
                <a:cubicBezTo>
                  <a:pt x="157542" y="33049"/>
                  <a:pt x="166544" y="29320"/>
                  <a:pt x="175931" y="29320"/>
                </a:cubicBezTo>
                <a:cubicBezTo>
                  <a:pt x="185317" y="29320"/>
                  <a:pt x="194319" y="33049"/>
                  <a:pt x="200957" y="39687"/>
                </a:cubicBezTo>
                <a:close/>
              </a:path>
            </a:pathLst>
          </a:custGeom>
          <a:noFill/>
          <a:ln w="29322" cap="rnd">
            <a:solidFill>
              <a:srgbClr val="5B3FC4"/>
            </a:solidFill>
            <a:prstDash val="solid"/>
            <a:round/>
          </a:ln>
        </p:spPr>
      </p:sp>
      <p:sp>
        <p:nvSpPr>
          <p:cNvPr id="29" name="[p2] Forma"/>
          <p:cNvSpPr/>
          <p:nvPr/>
        </p:nvSpPr>
        <p:spPr>
          <a:xfrm>
            <a:off x="9069629" y="1901952"/>
            <a:ext cx="2372258" cy="676656"/>
          </a:xfrm>
          <a:prstGeom prst="rect">
            <a:avLst/>
          </a:prstGeom>
          <a:noFill/>
          <a:ln/>
        </p:spPr>
        <p:txBody>
          <a:bodyPr wrap="square" lIns="0" tIns="0" rIns="0" bIns="0" rtlCol="0" anchor="ctr">
            <a:normAutofit/>
          </a:bodyPr>
          <a:lstStyle/>
          <a:p>
            <a:pPr algn="l" indent="0" marL="0">
              <a:buNone/>
            </a:pPr>
            <a:r>
              <a:rPr lang="en-US" sz="1800" b="1" dirty="0">
                <a:solidFill>
                  <a:srgbClr val="5B3FC4"/>
                </a:solidFill>
                <a:latin typeface="Segoe UI Semibold" pitchFamily="34" charset="0"/>
                <a:ea typeface="Segoe UI Semibold" pitchFamily="34" charset="-122"/>
                <a:cs typeface="Segoe UI Semibold" pitchFamily="34" charset="-120"/>
              </a:rPr>
              <a:t>Reglas en un solo lugar</a:t>
            </a:r>
            <a:endParaRPr lang="en-US" sz="1800" dirty="0"/>
          </a:p>
        </p:txBody>
      </p:sp>
      <p:sp>
        <p:nvSpPr>
          <p:cNvPr id="30" name="[p2] Forma"/>
          <p:cNvSpPr/>
          <p:nvPr/>
        </p:nvSpPr>
        <p:spPr>
          <a:xfrm>
            <a:off x="8301533" y="2724912"/>
            <a:ext cx="3122066" cy="1092708"/>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El negocio vive junto, lejos de la pantalla y de la base.</a:t>
            </a:r>
            <a:endParaRPr lang="en-US" sz="1600" dirty="0"/>
          </a:p>
        </p:txBody>
      </p:sp>
      <p:sp>
        <p:nvSpPr>
          <p:cNvPr id="31" name="[p3] Forma"/>
          <p:cNvSpPr/>
          <p:nvPr/>
        </p:nvSpPr>
        <p:spPr>
          <a:xfrm>
            <a:off x="612648" y="4128516"/>
            <a:ext cx="3533546"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2" name="[p3] Forma"/>
          <p:cNvSpPr/>
          <p:nvPr/>
        </p:nvSpPr>
        <p:spPr>
          <a:xfrm>
            <a:off x="612648" y="4256532"/>
            <a:ext cx="64008" cy="1970532"/>
          </a:xfrm>
          <a:prstGeom prst="rect">
            <a:avLst/>
          </a:prstGeom>
          <a:solidFill>
            <a:srgbClr val="AB243E"/>
          </a:solidFill>
          <a:ln w="12700">
            <a:solidFill>
              <a:srgbClr val="AB243E"/>
            </a:solidFill>
            <a:prstDash val="solid"/>
          </a:ln>
        </p:spPr>
      </p:sp>
      <p:sp>
        <p:nvSpPr>
          <p:cNvPr id="33" name="[p3] Forma"/>
          <p:cNvSpPr/>
          <p:nvPr/>
        </p:nvSpPr>
        <p:spPr>
          <a:xfrm>
            <a:off x="813816" y="4311396"/>
            <a:ext cx="676656" cy="676656"/>
          </a:xfrm>
          <a:prstGeom prst="ellipse">
            <a:avLst/>
          </a:prstGeom>
          <a:solidFill>
            <a:srgbClr val="F7E3E7"/>
          </a:solidFill>
          <a:ln w="12700">
            <a:solidFill>
              <a:srgbClr val="F7E3E7"/>
            </a:solidFill>
            <a:prstDash val="solid"/>
          </a:ln>
        </p:spPr>
      </p:sp>
      <p:sp>
        <p:nvSpPr>
          <p:cNvPr id="34" name="[p3] Icono shield-alert"/>
          <p:cNvSpPr/>
          <p:nvPr/>
        </p:nvSpPr>
        <p:spPr>
          <a:xfrm>
            <a:off x="976213" y="4473793"/>
            <a:ext cx="351861" cy="351861"/>
          </a:xfrm>
          <a:custGeom>
            <a:avLst/>
            <a:gdLst/>
            <a:ahLst/>
            <a:cxnLst/>
            <a:rect l="l" t="t" r="r" b="b"/>
            <a:pathLst>
              <a:path w="351861" h="351861">
                <a:moveTo>
                  <a:pt x="293218" y="190591"/>
                </a:moveTo>
                <a:cubicBezTo>
                  <a:pt x="293218" y="263896"/>
                  <a:pt x="241905" y="300548"/>
                  <a:pt x="180915" y="321806"/>
                </a:cubicBezTo>
                <a:cubicBezTo>
                  <a:pt x="177722" y="322889"/>
                  <a:pt x="174252" y="322837"/>
                  <a:pt x="171092" y="321660"/>
                </a:cubicBezTo>
                <a:cubicBezTo>
                  <a:pt x="109957" y="300548"/>
                  <a:pt x="58644" y="263896"/>
                  <a:pt x="58644" y="190591"/>
                </a:cubicBezTo>
                <a:lnTo>
                  <a:pt x="58644" y="87965"/>
                </a:lnTo>
                <a:cubicBezTo>
                  <a:pt x="58644" y="79868"/>
                  <a:pt x="65207" y="73304"/>
                  <a:pt x="73304" y="73304"/>
                </a:cubicBezTo>
                <a:cubicBezTo>
                  <a:pt x="102626" y="73304"/>
                  <a:pt x="139278" y="55711"/>
                  <a:pt x="164788" y="33427"/>
                </a:cubicBezTo>
                <a:cubicBezTo>
                  <a:pt x="171205" y="27945"/>
                  <a:pt x="180656" y="27945"/>
                  <a:pt x="187073" y="33427"/>
                </a:cubicBezTo>
                <a:cubicBezTo>
                  <a:pt x="212729" y="55858"/>
                  <a:pt x="249235" y="73304"/>
                  <a:pt x="278557" y="73304"/>
                </a:cubicBezTo>
                <a:cubicBezTo>
                  <a:pt x="286654" y="73304"/>
                  <a:pt x="293218" y="79868"/>
                  <a:pt x="293218" y="87965"/>
                </a:cubicBezTo>
                <a:close/>
                <a:moveTo>
                  <a:pt x="175931" y="117287"/>
                </a:moveTo>
                <a:lnTo>
                  <a:pt x="175931" y="175931"/>
                </a:lnTo>
                <a:moveTo>
                  <a:pt x="175931" y="234574"/>
                </a:moveTo>
                <a:lnTo>
                  <a:pt x="176077" y="234574"/>
                </a:lnTo>
              </a:path>
            </a:pathLst>
          </a:custGeom>
          <a:noFill/>
          <a:ln w="29322" cap="rnd">
            <a:solidFill>
              <a:srgbClr val="AB243E"/>
            </a:solidFill>
            <a:prstDash val="solid"/>
            <a:round/>
          </a:ln>
        </p:spPr>
      </p:sp>
      <p:sp>
        <p:nvSpPr>
          <p:cNvPr id="35" name="[p3] Forma"/>
          <p:cNvSpPr/>
          <p:nvPr/>
        </p:nvSpPr>
        <p:spPr>
          <a:xfrm>
            <a:off x="1636776" y="4311396"/>
            <a:ext cx="2372258" cy="676656"/>
          </a:xfrm>
          <a:prstGeom prst="rect">
            <a:avLst/>
          </a:prstGeom>
          <a:noFill/>
          <a:ln/>
        </p:spPr>
        <p:txBody>
          <a:bodyPr wrap="square" lIns="0" tIns="0" rIns="0" bIns="0" rtlCol="0" anchor="ctr">
            <a:normAutofit/>
          </a:bodyPr>
          <a:lstStyle/>
          <a:p>
            <a:pPr algn="l" indent="0" marL="0">
              <a:buNone/>
            </a:pPr>
            <a:r>
              <a:rPr lang="en-US" sz="1800" b="1" dirty="0">
                <a:solidFill>
                  <a:srgbClr val="AB243E"/>
                </a:solidFill>
                <a:latin typeface="Segoe UI Semibold" pitchFamily="34" charset="0"/>
                <a:ea typeface="Segoe UI Semibold" pitchFamily="34" charset="-122"/>
                <a:cs typeface="Segoe UI Semibold" pitchFamily="34" charset="-120"/>
              </a:rPr>
              <a:t>Errores con respuesta clara</a:t>
            </a:r>
            <a:endParaRPr lang="en-US" sz="1800" dirty="0"/>
          </a:p>
        </p:txBody>
      </p:sp>
      <p:sp>
        <p:nvSpPr>
          <p:cNvPr id="36" name="[p3] Forma"/>
          <p:cNvSpPr/>
          <p:nvPr/>
        </p:nvSpPr>
        <p:spPr>
          <a:xfrm>
            <a:off x="868680" y="5134356"/>
            <a:ext cx="3122066" cy="1092708"/>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Siempre el mismo formato: 400, 404 o 409 con su motivo.</a:t>
            </a:r>
            <a:endParaRPr lang="en-US" sz="1600" dirty="0"/>
          </a:p>
        </p:txBody>
      </p:sp>
      <p:sp>
        <p:nvSpPr>
          <p:cNvPr id="37" name="[p4] Forma"/>
          <p:cNvSpPr/>
          <p:nvPr/>
        </p:nvSpPr>
        <p:spPr>
          <a:xfrm>
            <a:off x="4329074" y="4128516"/>
            <a:ext cx="3533546"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8" name="[p4] Forma"/>
          <p:cNvSpPr/>
          <p:nvPr/>
        </p:nvSpPr>
        <p:spPr>
          <a:xfrm>
            <a:off x="4329074" y="4256532"/>
            <a:ext cx="64008" cy="1970532"/>
          </a:xfrm>
          <a:prstGeom prst="rect">
            <a:avLst/>
          </a:prstGeom>
          <a:solidFill>
            <a:srgbClr val="8A4B06"/>
          </a:solidFill>
          <a:ln w="12700">
            <a:solidFill>
              <a:srgbClr val="8A4B06"/>
            </a:solidFill>
            <a:prstDash val="solid"/>
          </a:ln>
        </p:spPr>
      </p:sp>
      <p:sp>
        <p:nvSpPr>
          <p:cNvPr id="39" name="[p4] Forma"/>
          <p:cNvSpPr/>
          <p:nvPr/>
        </p:nvSpPr>
        <p:spPr>
          <a:xfrm>
            <a:off x="4530242" y="4311396"/>
            <a:ext cx="676656" cy="676656"/>
          </a:xfrm>
          <a:prstGeom prst="ellipse">
            <a:avLst/>
          </a:prstGeom>
          <a:solidFill>
            <a:srgbClr val="FCEFD6"/>
          </a:solidFill>
          <a:ln w="12700">
            <a:solidFill>
              <a:srgbClr val="FCEFD6"/>
            </a:solidFill>
            <a:prstDash val="solid"/>
          </a:ln>
        </p:spPr>
      </p:sp>
      <p:sp>
        <p:nvSpPr>
          <p:cNvPr id="40" name="[p4] Icono book-open"/>
          <p:cNvSpPr/>
          <p:nvPr/>
        </p:nvSpPr>
        <p:spPr>
          <a:xfrm>
            <a:off x="4692640" y="4473793"/>
            <a:ext cx="351861" cy="351861"/>
          </a:xfrm>
          <a:custGeom>
            <a:avLst/>
            <a:gdLst/>
            <a:ahLst/>
            <a:cxnLst/>
            <a:rect l="l" t="t" r="r" b="b"/>
            <a:pathLst>
              <a:path w="351861" h="351861">
                <a:moveTo>
                  <a:pt x="175931" y="102626"/>
                </a:moveTo>
                <a:lnTo>
                  <a:pt x="175931" y="307878"/>
                </a:lnTo>
                <a:moveTo>
                  <a:pt x="43983" y="263896"/>
                </a:moveTo>
                <a:cubicBezTo>
                  <a:pt x="35886" y="263896"/>
                  <a:pt x="29322" y="257332"/>
                  <a:pt x="29322" y="249235"/>
                </a:cubicBezTo>
                <a:lnTo>
                  <a:pt x="29322" y="58644"/>
                </a:lnTo>
                <a:cubicBezTo>
                  <a:pt x="29322" y="50547"/>
                  <a:pt x="35886" y="43983"/>
                  <a:pt x="43983" y="43983"/>
                </a:cubicBezTo>
                <a:lnTo>
                  <a:pt x="117287" y="43983"/>
                </a:lnTo>
                <a:cubicBezTo>
                  <a:pt x="149675" y="43983"/>
                  <a:pt x="175931" y="70238"/>
                  <a:pt x="175931" y="102626"/>
                </a:cubicBezTo>
                <a:cubicBezTo>
                  <a:pt x="175931" y="70238"/>
                  <a:pt x="202186" y="43983"/>
                  <a:pt x="234574" y="43983"/>
                </a:cubicBezTo>
                <a:lnTo>
                  <a:pt x="307878" y="43983"/>
                </a:lnTo>
                <a:cubicBezTo>
                  <a:pt x="315975" y="43983"/>
                  <a:pt x="322539" y="50547"/>
                  <a:pt x="322539" y="58644"/>
                </a:cubicBezTo>
                <a:lnTo>
                  <a:pt x="322539" y="249235"/>
                </a:lnTo>
                <a:cubicBezTo>
                  <a:pt x="322539" y="257332"/>
                  <a:pt x="315975" y="263896"/>
                  <a:pt x="307878" y="263896"/>
                </a:cubicBezTo>
                <a:lnTo>
                  <a:pt x="219913" y="263896"/>
                </a:lnTo>
                <a:cubicBezTo>
                  <a:pt x="195622" y="263896"/>
                  <a:pt x="175931" y="283588"/>
                  <a:pt x="175931" y="307878"/>
                </a:cubicBezTo>
                <a:cubicBezTo>
                  <a:pt x="175931" y="283588"/>
                  <a:pt x="156239" y="263896"/>
                  <a:pt x="131948" y="263896"/>
                </a:cubicBezTo>
                <a:close/>
              </a:path>
            </a:pathLst>
          </a:custGeom>
          <a:noFill/>
          <a:ln w="29322" cap="rnd">
            <a:solidFill>
              <a:srgbClr val="8A4B06"/>
            </a:solidFill>
            <a:prstDash val="solid"/>
            <a:round/>
          </a:ln>
        </p:spPr>
      </p:sp>
      <p:sp>
        <p:nvSpPr>
          <p:cNvPr id="41" name="[p4] Forma"/>
          <p:cNvSpPr/>
          <p:nvPr/>
        </p:nvSpPr>
        <p:spPr>
          <a:xfrm>
            <a:off x="5353202" y="4311396"/>
            <a:ext cx="2372258" cy="676656"/>
          </a:xfrm>
          <a:prstGeom prst="rect">
            <a:avLst/>
          </a:prstGeom>
          <a:noFill/>
          <a:ln/>
        </p:spPr>
        <p:txBody>
          <a:bodyPr wrap="square" lIns="0" tIns="0" rIns="0" bIns="0" rtlCol="0" anchor="ctr">
            <a:normAutofit/>
          </a:bodyPr>
          <a:lstStyle/>
          <a:p>
            <a:pPr algn="l" indent="0" marL="0">
              <a:buNone/>
            </a:pPr>
            <a:r>
              <a:rPr lang="en-US" sz="1800" b="1" dirty="0">
                <a:solidFill>
                  <a:srgbClr val="8A4B06"/>
                </a:solidFill>
                <a:latin typeface="Segoe UI Semibold" pitchFamily="34" charset="0"/>
                <a:ea typeface="Segoe UI Semibold" pitchFamily="34" charset="-122"/>
                <a:cs typeface="Segoe UI Semibold" pitchFamily="34" charset="-120"/>
              </a:rPr>
              <a:t>Nombres del negocio</a:t>
            </a:r>
            <a:endParaRPr lang="en-US" sz="1800" dirty="0"/>
          </a:p>
        </p:txBody>
      </p:sp>
      <p:sp>
        <p:nvSpPr>
          <p:cNvPr id="42" name="[p4] Forma"/>
          <p:cNvSpPr/>
          <p:nvPr/>
        </p:nvSpPr>
        <p:spPr>
          <a:xfrm>
            <a:off x="4585106" y="5134356"/>
            <a:ext cx="3122066" cy="1092708"/>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Solicitud, enviar, aprobar: el código se lee como el proceso.</a:t>
            </a:r>
            <a:endParaRPr lang="en-US" sz="1600" dirty="0"/>
          </a:p>
        </p:txBody>
      </p:sp>
      <p:sp>
        <p:nvSpPr>
          <p:cNvPr id="43" name="[p5] Forma"/>
          <p:cNvSpPr/>
          <p:nvPr/>
        </p:nvSpPr>
        <p:spPr>
          <a:xfrm>
            <a:off x="8045501" y="4128516"/>
            <a:ext cx="3533546"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4" name="[p5] Forma"/>
          <p:cNvSpPr/>
          <p:nvPr/>
        </p:nvSpPr>
        <p:spPr>
          <a:xfrm>
            <a:off x="8045501" y="4256532"/>
            <a:ext cx="64008" cy="1970532"/>
          </a:xfrm>
          <a:prstGeom prst="rect">
            <a:avLst/>
          </a:prstGeom>
          <a:solidFill>
            <a:srgbClr val="0A6648"/>
          </a:solidFill>
          <a:ln w="12700">
            <a:solidFill>
              <a:srgbClr val="0A6648"/>
            </a:solidFill>
            <a:prstDash val="solid"/>
          </a:ln>
        </p:spPr>
      </p:sp>
      <p:sp>
        <p:nvSpPr>
          <p:cNvPr id="45" name="[p5] Forma"/>
          <p:cNvSpPr/>
          <p:nvPr/>
        </p:nvSpPr>
        <p:spPr>
          <a:xfrm>
            <a:off x="8246669" y="4311396"/>
            <a:ext cx="676656" cy="676656"/>
          </a:xfrm>
          <a:prstGeom prst="ellipse">
            <a:avLst/>
          </a:prstGeom>
          <a:solidFill>
            <a:srgbClr val="E1F1EA"/>
          </a:solidFill>
          <a:ln w="12700">
            <a:solidFill>
              <a:srgbClr val="E1F1EA"/>
            </a:solidFill>
            <a:prstDash val="solid"/>
          </a:ln>
        </p:spPr>
      </p:sp>
      <p:sp>
        <p:nvSpPr>
          <p:cNvPr id="46" name="[p5] Icono flask-conical"/>
          <p:cNvSpPr/>
          <p:nvPr/>
        </p:nvSpPr>
        <p:spPr>
          <a:xfrm>
            <a:off x="8409066" y="4473793"/>
            <a:ext cx="351861" cy="351861"/>
          </a:xfrm>
          <a:custGeom>
            <a:avLst/>
            <a:gdLst/>
            <a:ahLst/>
            <a:cxnLst/>
            <a:rect l="l" t="t" r="r" b="b"/>
            <a:pathLst>
              <a:path w="351861" h="351861">
                <a:moveTo>
                  <a:pt x="205252" y="29322"/>
                </a:moveTo>
                <a:lnTo>
                  <a:pt x="205252" y="117287"/>
                </a:lnTo>
                <a:cubicBezTo>
                  <a:pt x="205250" y="122206"/>
                  <a:pt x="206485" y="127046"/>
                  <a:pt x="208844" y="131361"/>
                </a:cubicBezTo>
                <a:lnTo>
                  <a:pt x="289626" y="279143"/>
                </a:lnTo>
                <a:cubicBezTo>
                  <a:pt x="294597" y="288229"/>
                  <a:pt x="294406" y="299263"/>
                  <a:pt x="289124" y="308172"/>
                </a:cubicBezTo>
                <a:cubicBezTo>
                  <a:pt x="283842" y="317080"/>
                  <a:pt x="274253" y="322542"/>
                  <a:pt x="263896" y="322539"/>
                </a:cubicBezTo>
                <a:lnTo>
                  <a:pt x="87965" y="322539"/>
                </a:lnTo>
                <a:cubicBezTo>
                  <a:pt x="77608" y="322542"/>
                  <a:pt x="68019" y="317080"/>
                  <a:pt x="62737" y="308172"/>
                </a:cubicBezTo>
                <a:cubicBezTo>
                  <a:pt x="57455" y="299263"/>
                  <a:pt x="57264" y="288229"/>
                  <a:pt x="62235" y="279143"/>
                </a:cubicBezTo>
                <a:lnTo>
                  <a:pt x="143017" y="131361"/>
                </a:lnTo>
                <a:cubicBezTo>
                  <a:pt x="145376" y="127046"/>
                  <a:pt x="146611" y="122206"/>
                  <a:pt x="146609" y="117287"/>
                </a:cubicBezTo>
                <a:lnTo>
                  <a:pt x="146609" y="29322"/>
                </a:lnTo>
                <a:moveTo>
                  <a:pt x="94607" y="219913"/>
                </a:moveTo>
                <a:lnTo>
                  <a:pt x="257254" y="219913"/>
                </a:lnTo>
                <a:moveTo>
                  <a:pt x="124617" y="29322"/>
                </a:moveTo>
                <a:lnTo>
                  <a:pt x="227244" y="29322"/>
                </a:lnTo>
              </a:path>
            </a:pathLst>
          </a:custGeom>
          <a:noFill/>
          <a:ln w="29322" cap="rnd">
            <a:solidFill>
              <a:srgbClr val="0A6648"/>
            </a:solidFill>
            <a:prstDash val="solid"/>
            <a:round/>
          </a:ln>
        </p:spPr>
      </p:sp>
      <p:sp>
        <p:nvSpPr>
          <p:cNvPr id="47" name="[p5] Forma"/>
          <p:cNvSpPr/>
          <p:nvPr/>
        </p:nvSpPr>
        <p:spPr>
          <a:xfrm>
            <a:off x="9069629" y="4311396"/>
            <a:ext cx="2372258" cy="676656"/>
          </a:xfrm>
          <a:prstGeom prst="rect">
            <a:avLst/>
          </a:prstGeom>
          <a:noFill/>
          <a:ln/>
        </p:spPr>
        <p:txBody>
          <a:bodyPr wrap="square" lIns="0" tIns="0" rIns="0" bIns="0" rtlCol="0" anchor="ctr">
            <a:normAutofit/>
          </a:bodyPr>
          <a:lstStyle/>
          <a:p>
            <a:pPr algn="l" indent="0" marL="0">
              <a:buNone/>
            </a:pPr>
            <a:r>
              <a:rPr lang="en-US" sz="1800" b="1" dirty="0">
                <a:solidFill>
                  <a:srgbClr val="0A6648"/>
                </a:solidFill>
                <a:latin typeface="Segoe UI Semibold" pitchFamily="34" charset="0"/>
                <a:ea typeface="Segoe UI Semibold" pitchFamily="34" charset="-122"/>
                <a:cs typeface="Segoe UI Semibold" pitchFamily="34" charset="-120"/>
              </a:rPr>
              <a:t>Cada regla con su prueba</a:t>
            </a:r>
            <a:endParaRPr lang="en-US" sz="1800" dirty="0"/>
          </a:p>
        </p:txBody>
      </p:sp>
      <p:sp>
        <p:nvSpPr>
          <p:cNvPr id="48" name="[p5] Forma"/>
          <p:cNvSpPr/>
          <p:nvPr/>
        </p:nvSpPr>
        <p:spPr>
          <a:xfrm>
            <a:off x="8301533" y="5134356"/>
            <a:ext cx="3122066" cy="1092708"/>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Una prueba automática avisa si un cambio rompió algo.</a:t>
            </a:r>
            <a:endParaRPr lang="en-US" sz="1600" dirty="0"/>
          </a:p>
        </p:txBody>
      </p:sp>
      <p:sp>
        <p:nvSpPr>
          <p:cNvPr id="49" name="Text 4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FUNDAMENTOS</a:t>
            </a:r>
            <a:endParaRPr lang="en-US" sz="800" dirty="0"/>
          </a:p>
        </p:txBody>
      </p:sp>
      <p:sp>
        <p:nvSpPr>
          <p:cNvPr id="50"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9"/>
                                        </p:tgtEl>
                                        <p:attrNameLst>
                                          <p:attrName>style.visibility</p:attrName>
                                        </p:attrNameLst>
                                      </p:cBhvr>
                                      <p:to>
                                        <p:strVal val="visible"/>
                                      </p:to>
                                    </p:set>
                                    <p:animEffect transition="in" filter="fade">
                                      <p:cBhvr>
                                        <p:cTn id="5" dur="400"/>
                                        <p:tgtEl>
                                          <p:spTgt spid="1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0"/>
                                        </p:tgtEl>
                                        <p:attrNameLst>
                                          <p:attrName>style.visibility</p:attrName>
                                        </p:attrNameLst>
                                      </p:cBhvr>
                                      <p:to>
                                        <p:strVal val="visible"/>
                                      </p:to>
                                    </p:set>
                                    <p:animEffect transition="in" filter="fade">
                                      <p:cBhvr>
                                        <p:cTn id="8" dur="400"/>
                                        <p:tgtEl>
                                          <p:spTgt spid="2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fade">
                                      <p:cBhvr>
                                        <p:cTn id="11" dur="400"/>
                                        <p:tgtEl>
                                          <p:spTgt spid="21"/>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400"/>
                                        <p:tgtEl>
                                          <p:spTgt spid="2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400"/>
                                        <p:tgtEl>
                                          <p:spTgt spid="23"/>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fade">
                                      <p:cBhvr>
                                        <p:cTn id="20" dur="400"/>
                                        <p:tgtEl>
                                          <p:spTgt spid="24"/>
                                        </p:tgtEl>
                                      </p:cBhvr>
                                    </p:animEffect>
                                  </p:childTnLst>
                                </p:cTn>
                              </p:par>
                            </p:childTnLst>
                          </p:cTn>
                        </p:par>
                      </p:childTnLst>
                    </p:cTn>
                  </p:par>
                  <p:par>
                    <p:cTn id="41" fill="hold">
                      <p:stCondLst>
                        <p:cond delay="indefinite"/>
                      </p:stCondLst>
                      <p:childTnLst>
                        <p:par>
                          <p:cTn id="4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400"/>
                                        <p:tgtEl>
                                          <p:spTgt spid="2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6"/>
                                        </p:tgtEl>
                                        <p:attrNameLst>
                                          <p:attrName>style.visibility</p:attrName>
                                        </p:attrNameLst>
                                      </p:cBhvr>
                                      <p:to>
                                        <p:strVal val="visible"/>
                                      </p:to>
                                    </p:set>
                                    <p:animEffect transition="in" filter="fade">
                                      <p:cBhvr>
                                        <p:cTn id="28" dur="400"/>
                                        <p:tgtEl>
                                          <p:spTgt spid="2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fade">
                                      <p:cBhvr>
                                        <p:cTn id="31" dur="400"/>
                                        <p:tgtEl>
                                          <p:spTgt spid="2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400"/>
                                        <p:tgtEl>
                                          <p:spTgt spid="2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400"/>
                                        <p:tgtEl>
                                          <p:spTgt spid="2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0"/>
                                        </p:tgtEl>
                                        <p:attrNameLst>
                                          <p:attrName>style.visibility</p:attrName>
                                        </p:attrNameLst>
                                      </p:cBhvr>
                                      <p:to>
                                        <p:strVal val="visible"/>
                                      </p:to>
                                    </p:set>
                                    <p:animEffect transition="in" filter="fade">
                                      <p:cBhvr>
                                        <p:cTn id="40" dur="400"/>
                                        <p:tgtEl>
                                          <p:spTgt spid="30"/>
                                        </p:tgtEl>
                                      </p:cBhvr>
                                    </p:animEffect>
                                  </p:childTnLst>
                                </p:cTn>
                              </p:par>
                            </p:childTnLst>
                          </p:cTn>
                        </p:par>
                      </p:childTnLst>
                    </p:cTn>
                  </p:par>
                  <p:par>
                    <p:cTn id="61" fill="hold">
                      <p:stCondLst>
                        <p:cond delay="indefinite"/>
                      </p:stCondLst>
                      <p:childTnLst>
                        <p:par>
                          <p:cTn id="6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1"/>
                                        </p:tgtEl>
                                        <p:attrNameLst>
                                          <p:attrName>style.visibility</p:attrName>
                                        </p:attrNameLst>
                                      </p:cBhvr>
                                      <p:to>
                                        <p:strVal val="visible"/>
                                      </p:to>
                                    </p:set>
                                    <p:animEffect transition="in" filter="fade">
                                      <p:cBhvr>
                                        <p:cTn id="45" dur="400"/>
                                        <p:tgtEl>
                                          <p:spTgt spid="31"/>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2"/>
                                        </p:tgtEl>
                                        <p:attrNameLst>
                                          <p:attrName>style.visibility</p:attrName>
                                        </p:attrNameLst>
                                      </p:cBhvr>
                                      <p:to>
                                        <p:strVal val="visible"/>
                                      </p:to>
                                    </p:set>
                                    <p:animEffect transition="in" filter="fade">
                                      <p:cBhvr>
                                        <p:cTn id="48" dur="400"/>
                                        <p:tgtEl>
                                          <p:spTgt spid="32"/>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3"/>
                                        </p:tgtEl>
                                        <p:attrNameLst>
                                          <p:attrName>style.visibility</p:attrName>
                                        </p:attrNameLst>
                                      </p:cBhvr>
                                      <p:to>
                                        <p:strVal val="visible"/>
                                      </p:to>
                                    </p:set>
                                    <p:animEffect transition="in" filter="fade">
                                      <p:cBhvr>
                                        <p:cTn id="51" dur="400"/>
                                        <p:tgtEl>
                                          <p:spTgt spid="33"/>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4"/>
                                        </p:tgtEl>
                                        <p:attrNameLst>
                                          <p:attrName>style.visibility</p:attrName>
                                        </p:attrNameLst>
                                      </p:cBhvr>
                                      <p:to>
                                        <p:strVal val="visible"/>
                                      </p:to>
                                    </p:set>
                                    <p:animEffect transition="in" filter="fade">
                                      <p:cBhvr>
                                        <p:cTn id="54" dur="400"/>
                                        <p:tgtEl>
                                          <p:spTgt spid="34"/>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5"/>
                                        </p:tgtEl>
                                        <p:attrNameLst>
                                          <p:attrName>style.visibility</p:attrName>
                                        </p:attrNameLst>
                                      </p:cBhvr>
                                      <p:to>
                                        <p:strVal val="visible"/>
                                      </p:to>
                                    </p:set>
                                    <p:animEffect transition="in" filter="fade">
                                      <p:cBhvr>
                                        <p:cTn id="57" dur="400"/>
                                        <p:tgtEl>
                                          <p:spTgt spid="35"/>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6"/>
                                        </p:tgtEl>
                                        <p:attrNameLst>
                                          <p:attrName>style.visibility</p:attrName>
                                        </p:attrNameLst>
                                      </p:cBhvr>
                                      <p:to>
                                        <p:strVal val="visible"/>
                                      </p:to>
                                    </p:set>
                                    <p:animEffect transition="in" filter="fade">
                                      <p:cBhvr>
                                        <p:cTn id="60" dur="400"/>
                                        <p:tgtEl>
                                          <p:spTgt spid="36"/>
                                        </p:tgtEl>
                                      </p:cBhvr>
                                    </p:animEffect>
                                  </p:childTnLst>
                                </p:cTn>
                              </p:par>
                            </p:childTnLst>
                          </p:cTn>
                        </p:par>
                      </p:childTnLst>
                    </p:cTn>
                  </p:par>
                  <p:par>
                    <p:cTn id="81" fill="hold">
                      <p:stCondLst>
                        <p:cond delay="indefinite"/>
                      </p:stCondLst>
                      <p:childTnLst>
                        <p:par>
                          <p:cTn id="8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37"/>
                                        </p:tgtEl>
                                        <p:attrNameLst>
                                          <p:attrName>style.visibility</p:attrName>
                                        </p:attrNameLst>
                                      </p:cBhvr>
                                      <p:to>
                                        <p:strVal val="visible"/>
                                      </p:to>
                                    </p:set>
                                    <p:animEffect transition="in" filter="fade">
                                      <p:cBhvr>
                                        <p:cTn id="65" dur="400"/>
                                        <p:tgtEl>
                                          <p:spTgt spid="37"/>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8"/>
                                        </p:tgtEl>
                                        <p:attrNameLst>
                                          <p:attrName>style.visibility</p:attrName>
                                        </p:attrNameLst>
                                      </p:cBhvr>
                                      <p:to>
                                        <p:strVal val="visible"/>
                                      </p:to>
                                    </p:set>
                                    <p:animEffect transition="in" filter="fade">
                                      <p:cBhvr>
                                        <p:cTn id="68" dur="400"/>
                                        <p:tgtEl>
                                          <p:spTgt spid="38"/>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9"/>
                                        </p:tgtEl>
                                        <p:attrNameLst>
                                          <p:attrName>style.visibility</p:attrName>
                                        </p:attrNameLst>
                                      </p:cBhvr>
                                      <p:to>
                                        <p:strVal val="visible"/>
                                      </p:to>
                                    </p:set>
                                    <p:animEffect transition="in" filter="fade">
                                      <p:cBhvr>
                                        <p:cTn id="71" dur="400"/>
                                        <p:tgtEl>
                                          <p:spTgt spid="39"/>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40"/>
                                        </p:tgtEl>
                                        <p:attrNameLst>
                                          <p:attrName>style.visibility</p:attrName>
                                        </p:attrNameLst>
                                      </p:cBhvr>
                                      <p:to>
                                        <p:strVal val="visible"/>
                                      </p:to>
                                    </p:set>
                                    <p:animEffect transition="in" filter="fade">
                                      <p:cBhvr>
                                        <p:cTn id="74" dur="400"/>
                                        <p:tgtEl>
                                          <p:spTgt spid="40"/>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1"/>
                                        </p:tgtEl>
                                        <p:attrNameLst>
                                          <p:attrName>style.visibility</p:attrName>
                                        </p:attrNameLst>
                                      </p:cBhvr>
                                      <p:to>
                                        <p:strVal val="visible"/>
                                      </p:to>
                                    </p:set>
                                    <p:animEffect transition="in" filter="fade">
                                      <p:cBhvr>
                                        <p:cTn id="77" dur="400"/>
                                        <p:tgtEl>
                                          <p:spTgt spid="41"/>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42"/>
                                        </p:tgtEl>
                                        <p:attrNameLst>
                                          <p:attrName>style.visibility</p:attrName>
                                        </p:attrNameLst>
                                      </p:cBhvr>
                                      <p:to>
                                        <p:strVal val="visible"/>
                                      </p:to>
                                    </p:set>
                                    <p:animEffect transition="in" filter="fade">
                                      <p:cBhvr>
                                        <p:cTn id="80" dur="400"/>
                                        <p:tgtEl>
                                          <p:spTgt spid="42"/>
                                        </p:tgtEl>
                                      </p:cBhvr>
                                    </p:animEffect>
                                  </p:childTnLst>
                                </p:cTn>
                              </p:par>
                            </p:childTnLst>
                          </p:cTn>
                        </p:par>
                      </p:childTnLst>
                    </p:cTn>
                  </p:par>
                  <p:par>
                    <p:cTn id="101" fill="hold">
                      <p:stCondLst>
                        <p:cond delay="indefinite"/>
                      </p:stCondLst>
                      <p:childTnLst>
                        <p:par>
                          <p:cTn id="102" fill="hold">
                            <p:stCondLst>
                              <p:cond delay="0"/>
                            </p:stCondLst>
                            <p:childTnLst>
                              <p:par>
                                <p:cTn id="83" presetID="10" presetClass="entr" presetSubtype="0" fill="hold" grpId="0" nodeType="clickEffect">
                                  <p:stCondLst>
                                    <p:cond delay="0"/>
                                  </p:stCondLst>
                                  <p:childTnLst>
                                    <p:set>
                                      <p:cBhvr>
                                        <p:cTn id="84" dur="1" fill="hold">
                                          <p:stCondLst>
                                            <p:cond delay="0"/>
                                          </p:stCondLst>
                                        </p:cTn>
                                        <p:tgtEl>
                                          <p:spTgt spid="43"/>
                                        </p:tgtEl>
                                        <p:attrNameLst>
                                          <p:attrName>style.visibility</p:attrName>
                                        </p:attrNameLst>
                                      </p:cBhvr>
                                      <p:to>
                                        <p:strVal val="visible"/>
                                      </p:to>
                                    </p:set>
                                    <p:animEffect transition="in" filter="fade">
                                      <p:cBhvr>
                                        <p:cTn id="85" dur="400"/>
                                        <p:tgtEl>
                                          <p:spTgt spid="43"/>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44"/>
                                        </p:tgtEl>
                                        <p:attrNameLst>
                                          <p:attrName>style.visibility</p:attrName>
                                        </p:attrNameLst>
                                      </p:cBhvr>
                                      <p:to>
                                        <p:strVal val="visible"/>
                                      </p:to>
                                    </p:set>
                                    <p:animEffect transition="in" filter="fade">
                                      <p:cBhvr>
                                        <p:cTn id="88" dur="400"/>
                                        <p:tgtEl>
                                          <p:spTgt spid="44"/>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45"/>
                                        </p:tgtEl>
                                        <p:attrNameLst>
                                          <p:attrName>style.visibility</p:attrName>
                                        </p:attrNameLst>
                                      </p:cBhvr>
                                      <p:to>
                                        <p:strVal val="visible"/>
                                      </p:to>
                                    </p:set>
                                    <p:animEffect transition="in" filter="fade">
                                      <p:cBhvr>
                                        <p:cTn id="91" dur="400"/>
                                        <p:tgtEl>
                                          <p:spTgt spid="45"/>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46"/>
                                        </p:tgtEl>
                                        <p:attrNameLst>
                                          <p:attrName>style.visibility</p:attrName>
                                        </p:attrNameLst>
                                      </p:cBhvr>
                                      <p:to>
                                        <p:strVal val="visible"/>
                                      </p:to>
                                    </p:set>
                                    <p:animEffect transition="in" filter="fade">
                                      <p:cBhvr>
                                        <p:cTn id="94" dur="400"/>
                                        <p:tgtEl>
                                          <p:spTgt spid="46"/>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47"/>
                                        </p:tgtEl>
                                        <p:attrNameLst>
                                          <p:attrName>style.visibility</p:attrName>
                                        </p:attrNameLst>
                                      </p:cBhvr>
                                      <p:to>
                                        <p:strVal val="visible"/>
                                      </p:to>
                                    </p:set>
                                    <p:animEffect transition="in" filter="fade">
                                      <p:cBhvr>
                                        <p:cTn id="97" dur="400"/>
                                        <p:tgtEl>
                                          <p:spTgt spid="47"/>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48"/>
                                        </p:tgtEl>
                                        <p:attrNameLst>
                                          <p:attrName>style.visibility</p:attrName>
                                        </p:attrNameLst>
                                      </p:cBhvr>
                                      <p:to>
                                        <p:strVal val="visible"/>
                                      </p:to>
                                    </p:set>
                                    <p:animEffect transition="in" filter="fade">
                                      <p:cBhvr>
                                        <p:cTn id="100" dur="4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ARQUITECTURA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El sistema de un vistazo</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2BA6CB"/>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Cada capa tiene una sola responsabilidad.</a:t>
            </a:r>
            <a:endParaRPr lang="en-US" sz="1700" dirty="0"/>
          </a:p>
        </p:txBody>
      </p:sp>
      <p:sp>
        <p:nvSpPr>
          <p:cNvPr id="13" name="Shape 11"/>
          <p:cNvSpPr/>
          <p:nvPr/>
        </p:nvSpPr>
        <p:spPr>
          <a:xfrm>
            <a:off x="612648" y="1719072"/>
            <a:ext cx="10966399" cy="1008126"/>
          </a:xfrm>
          <a:prstGeom prst="roundRect">
            <a:avLst>
              <a:gd name="adj" fmla="val 10884"/>
            </a:avLst>
          </a:prstGeom>
          <a:solidFill>
            <a:srgbClr val="F5F2FE"/>
          </a:solidFill>
          <a:ln w="12700">
            <a:solidFill>
              <a:srgbClr val="CEC5ED"/>
            </a:solidFill>
            <a:prstDash val="solid"/>
          </a:ln>
        </p:spPr>
      </p:sp>
      <p:sp>
        <p:nvSpPr>
          <p:cNvPr id="14" name="Text 12"/>
          <p:cNvSpPr/>
          <p:nvPr/>
        </p:nvSpPr>
        <p:spPr>
          <a:xfrm>
            <a:off x="612648" y="1719072"/>
            <a:ext cx="1600200" cy="1008126"/>
          </a:xfrm>
          <a:prstGeom prst="roundRect">
            <a:avLst>
              <a:gd name="adj" fmla="val 10884"/>
            </a:avLst>
          </a:prstGeom>
          <a:solidFill>
            <a:srgbClr val="5B3FC4"/>
          </a:solidFill>
          <a:ln>
            <a:solidFill>
              <a:srgbClr val="5B3FC4"/>
            </a:solidFill>
          </a:ln>
        </p:spPr>
        <p:txBody>
          <a:bodyPr wrap="square" lIns="0" tIns="76200" rIns="76200" bIns="0" rtlCol="0" anchor="ctr"/>
          <a:lstStyle/>
          <a:p>
            <a:pPr algn="ctr" indent="0" marL="0">
              <a:buNone/>
            </a:pPr>
            <a:r>
              <a:rPr lang="en-US" sz="1186" b="1" spc="100" kern="0" dirty="0">
                <a:solidFill>
                  <a:srgbClr val="FFFFFF"/>
                </a:solidFill>
                <a:latin typeface="Segoe UI" pitchFamily="34" charset="0"/>
                <a:ea typeface="Segoe UI" pitchFamily="34" charset="-122"/>
                <a:cs typeface="Segoe UI" pitchFamily="34" charset="-120"/>
              </a:rPr>
              <a:t>EXPERIENCIA</a:t>
            </a:r>
            <a:endParaRPr lang="en-US" sz="1186" dirty="0"/>
          </a:p>
        </p:txBody>
      </p:sp>
      <p:sp>
        <p:nvSpPr>
          <p:cNvPr id="15" name="Shape 13"/>
          <p:cNvSpPr/>
          <p:nvPr/>
        </p:nvSpPr>
        <p:spPr>
          <a:xfrm>
            <a:off x="2395728" y="1810512"/>
            <a:ext cx="4440784" cy="825246"/>
          </a:xfrm>
          <a:prstGeom prst="roundRect">
            <a:avLst>
              <a:gd name="adj" fmla="val 15512"/>
            </a:avLst>
          </a:prstGeom>
          <a:solidFill>
            <a:srgbClr val="FFFFFF"/>
          </a:solidFill>
          <a:ln w="12700">
            <a:solidFill>
              <a:srgbClr val="BDB2E7"/>
            </a:solidFill>
            <a:prstDash val="solid"/>
          </a:ln>
          <a:effectLst>
            <a:outerShdw sx="100000" sy="100000" kx="0" ky="0" algn="bl" rotWithShape="0" blurRad="76200" dist="19050" dir="5400000">
              <a:srgbClr val="0B1F3A">
                <a:alpha val="14000"/>
              </a:srgbClr>
            </a:outerShdw>
          </a:effectLst>
        </p:spPr>
      </p:sp>
      <p:sp>
        <p:nvSpPr>
          <p:cNvPr id="16" name="Shape 14"/>
          <p:cNvSpPr/>
          <p:nvPr/>
        </p:nvSpPr>
        <p:spPr>
          <a:xfrm>
            <a:off x="2542032" y="1939671"/>
            <a:ext cx="566928" cy="566928"/>
          </a:xfrm>
          <a:prstGeom prst="ellipse">
            <a:avLst/>
          </a:prstGeom>
          <a:solidFill>
            <a:srgbClr val="F1EEFD"/>
          </a:solidFill>
          <a:ln w="12700">
            <a:solidFill>
              <a:srgbClr val="F1EEFD"/>
            </a:solidFill>
            <a:prstDash val="solid"/>
          </a:ln>
        </p:spPr>
      </p:sp>
      <p:sp>
        <p:nvSpPr>
          <p:cNvPr id="17" name="Icono user"/>
          <p:cNvSpPr/>
          <p:nvPr/>
        </p:nvSpPr>
        <p:spPr>
          <a:xfrm>
            <a:off x="2678095" y="2075734"/>
            <a:ext cx="294803" cy="294803"/>
          </a:xfrm>
          <a:custGeom>
            <a:avLst/>
            <a:gdLst/>
            <a:ahLst/>
            <a:cxnLst/>
            <a:rect l="l" t="t" r="r" b="b"/>
            <a:pathLst>
              <a:path w="294803" h="294803">
                <a:moveTo>
                  <a:pt x="233385" y="257952"/>
                </a:moveTo>
                <a:lnTo>
                  <a:pt x="233385" y="233385"/>
                </a:lnTo>
                <a:cubicBezTo>
                  <a:pt x="233385" y="206250"/>
                  <a:pt x="211387" y="184252"/>
                  <a:pt x="184252" y="184252"/>
                </a:cubicBezTo>
                <a:lnTo>
                  <a:pt x="110551" y="184252"/>
                </a:lnTo>
                <a:cubicBezTo>
                  <a:pt x="83415" y="184252"/>
                  <a:pt x="61417" y="206250"/>
                  <a:pt x="61417" y="233385"/>
                </a:cubicBezTo>
                <a:lnTo>
                  <a:pt x="61417" y="257952"/>
                </a:lnTo>
                <a:moveTo>
                  <a:pt x="196535" y="85984"/>
                </a:moveTo>
                <a:cubicBezTo>
                  <a:pt x="196535" y="113120"/>
                  <a:pt x="174537" y="135118"/>
                  <a:pt x="147401" y="135118"/>
                </a:cubicBezTo>
                <a:cubicBezTo>
                  <a:pt x="120265" y="135118"/>
                  <a:pt x="98268" y="113120"/>
                  <a:pt x="98268" y="85984"/>
                </a:cubicBezTo>
                <a:cubicBezTo>
                  <a:pt x="98268" y="58848"/>
                  <a:pt x="120265" y="36850"/>
                  <a:pt x="147401" y="36850"/>
                </a:cubicBezTo>
                <a:cubicBezTo>
                  <a:pt x="174537" y="36850"/>
                  <a:pt x="196535" y="58848"/>
                  <a:pt x="196535" y="85984"/>
                </a:cubicBezTo>
                <a:close/>
              </a:path>
            </a:pathLst>
          </a:custGeom>
          <a:noFill/>
          <a:ln w="24567" cap="rnd">
            <a:solidFill>
              <a:srgbClr val="5B3FC4"/>
            </a:solidFill>
            <a:prstDash val="solid"/>
            <a:round/>
          </a:ln>
        </p:spPr>
      </p:sp>
      <p:sp>
        <p:nvSpPr>
          <p:cNvPr id="18" name="Text 16"/>
          <p:cNvSpPr/>
          <p:nvPr/>
        </p:nvSpPr>
        <p:spPr>
          <a:xfrm>
            <a:off x="3255264" y="1847088"/>
            <a:ext cx="3489808" cy="394335"/>
          </a:xfrm>
          <a:prstGeom prst="rect">
            <a:avLst/>
          </a:prstGeom>
          <a:noFill/>
          <a:ln/>
        </p:spPr>
        <p:txBody>
          <a:bodyPr wrap="square" lIns="0" tIns="0" rIns="0" bIns="0" rtlCol="0" anchor="b">
            <a:normAutofit/>
          </a:bodyPr>
          <a:lstStyle/>
          <a:p>
            <a:pPr algn="l" indent="0" marL="0">
              <a:buNone/>
            </a:pPr>
            <a:r>
              <a:rPr lang="en-US" sz="1500" b="1" dirty="0">
                <a:solidFill>
                  <a:srgbClr val="5B3FC4"/>
                </a:solidFill>
                <a:latin typeface="Segoe UI Semibold" pitchFamily="34" charset="0"/>
                <a:ea typeface="Segoe UI Semibold" pitchFamily="34" charset="-122"/>
                <a:cs typeface="Segoe UI Semibold" pitchFamily="34" charset="-120"/>
              </a:rPr>
              <a:t>Persona</a:t>
            </a:r>
            <a:endParaRPr lang="en-US" sz="1500" dirty="0"/>
          </a:p>
        </p:txBody>
      </p:sp>
      <p:sp>
        <p:nvSpPr>
          <p:cNvPr id="19" name="Text 17"/>
          <p:cNvSpPr/>
          <p:nvPr/>
        </p:nvSpPr>
        <p:spPr>
          <a:xfrm>
            <a:off x="3255264" y="2259711"/>
            <a:ext cx="3489808"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Usa el navegador</a:t>
            </a:r>
            <a:endParaRPr lang="en-US" sz="1200" dirty="0"/>
          </a:p>
        </p:txBody>
      </p:sp>
      <p:sp>
        <p:nvSpPr>
          <p:cNvPr id="20" name="Shape 18"/>
          <p:cNvSpPr/>
          <p:nvPr/>
        </p:nvSpPr>
        <p:spPr>
          <a:xfrm>
            <a:off x="7001104" y="1810512"/>
            <a:ext cx="4440784" cy="825246"/>
          </a:xfrm>
          <a:prstGeom prst="roundRect">
            <a:avLst>
              <a:gd name="adj" fmla="val 15512"/>
            </a:avLst>
          </a:prstGeom>
          <a:solidFill>
            <a:srgbClr val="FFFFFF"/>
          </a:solidFill>
          <a:ln w="12700">
            <a:solidFill>
              <a:srgbClr val="BDB2E7"/>
            </a:solidFill>
            <a:prstDash val="solid"/>
          </a:ln>
          <a:effectLst>
            <a:outerShdw sx="100000" sy="100000" kx="0" ky="0" algn="bl" rotWithShape="0" blurRad="76200" dist="19050" dir="5400000">
              <a:srgbClr val="0B1F3A">
                <a:alpha val="14000"/>
              </a:srgbClr>
            </a:outerShdw>
          </a:effectLst>
        </p:spPr>
      </p:sp>
      <p:sp>
        <p:nvSpPr>
          <p:cNvPr id="21" name="Shape 19"/>
          <p:cNvSpPr/>
          <p:nvPr/>
        </p:nvSpPr>
        <p:spPr>
          <a:xfrm>
            <a:off x="7147408" y="1939671"/>
            <a:ext cx="566928" cy="566928"/>
          </a:xfrm>
          <a:prstGeom prst="ellipse">
            <a:avLst/>
          </a:prstGeom>
          <a:solidFill>
            <a:srgbClr val="F1EEFD"/>
          </a:solidFill>
          <a:ln w="12700">
            <a:solidFill>
              <a:srgbClr val="F1EEFD"/>
            </a:solidFill>
            <a:prstDash val="solid"/>
          </a:ln>
        </p:spPr>
      </p:sp>
      <p:sp>
        <p:nvSpPr>
          <p:cNvPr id="22" name="Icono monitor"/>
          <p:cNvSpPr/>
          <p:nvPr/>
        </p:nvSpPr>
        <p:spPr>
          <a:xfrm>
            <a:off x="7283470" y="2075734"/>
            <a:ext cx="294803" cy="294803"/>
          </a:xfrm>
          <a:custGeom>
            <a:avLst/>
            <a:gdLst/>
            <a:ahLst/>
            <a:cxnLst/>
            <a:rect l="l" t="t" r="r" b="b"/>
            <a:pathLst>
              <a:path w="294803" h="294803">
                <a:moveTo>
                  <a:pt x="49134" y="36850"/>
                </a:moveTo>
                <a:lnTo>
                  <a:pt x="245669" y="36850"/>
                </a:lnTo>
                <a:cubicBezTo>
                  <a:pt x="259237" y="36850"/>
                  <a:pt x="270236" y="47849"/>
                  <a:pt x="270236" y="61417"/>
                </a:cubicBezTo>
                <a:lnTo>
                  <a:pt x="270236" y="184252"/>
                </a:lnTo>
                <a:cubicBezTo>
                  <a:pt x="270236" y="197820"/>
                  <a:pt x="259237" y="208818"/>
                  <a:pt x="245669" y="208818"/>
                </a:cubicBezTo>
                <a:lnTo>
                  <a:pt x="49134" y="208818"/>
                </a:lnTo>
                <a:cubicBezTo>
                  <a:pt x="35566" y="208818"/>
                  <a:pt x="24567" y="197820"/>
                  <a:pt x="24567" y="184252"/>
                </a:cubicBezTo>
                <a:lnTo>
                  <a:pt x="24567" y="61417"/>
                </a:lnTo>
                <a:cubicBezTo>
                  <a:pt x="24567" y="47849"/>
                  <a:pt x="35566" y="36850"/>
                  <a:pt x="49134" y="36850"/>
                </a:cubicBezTo>
                <a:close/>
                <a:moveTo>
                  <a:pt x="98268" y="257952"/>
                </a:moveTo>
                <a:lnTo>
                  <a:pt x="196535" y="257952"/>
                </a:lnTo>
                <a:moveTo>
                  <a:pt x="147401" y="208818"/>
                </a:moveTo>
                <a:lnTo>
                  <a:pt x="147401" y="257952"/>
                </a:lnTo>
              </a:path>
            </a:pathLst>
          </a:custGeom>
          <a:noFill/>
          <a:ln w="24567" cap="rnd">
            <a:solidFill>
              <a:srgbClr val="5B3FC4"/>
            </a:solidFill>
            <a:prstDash val="solid"/>
            <a:round/>
          </a:ln>
        </p:spPr>
      </p:sp>
      <p:sp>
        <p:nvSpPr>
          <p:cNvPr id="23" name="Text 21"/>
          <p:cNvSpPr/>
          <p:nvPr/>
        </p:nvSpPr>
        <p:spPr>
          <a:xfrm>
            <a:off x="7860640" y="1847088"/>
            <a:ext cx="3489808" cy="394335"/>
          </a:xfrm>
          <a:prstGeom prst="rect">
            <a:avLst/>
          </a:prstGeom>
          <a:noFill/>
          <a:ln/>
        </p:spPr>
        <p:txBody>
          <a:bodyPr wrap="square" lIns="0" tIns="0" rIns="0" bIns="0" rtlCol="0" anchor="b">
            <a:normAutofit/>
          </a:bodyPr>
          <a:lstStyle/>
          <a:p>
            <a:pPr algn="l" indent="0" marL="0">
              <a:buNone/>
            </a:pPr>
            <a:r>
              <a:rPr lang="en-US" sz="1500" b="1" dirty="0">
                <a:solidFill>
                  <a:srgbClr val="5B3FC4"/>
                </a:solidFill>
                <a:latin typeface="Segoe UI Semibold" pitchFamily="34" charset="0"/>
                <a:ea typeface="Segoe UI Semibold" pitchFamily="34" charset="-122"/>
                <a:cs typeface="Segoe UI Semibold" pitchFamily="34" charset="-120"/>
              </a:rPr>
              <a:t>arka-lite-ui</a:t>
            </a:r>
            <a:endParaRPr lang="en-US" sz="1500" dirty="0"/>
          </a:p>
        </p:txBody>
      </p:sp>
      <p:sp>
        <p:nvSpPr>
          <p:cNvPr id="24" name="Text 22"/>
          <p:cNvSpPr/>
          <p:nvPr/>
        </p:nvSpPr>
        <p:spPr>
          <a:xfrm>
            <a:off x="7860640" y="2259711"/>
            <a:ext cx="3489808"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La pantalla · reenvía /api</a:t>
            </a:r>
            <a:endParaRPr lang="en-US" sz="1200" dirty="0"/>
          </a:p>
        </p:txBody>
      </p:sp>
      <p:sp>
        <p:nvSpPr>
          <p:cNvPr id="25" name="[p1] Forma"/>
          <p:cNvSpPr/>
          <p:nvPr/>
        </p:nvSpPr>
        <p:spPr>
          <a:xfrm>
            <a:off x="1412748" y="2708910"/>
            <a:ext cx="0" cy="237744"/>
          </a:xfrm>
          <a:prstGeom prst="line">
            <a:avLst/>
          </a:prstGeom>
          <a:noFill/>
          <a:ln w="31750">
            <a:solidFill>
              <a:srgbClr val="0B2350"/>
            </a:solidFill>
            <a:prstDash val="solid"/>
            <a:tailEnd type="triangle"/>
          </a:ln>
        </p:spPr>
      </p:sp>
      <p:sp>
        <p:nvSpPr>
          <p:cNvPr id="26" name="[p1] Forma"/>
          <p:cNvSpPr/>
          <p:nvPr/>
        </p:nvSpPr>
        <p:spPr>
          <a:xfrm>
            <a:off x="612648" y="2928366"/>
            <a:ext cx="10966399" cy="1008126"/>
          </a:xfrm>
          <a:prstGeom prst="roundRect">
            <a:avLst>
              <a:gd name="adj" fmla="val 10884"/>
            </a:avLst>
          </a:prstGeom>
          <a:solidFill>
            <a:srgbClr val="EEF2FA"/>
          </a:solidFill>
          <a:ln w="12700">
            <a:solidFill>
              <a:srgbClr val="B6BDCB"/>
            </a:solidFill>
            <a:prstDash val="solid"/>
          </a:ln>
        </p:spPr>
      </p:sp>
      <p:sp>
        <p:nvSpPr>
          <p:cNvPr id="27" name="[p1] Forma"/>
          <p:cNvSpPr/>
          <p:nvPr/>
        </p:nvSpPr>
        <p:spPr>
          <a:xfrm>
            <a:off x="612648" y="2928366"/>
            <a:ext cx="1600200" cy="1008126"/>
          </a:xfrm>
          <a:prstGeom prst="roundRect">
            <a:avLst>
              <a:gd name="adj" fmla="val 10884"/>
            </a:avLst>
          </a:prstGeom>
          <a:solidFill>
            <a:srgbClr val="0B2350"/>
          </a:solidFill>
          <a:ln>
            <a:solidFill>
              <a:srgbClr val="0B2350"/>
            </a:solidFill>
          </a:ln>
        </p:spPr>
        <p:txBody>
          <a:bodyPr wrap="square" lIns="0" tIns="76200" rIns="76200" bIns="0" rtlCol="0" anchor="ctr"/>
          <a:lstStyle/>
          <a:p>
            <a:pPr algn="ctr" indent="0" marL="0">
              <a:buNone/>
            </a:pPr>
            <a:r>
              <a:rPr lang="en-US" sz="1300" b="1" spc="100" kern="0" dirty="0">
                <a:solidFill>
                  <a:srgbClr val="FFFFFF"/>
                </a:solidFill>
                <a:latin typeface="Segoe UI" pitchFamily="34" charset="0"/>
                <a:ea typeface="Segoe UI" pitchFamily="34" charset="-122"/>
                <a:cs typeface="Segoe UI" pitchFamily="34" charset="-120"/>
              </a:rPr>
              <a:t>SERVICIOS</a:t>
            </a:r>
            <a:endParaRPr lang="en-US" sz="1300" dirty="0"/>
          </a:p>
        </p:txBody>
      </p:sp>
      <p:sp>
        <p:nvSpPr>
          <p:cNvPr id="28" name="[p1] Forma"/>
          <p:cNvSpPr/>
          <p:nvPr/>
        </p:nvSpPr>
        <p:spPr>
          <a:xfrm>
            <a:off x="2395728" y="3019806"/>
            <a:ext cx="4440784" cy="825246"/>
          </a:xfrm>
          <a:prstGeom prst="roundRect">
            <a:avLst>
              <a:gd name="adj" fmla="val 15512"/>
            </a:avLst>
          </a:prstGeom>
          <a:solidFill>
            <a:srgbClr val="FFFFFF"/>
          </a:solidFill>
          <a:ln w="12700">
            <a:solidFill>
              <a:srgbClr val="9DA7B9"/>
            </a:solidFill>
            <a:prstDash val="solid"/>
          </a:ln>
          <a:effectLst>
            <a:outerShdw sx="100000" sy="100000" kx="0" ky="0" algn="bl" rotWithShape="0" blurRad="76200" dist="19050" dir="5400000">
              <a:srgbClr val="0B1F3A">
                <a:alpha val="14000"/>
              </a:srgbClr>
            </a:outerShdw>
          </a:effectLst>
        </p:spPr>
      </p:sp>
      <p:sp>
        <p:nvSpPr>
          <p:cNvPr id="29" name="[p1] Forma"/>
          <p:cNvSpPr/>
          <p:nvPr/>
        </p:nvSpPr>
        <p:spPr>
          <a:xfrm>
            <a:off x="2542032" y="3148965"/>
            <a:ext cx="566928" cy="566928"/>
          </a:xfrm>
          <a:prstGeom prst="ellipse">
            <a:avLst/>
          </a:prstGeom>
          <a:solidFill>
            <a:srgbClr val="E8EEF8"/>
          </a:solidFill>
          <a:ln w="12700">
            <a:solidFill>
              <a:srgbClr val="E8EEF8"/>
            </a:solidFill>
            <a:prstDash val="solid"/>
          </a:ln>
        </p:spPr>
      </p:sp>
      <p:sp>
        <p:nvSpPr>
          <p:cNvPr id="30" name="[p1] Icono clipboard-list"/>
          <p:cNvSpPr/>
          <p:nvPr/>
        </p:nvSpPr>
        <p:spPr>
          <a:xfrm>
            <a:off x="2678095" y="3285028"/>
            <a:ext cx="294803" cy="294803"/>
          </a:xfrm>
          <a:custGeom>
            <a:avLst/>
            <a:gdLst/>
            <a:ahLst/>
            <a:cxnLst/>
            <a:rect l="l" t="t" r="r" b="b"/>
            <a:pathLst>
              <a:path w="294803" h="294803">
                <a:moveTo>
                  <a:pt x="110551" y="24567"/>
                </a:moveTo>
                <a:lnTo>
                  <a:pt x="184252" y="24567"/>
                </a:lnTo>
                <a:cubicBezTo>
                  <a:pt x="191036" y="24567"/>
                  <a:pt x="196535" y="30066"/>
                  <a:pt x="196535" y="36850"/>
                </a:cubicBezTo>
                <a:lnTo>
                  <a:pt x="196535" y="61417"/>
                </a:lnTo>
                <a:cubicBezTo>
                  <a:pt x="196535" y="68201"/>
                  <a:pt x="191036" y="73701"/>
                  <a:pt x="184252" y="73701"/>
                </a:cubicBezTo>
                <a:lnTo>
                  <a:pt x="110551" y="73701"/>
                </a:lnTo>
                <a:cubicBezTo>
                  <a:pt x="103767" y="73701"/>
                  <a:pt x="98268" y="68201"/>
                  <a:pt x="98268" y="61417"/>
                </a:cubicBezTo>
                <a:lnTo>
                  <a:pt x="98268" y="36850"/>
                </a:lnTo>
                <a:cubicBezTo>
                  <a:pt x="98268" y="30066"/>
                  <a:pt x="103767" y="24567"/>
                  <a:pt x="110551" y="24567"/>
                </a:cubicBezTo>
                <a:close/>
                <a:moveTo>
                  <a:pt x="196535" y="49134"/>
                </a:moveTo>
                <a:lnTo>
                  <a:pt x="221102" y="49134"/>
                </a:lnTo>
                <a:cubicBezTo>
                  <a:pt x="234670" y="49134"/>
                  <a:pt x="245669" y="60133"/>
                  <a:pt x="245669" y="73701"/>
                </a:cubicBezTo>
                <a:lnTo>
                  <a:pt x="245669" y="245669"/>
                </a:lnTo>
                <a:cubicBezTo>
                  <a:pt x="245669" y="259237"/>
                  <a:pt x="234670" y="270236"/>
                  <a:pt x="221102" y="270236"/>
                </a:cubicBezTo>
                <a:lnTo>
                  <a:pt x="73701" y="270236"/>
                </a:lnTo>
                <a:cubicBezTo>
                  <a:pt x="60133" y="270236"/>
                  <a:pt x="49134" y="259237"/>
                  <a:pt x="49134" y="245669"/>
                </a:cubicBezTo>
                <a:lnTo>
                  <a:pt x="49134" y="73701"/>
                </a:lnTo>
                <a:cubicBezTo>
                  <a:pt x="49134" y="60133"/>
                  <a:pt x="60133" y="49134"/>
                  <a:pt x="73701" y="49134"/>
                </a:cubicBezTo>
                <a:lnTo>
                  <a:pt x="98268" y="49134"/>
                </a:lnTo>
                <a:moveTo>
                  <a:pt x="147401" y="135118"/>
                </a:moveTo>
                <a:lnTo>
                  <a:pt x="196535" y="135118"/>
                </a:lnTo>
                <a:moveTo>
                  <a:pt x="147401" y="196535"/>
                </a:moveTo>
                <a:lnTo>
                  <a:pt x="196535" y="196535"/>
                </a:lnTo>
                <a:moveTo>
                  <a:pt x="98268" y="135118"/>
                </a:moveTo>
                <a:lnTo>
                  <a:pt x="98390" y="135118"/>
                </a:lnTo>
                <a:moveTo>
                  <a:pt x="98268" y="196535"/>
                </a:moveTo>
                <a:lnTo>
                  <a:pt x="98390" y="196535"/>
                </a:lnTo>
              </a:path>
            </a:pathLst>
          </a:custGeom>
          <a:noFill/>
          <a:ln w="24567" cap="rnd">
            <a:solidFill>
              <a:srgbClr val="0B2350"/>
            </a:solidFill>
            <a:prstDash val="solid"/>
            <a:round/>
          </a:ln>
        </p:spPr>
      </p:sp>
      <p:sp>
        <p:nvSpPr>
          <p:cNvPr id="31" name="[p1] Forma"/>
          <p:cNvSpPr/>
          <p:nvPr/>
        </p:nvSpPr>
        <p:spPr>
          <a:xfrm>
            <a:off x="3255264" y="3056382"/>
            <a:ext cx="3489808" cy="394335"/>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servicio-solicitudes</a:t>
            </a:r>
            <a:endParaRPr lang="en-US" sz="1500" dirty="0"/>
          </a:p>
        </p:txBody>
      </p:sp>
      <p:sp>
        <p:nvSpPr>
          <p:cNvPr id="32" name="[p1] Forma"/>
          <p:cNvSpPr/>
          <p:nvPr/>
        </p:nvSpPr>
        <p:spPr>
          <a:xfrm>
            <a:off x="3255264" y="3469005"/>
            <a:ext cx="3489808"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El trámite y sus estados</a:t>
            </a:r>
            <a:endParaRPr lang="en-US" sz="1200" dirty="0"/>
          </a:p>
        </p:txBody>
      </p:sp>
      <p:sp>
        <p:nvSpPr>
          <p:cNvPr id="33" name="[p1] Forma"/>
          <p:cNvSpPr/>
          <p:nvPr/>
        </p:nvSpPr>
        <p:spPr>
          <a:xfrm>
            <a:off x="7001104" y="3019806"/>
            <a:ext cx="4440784" cy="825246"/>
          </a:xfrm>
          <a:prstGeom prst="roundRect">
            <a:avLst>
              <a:gd name="adj" fmla="val 15512"/>
            </a:avLst>
          </a:prstGeom>
          <a:solidFill>
            <a:srgbClr val="FFFFFF"/>
          </a:solidFill>
          <a:ln w="12700">
            <a:solidFill>
              <a:srgbClr val="9DC5D0"/>
            </a:solidFill>
            <a:prstDash val="solid"/>
          </a:ln>
          <a:effectLst>
            <a:outerShdw sx="100000" sy="100000" kx="0" ky="0" algn="bl" rotWithShape="0" blurRad="76200" dist="19050" dir="5400000">
              <a:srgbClr val="0B1F3A">
                <a:alpha val="14000"/>
              </a:srgbClr>
            </a:outerShdw>
          </a:effectLst>
        </p:spPr>
      </p:sp>
      <p:sp>
        <p:nvSpPr>
          <p:cNvPr id="34" name="[p1] Forma"/>
          <p:cNvSpPr/>
          <p:nvPr/>
        </p:nvSpPr>
        <p:spPr>
          <a:xfrm>
            <a:off x="7147408" y="3148965"/>
            <a:ext cx="566928" cy="566928"/>
          </a:xfrm>
          <a:prstGeom prst="ellipse">
            <a:avLst/>
          </a:prstGeom>
          <a:solidFill>
            <a:srgbClr val="E3F4FA"/>
          </a:solidFill>
          <a:ln w="12700">
            <a:solidFill>
              <a:srgbClr val="E3F4FA"/>
            </a:solidFill>
            <a:prstDash val="solid"/>
          </a:ln>
        </p:spPr>
      </p:sp>
      <p:sp>
        <p:nvSpPr>
          <p:cNvPr id="35" name="[p1] Icono bell"/>
          <p:cNvSpPr/>
          <p:nvPr/>
        </p:nvSpPr>
        <p:spPr>
          <a:xfrm>
            <a:off x="7283470" y="3285028"/>
            <a:ext cx="294803" cy="294803"/>
          </a:xfrm>
          <a:custGeom>
            <a:avLst/>
            <a:gdLst/>
            <a:ahLst/>
            <a:cxnLst/>
            <a:rect l="l" t="t" r="r" b="b"/>
            <a:pathLst>
              <a:path w="294803" h="294803">
                <a:moveTo>
                  <a:pt x="126126" y="257952"/>
                </a:moveTo>
                <a:cubicBezTo>
                  <a:pt x="130515" y="265553"/>
                  <a:pt x="138625" y="270235"/>
                  <a:pt x="147401" y="270235"/>
                </a:cubicBezTo>
                <a:cubicBezTo>
                  <a:pt x="156178" y="270235"/>
                  <a:pt x="164288" y="265553"/>
                  <a:pt x="168676" y="257952"/>
                </a:cubicBezTo>
                <a:moveTo>
                  <a:pt x="40069" y="188256"/>
                </a:moveTo>
                <a:cubicBezTo>
                  <a:pt x="36790" y="191849"/>
                  <a:pt x="35941" y="197039"/>
                  <a:pt x="37903" y="201490"/>
                </a:cubicBezTo>
                <a:cubicBezTo>
                  <a:pt x="39865" y="205941"/>
                  <a:pt x="44269" y="208815"/>
                  <a:pt x="49134" y="208818"/>
                </a:cubicBezTo>
                <a:lnTo>
                  <a:pt x="245669" y="208818"/>
                </a:lnTo>
                <a:cubicBezTo>
                  <a:pt x="250533" y="208820"/>
                  <a:pt x="254939" y="205952"/>
                  <a:pt x="256907" y="201504"/>
                </a:cubicBezTo>
                <a:cubicBezTo>
                  <a:pt x="258874" y="197056"/>
                  <a:pt x="258032" y="191866"/>
                  <a:pt x="254759" y="188268"/>
                </a:cubicBezTo>
                <a:cubicBezTo>
                  <a:pt x="238422" y="171428"/>
                  <a:pt x="221102" y="153531"/>
                  <a:pt x="221102" y="98268"/>
                </a:cubicBezTo>
                <a:cubicBezTo>
                  <a:pt x="221102" y="57564"/>
                  <a:pt x="188105" y="24567"/>
                  <a:pt x="147401" y="24567"/>
                </a:cubicBezTo>
                <a:cubicBezTo>
                  <a:pt x="106698" y="24567"/>
                  <a:pt x="73701" y="57564"/>
                  <a:pt x="73701" y="98268"/>
                </a:cubicBezTo>
                <a:cubicBezTo>
                  <a:pt x="73701" y="153531"/>
                  <a:pt x="56369" y="171428"/>
                  <a:pt x="40069" y="188256"/>
                </a:cubicBezTo>
              </a:path>
            </a:pathLst>
          </a:custGeom>
          <a:noFill/>
          <a:ln w="24567" cap="rnd">
            <a:solidFill>
              <a:srgbClr val="0B6E8A"/>
            </a:solidFill>
            <a:prstDash val="solid"/>
            <a:round/>
          </a:ln>
        </p:spPr>
      </p:sp>
      <p:sp>
        <p:nvSpPr>
          <p:cNvPr id="36" name="[p1] Forma"/>
          <p:cNvSpPr/>
          <p:nvPr/>
        </p:nvSpPr>
        <p:spPr>
          <a:xfrm>
            <a:off x="7860640" y="3056382"/>
            <a:ext cx="3489808" cy="394335"/>
          </a:xfrm>
          <a:prstGeom prst="rect">
            <a:avLst/>
          </a:prstGeom>
          <a:noFill/>
          <a:ln/>
        </p:spPr>
        <p:txBody>
          <a:bodyPr wrap="square" lIns="0" tIns="0" rIns="0" bIns="0" rtlCol="0" anchor="b">
            <a:normAutofit/>
          </a:bodyPr>
          <a:lstStyle/>
          <a:p>
            <a:pPr algn="l" indent="0" marL="0">
              <a:buNone/>
            </a:pPr>
            <a:r>
              <a:rPr lang="en-US" sz="1500" b="1" dirty="0">
                <a:solidFill>
                  <a:srgbClr val="0B6E8A"/>
                </a:solidFill>
                <a:latin typeface="Segoe UI Semibold" pitchFamily="34" charset="0"/>
                <a:ea typeface="Segoe UI Semibold" pitchFamily="34" charset="-122"/>
                <a:cs typeface="Segoe UI Semibold" pitchFamily="34" charset="-120"/>
              </a:rPr>
              <a:t>servicio-notificaciones</a:t>
            </a:r>
            <a:endParaRPr lang="en-US" sz="1500" dirty="0"/>
          </a:p>
        </p:txBody>
      </p:sp>
      <p:sp>
        <p:nvSpPr>
          <p:cNvPr id="37" name="[p1] Forma"/>
          <p:cNvSpPr/>
          <p:nvPr/>
        </p:nvSpPr>
        <p:spPr>
          <a:xfrm>
            <a:off x="7860640" y="3469005"/>
            <a:ext cx="3489808"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Los avisos, sin duplicados</a:t>
            </a:r>
            <a:endParaRPr lang="en-US" sz="1200" dirty="0"/>
          </a:p>
        </p:txBody>
      </p:sp>
      <p:sp>
        <p:nvSpPr>
          <p:cNvPr id="38" name="[p2] Forma"/>
          <p:cNvSpPr/>
          <p:nvPr/>
        </p:nvSpPr>
        <p:spPr>
          <a:xfrm>
            <a:off x="1412748" y="3918204"/>
            <a:ext cx="0" cy="237744"/>
          </a:xfrm>
          <a:prstGeom prst="line">
            <a:avLst/>
          </a:prstGeom>
          <a:noFill/>
          <a:ln w="31750">
            <a:solidFill>
              <a:srgbClr val="0B2350"/>
            </a:solidFill>
            <a:prstDash val="solid"/>
            <a:tailEnd type="triangle"/>
          </a:ln>
        </p:spPr>
      </p:sp>
      <p:sp>
        <p:nvSpPr>
          <p:cNvPr id="39" name="[p2] Forma"/>
          <p:cNvSpPr/>
          <p:nvPr/>
        </p:nvSpPr>
        <p:spPr>
          <a:xfrm>
            <a:off x="612648" y="4137660"/>
            <a:ext cx="10966399" cy="1008126"/>
          </a:xfrm>
          <a:prstGeom prst="roundRect">
            <a:avLst>
              <a:gd name="adj" fmla="val 10884"/>
            </a:avLst>
          </a:prstGeom>
          <a:solidFill>
            <a:srgbClr val="F7F9FC"/>
          </a:solidFill>
          <a:ln w="12700">
            <a:solidFill>
              <a:srgbClr val="CCD0D8"/>
            </a:solidFill>
            <a:prstDash val="solid"/>
          </a:ln>
        </p:spPr>
      </p:sp>
      <p:sp>
        <p:nvSpPr>
          <p:cNvPr id="40" name="[p2] Forma"/>
          <p:cNvSpPr/>
          <p:nvPr/>
        </p:nvSpPr>
        <p:spPr>
          <a:xfrm>
            <a:off x="612648" y="4137660"/>
            <a:ext cx="1600200" cy="1008126"/>
          </a:xfrm>
          <a:prstGeom prst="roundRect">
            <a:avLst>
              <a:gd name="adj" fmla="val 10884"/>
            </a:avLst>
          </a:prstGeom>
          <a:solidFill>
            <a:srgbClr val="55627E"/>
          </a:solidFill>
          <a:ln>
            <a:solidFill>
              <a:srgbClr val="55627E"/>
            </a:solidFill>
          </a:ln>
        </p:spPr>
        <p:txBody>
          <a:bodyPr wrap="square" lIns="0" tIns="76200" rIns="76200" bIns="0" rtlCol="0" anchor="ctr"/>
          <a:lstStyle/>
          <a:p>
            <a:pPr algn="ctr" indent="0" marL="0">
              <a:buNone/>
            </a:pPr>
            <a:r>
              <a:rPr lang="en-US" sz="1300" b="1" spc="100" kern="0" dirty="0">
                <a:solidFill>
                  <a:srgbClr val="FFFFFF"/>
                </a:solidFill>
                <a:latin typeface="Segoe UI" pitchFamily="34" charset="0"/>
                <a:ea typeface="Segoe UI" pitchFamily="34" charset="-122"/>
                <a:cs typeface="Segoe UI" pitchFamily="34" charset="-120"/>
              </a:rPr>
              <a:t>DATOS</a:t>
            </a:r>
            <a:endParaRPr lang="en-US" sz="1300" dirty="0"/>
          </a:p>
        </p:txBody>
      </p:sp>
      <p:sp>
        <p:nvSpPr>
          <p:cNvPr id="41" name="[p2] Forma"/>
          <p:cNvSpPr/>
          <p:nvPr/>
        </p:nvSpPr>
        <p:spPr>
          <a:xfrm>
            <a:off x="2395728" y="4229100"/>
            <a:ext cx="4440784" cy="825246"/>
          </a:xfrm>
          <a:prstGeom prst="roundRect">
            <a:avLst>
              <a:gd name="adj" fmla="val 15512"/>
            </a:avLst>
          </a:prstGeom>
          <a:solidFill>
            <a:srgbClr val="FFFFFF"/>
          </a:solidFill>
          <a:ln w="12700">
            <a:solidFill>
              <a:srgbClr val="BBC0CB"/>
            </a:solidFill>
            <a:prstDash val="solid"/>
          </a:ln>
          <a:effectLst>
            <a:outerShdw sx="100000" sy="100000" kx="0" ky="0" algn="bl" rotWithShape="0" blurRad="76200" dist="19050" dir="5400000">
              <a:srgbClr val="0B1F3A">
                <a:alpha val="14000"/>
              </a:srgbClr>
            </a:outerShdw>
          </a:effectLst>
        </p:spPr>
      </p:sp>
      <p:sp>
        <p:nvSpPr>
          <p:cNvPr id="42" name="[p2] Forma"/>
          <p:cNvSpPr/>
          <p:nvPr/>
        </p:nvSpPr>
        <p:spPr>
          <a:xfrm>
            <a:off x="2542032" y="4358259"/>
            <a:ext cx="566928" cy="566928"/>
          </a:xfrm>
          <a:prstGeom prst="ellipse">
            <a:avLst/>
          </a:prstGeom>
          <a:solidFill>
            <a:srgbClr val="F4F7FB"/>
          </a:solidFill>
          <a:ln w="12700">
            <a:solidFill>
              <a:srgbClr val="F4F7FB"/>
            </a:solidFill>
            <a:prstDash val="solid"/>
          </a:ln>
        </p:spPr>
      </p:sp>
      <p:sp>
        <p:nvSpPr>
          <p:cNvPr id="43" name="[p2] Icono database"/>
          <p:cNvSpPr/>
          <p:nvPr/>
        </p:nvSpPr>
        <p:spPr>
          <a:xfrm>
            <a:off x="2678095" y="4494322"/>
            <a:ext cx="294803" cy="294803"/>
          </a:xfrm>
          <a:custGeom>
            <a:avLst/>
            <a:gdLst/>
            <a:ahLst/>
            <a:cxnLst/>
            <a:rect l="l" t="t" r="r" b="b"/>
            <a:pathLst>
              <a:path w="294803" h="294803">
                <a:moveTo>
                  <a:pt x="257952" y="61417"/>
                </a:moveTo>
                <a:cubicBezTo>
                  <a:pt x="257952" y="81769"/>
                  <a:pt x="208457" y="98268"/>
                  <a:pt x="147401" y="98268"/>
                </a:cubicBezTo>
                <a:cubicBezTo>
                  <a:pt x="86346" y="98268"/>
                  <a:pt x="36850" y="81769"/>
                  <a:pt x="36850" y="61417"/>
                </a:cubicBezTo>
                <a:cubicBezTo>
                  <a:pt x="36850" y="41065"/>
                  <a:pt x="86346" y="24567"/>
                  <a:pt x="147401" y="24567"/>
                </a:cubicBezTo>
                <a:cubicBezTo>
                  <a:pt x="208457" y="24567"/>
                  <a:pt x="257952" y="41065"/>
                  <a:pt x="257952" y="61417"/>
                </a:cubicBezTo>
                <a:close/>
                <a:moveTo>
                  <a:pt x="36850" y="61417"/>
                </a:moveTo>
                <a:lnTo>
                  <a:pt x="36850" y="233385"/>
                </a:lnTo>
                <a:cubicBezTo>
                  <a:pt x="36850" y="253737"/>
                  <a:pt x="86346" y="270236"/>
                  <a:pt x="147401" y="270236"/>
                </a:cubicBezTo>
                <a:cubicBezTo>
                  <a:pt x="208457" y="270236"/>
                  <a:pt x="257952" y="253737"/>
                  <a:pt x="257952" y="233385"/>
                </a:cubicBezTo>
                <a:lnTo>
                  <a:pt x="257952" y="61417"/>
                </a:lnTo>
                <a:moveTo>
                  <a:pt x="36850" y="147401"/>
                </a:moveTo>
                <a:cubicBezTo>
                  <a:pt x="36850" y="167753"/>
                  <a:pt x="86346" y="184252"/>
                  <a:pt x="147401" y="184252"/>
                </a:cubicBezTo>
                <a:cubicBezTo>
                  <a:pt x="208457" y="184252"/>
                  <a:pt x="257952" y="167753"/>
                  <a:pt x="257952" y="147401"/>
                </a:cubicBezTo>
              </a:path>
            </a:pathLst>
          </a:custGeom>
          <a:noFill/>
          <a:ln w="24567" cap="rnd">
            <a:solidFill>
              <a:srgbClr val="55627E"/>
            </a:solidFill>
            <a:prstDash val="solid"/>
            <a:round/>
          </a:ln>
        </p:spPr>
      </p:sp>
      <p:sp>
        <p:nvSpPr>
          <p:cNvPr id="44" name="[p2] Forma"/>
          <p:cNvSpPr/>
          <p:nvPr/>
        </p:nvSpPr>
        <p:spPr>
          <a:xfrm>
            <a:off x="3255264" y="4265676"/>
            <a:ext cx="3489808" cy="394335"/>
          </a:xfrm>
          <a:prstGeom prst="rect">
            <a:avLst/>
          </a:prstGeom>
          <a:noFill/>
          <a:ln/>
        </p:spPr>
        <p:txBody>
          <a:bodyPr wrap="square" lIns="0" tIns="0" rIns="0" bIns="0" rtlCol="0" anchor="b">
            <a:normAutofit/>
          </a:bodyPr>
          <a:lstStyle/>
          <a:p>
            <a:pPr algn="l" indent="0" marL="0">
              <a:buNone/>
            </a:pPr>
            <a:r>
              <a:rPr lang="en-US" sz="1500" b="1" dirty="0">
                <a:solidFill>
                  <a:srgbClr val="55627E"/>
                </a:solidFill>
                <a:latin typeface="Segoe UI Semibold" pitchFamily="34" charset="0"/>
                <a:ea typeface="Segoe UI Semibold" pitchFamily="34" charset="-122"/>
                <a:cs typeface="Segoe UI Semibold" pitchFamily="34" charset="-120"/>
              </a:rPr>
              <a:t>db-solicitudes</a:t>
            </a:r>
            <a:endParaRPr lang="en-US" sz="1500" dirty="0"/>
          </a:p>
        </p:txBody>
      </p:sp>
      <p:sp>
        <p:nvSpPr>
          <p:cNvPr id="45" name="[p2] Forma"/>
          <p:cNvSpPr/>
          <p:nvPr/>
        </p:nvSpPr>
        <p:spPr>
          <a:xfrm>
            <a:off x="3255264" y="4678299"/>
            <a:ext cx="3489808"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PostgreSQL 17 · solicitud y evento</a:t>
            </a:r>
            <a:endParaRPr lang="en-US" sz="1200" dirty="0"/>
          </a:p>
        </p:txBody>
      </p:sp>
      <p:sp>
        <p:nvSpPr>
          <p:cNvPr id="46" name="[p2] Forma"/>
          <p:cNvSpPr/>
          <p:nvPr/>
        </p:nvSpPr>
        <p:spPr>
          <a:xfrm>
            <a:off x="7001104" y="4229100"/>
            <a:ext cx="4440784" cy="825246"/>
          </a:xfrm>
          <a:prstGeom prst="roundRect">
            <a:avLst>
              <a:gd name="adj" fmla="val 15512"/>
            </a:avLst>
          </a:prstGeom>
          <a:solidFill>
            <a:srgbClr val="FFFFFF"/>
          </a:solidFill>
          <a:ln w="12700">
            <a:solidFill>
              <a:srgbClr val="BBC0CB"/>
            </a:solidFill>
            <a:prstDash val="solid"/>
          </a:ln>
          <a:effectLst>
            <a:outerShdw sx="100000" sy="100000" kx="0" ky="0" algn="bl" rotWithShape="0" blurRad="76200" dist="19050" dir="5400000">
              <a:srgbClr val="0B1F3A">
                <a:alpha val="14000"/>
              </a:srgbClr>
            </a:outerShdw>
          </a:effectLst>
        </p:spPr>
      </p:sp>
      <p:sp>
        <p:nvSpPr>
          <p:cNvPr id="47" name="[p2] Forma"/>
          <p:cNvSpPr/>
          <p:nvPr/>
        </p:nvSpPr>
        <p:spPr>
          <a:xfrm>
            <a:off x="7147408" y="4358259"/>
            <a:ext cx="566928" cy="566928"/>
          </a:xfrm>
          <a:prstGeom prst="ellipse">
            <a:avLst/>
          </a:prstGeom>
          <a:solidFill>
            <a:srgbClr val="F4F7FB"/>
          </a:solidFill>
          <a:ln w="12700">
            <a:solidFill>
              <a:srgbClr val="F4F7FB"/>
            </a:solidFill>
            <a:prstDash val="solid"/>
          </a:ln>
        </p:spPr>
      </p:sp>
      <p:sp>
        <p:nvSpPr>
          <p:cNvPr id="48" name="[p2] Icono database"/>
          <p:cNvSpPr/>
          <p:nvPr/>
        </p:nvSpPr>
        <p:spPr>
          <a:xfrm>
            <a:off x="7283470" y="4494322"/>
            <a:ext cx="294803" cy="294803"/>
          </a:xfrm>
          <a:custGeom>
            <a:avLst/>
            <a:gdLst/>
            <a:ahLst/>
            <a:cxnLst/>
            <a:rect l="l" t="t" r="r" b="b"/>
            <a:pathLst>
              <a:path w="294803" h="294803">
                <a:moveTo>
                  <a:pt x="257952" y="61417"/>
                </a:moveTo>
                <a:cubicBezTo>
                  <a:pt x="257952" y="81769"/>
                  <a:pt x="208457" y="98268"/>
                  <a:pt x="147401" y="98268"/>
                </a:cubicBezTo>
                <a:cubicBezTo>
                  <a:pt x="86346" y="98268"/>
                  <a:pt x="36850" y="81769"/>
                  <a:pt x="36850" y="61417"/>
                </a:cubicBezTo>
                <a:cubicBezTo>
                  <a:pt x="36850" y="41065"/>
                  <a:pt x="86346" y="24567"/>
                  <a:pt x="147401" y="24567"/>
                </a:cubicBezTo>
                <a:cubicBezTo>
                  <a:pt x="208457" y="24567"/>
                  <a:pt x="257952" y="41065"/>
                  <a:pt x="257952" y="61417"/>
                </a:cubicBezTo>
                <a:close/>
                <a:moveTo>
                  <a:pt x="36850" y="61417"/>
                </a:moveTo>
                <a:lnTo>
                  <a:pt x="36850" y="233385"/>
                </a:lnTo>
                <a:cubicBezTo>
                  <a:pt x="36850" y="253737"/>
                  <a:pt x="86346" y="270236"/>
                  <a:pt x="147401" y="270236"/>
                </a:cubicBezTo>
                <a:cubicBezTo>
                  <a:pt x="208457" y="270236"/>
                  <a:pt x="257952" y="253737"/>
                  <a:pt x="257952" y="233385"/>
                </a:cubicBezTo>
                <a:lnTo>
                  <a:pt x="257952" y="61417"/>
                </a:lnTo>
                <a:moveTo>
                  <a:pt x="36850" y="147401"/>
                </a:moveTo>
                <a:cubicBezTo>
                  <a:pt x="36850" y="167753"/>
                  <a:pt x="86346" y="184252"/>
                  <a:pt x="147401" y="184252"/>
                </a:cubicBezTo>
                <a:cubicBezTo>
                  <a:pt x="208457" y="184252"/>
                  <a:pt x="257952" y="167753"/>
                  <a:pt x="257952" y="147401"/>
                </a:cubicBezTo>
              </a:path>
            </a:pathLst>
          </a:custGeom>
          <a:noFill/>
          <a:ln w="24567" cap="rnd">
            <a:solidFill>
              <a:srgbClr val="55627E"/>
            </a:solidFill>
            <a:prstDash val="solid"/>
            <a:round/>
          </a:ln>
        </p:spPr>
      </p:sp>
      <p:sp>
        <p:nvSpPr>
          <p:cNvPr id="49" name="[p2] Forma"/>
          <p:cNvSpPr/>
          <p:nvPr/>
        </p:nvSpPr>
        <p:spPr>
          <a:xfrm>
            <a:off x="7860640" y="4265676"/>
            <a:ext cx="3489808" cy="394335"/>
          </a:xfrm>
          <a:prstGeom prst="rect">
            <a:avLst/>
          </a:prstGeom>
          <a:noFill/>
          <a:ln/>
        </p:spPr>
        <p:txBody>
          <a:bodyPr wrap="square" lIns="0" tIns="0" rIns="0" bIns="0" rtlCol="0" anchor="b">
            <a:normAutofit/>
          </a:bodyPr>
          <a:lstStyle/>
          <a:p>
            <a:pPr algn="l" indent="0" marL="0">
              <a:buNone/>
            </a:pPr>
            <a:r>
              <a:rPr lang="en-US" sz="1500" b="1" dirty="0">
                <a:solidFill>
                  <a:srgbClr val="55627E"/>
                </a:solidFill>
                <a:latin typeface="Segoe UI Semibold" pitchFamily="34" charset="0"/>
                <a:ea typeface="Segoe UI Semibold" pitchFamily="34" charset="-122"/>
                <a:cs typeface="Segoe UI Semibold" pitchFamily="34" charset="-120"/>
              </a:rPr>
              <a:t>db-notificaciones</a:t>
            </a:r>
            <a:endParaRPr lang="en-US" sz="1500" dirty="0"/>
          </a:p>
        </p:txBody>
      </p:sp>
      <p:sp>
        <p:nvSpPr>
          <p:cNvPr id="50" name="[p2] Forma"/>
          <p:cNvSpPr/>
          <p:nvPr/>
        </p:nvSpPr>
        <p:spPr>
          <a:xfrm>
            <a:off x="7860640" y="4678299"/>
            <a:ext cx="3489808"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PostgreSQL 17 · evento_procesado</a:t>
            </a:r>
            <a:endParaRPr lang="en-US" sz="1200" dirty="0"/>
          </a:p>
        </p:txBody>
      </p:sp>
      <p:sp>
        <p:nvSpPr>
          <p:cNvPr id="51" name="[p3] Forma"/>
          <p:cNvSpPr/>
          <p:nvPr/>
        </p:nvSpPr>
        <p:spPr>
          <a:xfrm>
            <a:off x="1412748" y="5127498"/>
            <a:ext cx="0" cy="237744"/>
          </a:xfrm>
          <a:prstGeom prst="line">
            <a:avLst/>
          </a:prstGeom>
          <a:noFill/>
          <a:ln w="31750">
            <a:solidFill>
              <a:srgbClr val="0B2350"/>
            </a:solidFill>
            <a:prstDash val="solid"/>
            <a:tailEnd type="triangle"/>
          </a:ln>
        </p:spPr>
      </p:sp>
      <p:sp>
        <p:nvSpPr>
          <p:cNvPr id="52" name="[p3] Forma"/>
          <p:cNvSpPr/>
          <p:nvPr/>
        </p:nvSpPr>
        <p:spPr>
          <a:xfrm>
            <a:off x="612648" y="5346954"/>
            <a:ext cx="10966399" cy="1008126"/>
          </a:xfrm>
          <a:prstGeom prst="roundRect">
            <a:avLst>
              <a:gd name="adj" fmla="val 10884"/>
            </a:avLst>
          </a:prstGeom>
          <a:solidFill>
            <a:srgbClr val="E9F5EF"/>
          </a:solidFill>
          <a:ln w="12700">
            <a:solidFill>
              <a:srgbClr val="B6D1C8"/>
            </a:solidFill>
            <a:prstDash val="solid"/>
          </a:ln>
        </p:spPr>
      </p:sp>
      <p:sp>
        <p:nvSpPr>
          <p:cNvPr id="53" name="[p3] Forma"/>
          <p:cNvSpPr/>
          <p:nvPr/>
        </p:nvSpPr>
        <p:spPr>
          <a:xfrm>
            <a:off x="612648" y="5346954"/>
            <a:ext cx="1600200" cy="1008126"/>
          </a:xfrm>
          <a:prstGeom prst="roundRect">
            <a:avLst>
              <a:gd name="adj" fmla="val 10884"/>
            </a:avLst>
          </a:prstGeom>
          <a:solidFill>
            <a:srgbClr val="0A6648"/>
          </a:solidFill>
          <a:ln>
            <a:solidFill>
              <a:srgbClr val="0A6648"/>
            </a:solidFill>
          </a:ln>
        </p:spPr>
        <p:txBody>
          <a:bodyPr wrap="square" lIns="0" tIns="76200" rIns="76200" bIns="0" rtlCol="0" anchor="ctr"/>
          <a:lstStyle/>
          <a:p>
            <a:pPr algn="ctr" indent="0" marL="0">
              <a:buNone/>
            </a:pPr>
            <a:r>
              <a:rPr lang="en-US" sz="1300" b="1" spc="100" kern="0" dirty="0">
                <a:solidFill>
                  <a:srgbClr val="FFFFFF"/>
                </a:solidFill>
                <a:latin typeface="Segoe UI" pitchFamily="34" charset="0"/>
                <a:ea typeface="Segoe UI" pitchFamily="34" charset="-122"/>
                <a:cs typeface="Segoe UI" pitchFamily="34" charset="-120"/>
              </a:rPr>
              <a:t>PLATAFORMA</a:t>
            </a:r>
            <a:endParaRPr lang="en-US" sz="1300" dirty="0"/>
          </a:p>
        </p:txBody>
      </p:sp>
      <p:sp>
        <p:nvSpPr>
          <p:cNvPr id="54" name="[p3] Forma"/>
          <p:cNvSpPr/>
          <p:nvPr/>
        </p:nvSpPr>
        <p:spPr>
          <a:xfrm>
            <a:off x="2395728" y="5438394"/>
            <a:ext cx="2905658" cy="825246"/>
          </a:xfrm>
          <a:prstGeom prst="roundRect">
            <a:avLst>
              <a:gd name="adj" fmla="val 15512"/>
            </a:avLst>
          </a:prstGeom>
          <a:solidFill>
            <a:srgbClr val="FFFFFF"/>
          </a:solidFill>
          <a:ln w="12700">
            <a:solidFill>
              <a:srgbClr val="9DC2B6"/>
            </a:solidFill>
            <a:prstDash val="solid"/>
          </a:ln>
          <a:effectLst>
            <a:outerShdw sx="100000" sy="100000" kx="0" ky="0" algn="bl" rotWithShape="0" blurRad="76200" dist="19050" dir="5400000">
              <a:srgbClr val="0B1F3A">
                <a:alpha val="14000"/>
              </a:srgbClr>
            </a:outerShdw>
          </a:effectLst>
        </p:spPr>
      </p:sp>
      <p:sp>
        <p:nvSpPr>
          <p:cNvPr id="55" name="[p3] Forma"/>
          <p:cNvSpPr/>
          <p:nvPr/>
        </p:nvSpPr>
        <p:spPr>
          <a:xfrm>
            <a:off x="2542032" y="5567553"/>
            <a:ext cx="566928" cy="566928"/>
          </a:xfrm>
          <a:prstGeom prst="ellipse">
            <a:avLst/>
          </a:prstGeom>
          <a:solidFill>
            <a:srgbClr val="E1F1EA"/>
          </a:solidFill>
          <a:ln w="12700">
            <a:solidFill>
              <a:srgbClr val="E1F1EA"/>
            </a:solidFill>
            <a:prstDash val="solid"/>
          </a:ln>
        </p:spPr>
      </p:sp>
      <p:sp>
        <p:nvSpPr>
          <p:cNvPr id="56" name="[p3] Icono ship-wheel"/>
          <p:cNvSpPr/>
          <p:nvPr/>
        </p:nvSpPr>
        <p:spPr>
          <a:xfrm>
            <a:off x="2678095" y="5703616"/>
            <a:ext cx="294803" cy="294803"/>
          </a:xfrm>
          <a:custGeom>
            <a:avLst/>
            <a:gdLst/>
            <a:ahLst/>
            <a:cxnLst/>
            <a:rect l="l" t="t" r="r" b="b"/>
            <a:pathLst>
              <a:path w="294803" h="294803">
                <a:moveTo>
                  <a:pt x="245669" y="147401"/>
                </a:moveTo>
                <a:cubicBezTo>
                  <a:pt x="245669" y="201673"/>
                  <a:pt x="201673" y="245669"/>
                  <a:pt x="147401" y="245669"/>
                </a:cubicBezTo>
                <a:cubicBezTo>
                  <a:pt x="93130" y="245669"/>
                  <a:pt x="49134" y="201673"/>
                  <a:pt x="49134" y="147401"/>
                </a:cubicBezTo>
                <a:cubicBezTo>
                  <a:pt x="49134" y="93130"/>
                  <a:pt x="93130" y="49134"/>
                  <a:pt x="147401" y="49134"/>
                </a:cubicBezTo>
                <a:cubicBezTo>
                  <a:pt x="201673" y="49134"/>
                  <a:pt x="245669" y="93130"/>
                  <a:pt x="245669" y="147401"/>
                </a:cubicBezTo>
                <a:close/>
                <a:moveTo>
                  <a:pt x="147401" y="24567"/>
                </a:moveTo>
                <a:lnTo>
                  <a:pt x="147401" y="116693"/>
                </a:lnTo>
                <a:moveTo>
                  <a:pt x="233385" y="61417"/>
                </a:moveTo>
                <a:lnTo>
                  <a:pt x="169143" y="125660"/>
                </a:lnTo>
                <a:moveTo>
                  <a:pt x="270236" y="147401"/>
                </a:moveTo>
                <a:lnTo>
                  <a:pt x="178110" y="147401"/>
                </a:lnTo>
                <a:moveTo>
                  <a:pt x="233385" y="233385"/>
                </a:moveTo>
                <a:lnTo>
                  <a:pt x="169143" y="169143"/>
                </a:lnTo>
                <a:moveTo>
                  <a:pt x="147401" y="178110"/>
                </a:moveTo>
                <a:lnTo>
                  <a:pt x="147401" y="270236"/>
                </a:lnTo>
                <a:moveTo>
                  <a:pt x="125660" y="169143"/>
                </a:moveTo>
                <a:lnTo>
                  <a:pt x="61417" y="233385"/>
                </a:lnTo>
                <a:moveTo>
                  <a:pt x="116693" y="147401"/>
                </a:moveTo>
                <a:lnTo>
                  <a:pt x="24567" y="147401"/>
                </a:lnTo>
                <a:moveTo>
                  <a:pt x="125660" y="125660"/>
                </a:moveTo>
                <a:lnTo>
                  <a:pt x="61417" y="61417"/>
                </a:lnTo>
                <a:moveTo>
                  <a:pt x="178110" y="147401"/>
                </a:moveTo>
                <a:cubicBezTo>
                  <a:pt x="178110" y="164361"/>
                  <a:pt x="164361" y="178110"/>
                  <a:pt x="147401" y="178110"/>
                </a:cubicBezTo>
                <a:cubicBezTo>
                  <a:pt x="130441" y="178110"/>
                  <a:pt x="116693" y="164361"/>
                  <a:pt x="116693" y="147401"/>
                </a:cubicBezTo>
                <a:cubicBezTo>
                  <a:pt x="116693" y="130441"/>
                  <a:pt x="130441" y="116693"/>
                  <a:pt x="147401" y="116693"/>
                </a:cubicBezTo>
                <a:cubicBezTo>
                  <a:pt x="164361" y="116693"/>
                  <a:pt x="178110" y="130441"/>
                  <a:pt x="178110" y="147401"/>
                </a:cubicBezTo>
                <a:close/>
              </a:path>
            </a:pathLst>
          </a:custGeom>
          <a:noFill/>
          <a:ln w="24567" cap="rnd">
            <a:solidFill>
              <a:srgbClr val="0A6648"/>
            </a:solidFill>
            <a:prstDash val="solid"/>
            <a:round/>
          </a:ln>
        </p:spPr>
      </p:sp>
      <p:sp>
        <p:nvSpPr>
          <p:cNvPr id="57" name="[p3] Forma"/>
          <p:cNvSpPr/>
          <p:nvPr/>
        </p:nvSpPr>
        <p:spPr>
          <a:xfrm>
            <a:off x="3255264" y="5474970"/>
            <a:ext cx="1954682" cy="394335"/>
          </a:xfrm>
          <a:prstGeom prst="rect">
            <a:avLst/>
          </a:prstGeom>
          <a:noFill/>
          <a:ln/>
        </p:spPr>
        <p:txBody>
          <a:bodyPr wrap="square" lIns="0" tIns="0" rIns="0" bIns="0" rtlCol="0" anchor="b">
            <a:normAutofit/>
          </a:bodyPr>
          <a:lstStyle/>
          <a:p>
            <a:pPr algn="l" indent="0" marL="0">
              <a:buNone/>
            </a:pPr>
            <a:r>
              <a:rPr lang="en-US" sz="1300" b="1" dirty="0">
                <a:solidFill>
                  <a:srgbClr val="0A6648"/>
                </a:solidFill>
                <a:latin typeface="Segoe UI Semibold" pitchFamily="34" charset="0"/>
                <a:ea typeface="Segoe UI Semibold" pitchFamily="34" charset="-122"/>
                <a:cs typeface="Segoe UI Semibold" pitchFamily="34" charset="-120"/>
              </a:rPr>
              <a:t>Compose o Kubernetes</a:t>
            </a:r>
            <a:endParaRPr lang="en-US" sz="1300" dirty="0"/>
          </a:p>
        </p:txBody>
      </p:sp>
      <p:sp>
        <p:nvSpPr>
          <p:cNvPr id="58" name="[p3] Forma"/>
          <p:cNvSpPr/>
          <p:nvPr/>
        </p:nvSpPr>
        <p:spPr>
          <a:xfrm>
            <a:off x="3255264" y="5887593"/>
            <a:ext cx="1954682"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Dónde corre</a:t>
            </a:r>
            <a:endParaRPr lang="en-US" sz="1200" dirty="0"/>
          </a:p>
        </p:txBody>
      </p:sp>
      <p:sp>
        <p:nvSpPr>
          <p:cNvPr id="59" name="[p3] Forma"/>
          <p:cNvSpPr/>
          <p:nvPr/>
        </p:nvSpPr>
        <p:spPr>
          <a:xfrm>
            <a:off x="5465978" y="5438394"/>
            <a:ext cx="2905658" cy="825246"/>
          </a:xfrm>
          <a:prstGeom prst="roundRect">
            <a:avLst>
              <a:gd name="adj" fmla="val 15512"/>
            </a:avLst>
          </a:prstGeom>
          <a:solidFill>
            <a:srgbClr val="FFFFFF"/>
          </a:solidFill>
          <a:ln w="12700">
            <a:solidFill>
              <a:srgbClr val="9DC2B6"/>
            </a:solidFill>
            <a:prstDash val="solid"/>
          </a:ln>
          <a:effectLst>
            <a:outerShdw sx="100000" sy="100000" kx="0" ky="0" algn="bl" rotWithShape="0" blurRad="76200" dist="19050" dir="5400000">
              <a:srgbClr val="0B1F3A">
                <a:alpha val="14000"/>
              </a:srgbClr>
            </a:outerShdw>
          </a:effectLst>
        </p:spPr>
      </p:sp>
      <p:sp>
        <p:nvSpPr>
          <p:cNvPr id="60" name="[p3] Forma"/>
          <p:cNvSpPr/>
          <p:nvPr/>
        </p:nvSpPr>
        <p:spPr>
          <a:xfrm>
            <a:off x="5612282" y="5567553"/>
            <a:ext cx="566928" cy="566928"/>
          </a:xfrm>
          <a:prstGeom prst="ellipse">
            <a:avLst/>
          </a:prstGeom>
          <a:solidFill>
            <a:srgbClr val="E1F1EA"/>
          </a:solidFill>
          <a:ln w="12700">
            <a:solidFill>
              <a:srgbClr val="E1F1EA"/>
            </a:solidFill>
            <a:prstDash val="solid"/>
          </a:ln>
        </p:spPr>
      </p:sp>
      <p:sp>
        <p:nvSpPr>
          <p:cNvPr id="61" name="[p3] Icono workflow"/>
          <p:cNvSpPr/>
          <p:nvPr/>
        </p:nvSpPr>
        <p:spPr>
          <a:xfrm>
            <a:off x="5748345" y="5703616"/>
            <a:ext cx="294803" cy="294803"/>
          </a:xfrm>
          <a:custGeom>
            <a:avLst/>
            <a:gdLst/>
            <a:ahLst/>
            <a:cxnLst/>
            <a:rect l="l" t="t" r="r" b="b"/>
            <a:pathLst>
              <a:path w="294803" h="294803">
                <a:moveTo>
                  <a:pt x="61417" y="36850"/>
                </a:moveTo>
                <a:lnTo>
                  <a:pt x="110551" y="36850"/>
                </a:lnTo>
                <a:cubicBezTo>
                  <a:pt x="124119" y="36850"/>
                  <a:pt x="135118" y="47849"/>
                  <a:pt x="135118" y="61417"/>
                </a:cubicBezTo>
                <a:lnTo>
                  <a:pt x="135118" y="110551"/>
                </a:lnTo>
                <a:cubicBezTo>
                  <a:pt x="135118" y="124119"/>
                  <a:pt x="124119" y="135118"/>
                  <a:pt x="110551" y="135118"/>
                </a:cubicBezTo>
                <a:lnTo>
                  <a:pt x="61417" y="135118"/>
                </a:lnTo>
                <a:cubicBezTo>
                  <a:pt x="47849" y="135118"/>
                  <a:pt x="36850" y="124119"/>
                  <a:pt x="36850" y="110551"/>
                </a:cubicBezTo>
                <a:lnTo>
                  <a:pt x="36850" y="61417"/>
                </a:lnTo>
                <a:cubicBezTo>
                  <a:pt x="36850" y="47849"/>
                  <a:pt x="47849" y="36850"/>
                  <a:pt x="61417" y="36850"/>
                </a:cubicBezTo>
                <a:close/>
                <a:moveTo>
                  <a:pt x="85984" y="135118"/>
                </a:moveTo>
                <a:lnTo>
                  <a:pt x="85984" y="184252"/>
                </a:lnTo>
                <a:cubicBezTo>
                  <a:pt x="85984" y="197820"/>
                  <a:pt x="96983" y="208818"/>
                  <a:pt x="110551" y="208818"/>
                </a:cubicBezTo>
                <a:lnTo>
                  <a:pt x="159685" y="208818"/>
                </a:lnTo>
                <a:moveTo>
                  <a:pt x="184252" y="159685"/>
                </a:moveTo>
                <a:lnTo>
                  <a:pt x="233385" y="159685"/>
                </a:lnTo>
                <a:cubicBezTo>
                  <a:pt x="246953" y="159685"/>
                  <a:pt x="257952" y="170684"/>
                  <a:pt x="257952" y="184252"/>
                </a:cubicBezTo>
                <a:lnTo>
                  <a:pt x="257952" y="233385"/>
                </a:lnTo>
                <a:cubicBezTo>
                  <a:pt x="257952" y="246953"/>
                  <a:pt x="246953" y="257952"/>
                  <a:pt x="233385" y="257952"/>
                </a:cubicBezTo>
                <a:lnTo>
                  <a:pt x="184252" y="257952"/>
                </a:lnTo>
                <a:cubicBezTo>
                  <a:pt x="170684" y="257952"/>
                  <a:pt x="159685" y="246953"/>
                  <a:pt x="159685" y="233385"/>
                </a:cubicBezTo>
                <a:lnTo>
                  <a:pt x="159685" y="184252"/>
                </a:lnTo>
                <a:cubicBezTo>
                  <a:pt x="159685" y="170684"/>
                  <a:pt x="170684" y="159685"/>
                  <a:pt x="184252" y="159685"/>
                </a:cubicBezTo>
                <a:close/>
              </a:path>
            </a:pathLst>
          </a:custGeom>
          <a:noFill/>
          <a:ln w="24567" cap="rnd">
            <a:solidFill>
              <a:srgbClr val="0A6648"/>
            </a:solidFill>
            <a:prstDash val="solid"/>
            <a:round/>
          </a:ln>
        </p:spPr>
      </p:sp>
      <p:sp>
        <p:nvSpPr>
          <p:cNvPr id="62" name="[p3] Forma"/>
          <p:cNvSpPr/>
          <p:nvPr/>
        </p:nvSpPr>
        <p:spPr>
          <a:xfrm>
            <a:off x="6325514" y="5474970"/>
            <a:ext cx="1954682" cy="394335"/>
          </a:xfrm>
          <a:prstGeom prst="rect">
            <a:avLst/>
          </a:prstGeom>
          <a:noFill/>
          <a:ln/>
        </p:spPr>
        <p:txBody>
          <a:bodyPr wrap="square" lIns="0" tIns="0" rIns="0" bIns="0" rtlCol="0" anchor="b">
            <a:normAutofit/>
          </a:bodyPr>
          <a:lstStyle/>
          <a:p>
            <a:pPr algn="l" indent="0" marL="0">
              <a:buNone/>
            </a:pPr>
            <a:r>
              <a:rPr lang="en-US" sz="1500" b="1" dirty="0">
                <a:solidFill>
                  <a:srgbClr val="0A6648"/>
                </a:solidFill>
                <a:latin typeface="Segoe UI Semibold" pitchFamily="34" charset="0"/>
                <a:ea typeface="Segoe UI Semibold" pitchFamily="34" charset="-122"/>
                <a:cs typeface="Segoe UI Semibold" pitchFamily="34" charset="-120"/>
              </a:rPr>
              <a:t>GitHub Actions</a:t>
            </a:r>
            <a:endParaRPr lang="en-US" sz="1500" dirty="0"/>
          </a:p>
        </p:txBody>
      </p:sp>
      <p:sp>
        <p:nvSpPr>
          <p:cNvPr id="63" name="[p3] Forma"/>
          <p:cNvSpPr/>
          <p:nvPr/>
        </p:nvSpPr>
        <p:spPr>
          <a:xfrm>
            <a:off x="6325514" y="5887593"/>
            <a:ext cx="1954682"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Prueba y publica</a:t>
            </a:r>
            <a:endParaRPr lang="en-US" sz="1200" dirty="0"/>
          </a:p>
        </p:txBody>
      </p:sp>
      <p:sp>
        <p:nvSpPr>
          <p:cNvPr id="64" name="[p3] Forma"/>
          <p:cNvSpPr/>
          <p:nvPr/>
        </p:nvSpPr>
        <p:spPr>
          <a:xfrm>
            <a:off x="8536229" y="5438394"/>
            <a:ext cx="2905658" cy="825246"/>
          </a:xfrm>
          <a:prstGeom prst="roundRect">
            <a:avLst>
              <a:gd name="adj" fmla="val 15512"/>
            </a:avLst>
          </a:prstGeom>
          <a:solidFill>
            <a:srgbClr val="FFFFFF"/>
          </a:solidFill>
          <a:ln w="12700">
            <a:solidFill>
              <a:srgbClr val="D0B79B"/>
            </a:solidFill>
            <a:prstDash val="solid"/>
          </a:ln>
          <a:effectLst>
            <a:outerShdw sx="100000" sy="100000" kx="0" ky="0" algn="bl" rotWithShape="0" blurRad="76200" dist="19050" dir="5400000">
              <a:srgbClr val="0B1F3A">
                <a:alpha val="14000"/>
              </a:srgbClr>
            </a:outerShdw>
          </a:effectLst>
        </p:spPr>
      </p:sp>
      <p:sp>
        <p:nvSpPr>
          <p:cNvPr id="65" name="[p3] Forma"/>
          <p:cNvSpPr/>
          <p:nvPr/>
        </p:nvSpPr>
        <p:spPr>
          <a:xfrm>
            <a:off x="8682533" y="5567553"/>
            <a:ext cx="566928" cy="566928"/>
          </a:xfrm>
          <a:prstGeom prst="ellipse">
            <a:avLst/>
          </a:prstGeom>
          <a:solidFill>
            <a:srgbClr val="FCEFD6"/>
          </a:solidFill>
          <a:ln w="12700">
            <a:solidFill>
              <a:srgbClr val="FCEFD6"/>
            </a:solidFill>
            <a:prstDash val="solid"/>
          </a:ln>
        </p:spPr>
      </p:sp>
      <p:sp>
        <p:nvSpPr>
          <p:cNvPr id="66" name="[p3] Icono chart-line"/>
          <p:cNvSpPr/>
          <p:nvPr/>
        </p:nvSpPr>
        <p:spPr>
          <a:xfrm>
            <a:off x="8818596" y="5703616"/>
            <a:ext cx="294803" cy="294803"/>
          </a:xfrm>
          <a:custGeom>
            <a:avLst/>
            <a:gdLst/>
            <a:ahLst/>
            <a:cxnLst/>
            <a:rect l="l" t="t" r="r" b="b"/>
            <a:pathLst>
              <a:path w="294803" h="294803">
                <a:moveTo>
                  <a:pt x="36850" y="36850"/>
                </a:moveTo>
                <a:lnTo>
                  <a:pt x="36850" y="233385"/>
                </a:lnTo>
                <a:cubicBezTo>
                  <a:pt x="36850" y="246953"/>
                  <a:pt x="47849" y="257952"/>
                  <a:pt x="61417" y="257952"/>
                </a:cubicBezTo>
                <a:lnTo>
                  <a:pt x="257952" y="257952"/>
                </a:lnTo>
                <a:moveTo>
                  <a:pt x="233385" y="110551"/>
                </a:moveTo>
                <a:lnTo>
                  <a:pt x="171968" y="171968"/>
                </a:lnTo>
                <a:lnTo>
                  <a:pt x="122834" y="122834"/>
                </a:lnTo>
                <a:lnTo>
                  <a:pt x="85984" y="159685"/>
                </a:lnTo>
              </a:path>
            </a:pathLst>
          </a:custGeom>
          <a:noFill/>
          <a:ln w="24567" cap="rnd">
            <a:solidFill>
              <a:srgbClr val="8A4B06"/>
            </a:solidFill>
            <a:prstDash val="solid"/>
            <a:round/>
          </a:ln>
        </p:spPr>
      </p:sp>
      <p:sp>
        <p:nvSpPr>
          <p:cNvPr id="67" name="[p3] Forma"/>
          <p:cNvSpPr/>
          <p:nvPr/>
        </p:nvSpPr>
        <p:spPr>
          <a:xfrm>
            <a:off x="9395765" y="5474970"/>
            <a:ext cx="1954682" cy="394335"/>
          </a:xfrm>
          <a:prstGeom prst="rect">
            <a:avLst/>
          </a:prstGeom>
          <a:noFill/>
          <a:ln/>
        </p:spPr>
        <p:txBody>
          <a:bodyPr wrap="square" lIns="0" tIns="0" rIns="0" bIns="0" rtlCol="0" anchor="b">
            <a:normAutofit/>
          </a:bodyPr>
          <a:lstStyle/>
          <a:p>
            <a:pPr algn="l" indent="0" marL="0">
              <a:buNone/>
            </a:pPr>
            <a:r>
              <a:rPr lang="en-US" sz="1500" b="1" dirty="0">
                <a:solidFill>
                  <a:srgbClr val="8A4B06"/>
                </a:solidFill>
                <a:latin typeface="Segoe UI Semibold" pitchFamily="34" charset="0"/>
                <a:ea typeface="Segoe UI Semibold" pitchFamily="34" charset="-122"/>
                <a:cs typeface="Segoe UI Semibold" pitchFamily="34" charset="-120"/>
              </a:rPr>
              <a:t>Loki y Grafana</a:t>
            </a:r>
            <a:endParaRPr lang="en-US" sz="1500" dirty="0"/>
          </a:p>
        </p:txBody>
      </p:sp>
      <p:sp>
        <p:nvSpPr>
          <p:cNvPr id="68" name="[p3] Forma"/>
          <p:cNvSpPr/>
          <p:nvPr/>
        </p:nvSpPr>
        <p:spPr>
          <a:xfrm>
            <a:off x="9395765" y="5887593"/>
            <a:ext cx="1954682"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Logs en un solo lugar</a:t>
            </a:r>
            <a:endParaRPr lang="en-US" sz="1200" dirty="0"/>
          </a:p>
        </p:txBody>
      </p:sp>
      <p:sp>
        <p:nvSpPr>
          <p:cNvPr id="69" name="Text 6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ARQUITECTURA</a:t>
            </a:r>
            <a:endParaRPr lang="en-US" sz="800" dirty="0"/>
          </a:p>
        </p:txBody>
      </p:sp>
      <p:sp>
        <p:nvSpPr>
          <p:cNvPr id="70"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2" fill="hold">
                      <p:stCondLst>
                        <p:cond delay="indefinite"/>
                      </p:stCondLst>
                      <p:childTnLst>
                        <p:par>
                          <p:cTn id="43"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5"/>
                                        </p:tgtEl>
                                        <p:attrNameLst>
                                          <p:attrName>style.visibility</p:attrName>
                                        </p:attrNameLst>
                                      </p:cBhvr>
                                      <p:to>
                                        <p:strVal val="visible"/>
                                      </p:to>
                                    </p:set>
                                    <p:animEffect transition="in" filter="fade">
                                      <p:cBhvr>
                                        <p:cTn id="5" dur="400"/>
                                        <p:tgtEl>
                                          <p:spTgt spid="2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6"/>
                                        </p:tgtEl>
                                        <p:attrNameLst>
                                          <p:attrName>style.visibility</p:attrName>
                                        </p:attrNameLst>
                                      </p:cBhvr>
                                      <p:to>
                                        <p:strVal val="visible"/>
                                      </p:to>
                                    </p:set>
                                    <p:animEffect transition="in" filter="fade">
                                      <p:cBhvr>
                                        <p:cTn id="8" dur="400"/>
                                        <p:tgtEl>
                                          <p:spTgt spid="2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fade">
                                      <p:cBhvr>
                                        <p:cTn id="11" dur="400"/>
                                        <p:tgtEl>
                                          <p:spTgt spid="2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8"/>
                                        </p:tgtEl>
                                        <p:attrNameLst>
                                          <p:attrName>style.visibility</p:attrName>
                                        </p:attrNameLst>
                                      </p:cBhvr>
                                      <p:to>
                                        <p:strVal val="visible"/>
                                      </p:to>
                                    </p:set>
                                    <p:animEffect transition="in" filter="fade">
                                      <p:cBhvr>
                                        <p:cTn id="14" dur="400"/>
                                        <p:tgtEl>
                                          <p:spTgt spid="2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0"/>
                                        </p:tgtEl>
                                        <p:attrNameLst>
                                          <p:attrName>style.visibility</p:attrName>
                                        </p:attrNameLst>
                                      </p:cBhvr>
                                      <p:to>
                                        <p:strVal val="visible"/>
                                      </p:to>
                                    </p:set>
                                    <p:animEffect transition="in" filter="fade">
                                      <p:cBhvr>
                                        <p:cTn id="20" dur="400"/>
                                        <p:tgtEl>
                                          <p:spTgt spid="3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1"/>
                                        </p:tgtEl>
                                        <p:attrNameLst>
                                          <p:attrName>style.visibility</p:attrName>
                                        </p:attrNameLst>
                                      </p:cBhvr>
                                      <p:to>
                                        <p:strVal val="visible"/>
                                      </p:to>
                                    </p:set>
                                    <p:animEffect transition="in" filter="fade">
                                      <p:cBhvr>
                                        <p:cTn id="23" dur="400"/>
                                        <p:tgtEl>
                                          <p:spTgt spid="3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2"/>
                                        </p:tgtEl>
                                        <p:attrNameLst>
                                          <p:attrName>style.visibility</p:attrName>
                                        </p:attrNameLst>
                                      </p:cBhvr>
                                      <p:to>
                                        <p:strVal val="visible"/>
                                      </p:to>
                                    </p:set>
                                    <p:animEffect transition="in" filter="fade">
                                      <p:cBhvr>
                                        <p:cTn id="26" dur="400"/>
                                        <p:tgtEl>
                                          <p:spTgt spid="3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3"/>
                                        </p:tgtEl>
                                        <p:attrNameLst>
                                          <p:attrName>style.visibility</p:attrName>
                                        </p:attrNameLst>
                                      </p:cBhvr>
                                      <p:to>
                                        <p:strVal val="visible"/>
                                      </p:to>
                                    </p:set>
                                    <p:animEffect transition="in" filter="fade">
                                      <p:cBhvr>
                                        <p:cTn id="29" dur="400"/>
                                        <p:tgtEl>
                                          <p:spTgt spid="3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4"/>
                                        </p:tgtEl>
                                        <p:attrNameLst>
                                          <p:attrName>style.visibility</p:attrName>
                                        </p:attrNameLst>
                                      </p:cBhvr>
                                      <p:to>
                                        <p:strVal val="visible"/>
                                      </p:to>
                                    </p:set>
                                    <p:animEffect transition="in" filter="fade">
                                      <p:cBhvr>
                                        <p:cTn id="32" dur="400"/>
                                        <p:tgtEl>
                                          <p:spTgt spid="3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5"/>
                                        </p:tgtEl>
                                        <p:attrNameLst>
                                          <p:attrName>style.visibility</p:attrName>
                                        </p:attrNameLst>
                                      </p:cBhvr>
                                      <p:to>
                                        <p:strVal val="visible"/>
                                      </p:to>
                                    </p:set>
                                    <p:animEffect transition="in" filter="fade">
                                      <p:cBhvr>
                                        <p:cTn id="35" dur="400"/>
                                        <p:tgtEl>
                                          <p:spTgt spid="3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6"/>
                                        </p:tgtEl>
                                        <p:attrNameLst>
                                          <p:attrName>style.visibility</p:attrName>
                                        </p:attrNameLst>
                                      </p:cBhvr>
                                      <p:to>
                                        <p:strVal val="visible"/>
                                      </p:to>
                                    </p:set>
                                    <p:animEffect transition="in" filter="fade">
                                      <p:cBhvr>
                                        <p:cTn id="38" dur="400"/>
                                        <p:tgtEl>
                                          <p:spTgt spid="36"/>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animEffect transition="in" filter="fade">
                                      <p:cBhvr>
                                        <p:cTn id="41" dur="400"/>
                                        <p:tgtEl>
                                          <p:spTgt spid="37"/>
                                        </p:tgtEl>
                                      </p:cBhvr>
                                    </p:animEffect>
                                  </p:childTnLst>
                                </p:cTn>
                              </p:par>
                            </p:childTnLst>
                          </p:cTn>
                        </p:par>
                      </p:childTnLst>
                    </p:cTn>
                  </p:par>
                  <p:par>
                    <p:cTn id="83" fill="hold">
                      <p:stCondLst>
                        <p:cond delay="indefinite"/>
                      </p:stCondLst>
                      <p:childTnLst>
                        <p:par>
                          <p:cTn id="84"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38"/>
                                        </p:tgtEl>
                                        <p:attrNameLst>
                                          <p:attrName>style.visibility</p:attrName>
                                        </p:attrNameLst>
                                      </p:cBhvr>
                                      <p:to>
                                        <p:strVal val="visible"/>
                                      </p:to>
                                    </p:set>
                                    <p:animEffect transition="in" filter="fade">
                                      <p:cBhvr>
                                        <p:cTn id="46" dur="400"/>
                                        <p:tgtEl>
                                          <p:spTgt spid="3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9"/>
                                        </p:tgtEl>
                                        <p:attrNameLst>
                                          <p:attrName>style.visibility</p:attrName>
                                        </p:attrNameLst>
                                      </p:cBhvr>
                                      <p:to>
                                        <p:strVal val="visible"/>
                                      </p:to>
                                    </p:set>
                                    <p:animEffect transition="in" filter="fade">
                                      <p:cBhvr>
                                        <p:cTn id="49" dur="400"/>
                                        <p:tgtEl>
                                          <p:spTgt spid="3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40"/>
                                        </p:tgtEl>
                                        <p:attrNameLst>
                                          <p:attrName>style.visibility</p:attrName>
                                        </p:attrNameLst>
                                      </p:cBhvr>
                                      <p:to>
                                        <p:strVal val="visible"/>
                                      </p:to>
                                    </p:set>
                                    <p:animEffect transition="in" filter="fade">
                                      <p:cBhvr>
                                        <p:cTn id="52" dur="400"/>
                                        <p:tgtEl>
                                          <p:spTgt spid="4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1"/>
                                        </p:tgtEl>
                                        <p:attrNameLst>
                                          <p:attrName>style.visibility</p:attrName>
                                        </p:attrNameLst>
                                      </p:cBhvr>
                                      <p:to>
                                        <p:strVal val="visible"/>
                                      </p:to>
                                    </p:set>
                                    <p:animEffect transition="in" filter="fade">
                                      <p:cBhvr>
                                        <p:cTn id="55" dur="400"/>
                                        <p:tgtEl>
                                          <p:spTgt spid="4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42"/>
                                        </p:tgtEl>
                                        <p:attrNameLst>
                                          <p:attrName>style.visibility</p:attrName>
                                        </p:attrNameLst>
                                      </p:cBhvr>
                                      <p:to>
                                        <p:strVal val="visible"/>
                                      </p:to>
                                    </p:set>
                                    <p:animEffect transition="in" filter="fade">
                                      <p:cBhvr>
                                        <p:cTn id="58" dur="400"/>
                                        <p:tgtEl>
                                          <p:spTgt spid="4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43"/>
                                        </p:tgtEl>
                                        <p:attrNameLst>
                                          <p:attrName>style.visibility</p:attrName>
                                        </p:attrNameLst>
                                      </p:cBhvr>
                                      <p:to>
                                        <p:strVal val="visible"/>
                                      </p:to>
                                    </p:set>
                                    <p:animEffect transition="in" filter="fade">
                                      <p:cBhvr>
                                        <p:cTn id="61" dur="400"/>
                                        <p:tgtEl>
                                          <p:spTgt spid="43"/>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44"/>
                                        </p:tgtEl>
                                        <p:attrNameLst>
                                          <p:attrName>style.visibility</p:attrName>
                                        </p:attrNameLst>
                                      </p:cBhvr>
                                      <p:to>
                                        <p:strVal val="visible"/>
                                      </p:to>
                                    </p:set>
                                    <p:animEffect transition="in" filter="fade">
                                      <p:cBhvr>
                                        <p:cTn id="64" dur="400"/>
                                        <p:tgtEl>
                                          <p:spTgt spid="44"/>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45"/>
                                        </p:tgtEl>
                                        <p:attrNameLst>
                                          <p:attrName>style.visibility</p:attrName>
                                        </p:attrNameLst>
                                      </p:cBhvr>
                                      <p:to>
                                        <p:strVal val="visible"/>
                                      </p:to>
                                    </p:set>
                                    <p:animEffect transition="in" filter="fade">
                                      <p:cBhvr>
                                        <p:cTn id="67" dur="400"/>
                                        <p:tgtEl>
                                          <p:spTgt spid="45"/>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46"/>
                                        </p:tgtEl>
                                        <p:attrNameLst>
                                          <p:attrName>style.visibility</p:attrName>
                                        </p:attrNameLst>
                                      </p:cBhvr>
                                      <p:to>
                                        <p:strVal val="visible"/>
                                      </p:to>
                                    </p:set>
                                    <p:animEffect transition="in" filter="fade">
                                      <p:cBhvr>
                                        <p:cTn id="70" dur="400"/>
                                        <p:tgtEl>
                                          <p:spTgt spid="46"/>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47"/>
                                        </p:tgtEl>
                                        <p:attrNameLst>
                                          <p:attrName>style.visibility</p:attrName>
                                        </p:attrNameLst>
                                      </p:cBhvr>
                                      <p:to>
                                        <p:strVal val="visible"/>
                                      </p:to>
                                    </p:set>
                                    <p:animEffect transition="in" filter="fade">
                                      <p:cBhvr>
                                        <p:cTn id="73" dur="400"/>
                                        <p:tgtEl>
                                          <p:spTgt spid="47"/>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48"/>
                                        </p:tgtEl>
                                        <p:attrNameLst>
                                          <p:attrName>style.visibility</p:attrName>
                                        </p:attrNameLst>
                                      </p:cBhvr>
                                      <p:to>
                                        <p:strVal val="visible"/>
                                      </p:to>
                                    </p:set>
                                    <p:animEffect transition="in" filter="fade">
                                      <p:cBhvr>
                                        <p:cTn id="76" dur="400"/>
                                        <p:tgtEl>
                                          <p:spTgt spid="48"/>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49"/>
                                        </p:tgtEl>
                                        <p:attrNameLst>
                                          <p:attrName>style.visibility</p:attrName>
                                        </p:attrNameLst>
                                      </p:cBhvr>
                                      <p:to>
                                        <p:strVal val="visible"/>
                                      </p:to>
                                    </p:set>
                                    <p:animEffect transition="in" filter="fade">
                                      <p:cBhvr>
                                        <p:cTn id="79" dur="400"/>
                                        <p:tgtEl>
                                          <p:spTgt spid="49"/>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50"/>
                                        </p:tgtEl>
                                        <p:attrNameLst>
                                          <p:attrName>style.visibility</p:attrName>
                                        </p:attrNameLst>
                                      </p:cBhvr>
                                      <p:to>
                                        <p:strVal val="visible"/>
                                      </p:to>
                                    </p:set>
                                    <p:animEffect transition="in" filter="fade">
                                      <p:cBhvr>
                                        <p:cTn id="82" dur="400"/>
                                        <p:tgtEl>
                                          <p:spTgt spid="50"/>
                                        </p:tgtEl>
                                      </p:cBhvr>
                                    </p:animEffect>
                                  </p:childTnLst>
                                </p:cTn>
                              </p:par>
                            </p:childTnLst>
                          </p:cTn>
                        </p:par>
                      </p:childTnLst>
                    </p:cTn>
                  </p:par>
                  <p:par>
                    <p:cTn id="139" fill="hold">
                      <p:stCondLst>
                        <p:cond delay="indefinite"/>
                      </p:stCondLst>
                      <p:childTnLst>
                        <p:par>
                          <p:cTn id="140"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51"/>
                                        </p:tgtEl>
                                        <p:attrNameLst>
                                          <p:attrName>style.visibility</p:attrName>
                                        </p:attrNameLst>
                                      </p:cBhvr>
                                      <p:to>
                                        <p:strVal val="visible"/>
                                      </p:to>
                                    </p:set>
                                    <p:animEffect transition="in" filter="fade">
                                      <p:cBhvr>
                                        <p:cTn id="87" dur="400"/>
                                        <p:tgtEl>
                                          <p:spTgt spid="51"/>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52"/>
                                        </p:tgtEl>
                                        <p:attrNameLst>
                                          <p:attrName>style.visibility</p:attrName>
                                        </p:attrNameLst>
                                      </p:cBhvr>
                                      <p:to>
                                        <p:strVal val="visible"/>
                                      </p:to>
                                    </p:set>
                                    <p:animEffect transition="in" filter="fade">
                                      <p:cBhvr>
                                        <p:cTn id="90" dur="400"/>
                                        <p:tgtEl>
                                          <p:spTgt spid="52"/>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53"/>
                                        </p:tgtEl>
                                        <p:attrNameLst>
                                          <p:attrName>style.visibility</p:attrName>
                                        </p:attrNameLst>
                                      </p:cBhvr>
                                      <p:to>
                                        <p:strVal val="visible"/>
                                      </p:to>
                                    </p:set>
                                    <p:animEffect transition="in" filter="fade">
                                      <p:cBhvr>
                                        <p:cTn id="93" dur="400"/>
                                        <p:tgtEl>
                                          <p:spTgt spid="53"/>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54"/>
                                        </p:tgtEl>
                                        <p:attrNameLst>
                                          <p:attrName>style.visibility</p:attrName>
                                        </p:attrNameLst>
                                      </p:cBhvr>
                                      <p:to>
                                        <p:strVal val="visible"/>
                                      </p:to>
                                    </p:set>
                                    <p:animEffect transition="in" filter="fade">
                                      <p:cBhvr>
                                        <p:cTn id="96" dur="400"/>
                                        <p:tgtEl>
                                          <p:spTgt spid="54"/>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55"/>
                                        </p:tgtEl>
                                        <p:attrNameLst>
                                          <p:attrName>style.visibility</p:attrName>
                                        </p:attrNameLst>
                                      </p:cBhvr>
                                      <p:to>
                                        <p:strVal val="visible"/>
                                      </p:to>
                                    </p:set>
                                    <p:animEffect transition="in" filter="fade">
                                      <p:cBhvr>
                                        <p:cTn id="99" dur="400"/>
                                        <p:tgtEl>
                                          <p:spTgt spid="55"/>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56"/>
                                        </p:tgtEl>
                                        <p:attrNameLst>
                                          <p:attrName>style.visibility</p:attrName>
                                        </p:attrNameLst>
                                      </p:cBhvr>
                                      <p:to>
                                        <p:strVal val="visible"/>
                                      </p:to>
                                    </p:set>
                                    <p:animEffect transition="in" filter="fade">
                                      <p:cBhvr>
                                        <p:cTn id="102" dur="400"/>
                                        <p:tgtEl>
                                          <p:spTgt spid="56"/>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57"/>
                                        </p:tgtEl>
                                        <p:attrNameLst>
                                          <p:attrName>style.visibility</p:attrName>
                                        </p:attrNameLst>
                                      </p:cBhvr>
                                      <p:to>
                                        <p:strVal val="visible"/>
                                      </p:to>
                                    </p:set>
                                    <p:animEffect transition="in" filter="fade">
                                      <p:cBhvr>
                                        <p:cTn id="105" dur="400"/>
                                        <p:tgtEl>
                                          <p:spTgt spid="57"/>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58"/>
                                        </p:tgtEl>
                                        <p:attrNameLst>
                                          <p:attrName>style.visibility</p:attrName>
                                        </p:attrNameLst>
                                      </p:cBhvr>
                                      <p:to>
                                        <p:strVal val="visible"/>
                                      </p:to>
                                    </p:set>
                                    <p:animEffect transition="in" filter="fade">
                                      <p:cBhvr>
                                        <p:cTn id="108" dur="400"/>
                                        <p:tgtEl>
                                          <p:spTgt spid="58"/>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59"/>
                                        </p:tgtEl>
                                        <p:attrNameLst>
                                          <p:attrName>style.visibility</p:attrName>
                                        </p:attrNameLst>
                                      </p:cBhvr>
                                      <p:to>
                                        <p:strVal val="visible"/>
                                      </p:to>
                                    </p:set>
                                    <p:animEffect transition="in" filter="fade">
                                      <p:cBhvr>
                                        <p:cTn id="111" dur="400"/>
                                        <p:tgtEl>
                                          <p:spTgt spid="59"/>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60"/>
                                        </p:tgtEl>
                                        <p:attrNameLst>
                                          <p:attrName>style.visibility</p:attrName>
                                        </p:attrNameLst>
                                      </p:cBhvr>
                                      <p:to>
                                        <p:strVal val="visible"/>
                                      </p:to>
                                    </p:set>
                                    <p:animEffect transition="in" filter="fade">
                                      <p:cBhvr>
                                        <p:cTn id="114" dur="400"/>
                                        <p:tgtEl>
                                          <p:spTgt spid="60"/>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61"/>
                                        </p:tgtEl>
                                        <p:attrNameLst>
                                          <p:attrName>style.visibility</p:attrName>
                                        </p:attrNameLst>
                                      </p:cBhvr>
                                      <p:to>
                                        <p:strVal val="visible"/>
                                      </p:to>
                                    </p:set>
                                    <p:animEffect transition="in" filter="fade">
                                      <p:cBhvr>
                                        <p:cTn id="117" dur="400"/>
                                        <p:tgtEl>
                                          <p:spTgt spid="61"/>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62"/>
                                        </p:tgtEl>
                                        <p:attrNameLst>
                                          <p:attrName>style.visibility</p:attrName>
                                        </p:attrNameLst>
                                      </p:cBhvr>
                                      <p:to>
                                        <p:strVal val="visible"/>
                                      </p:to>
                                    </p:set>
                                    <p:animEffect transition="in" filter="fade">
                                      <p:cBhvr>
                                        <p:cTn id="120" dur="400"/>
                                        <p:tgtEl>
                                          <p:spTgt spid="62"/>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63"/>
                                        </p:tgtEl>
                                        <p:attrNameLst>
                                          <p:attrName>style.visibility</p:attrName>
                                        </p:attrNameLst>
                                      </p:cBhvr>
                                      <p:to>
                                        <p:strVal val="visible"/>
                                      </p:to>
                                    </p:set>
                                    <p:animEffect transition="in" filter="fade">
                                      <p:cBhvr>
                                        <p:cTn id="123" dur="400"/>
                                        <p:tgtEl>
                                          <p:spTgt spid="63"/>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64"/>
                                        </p:tgtEl>
                                        <p:attrNameLst>
                                          <p:attrName>style.visibility</p:attrName>
                                        </p:attrNameLst>
                                      </p:cBhvr>
                                      <p:to>
                                        <p:strVal val="visible"/>
                                      </p:to>
                                    </p:set>
                                    <p:animEffect transition="in" filter="fade">
                                      <p:cBhvr>
                                        <p:cTn id="126" dur="400"/>
                                        <p:tgtEl>
                                          <p:spTgt spid="64"/>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65"/>
                                        </p:tgtEl>
                                        <p:attrNameLst>
                                          <p:attrName>style.visibility</p:attrName>
                                        </p:attrNameLst>
                                      </p:cBhvr>
                                      <p:to>
                                        <p:strVal val="visible"/>
                                      </p:to>
                                    </p:set>
                                    <p:animEffect transition="in" filter="fade">
                                      <p:cBhvr>
                                        <p:cTn id="129" dur="400"/>
                                        <p:tgtEl>
                                          <p:spTgt spid="65"/>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66"/>
                                        </p:tgtEl>
                                        <p:attrNameLst>
                                          <p:attrName>style.visibility</p:attrName>
                                        </p:attrNameLst>
                                      </p:cBhvr>
                                      <p:to>
                                        <p:strVal val="visible"/>
                                      </p:to>
                                    </p:set>
                                    <p:animEffect transition="in" filter="fade">
                                      <p:cBhvr>
                                        <p:cTn id="132" dur="400"/>
                                        <p:tgtEl>
                                          <p:spTgt spid="66"/>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67"/>
                                        </p:tgtEl>
                                        <p:attrNameLst>
                                          <p:attrName>style.visibility</p:attrName>
                                        </p:attrNameLst>
                                      </p:cBhvr>
                                      <p:to>
                                        <p:strVal val="visible"/>
                                      </p:to>
                                    </p:set>
                                    <p:animEffect transition="in" filter="fade">
                                      <p:cBhvr>
                                        <p:cTn id="135" dur="400"/>
                                        <p:tgtEl>
                                          <p:spTgt spid="67"/>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68"/>
                                        </p:tgtEl>
                                        <p:attrNameLst>
                                          <p:attrName>style.visibility</p:attrName>
                                        </p:attrNameLst>
                                      </p:cBhvr>
                                      <p:to>
                                        <p:strVal val="visible"/>
                                      </p:to>
                                    </p:set>
                                    <p:animEffect transition="in" filter="fade">
                                      <p:cBhvr>
                                        <p:cTn id="138" dur="4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ARQUITECTURA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Cómo funciona en la práctica</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2BA6CB"/>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Seis conexiones, y ninguna une las dos bases.</a:t>
            </a:r>
            <a:endParaRPr lang="en-US" sz="1700" dirty="0"/>
          </a:p>
        </p:txBody>
      </p:sp>
      <p:sp>
        <p:nvSpPr>
          <p:cNvPr id="13" name="Shape 11"/>
          <p:cNvSpPr/>
          <p:nvPr/>
        </p:nvSpPr>
        <p:spPr>
          <a:xfrm>
            <a:off x="745236" y="3305556"/>
            <a:ext cx="868680" cy="868680"/>
          </a:xfrm>
          <a:prstGeom prst="ellipse">
            <a:avLst/>
          </a:prstGeom>
          <a:solidFill>
            <a:srgbClr val="F1EEFD"/>
          </a:solidFill>
          <a:ln w="25400">
            <a:solidFill>
              <a:srgbClr val="5B3FC4"/>
            </a:solidFill>
            <a:prstDash val="solid"/>
          </a:ln>
          <a:effectLst>
            <a:outerShdw sx="100000" sy="100000" kx="0" ky="0" algn="bl" rotWithShape="0" blurRad="76200" dist="19050" dir="5400000">
              <a:srgbClr val="0B1F3A">
                <a:alpha val="14000"/>
              </a:srgbClr>
            </a:outerShdw>
          </a:effectLst>
        </p:spPr>
      </p:sp>
      <p:sp>
        <p:nvSpPr>
          <p:cNvPr id="14" name="Icono user"/>
          <p:cNvSpPr/>
          <p:nvPr/>
        </p:nvSpPr>
        <p:spPr>
          <a:xfrm>
            <a:off x="941832" y="3502152"/>
            <a:ext cx="475488" cy="475488"/>
          </a:xfrm>
          <a:custGeom>
            <a:avLst/>
            <a:gdLst/>
            <a:ahLst/>
            <a:cxnLst/>
            <a:rect l="l" t="t" r="r" b="b"/>
            <a:pathLst>
              <a:path w="475488" h="475488">
                <a:moveTo>
                  <a:pt x="376428" y="416052"/>
                </a:moveTo>
                <a:lnTo>
                  <a:pt x="376428" y="376428"/>
                </a:lnTo>
                <a:cubicBezTo>
                  <a:pt x="376428" y="332661"/>
                  <a:pt x="340947" y="297180"/>
                  <a:pt x="297180" y="297180"/>
                </a:cubicBezTo>
                <a:lnTo>
                  <a:pt x="178308" y="297180"/>
                </a:lnTo>
                <a:cubicBezTo>
                  <a:pt x="134541" y="297180"/>
                  <a:pt x="99060" y="332661"/>
                  <a:pt x="99060" y="376428"/>
                </a:cubicBezTo>
                <a:lnTo>
                  <a:pt x="99060" y="416052"/>
                </a:lnTo>
                <a:moveTo>
                  <a:pt x="316992" y="138684"/>
                </a:moveTo>
                <a:cubicBezTo>
                  <a:pt x="316992" y="182451"/>
                  <a:pt x="281511" y="217932"/>
                  <a:pt x="237744" y="217932"/>
                </a:cubicBezTo>
                <a:cubicBezTo>
                  <a:pt x="193977" y="217932"/>
                  <a:pt x="158496" y="182451"/>
                  <a:pt x="158496" y="138684"/>
                </a:cubicBezTo>
                <a:cubicBezTo>
                  <a:pt x="158496" y="94917"/>
                  <a:pt x="193977" y="59436"/>
                  <a:pt x="237744" y="59436"/>
                </a:cubicBezTo>
                <a:cubicBezTo>
                  <a:pt x="281511" y="59436"/>
                  <a:pt x="316992" y="94917"/>
                  <a:pt x="316992" y="138684"/>
                </a:cubicBezTo>
                <a:close/>
              </a:path>
            </a:pathLst>
          </a:custGeom>
          <a:noFill/>
          <a:ln w="34671" cap="rnd">
            <a:solidFill>
              <a:srgbClr val="5B3FC4"/>
            </a:solidFill>
            <a:prstDash val="solid"/>
            <a:round/>
          </a:ln>
        </p:spPr>
      </p:sp>
      <p:sp>
        <p:nvSpPr>
          <p:cNvPr id="15" name="Text 13"/>
          <p:cNvSpPr/>
          <p:nvPr/>
        </p:nvSpPr>
        <p:spPr>
          <a:xfrm>
            <a:off x="612648" y="4229100"/>
            <a:ext cx="1133856" cy="274320"/>
          </a:xfrm>
          <a:prstGeom prst="rect">
            <a:avLst/>
          </a:prstGeom>
          <a:noFill/>
          <a:ln/>
        </p:spPr>
        <p:txBody>
          <a:bodyPr wrap="square" lIns="0" tIns="0" rIns="0" bIns="0" rtlCol="0" anchor="t">
            <a:normAutofit/>
          </a:bodyPr>
          <a:lstStyle/>
          <a:p>
            <a:pPr algn="ctr" indent="0" marL="0">
              <a:buNone/>
            </a:pPr>
            <a:r>
              <a:rPr lang="en-US" sz="1300" b="1" dirty="0">
                <a:solidFill>
                  <a:srgbClr val="0B1A3C"/>
                </a:solidFill>
                <a:latin typeface="Segoe UI Semibold" pitchFamily="34" charset="0"/>
                <a:ea typeface="Segoe UI Semibold" pitchFamily="34" charset="-122"/>
                <a:cs typeface="Segoe UI Semibold" pitchFamily="34" charset="-120"/>
              </a:rPr>
              <a:t>Persona</a:t>
            </a:r>
            <a:endParaRPr lang="en-US" sz="1300" dirty="0"/>
          </a:p>
        </p:txBody>
      </p:sp>
      <p:sp>
        <p:nvSpPr>
          <p:cNvPr id="16" name="Text 14"/>
          <p:cNvSpPr/>
          <p:nvPr/>
        </p:nvSpPr>
        <p:spPr>
          <a:xfrm>
            <a:off x="539496" y="4485132"/>
            <a:ext cx="1280160" cy="256032"/>
          </a:xfrm>
          <a:prstGeom prst="rect">
            <a:avLst/>
          </a:prstGeom>
          <a:noFill/>
          <a:ln/>
        </p:spPr>
        <p:txBody>
          <a:bodyPr wrap="square" lIns="0" tIns="0" rIns="0" bIns="0" rtlCol="0" anchor="t">
            <a:normAutofit/>
          </a:bodyPr>
          <a:lstStyle/>
          <a:p>
            <a:pPr algn="ctr" indent="0" marL="0">
              <a:buNone/>
            </a:pPr>
            <a:r>
              <a:rPr lang="en-US" sz="1050" dirty="0">
                <a:solidFill>
                  <a:srgbClr val="55627E"/>
                </a:solidFill>
                <a:latin typeface="Segoe UI" pitchFamily="34" charset="0"/>
                <a:ea typeface="Segoe UI" pitchFamily="34" charset="-122"/>
                <a:cs typeface="Segoe UI" pitchFamily="34" charset="-120"/>
              </a:rPr>
              <a:t>En el navegador</a:t>
            </a:r>
            <a:endParaRPr lang="en-US" sz="1050" dirty="0"/>
          </a:p>
        </p:txBody>
      </p:sp>
      <p:sp>
        <p:nvSpPr>
          <p:cNvPr id="17" name="Shape 15"/>
          <p:cNvSpPr/>
          <p:nvPr/>
        </p:nvSpPr>
        <p:spPr>
          <a:xfrm>
            <a:off x="2212848" y="3191256"/>
            <a:ext cx="2148840" cy="1097280"/>
          </a:xfrm>
          <a:prstGeom prst="roundRect">
            <a:avLst>
              <a:gd name="adj" fmla="val 11667"/>
            </a:avLst>
          </a:prstGeom>
          <a:solidFill>
            <a:srgbClr val="FFFFFF"/>
          </a:solidFill>
          <a:ln w="12700">
            <a:solidFill>
              <a:srgbClr val="AD9FE2"/>
            </a:solidFill>
            <a:prstDash val="solid"/>
          </a:ln>
          <a:effectLst>
            <a:outerShdw sx="100000" sy="100000" kx="0" ky="0" algn="bl" rotWithShape="0" blurRad="76200" dist="19050" dir="5400000">
              <a:srgbClr val="0B1F3A">
                <a:alpha val="14000"/>
              </a:srgbClr>
            </a:outerShdw>
          </a:effectLst>
        </p:spPr>
      </p:sp>
      <p:sp>
        <p:nvSpPr>
          <p:cNvPr id="18" name="Shape 16"/>
          <p:cNvSpPr/>
          <p:nvPr/>
        </p:nvSpPr>
        <p:spPr>
          <a:xfrm>
            <a:off x="2212848" y="3300984"/>
            <a:ext cx="73152" cy="877824"/>
          </a:xfrm>
          <a:prstGeom prst="rect">
            <a:avLst/>
          </a:prstGeom>
          <a:solidFill>
            <a:srgbClr val="5B3FC4"/>
          </a:solidFill>
          <a:ln w="12700">
            <a:solidFill>
              <a:srgbClr val="5B3FC4"/>
            </a:solidFill>
            <a:prstDash val="solid"/>
          </a:ln>
        </p:spPr>
      </p:sp>
      <p:sp>
        <p:nvSpPr>
          <p:cNvPr id="19" name="Shape 17"/>
          <p:cNvSpPr/>
          <p:nvPr/>
        </p:nvSpPr>
        <p:spPr>
          <a:xfrm>
            <a:off x="2414016" y="3419856"/>
            <a:ext cx="640080" cy="640080"/>
          </a:xfrm>
          <a:prstGeom prst="ellipse">
            <a:avLst/>
          </a:prstGeom>
          <a:solidFill>
            <a:srgbClr val="F1EEFD"/>
          </a:solidFill>
          <a:ln w="12700">
            <a:solidFill>
              <a:srgbClr val="F1EEFD"/>
            </a:solidFill>
            <a:prstDash val="solid"/>
          </a:ln>
        </p:spPr>
      </p:sp>
      <p:sp>
        <p:nvSpPr>
          <p:cNvPr id="20" name="Icono monitor"/>
          <p:cNvSpPr/>
          <p:nvPr/>
        </p:nvSpPr>
        <p:spPr>
          <a:xfrm>
            <a:off x="2567635" y="3573475"/>
            <a:ext cx="332842" cy="332842"/>
          </a:xfrm>
          <a:custGeom>
            <a:avLst/>
            <a:gdLst/>
            <a:ahLst/>
            <a:cxnLst/>
            <a:rect l="l" t="t" r="r" b="b"/>
            <a:pathLst>
              <a:path w="332842" h="332842">
                <a:moveTo>
                  <a:pt x="55474" y="41605"/>
                </a:moveTo>
                <a:lnTo>
                  <a:pt x="277368" y="41605"/>
                </a:lnTo>
                <a:cubicBezTo>
                  <a:pt x="292687" y="41605"/>
                  <a:pt x="305105" y="54023"/>
                  <a:pt x="305105" y="69342"/>
                </a:cubicBezTo>
                <a:lnTo>
                  <a:pt x="305105" y="208026"/>
                </a:lnTo>
                <a:cubicBezTo>
                  <a:pt x="305105" y="223345"/>
                  <a:pt x="292687" y="235763"/>
                  <a:pt x="277368" y="235763"/>
                </a:cubicBezTo>
                <a:lnTo>
                  <a:pt x="55474" y="235763"/>
                </a:lnTo>
                <a:cubicBezTo>
                  <a:pt x="40155" y="235763"/>
                  <a:pt x="27737" y="223345"/>
                  <a:pt x="27737" y="208026"/>
                </a:cubicBezTo>
                <a:lnTo>
                  <a:pt x="27737" y="69342"/>
                </a:lnTo>
                <a:cubicBezTo>
                  <a:pt x="27737" y="54023"/>
                  <a:pt x="40155" y="41605"/>
                  <a:pt x="55474" y="41605"/>
                </a:cubicBezTo>
                <a:close/>
                <a:moveTo>
                  <a:pt x="110947" y="291236"/>
                </a:moveTo>
                <a:lnTo>
                  <a:pt x="221894" y="291236"/>
                </a:lnTo>
                <a:moveTo>
                  <a:pt x="166421" y="235763"/>
                </a:moveTo>
                <a:lnTo>
                  <a:pt x="166421" y="291236"/>
                </a:lnTo>
              </a:path>
            </a:pathLst>
          </a:custGeom>
          <a:noFill/>
          <a:ln w="27737" cap="rnd">
            <a:solidFill>
              <a:srgbClr val="5B3FC4"/>
            </a:solidFill>
            <a:prstDash val="solid"/>
            <a:round/>
          </a:ln>
        </p:spPr>
      </p:sp>
      <p:sp>
        <p:nvSpPr>
          <p:cNvPr id="21" name="Text 19"/>
          <p:cNvSpPr/>
          <p:nvPr/>
        </p:nvSpPr>
        <p:spPr>
          <a:xfrm>
            <a:off x="3200400" y="3300984"/>
            <a:ext cx="1051560" cy="475488"/>
          </a:xfrm>
          <a:prstGeom prst="rect">
            <a:avLst/>
          </a:prstGeom>
          <a:noFill/>
          <a:ln/>
        </p:spPr>
        <p:txBody>
          <a:bodyPr wrap="square" lIns="0" tIns="0" rIns="0" bIns="0" rtlCol="0" anchor="b">
            <a:normAutofit/>
          </a:bodyPr>
          <a:lstStyle/>
          <a:p>
            <a:pPr algn="l" indent="0" marL="0">
              <a:buNone/>
            </a:pPr>
            <a:r>
              <a:rPr lang="en-US" sz="1600" b="1" dirty="0">
                <a:solidFill>
                  <a:srgbClr val="5B3FC4"/>
                </a:solidFill>
                <a:latin typeface="Segoe UI Semibold" pitchFamily="34" charset="0"/>
                <a:ea typeface="Segoe UI Semibold" pitchFamily="34" charset="-122"/>
                <a:cs typeface="Segoe UI Semibold" pitchFamily="34" charset="-120"/>
              </a:rPr>
              <a:t>La UI</a:t>
            </a:r>
            <a:endParaRPr lang="en-US" sz="1600" dirty="0"/>
          </a:p>
        </p:txBody>
      </p:sp>
      <p:sp>
        <p:nvSpPr>
          <p:cNvPr id="22" name="Text 20"/>
          <p:cNvSpPr/>
          <p:nvPr/>
        </p:nvSpPr>
        <p:spPr>
          <a:xfrm>
            <a:off x="3200400" y="3758184"/>
            <a:ext cx="1051560" cy="420624"/>
          </a:xfrm>
          <a:prstGeom prst="rect">
            <a:avLst/>
          </a:prstGeom>
          <a:noFill/>
          <a:ln/>
        </p:spPr>
        <p:txBody>
          <a:bodyPr wrap="square" lIns="0" tIns="0" rIns="0" bIns="0" rtlCol="0" anchor="t">
            <a:normAutofit/>
          </a:bodyPr>
          <a:lstStyle/>
          <a:p>
            <a:pPr algn="l" indent="0" marL="0">
              <a:buNone/>
            </a:pPr>
            <a:r>
              <a:rPr lang="en-US" sz="1250" dirty="0">
                <a:solidFill>
                  <a:srgbClr val="55627E"/>
                </a:solidFill>
                <a:latin typeface="Segoe UI" pitchFamily="34" charset="0"/>
                <a:ea typeface="Segoe UI" pitchFamily="34" charset="-122"/>
                <a:cs typeface="Segoe UI" pitchFamily="34" charset="-120"/>
              </a:rPr>
              <a:t>arka-lite-ui · :8088</a:t>
            </a:r>
            <a:endParaRPr lang="en-US" sz="1250" dirty="0"/>
          </a:p>
        </p:txBody>
      </p:sp>
      <p:sp>
        <p:nvSpPr>
          <p:cNvPr id="23" name="Shape 21"/>
          <p:cNvSpPr/>
          <p:nvPr/>
        </p:nvSpPr>
        <p:spPr>
          <a:xfrm>
            <a:off x="5504688" y="1901952"/>
            <a:ext cx="2606040" cy="1097280"/>
          </a:xfrm>
          <a:prstGeom prst="roundRect">
            <a:avLst>
              <a:gd name="adj" fmla="val 11667"/>
            </a:avLst>
          </a:prstGeom>
          <a:solidFill>
            <a:srgbClr val="FFFFFF"/>
          </a:solidFill>
          <a:ln w="12700">
            <a:solidFill>
              <a:srgbClr val="8591A8"/>
            </a:solidFill>
            <a:prstDash val="solid"/>
          </a:ln>
          <a:effectLst>
            <a:outerShdw sx="100000" sy="100000" kx="0" ky="0" algn="bl" rotWithShape="0" blurRad="76200" dist="19050" dir="5400000">
              <a:srgbClr val="0B1F3A">
                <a:alpha val="14000"/>
              </a:srgbClr>
            </a:outerShdw>
          </a:effectLst>
        </p:spPr>
      </p:sp>
      <p:sp>
        <p:nvSpPr>
          <p:cNvPr id="24" name="Shape 22"/>
          <p:cNvSpPr/>
          <p:nvPr/>
        </p:nvSpPr>
        <p:spPr>
          <a:xfrm>
            <a:off x="5504688" y="2011680"/>
            <a:ext cx="73152" cy="877824"/>
          </a:xfrm>
          <a:prstGeom prst="rect">
            <a:avLst/>
          </a:prstGeom>
          <a:solidFill>
            <a:srgbClr val="0B2350"/>
          </a:solidFill>
          <a:ln w="12700">
            <a:solidFill>
              <a:srgbClr val="0B2350"/>
            </a:solidFill>
            <a:prstDash val="solid"/>
          </a:ln>
        </p:spPr>
      </p:sp>
      <p:sp>
        <p:nvSpPr>
          <p:cNvPr id="25" name="Shape 23"/>
          <p:cNvSpPr/>
          <p:nvPr/>
        </p:nvSpPr>
        <p:spPr>
          <a:xfrm>
            <a:off x="5705856" y="2130552"/>
            <a:ext cx="640080" cy="640080"/>
          </a:xfrm>
          <a:prstGeom prst="ellipse">
            <a:avLst/>
          </a:prstGeom>
          <a:solidFill>
            <a:srgbClr val="E8EEF8"/>
          </a:solidFill>
          <a:ln w="12700">
            <a:solidFill>
              <a:srgbClr val="E8EEF8"/>
            </a:solidFill>
            <a:prstDash val="solid"/>
          </a:ln>
        </p:spPr>
      </p:sp>
      <p:sp>
        <p:nvSpPr>
          <p:cNvPr id="26" name="Icono clipboard-list"/>
          <p:cNvSpPr/>
          <p:nvPr/>
        </p:nvSpPr>
        <p:spPr>
          <a:xfrm>
            <a:off x="5859475" y="2284171"/>
            <a:ext cx="332842" cy="332842"/>
          </a:xfrm>
          <a:custGeom>
            <a:avLst/>
            <a:gdLst/>
            <a:ahLst/>
            <a:cxnLst/>
            <a:rect l="l" t="t" r="r" b="b"/>
            <a:pathLst>
              <a:path w="332842" h="332842">
                <a:moveTo>
                  <a:pt x="124816" y="27737"/>
                </a:moveTo>
                <a:lnTo>
                  <a:pt x="208026" y="27737"/>
                </a:lnTo>
                <a:cubicBezTo>
                  <a:pt x="215685" y="27737"/>
                  <a:pt x="221894" y="33946"/>
                  <a:pt x="221894" y="41605"/>
                </a:cubicBezTo>
                <a:lnTo>
                  <a:pt x="221894" y="69342"/>
                </a:lnTo>
                <a:cubicBezTo>
                  <a:pt x="221894" y="77001"/>
                  <a:pt x="215685" y="83210"/>
                  <a:pt x="208026" y="83210"/>
                </a:cubicBezTo>
                <a:lnTo>
                  <a:pt x="124816" y="83210"/>
                </a:lnTo>
                <a:cubicBezTo>
                  <a:pt x="117156" y="83210"/>
                  <a:pt x="110947" y="77001"/>
                  <a:pt x="110947" y="69342"/>
                </a:cubicBezTo>
                <a:lnTo>
                  <a:pt x="110947" y="41605"/>
                </a:lnTo>
                <a:cubicBezTo>
                  <a:pt x="110947" y="33946"/>
                  <a:pt x="117156" y="27737"/>
                  <a:pt x="124816" y="27737"/>
                </a:cubicBezTo>
                <a:close/>
                <a:moveTo>
                  <a:pt x="221894" y="55474"/>
                </a:moveTo>
                <a:lnTo>
                  <a:pt x="249631" y="55474"/>
                </a:lnTo>
                <a:cubicBezTo>
                  <a:pt x="264950" y="55474"/>
                  <a:pt x="277368" y="67892"/>
                  <a:pt x="277368" y="83210"/>
                </a:cubicBezTo>
                <a:lnTo>
                  <a:pt x="277368" y="277368"/>
                </a:lnTo>
                <a:cubicBezTo>
                  <a:pt x="277368" y="292687"/>
                  <a:pt x="264950" y="305105"/>
                  <a:pt x="249631" y="305105"/>
                </a:cubicBezTo>
                <a:lnTo>
                  <a:pt x="83210" y="305105"/>
                </a:lnTo>
                <a:cubicBezTo>
                  <a:pt x="67892" y="305105"/>
                  <a:pt x="55474" y="292687"/>
                  <a:pt x="55474" y="277368"/>
                </a:cubicBezTo>
                <a:lnTo>
                  <a:pt x="55474" y="83210"/>
                </a:lnTo>
                <a:cubicBezTo>
                  <a:pt x="55474" y="67892"/>
                  <a:pt x="67892" y="55474"/>
                  <a:pt x="83210" y="55474"/>
                </a:cubicBezTo>
                <a:lnTo>
                  <a:pt x="110947" y="55474"/>
                </a:lnTo>
                <a:moveTo>
                  <a:pt x="166421" y="152552"/>
                </a:moveTo>
                <a:lnTo>
                  <a:pt x="221894" y="152552"/>
                </a:lnTo>
                <a:moveTo>
                  <a:pt x="166421" y="221894"/>
                </a:moveTo>
                <a:lnTo>
                  <a:pt x="221894" y="221894"/>
                </a:lnTo>
                <a:moveTo>
                  <a:pt x="110947" y="152552"/>
                </a:moveTo>
                <a:lnTo>
                  <a:pt x="111086" y="152552"/>
                </a:lnTo>
                <a:moveTo>
                  <a:pt x="110947" y="221894"/>
                </a:moveTo>
                <a:lnTo>
                  <a:pt x="111086" y="221894"/>
                </a:lnTo>
              </a:path>
            </a:pathLst>
          </a:custGeom>
          <a:noFill/>
          <a:ln w="27737" cap="rnd">
            <a:solidFill>
              <a:srgbClr val="0B2350"/>
            </a:solidFill>
            <a:prstDash val="solid"/>
            <a:round/>
          </a:ln>
        </p:spPr>
      </p:sp>
      <p:sp>
        <p:nvSpPr>
          <p:cNvPr id="27" name="Text 25"/>
          <p:cNvSpPr/>
          <p:nvPr/>
        </p:nvSpPr>
        <p:spPr>
          <a:xfrm>
            <a:off x="6492240" y="2011680"/>
            <a:ext cx="1508760" cy="475488"/>
          </a:xfrm>
          <a:prstGeom prst="rect">
            <a:avLst/>
          </a:prstGeom>
          <a:noFill/>
          <a:ln/>
        </p:spPr>
        <p:txBody>
          <a:bodyPr wrap="square" lIns="0" tIns="0" rIns="0" bIns="0" rtlCol="0" anchor="b">
            <a:normAutofit/>
          </a:bodyPr>
          <a:lstStyle/>
          <a:p>
            <a:pPr algn="l" indent="0" marL="0">
              <a:buNone/>
            </a:pPr>
            <a:r>
              <a:rPr lang="en-US" sz="1600" b="1" dirty="0">
                <a:solidFill>
                  <a:srgbClr val="0B2350"/>
                </a:solidFill>
                <a:latin typeface="Segoe UI Semibold" pitchFamily="34" charset="0"/>
                <a:ea typeface="Segoe UI Semibold" pitchFamily="34" charset="-122"/>
                <a:cs typeface="Segoe UI Semibold" pitchFamily="34" charset="-120"/>
              </a:rPr>
              <a:t>Solicitudes</a:t>
            </a:r>
            <a:endParaRPr lang="en-US" sz="1600" dirty="0"/>
          </a:p>
        </p:txBody>
      </p:sp>
      <p:sp>
        <p:nvSpPr>
          <p:cNvPr id="28" name="Text 26"/>
          <p:cNvSpPr/>
          <p:nvPr/>
        </p:nvSpPr>
        <p:spPr>
          <a:xfrm>
            <a:off x="6492240" y="2468880"/>
            <a:ext cx="1508760" cy="420624"/>
          </a:xfrm>
          <a:prstGeom prst="rect">
            <a:avLst/>
          </a:prstGeom>
          <a:noFill/>
          <a:ln/>
        </p:spPr>
        <p:txBody>
          <a:bodyPr wrap="square" lIns="0" tIns="0" rIns="0" bIns="0" rtlCol="0" anchor="t">
            <a:normAutofit/>
          </a:bodyPr>
          <a:lstStyle/>
          <a:p>
            <a:pPr algn="l" indent="0" marL="0">
              <a:buNone/>
            </a:pPr>
            <a:r>
              <a:rPr lang="en-US" sz="1250" dirty="0">
                <a:solidFill>
                  <a:srgbClr val="55627E"/>
                </a:solidFill>
                <a:latin typeface="Segoe UI" pitchFamily="34" charset="0"/>
                <a:ea typeface="Segoe UI" pitchFamily="34" charset="-122"/>
                <a:cs typeface="Segoe UI" pitchFamily="34" charset="-120"/>
              </a:rPr>
              <a:t>El trámite y sus estados · :8080</a:t>
            </a:r>
            <a:endParaRPr lang="en-US" sz="1250" dirty="0"/>
          </a:p>
        </p:txBody>
      </p:sp>
      <p:sp>
        <p:nvSpPr>
          <p:cNvPr id="29" name="Shape 27"/>
          <p:cNvSpPr/>
          <p:nvPr/>
        </p:nvSpPr>
        <p:spPr>
          <a:xfrm>
            <a:off x="5504688" y="4480560"/>
            <a:ext cx="2606040" cy="1097280"/>
          </a:xfrm>
          <a:prstGeom prst="roundRect">
            <a:avLst>
              <a:gd name="adj" fmla="val 11667"/>
            </a:avLst>
          </a:prstGeom>
          <a:solidFill>
            <a:srgbClr val="FFFFFF"/>
          </a:solidFill>
          <a:ln w="12700">
            <a:solidFill>
              <a:srgbClr val="85B7C5"/>
            </a:solidFill>
            <a:prstDash val="solid"/>
          </a:ln>
          <a:effectLst>
            <a:outerShdw sx="100000" sy="100000" kx="0" ky="0" algn="bl" rotWithShape="0" blurRad="76200" dist="19050" dir="5400000">
              <a:srgbClr val="0B1F3A">
                <a:alpha val="14000"/>
              </a:srgbClr>
            </a:outerShdw>
          </a:effectLst>
        </p:spPr>
      </p:sp>
      <p:sp>
        <p:nvSpPr>
          <p:cNvPr id="30" name="Shape 28"/>
          <p:cNvSpPr/>
          <p:nvPr/>
        </p:nvSpPr>
        <p:spPr>
          <a:xfrm>
            <a:off x="5504688" y="4590288"/>
            <a:ext cx="73152" cy="877824"/>
          </a:xfrm>
          <a:prstGeom prst="rect">
            <a:avLst/>
          </a:prstGeom>
          <a:solidFill>
            <a:srgbClr val="0B6E8A"/>
          </a:solidFill>
          <a:ln w="12700">
            <a:solidFill>
              <a:srgbClr val="0B6E8A"/>
            </a:solidFill>
            <a:prstDash val="solid"/>
          </a:ln>
        </p:spPr>
      </p:sp>
      <p:sp>
        <p:nvSpPr>
          <p:cNvPr id="31" name="Shape 29"/>
          <p:cNvSpPr/>
          <p:nvPr/>
        </p:nvSpPr>
        <p:spPr>
          <a:xfrm>
            <a:off x="5705856" y="4709160"/>
            <a:ext cx="640080" cy="640080"/>
          </a:xfrm>
          <a:prstGeom prst="ellipse">
            <a:avLst/>
          </a:prstGeom>
          <a:solidFill>
            <a:srgbClr val="E3F4FA"/>
          </a:solidFill>
          <a:ln w="12700">
            <a:solidFill>
              <a:srgbClr val="E3F4FA"/>
            </a:solidFill>
            <a:prstDash val="solid"/>
          </a:ln>
        </p:spPr>
      </p:sp>
      <p:sp>
        <p:nvSpPr>
          <p:cNvPr id="32" name="Icono bell"/>
          <p:cNvSpPr/>
          <p:nvPr/>
        </p:nvSpPr>
        <p:spPr>
          <a:xfrm>
            <a:off x="5859475" y="4862779"/>
            <a:ext cx="332842" cy="332842"/>
          </a:xfrm>
          <a:custGeom>
            <a:avLst/>
            <a:gdLst/>
            <a:ahLst/>
            <a:cxnLst/>
            <a:rect l="l" t="t" r="r" b="b"/>
            <a:pathLst>
              <a:path w="332842" h="332842">
                <a:moveTo>
                  <a:pt x="142401" y="291236"/>
                </a:moveTo>
                <a:cubicBezTo>
                  <a:pt x="147356" y="299818"/>
                  <a:pt x="156512" y="305104"/>
                  <a:pt x="166421" y="305104"/>
                </a:cubicBezTo>
                <a:cubicBezTo>
                  <a:pt x="176330" y="305104"/>
                  <a:pt x="185486" y="299818"/>
                  <a:pt x="190441" y="291236"/>
                </a:cubicBezTo>
                <a:moveTo>
                  <a:pt x="45239" y="212547"/>
                </a:moveTo>
                <a:cubicBezTo>
                  <a:pt x="41537" y="216604"/>
                  <a:pt x="40578" y="222464"/>
                  <a:pt x="42794" y="227489"/>
                </a:cubicBezTo>
                <a:cubicBezTo>
                  <a:pt x="45009" y="232514"/>
                  <a:pt x="49982" y="235759"/>
                  <a:pt x="55474" y="235763"/>
                </a:cubicBezTo>
                <a:lnTo>
                  <a:pt x="277368" y="235763"/>
                </a:lnTo>
                <a:cubicBezTo>
                  <a:pt x="282859" y="235765"/>
                  <a:pt x="287835" y="232526"/>
                  <a:pt x="290056" y="227504"/>
                </a:cubicBezTo>
                <a:cubicBezTo>
                  <a:pt x="292277" y="222482"/>
                  <a:pt x="291326" y="216623"/>
                  <a:pt x="287631" y="212561"/>
                </a:cubicBezTo>
                <a:cubicBezTo>
                  <a:pt x="269186" y="193547"/>
                  <a:pt x="249631" y="173341"/>
                  <a:pt x="249631" y="110947"/>
                </a:cubicBezTo>
                <a:cubicBezTo>
                  <a:pt x="249631" y="64991"/>
                  <a:pt x="212377" y="27737"/>
                  <a:pt x="166421" y="27737"/>
                </a:cubicBezTo>
                <a:cubicBezTo>
                  <a:pt x="120465" y="27737"/>
                  <a:pt x="83210" y="64991"/>
                  <a:pt x="83210" y="110947"/>
                </a:cubicBezTo>
                <a:cubicBezTo>
                  <a:pt x="83210" y="173341"/>
                  <a:pt x="63642" y="193547"/>
                  <a:pt x="45239" y="212547"/>
                </a:cubicBezTo>
              </a:path>
            </a:pathLst>
          </a:custGeom>
          <a:noFill/>
          <a:ln w="27737" cap="rnd">
            <a:solidFill>
              <a:srgbClr val="0B6E8A"/>
            </a:solidFill>
            <a:prstDash val="solid"/>
            <a:round/>
          </a:ln>
        </p:spPr>
      </p:sp>
      <p:sp>
        <p:nvSpPr>
          <p:cNvPr id="33" name="Text 31"/>
          <p:cNvSpPr/>
          <p:nvPr/>
        </p:nvSpPr>
        <p:spPr>
          <a:xfrm>
            <a:off x="6492240" y="4590288"/>
            <a:ext cx="1508760" cy="475488"/>
          </a:xfrm>
          <a:prstGeom prst="rect">
            <a:avLst/>
          </a:prstGeom>
          <a:noFill/>
          <a:ln/>
        </p:spPr>
        <p:txBody>
          <a:bodyPr wrap="square" lIns="0" tIns="0" rIns="0" bIns="0" rtlCol="0" anchor="b">
            <a:normAutofit/>
          </a:bodyPr>
          <a:lstStyle/>
          <a:p>
            <a:pPr algn="l" indent="0" marL="0">
              <a:buNone/>
            </a:pPr>
            <a:r>
              <a:rPr lang="en-US" sz="1450" b="1" dirty="0">
                <a:solidFill>
                  <a:srgbClr val="0B6E8A"/>
                </a:solidFill>
                <a:latin typeface="Segoe UI Semibold" pitchFamily="34" charset="0"/>
                <a:ea typeface="Segoe UI Semibold" pitchFamily="34" charset="-122"/>
                <a:cs typeface="Segoe UI Semibold" pitchFamily="34" charset="-120"/>
              </a:rPr>
              <a:t>Notificaciones</a:t>
            </a:r>
            <a:endParaRPr lang="en-US" sz="1450" dirty="0"/>
          </a:p>
        </p:txBody>
      </p:sp>
      <p:sp>
        <p:nvSpPr>
          <p:cNvPr id="34" name="Text 32"/>
          <p:cNvSpPr/>
          <p:nvPr/>
        </p:nvSpPr>
        <p:spPr>
          <a:xfrm>
            <a:off x="6492240" y="5047488"/>
            <a:ext cx="1508760" cy="420624"/>
          </a:xfrm>
          <a:prstGeom prst="rect">
            <a:avLst/>
          </a:prstGeom>
          <a:noFill/>
          <a:ln/>
        </p:spPr>
        <p:txBody>
          <a:bodyPr wrap="square" lIns="0" tIns="0" rIns="0" bIns="0" rtlCol="0" anchor="t">
            <a:normAutofit/>
          </a:bodyPr>
          <a:lstStyle/>
          <a:p>
            <a:pPr algn="l" indent="0" marL="0">
              <a:buNone/>
            </a:pPr>
            <a:r>
              <a:rPr lang="en-US" sz="1250" dirty="0">
                <a:solidFill>
                  <a:srgbClr val="55627E"/>
                </a:solidFill>
                <a:latin typeface="Segoe UI" pitchFamily="34" charset="0"/>
                <a:ea typeface="Segoe UI" pitchFamily="34" charset="-122"/>
                <a:cs typeface="Segoe UI" pitchFamily="34" charset="-120"/>
              </a:rPr>
              <a:t>Los avisos · :8081</a:t>
            </a:r>
            <a:endParaRPr lang="en-US" sz="1250" dirty="0"/>
          </a:p>
        </p:txBody>
      </p:sp>
      <p:sp>
        <p:nvSpPr>
          <p:cNvPr id="35" name="Shape 33"/>
          <p:cNvSpPr/>
          <p:nvPr/>
        </p:nvSpPr>
        <p:spPr>
          <a:xfrm>
            <a:off x="9390888" y="1901952"/>
            <a:ext cx="2188159" cy="1097280"/>
          </a:xfrm>
          <a:prstGeom prst="can">
            <a:avLst/>
          </a:prstGeom>
          <a:solidFill>
            <a:srgbClr val="E8EEF8"/>
          </a:solidFill>
          <a:ln w="25400">
            <a:solidFill>
              <a:srgbClr val="0B2350"/>
            </a:solidFill>
            <a:prstDash val="solid"/>
          </a:ln>
          <a:effectLst>
            <a:outerShdw sx="100000" sy="100000" kx="0" ky="0" algn="bl" rotWithShape="0" blurRad="76200" dist="19050" dir="5400000">
              <a:srgbClr val="0B1F3A">
                <a:alpha val="14000"/>
              </a:srgbClr>
            </a:outerShdw>
          </a:effectLst>
        </p:spPr>
      </p:sp>
      <p:sp>
        <p:nvSpPr>
          <p:cNvPr id="36" name="Text 34"/>
          <p:cNvSpPr/>
          <p:nvPr/>
        </p:nvSpPr>
        <p:spPr>
          <a:xfrm>
            <a:off x="9482328" y="2275027"/>
            <a:ext cx="2005279" cy="329184"/>
          </a:xfrm>
          <a:prstGeom prst="rect">
            <a:avLst/>
          </a:prstGeom>
          <a:noFill/>
          <a:ln/>
        </p:spPr>
        <p:txBody>
          <a:bodyPr wrap="square" lIns="0" tIns="0" rIns="0" bIns="0" rtlCol="0" anchor="ctr">
            <a:normAutofit/>
          </a:bodyPr>
          <a:lstStyle/>
          <a:p>
            <a:pPr algn="ctr" indent="0" marL="0">
              <a:buNone/>
            </a:pPr>
            <a:r>
              <a:rPr lang="en-US" sz="1500" b="1" dirty="0">
                <a:solidFill>
                  <a:srgbClr val="0B2350"/>
                </a:solidFill>
                <a:latin typeface="Consolas" pitchFamily="34" charset="0"/>
                <a:ea typeface="Consolas" pitchFamily="34" charset="-122"/>
                <a:cs typeface="Consolas" pitchFamily="34" charset="-120"/>
              </a:rPr>
              <a:t>db-solicitudes</a:t>
            </a:r>
            <a:endParaRPr lang="en-US" sz="1500" dirty="0"/>
          </a:p>
        </p:txBody>
      </p:sp>
      <p:sp>
        <p:nvSpPr>
          <p:cNvPr id="37" name="Text 35"/>
          <p:cNvSpPr/>
          <p:nvPr/>
        </p:nvSpPr>
        <p:spPr>
          <a:xfrm>
            <a:off x="9482328" y="2604211"/>
            <a:ext cx="2005279" cy="274320"/>
          </a:xfrm>
          <a:prstGeom prst="rect">
            <a:avLst/>
          </a:prstGeom>
          <a:noFill/>
          <a:ln/>
        </p:spPr>
        <p:txBody>
          <a:bodyPr wrap="square" lIns="0" tIns="0" rIns="0" bIns="0" rtlCol="0" anchor="t">
            <a:normAutofit/>
          </a:bodyPr>
          <a:lstStyle/>
          <a:p>
            <a:pPr algn="ctr" indent="0" marL="0">
              <a:buNone/>
            </a:pPr>
            <a:r>
              <a:rPr lang="en-US" sz="1200" dirty="0">
                <a:solidFill>
                  <a:srgbClr val="55627E"/>
                </a:solidFill>
                <a:latin typeface="Segoe UI" pitchFamily="34" charset="0"/>
                <a:ea typeface="Segoe UI" pitchFamily="34" charset="-122"/>
                <a:cs typeface="Segoe UI" pitchFamily="34" charset="-120"/>
              </a:rPr>
              <a:t>PostgreSQL 17</a:t>
            </a:r>
            <a:endParaRPr lang="en-US" sz="1200" dirty="0"/>
          </a:p>
        </p:txBody>
      </p:sp>
      <p:sp>
        <p:nvSpPr>
          <p:cNvPr id="38" name="Shape 36"/>
          <p:cNvSpPr/>
          <p:nvPr/>
        </p:nvSpPr>
        <p:spPr>
          <a:xfrm>
            <a:off x="9390888" y="4480560"/>
            <a:ext cx="2188159" cy="1097280"/>
          </a:xfrm>
          <a:prstGeom prst="can">
            <a:avLst/>
          </a:prstGeom>
          <a:solidFill>
            <a:srgbClr val="E3F4FA"/>
          </a:solidFill>
          <a:ln w="25400">
            <a:solidFill>
              <a:srgbClr val="0B6E8A"/>
            </a:solidFill>
            <a:prstDash val="solid"/>
          </a:ln>
          <a:effectLst>
            <a:outerShdw sx="100000" sy="100000" kx="0" ky="0" algn="bl" rotWithShape="0" blurRad="76200" dist="19050" dir="5400000">
              <a:srgbClr val="0B1F3A">
                <a:alpha val="14000"/>
              </a:srgbClr>
            </a:outerShdw>
          </a:effectLst>
        </p:spPr>
      </p:sp>
      <p:sp>
        <p:nvSpPr>
          <p:cNvPr id="39" name="Text 37"/>
          <p:cNvSpPr/>
          <p:nvPr/>
        </p:nvSpPr>
        <p:spPr>
          <a:xfrm>
            <a:off x="9482328" y="4853635"/>
            <a:ext cx="2005279" cy="329184"/>
          </a:xfrm>
          <a:prstGeom prst="rect">
            <a:avLst/>
          </a:prstGeom>
          <a:noFill/>
          <a:ln/>
        </p:spPr>
        <p:txBody>
          <a:bodyPr wrap="square" lIns="0" tIns="0" rIns="0" bIns="0" rtlCol="0" anchor="ctr">
            <a:normAutofit/>
          </a:bodyPr>
          <a:lstStyle/>
          <a:p>
            <a:pPr algn="ctr" indent="0" marL="0">
              <a:buNone/>
            </a:pPr>
            <a:r>
              <a:rPr lang="en-US" sz="1500" b="1" dirty="0">
                <a:solidFill>
                  <a:srgbClr val="0B6E8A"/>
                </a:solidFill>
                <a:latin typeface="Consolas" pitchFamily="34" charset="0"/>
                <a:ea typeface="Consolas" pitchFamily="34" charset="-122"/>
                <a:cs typeface="Consolas" pitchFamily="34" charset="-120"/>
              </a:rPr>
              <a:t>db-notificaciones</a:t>
            </a:r>
            <a:endParaRPr lang="en-US" sz="1500" dirty="0"/>
          </a:p>
        </p:txBody>
      </p:sp>
      <p:sp>
        <p:nvSpPr>
          <p:cNvPr id="40" name="Text 38"/>
          <p:cNvSpPr/>
          <p:nvPr/>
        </p:nvSpPr>
        <p:spPr>
          <a:xfrm>
            <a:off x="9482328" y="5182819"/>
            <a:ext cx="2005279" cy="274320"/>
          </a:xfrm>
          <a:prstGeom prst="rect">
            <a:avLst/>
          </a:prstGeom>
          <a:noFill/>
          <a:ln/>
        </p:spPr>
        <p:txBody>
          <a:bodyPr wrap="square" lIns="0" tIns="0" rIns="0" bIns="0" rtlCol="0" anchor="t">
            <a:normAutofit/>
          </a:bodyPr>
          <a:lstStyle/>
          <a:p>
            <a:pPr algn="ctr" indent="0" marL="0">
              <a:buNone/>
            </a:pPr>
            <a:r>
              <a:rPr lang="en-US" sz="1200" dirty="0">
                <a:solidFill>
                  <a:srgbClr val="55627E"/>
                </a:solidFill>
                <a:latin typeface="Segoe UI" pitchFamily="34" charset="0"/>
                <a:ea typeface="Segoe UI" pitchFamily="34" charset="-122"/>
                <a:cs typeface="Segoe UI" pitchFamily="34" charset="-120"/>
              </a:rPr>
              <a:t>PostgreSQL 17</a:t>
            </a:r>
            <a:endParaRPr lang="en-US" sz="1200" dirty="0"/>
          </a:p>
        </p:txBody>
      </p:sp>
      <p:sp>
        <p:nvSpPr>
          <p:cNvPr id="41" name="[p1] Forma"/>
          <p:cNvSpPr/>
          <p:nvPr/>
        </p:nvSpPr>
        <p:spPr>
          <a:xfrm>
            <a:off x="1668780" y="3739896"/>
            <a:ext cx="489204" cy="0"/>
          </a:xfrm>
          <a:prstGeom prst="line">
            <a:avLst/>
          </a:prstGeom>
          <a:noFill/>
          <a:ln w="31750">
            <a:solidFill>
              <a:srgbClr val="30446A"/>
            </a:solidFill>
            <a:prstDash val="solid"/>
            <a:tailEnd type="triangle"/>
          </a:ln>
        </p:spPr>
      </p:sp>
      <p:sp>
        <p:nvSpPr>
          <p:cNvPr id="42" name="[p1] Forma"/>
          <p:cNvSpPr/>
          <p:nvPr/>
        </p:nvSpPr>
        <p:spPr>
          <a:xfrm>
            <a:off x="1739646" y="3566160"/>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50" b="1" dirty="0">
                <a:solidFill>
                  <a:srgbClr val="FFFFFF"/>
                </a:solidFill>
                <a:latin typeface="Segoe UI Semibold" pitchFamily="34" charset="0"/>
                <a:ea typeface="Segoe UI Semibold" pitchFamily="34" charset="-122"/>
                <a:cs typeface="Segoe UI Semibold" pitchFamily="34" charset="-120"/>
              </a:rPr>
              <a:t>1</a:t>
            </a:r>
            <a:endParaRPr lang="en-US" sz="1250" dirty="0"/>
          </a:p>
        </p:txBody>
      </p:sp>
      <p:sp>
        <p:nvSpPr>
          <p:cNvPr id="43" name="[p1] Forma"/>
          <p:cNvSpPr/>
          <p:nvPr/>
        </p:nvSpPr>
        <p:spPr>
          <a:xfrm>
            <a:off x="1613916" y="3172968"/>
            <a:ext cx="598932" cy="329184"/>
          </a:xfrm>
          <a:prstGeom prst="rect">
            <a:avLst/>
          </a:prstGeom>
          <a:noFill/>
          <a:ln/>
        </p:spPr>
        <p:txBody>
          <a:bodyPr wrap="square" lIns="0" tIns="0" rIns="0" bIns="0" rtlCol="0" anchor="ctr">
            <a:normAutofit/>
          </a:bodyPr>
          <a:lstStyle/>
          <a:p>
            <a:pPr algn="ctr" indent="0" marL="0">
              <a:buNone/>
            </a:pPr>
            <a:r>
              <a:rPr lang="en-US" sz="1300" b="1" dirty="0">
                <a:solidFill>
                  <a:srgbClr val="0B2350"/>
                </a:solidFill>
                <a:latin typeface="Segoe UI" pitchFamily="34" charset="0"/>
                <a:ea typeface="Segoe UI" pitchFamily="34" charset="-122"/>
                <a:cs typeface="Segoe UI" pitchFamily="34" charset="-120"/>
              </a:rPr>
              <a:t>usa</a:t>
            </a:r>
            <a:endParaRPr lang="en-US" sz="1300" dirty="0"/>
          </a:p>
        </p:txBody>
      </p:sp>
      <p:sp>
        <p:nvSpPr>
          <p:cNvPr id="44" name="[p2] Forma"/>
          <p:cNvSpPr/>
          <p:nvPr/>
        </p:nvSpPr>
        <p:spPr>
          <a:xfrm>
            <a:off x="4398264" y="3483864"/>
            <a:ext cx="603504" cy="0"/>
          </a:xfrm>
          <a:prstGeom prst="line">
            <a:avLst/>
          </a:prstGeom>
          <a:noFill/>
          <a:ln w="31750">
            <a:solidFill>
              <a:srgbClr val="30446A"/>
            </a:solidFill>
            <a:prstDash val="solid"/>
          </a:ln>
        </p:spPr>
      </p:sp>
      <p:sp>
        <p:nvSpPr>
          <p:cNvPr id="45" name="[p2] Forma"/>
          <p:cNvSpPr/>
          <p:nvPr/>
        </p:nvSpPr>
        <p:spPr>
          <a:xfrm flipV="1">
            <a:off x="5001768" y="2450592"/>
            <a:ext cx="0" cy="1033272"/>
          </a:xfrm>
          <a:prstGeom prst="line">
            <a:avLst/>
          </a:prstGeom>
          <a:noFill/>
          <a:ln w="31750">
            <a:solidFill>
              <a:srgbClr val="30446A"/>
            </a:solidFill>
            <a:prstDash val="solid"/>
          </a:ln>
        </p:spPr>
      </p:sp>
      <p:sp>
        <p:nvSpPr>
          <p:cNvPr id="46" name="[p2] Forma"/>
          <p:cNvSpPr/>
          <p:nvPr/>
        </p:nvSpPr>
        <p:spPr>
          <a:xfrm>
            <a:off x="5001768" y="2450592"/>
            <a:ext cx="448056" cy="0"/>
          </a:xfrm>
          <a:prstGeom prst="line">
            <a:avLst/>
          </a:prstGeom>
          <a:noFill/>
          <a:ln w="31750">
            <a:solidFill>
              <a:srgbClr val="30446A"/>
            </a:solidFill>
            <a:prstDash val="solid"/>
            <a:tailEnd type="triangle"/>
          </a:ln>
        </p:spPr>
      </p:sp>
      <p:sp>
        <p:nvSpPr>
          <p:cNvPr id="47" name="[p2] Forma"/>
          <p:cNvSpPr/>
          <p:nvPr/>
        </p:nvSpPr>
        <p:spPr>
          <a:xfrm>
            <a:off x="4828032" y="2793492"/>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50" b="1" dirty="0">
                <a:solidFill>
                  <a:srgbClr val="FFFFFF"/>
                </a:solidFill>
                <a:latin typeface="Segoe UI Semibold" pitchFamily="34" charset="0"/>
                <a:ea typeface="Segoe UI Semibold" pitchFamily="34" charset="-122"/>
                <a:cs typeface="Segoe UI Semibold" pitchFamily="34" charset="-120"/>
              </a:rPr>
              <a:t>2</a:t>
            </a:r>
            <a:endParaRPr lang="en-US" sz="1250" dirty="0"/>
          </a:p>
        </p:txBody>
      </p:sp>
      <p:sp>
        <p:nvSpPr>
          <p:cNvPr id="48" name="[p2] Forma"/>
          <p:cNvSpPr/>
          <p:nvPr/>
        </p:nvSpPr>
        <p:spPr>
          <a:xfrm>
            <a:off x="2212848" y="2404872"/>
            <a:ext cx="2514600" cy="457200"/>
          </a:xfrm>
          <a:prstGeom prst="rect">
            <a:avLst/>
          </a:prstGeom>
          <a:noFill/>
          <a:ln/>
        </p:spPr>
        <p:txBody>
          <a:bodyPr wrap="square" lIns="0" tIns="0" rIns="0" bIns="0" rtlCol="0" anchor="ctr">
            <a:normAutofit/>
          </a:bodyPr>
          <a:lstStyle/>
          <a:p>
            <a:pPr algn="r" indent="0" marL="0">
              <a:buNone/>
            </a:pPr>
            <a:r>
              <a:rPr lang="en-US" sz="1300" b="1" dirty="0">
                <a:solidFill>
                  <a:srgbClr val="0B2350"/>
                </a:solidFill>
                <a:latin typeface="Segoe UI" pitchFamily="34" charset="0"/>
                <a:ea typeface="Segoe UI" pitchFamily="34" charset="-122"/>
                <a:cs typeface="Segoe UI" pitchFamily="34" charset="-120"/>
              </a:rPr>
              <a:t>crea, envía y decide</a:t>
            </a:r>
            <a:endParaRPr lang="en-US" sz="1300" dirty="0"/>
          </a:p>
        </p:txBody>
      </p:sp>
      <p:sp>
        <p:nvSpPr>
          <p:cNvPr id="49" name="[p6] Forma"/>
          <p:cNvSpPr/>
          <p:nvPr/>
        </p:nvSpPr>
        <p:spPr>
          <a:xfrm>
            <a:off x="4398264" y="3995928"/>
            <a:ext cx="603504" cy="0"/>
          </a:xfrm>
          <a:prstGeom prst="line">
            <a:avLst/>
          </a:prstGeom>
          <a:noFill/>
          <a:ln w="31750">
            <a:solidFill>
              <a:srgbClr val="30446A"/>
            </a:solidFill>
            <a:prstDash val="solid"/>
          </a:ln>
        </p:spPr>
      </p:sp>
      <p:sp>
        <p:nvSpPr>
          <p:cNvPr id="50" name="[p6] Forma"/>
          <p:cNvSpPr/>
          <p:nvPr/>
        </p:nvSpPr>
        <p:spPr>
          <a:xfrm>
            <a:off x="5001768" y="3995928"/>
            <a:ext cx="0" cy="1033272"/>
          </a:xfrm>
          <a:prstGeom prst="line">
            <a:avLst/>
          </a:prstGeom>
          <a:noFill/>
          <a:ln w="31750">
            <a:solidFill>
              <a:srgbClr val="30446A"/>
            </a:solidFill>
            <a:prstDash val="solid"/>
          </a:ln>
        </p:spPr>
      </p:sp>
      <p:sp>
        <p:nvSpPr>
          <p:cNvPr id="51" name="[p6] Forma"/>
          <p:cNvSpPr/>
          <p:nvPr/>
        </p:nvSpPr>
        <p:spPr>
          <a:xfrm>
            <a:off x="5001768" y="5029200"/>
            <a:ext cx="448056" cy="0"/>
          </a:xfrm>
          <a:prstGeom prst="line">
            <a:avLst/>
          </a:prstGeom>
          <a:noFill/>
          <a:ln w="31750">
            <a:solidFill>
              <a:srgbClr val="30446A"/>
            </a:solidFill>
            <a:prstDash val="solid"/>
            <a:tailEnd type="triangle"/>
          </a:ln>
        </p:spPr>
      </p:sp>
      <p:sp>
        <p:nvSpPr>
          <p:cNvPr id="52" name="[p6] Forma"/>
          <p:cNvSpPr/>
          <p:nvPr/>
        </p:nvSpPr>
        <p:spPr>
          <a:xfrm>
            <a:off x="4828032" y="4338828"/>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50" b="1" dirty="0">
                <a:solidFill>
                  <a:srgbClr val="FFFFFF"/>
                </a:solidFill>
                <a:latin typeface="Segoe UI Semibold" pitchFamily="34" charset="0"/>
                <a:ea typeface="Segoe UI Semibold" pitchFamily="34" charset="-122"/>
                <a:cs typeface="Segoe UI Semibold" pitchFamily="34" charset="-120"/>
              </a:rPr>
              <a:t>6</a:t>
            </a:r>
            <a:endParaRPr lang="en-US" sz="1250" dirty="0"/>
          </a:p>
        </p:txBody>
      </p:sp>
      <p:sp>
        <p:nvSpPr>
          <p:cNvPr id="53" name="[p6] Forma"/>
          <p:cNvSpPr/>
          <p:nvPr/>
        </p:nvSpPr>
        <p:spPr>
          <a:xfrm>
            <a:off x="2212848" y="4617720"/>
            <a:ext cx="2514600" cy="457200"/>
          </a:xfrm>
          <a:prstGeom prst="rect">
            <a:avLst/>
          </a:prstGeom>
          <a:noFill/>
          <a:ln/>
        </p:spPr>
        <p:txBody>
          <a:bodyPr wrap="square" lIns="0" tIns="0" rIns="0" bIns="0" rtlCol="0" anchor="ctr">
            <a:normAutofit/>
          </a:bodyPr>
          <a:lstStyle/>
          <a:p>
            <a:pPr algn="r" indent="0" marL="0">
              <a:buNone/>
            </a:pPr>
            <a:r>
              <a:rPr lang="en-US" sz="1300" b="1" dirty="0">
                <a:solidFill>
                  <a:srgbClr val="0B2350"/>
                </a:solidFill>
                <a:latin typeface="Segoe UI" pitchFamily="34" charset="0"/>
                <a:ea typeface="Segoe UI" pitchFamily="34" charset="-122"/>
                <a:cs typeface="Segoe UI" pitchFamily="34" charset="-120"/>
              </a:rPr>
              <a:t>consulta los avisos</a:t>
            </a:r>
            <a:endParaRPr lang="en-US" sz="1300" dirty="0"/>
          </a:p>
        </p:txBody>
      </p:sp>
      <p:sp>
        <p:nvSpPr>
          <p:cNvPr id="54" name="[p3] Forma"/>
          <p:cNvSpPr/>
          <p:nvPr/>
        </p:nvSpPr>
        <p:spPr>
          <a:xfrm>
            <a:off x="8165592" y="2450592"/>
            <a:ext cx="1170432" cy="0"/>
          </a:xfrm>
          <a:prstGeom prst="line">
            <a:avLst/>
          </a:prstGeom>
          <a:noFill/>
          <a:ln w="31750">
            <a:solidFill>
              <a:srgbClr val="30446A"/>
            </a:solidFill>
            <a:prstDash val="solid"/>
            <a:tailEnd type="triangle"/>
          </a:ln>
        </p:spPr>
      </p:sp>
      <p:sp>
        <p:nvSpPr>
          <p:cNvPr id="55" name="[p3] Forma"/>
          <p:cNvSpPr/>
          <p:nvPr/>
        </p:nvSpPr>
        <p:spPr>
          <a:xfrm>
            <a:off x="8577072" y="2276856"/>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50" b="1" dirty="0">
                <a:solidFill>
                  <a:srgbClr val="FFFFFF"/>
                </a:solidFill>
                <a:latin typeface="Segoe UI Semibold" pitchFamily="34" charset="0"/>
                <a:ea typeface="Segoe UI Semibold" pitchFamily="34" charset="-122"/>
                <a:cs typeface="Segoe UI Semibold" pitchFamily="34" charset="-120"/>
              </a:rPr>
              <a:t>3</a:t>
            </a:r>
            <a:endParaRPr lang="en-US" sz="1250" dirty="0"/>
          </a:p>
        </p:txBody>
      </p:sp>
      <p:sp>
        <p:nvSpPr>
          <p:cNvPr id="56" name="[p3] Forma"/>
          <p:cNvSpPr/>
          <p:nvPr/>
        </p:nvSpPr>
        <p:spPr>
          <a:xfrm>
            <a:off x="8156448" y="1737360"/>
            <a:ext cx="1188720" cy="512064"/>
          </a:xfrm>
          <a:prstGeom prst="rect">
            <a:avLst/>
          </a:prstGeom>
          <a:noFill/>
          <a:ln/>
        </p:spPr>
        <p:txBody>
          <a:bodyPr wrap="square" lIns="0" tIns="0" rIns="0" bIns="0" rtlCol="0" anchor="ctr">
            <a:normAutofit/>
          </a:bodyPr>
          <a:lstStyle/>
          <a:p>
            <a:pPr algn="ctr" indent="0" marL="0">
              <a:buNone/>
            </a:pPr>
            <a:r>
              <a:rPr lang="en-US" sz="1300" b="1" dirty="0">
                <a:solidFill>
                  <a:srgbClr val="0B2350"/>
                </a:solidFill>
                <a:latin typeface="Segoe UI" pitchFamily="34" charset="0"/>
                <a:ea typeface="Segoe UI" pitchFamily="34" charset="-122"/>
                <a:cs typeface="Segoe UI" pitchFamily="34" charset="-120"/>
              </a:rPr>
              <a:t>guarda</a:t>
            </a:r>
            <a:endParaRPr lang="en-US" sz="1300" dirty="0"/>
          </a:p>
        </p:txBody>
      </p:sp>
      <p:sp>
        <p:nvSpPr>
          <p:cNvPr id="57" name="[p5] Forma"/>
          <p:cNvSpPr/>
          <p:nvPr/>
        </p:nvSpPr>
        <p:spPr>
          <a:xfrm>
            <a:off x="8165592" y="5029200"/>
            <a:ext cx="1170432" cy="0"/>
          </a:xfrm>
          <a:prstGeom prst="line">
            <a:avLst/>
          </a:prstGeom>
          <a:noFill/>
          <a:ln w="31750">
            <a:solidFill>
              <a:srgbClr val="30446A"/>
            </a:solidFill>
            <a:prstDash val="solid"/>
            <a:tailEnd type="triangle"/>
          </a:ln>
        </p:spPr>
      </p:sp>
      <p:sp>
        <p:nvSpPr>
          <p:cNvPr id="58" name="[p5] Forma"/>
          <p:cNvSpPr/>
          <p:nvPr/>
        </p:nvSpPr>
        <p:spPr>
          <a:xfrm>
            <a:off x="8577072" y="4855464"/>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50" b="1" dirty="0">
                <a:solidFill>
                  <a:srgbClr val="FFFFFF"/>
                </a:solidFill>
                <a:latin typeface="Segoe UI Semibold" pitchFamily="34" charset="0"/>
                <a:ea typeface="Segoe UI Semibold" pitchFamily="34" charset="-122"/>
                <a:cs typeface="Segoe UI Semibold" pitchFamily="34" charset="-120"/>
              </a:rPr>
              <a:t>5</a:t>
            </a:r>
            <a:endParaRPr lang="en-US" sz="1250" dirty="0"/>
          </a:p>
        </p:txBody>
      </p:sp>
      <p:sp>
        <p:nvSpPr>
          <p:cNvPr id="59" name="[p5] Forma"/>
          <p:cNvSpPr/>
          <p:nvPr/>
        </p:nvSpPr>
        <p:spPr>
          <a:xfrm>
            <a:off x="8156448" y="4315968"/>
            <a:ext cx="1188720" cy="512064"/>
          </a:xfrm>
          <a:prstGeom prst="rect">
            <a:avLst/>
          </a:prstGeom>
          <a:noFill/>
          <a:ln/>
        </p:spPr>
        <p:txBody>
          <a:bodyPr wrap="square" lIns="0" tIns="0" rIns="0" bIns="0" rtlCol="0" anchor="ctr">
            <a:normAutofit/>
          </a:bodyPr>
          <a:lstStyle/>
          <a:p>
            <a:pPr algn="ctr" indent="0" marL="0">
              <a:buNone/>
            </a:pPr>
            <a:r>
              <a:rPr lang="en-US" sz="1300" b="1" dirty="0">
                <a:solidFill>
                  <a:srgbClr val="0B2350"/>
                </a:solidFill>
                <a:latin typeface="Segoe UI" pitchFamily="34" charset="0"/>
                <a:ea typeface="Segoe UI" pitchFamily="34" charset="-122"/>
                <a:cs typeface="Segoe UI" pitchFamily="34" charset="-120"/>
              </a:rPr>
              <a:t>anota lo recibido</a:t>
            </a:r>
            <a:endParaRPr lang="en-US" sz="1300" dirty="0"/>
          </a:p>
        </p:txBody>
      </p:sp>
      <p:sp>
        <p:nvSpPr>
          <p:cNvPr id="60" name="[p4] Forma"/>
          <p:cNvSpPr/>
          <p:nvPr/>
        </p:nvSpPr>
        <p:spPr>
          <a:xfrm>
            <a:off x="6807708" y="3054096"/>
            <a:ext cx="0" cy="1371600"/>
          </a:xfrm>
          <a:prstGeom prst="line">
            <a:avLst/>
          </a:prstGeom>
          <a:noFill/>
          <a:ln w="38100">
            <a:solidFill>
              <a:srgbClr val="0B6E8A"/>
            </a:solidFill>
            <a:prstDash val="dash"/>
            <a:tailEnd type="triangle"/>
          </a:ln>
        </p:spPr>
      </p:sp>
      <p:sp>
        <p:nvSpPr>
          <p:cNvPr id="61" name="[p4] Forma"/>
          <p:cNvSpPr/>
          <p:nvPr/>
        </p:nvSpPr>
        <p:spPr>
          <a:xfrm>
            <a:off x="6633972" y="3566160"/>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50" b="1" dirty="0">
                <a:solidFill>
                  <a:srgbClr val="FFFFFF"/>
                </a:solidFill>
                <a:latin typeface="Segoe UI Semibold" pitchFamily="34" charset="0"/>
                <a:ea typeface="Segoe UI Semibold" pitchFamily="34" charset="-122"/>
                <a:cs typeface="Segoe UI Semibold" pitchFamily="34" charset="-120"/>
              </a:rPr>
              <a:t>4</a:t>
            </a:r>
            <a:endParaRPr lang="en-US" sz="1250" dirty="0"/>
          </a:p>
        </p:txBody>
      </p:sp>
      <p:sp>
        <p:nvSpPr>
          <p:cNvPr id="62" name="[p4] Forma"/>
          <p:cNvSpPr/>
          <p:nvPr/>
        </p:nvSpPr>
        <p:spPr>
          <a:xfrm>
            <a:off x="5276088" y="3575304"/>
            <a:ext cx="1303020" cy="329184"/>
          </a:xfrm>
          <a:prstGeom prst="rect">
            <a:avLst/>
          </a:prstGeom>
          <a:noFill/>
          <a:ln/>
        </p:spPr>
        <p:txBody>
          <a:bodyPr wrap="square" lIns="0" tIns="0" rIns="0" bIns="0" rtlCol="0" anchor="ctr">
            <a:normAutofit/>
          </a:bodyPr>
          <a:lstStyle/>
          <a:p>
            <a:pPr algn="r" indent="0" marL="0">
              <a:buNone/>
            </a:pPr>
            <a:r>
              <a:rPr lang="en-US" sz="1300" b="1" dirty="0">
                <a:solidFill>
                  <a:srgbClr val="0B6E8A"/>
                </a:solidFill>
                <a:latin typeface="Segoe UI" pitchFamily="34" charset="0"/>
                <a:ea typeface="Segoe UI" pitchFamily="34" charset="-122"/>
                <a:cs typeface="Segoe UI" pitchFamily="34" charset="-120"/>
              </a:rPr>
              <a:t>avisa después</a:t>
            </a:r>
            <a:endParaRPr lang="en-US" sz="1300" dirty="0"/>
          </a:p>
        </p:txBody>
      </p:sp>
      <p:sp>
        <p:nvSpPr>
          <p:cNvPr id="63" name="[p4] Forma"/>
          <p:cNvSpPr/>
          <p:nvPr/>
        </p:nvSpPr>
        <p:spPr>
          <a:xfrm>
            <a:off x="7173468" y="3364992"/>
            <a:ext cx="2880360" cy="749808"/>
          </a:xfrm>
          <a:prstGeom prst="roundRect">
            <a:avLst>
              <a:gd name="adj" fmla="val 14634"/>
            </a:avLst>
          </a:prstGeom>
          <a:solidFill>
            <a:srgbClr val="E3F4FA"/>
          </a:solidFill>
          <a:ln w="15875">
            <a:solidFill>
              <a:srgbClr val="2BA6CB"/>
            </a:solidFill>
            <a:prstDash val="dash"/>
          </a:ln>
        </p:spPr>
      </p:sp>
      <p:sp>
        <p:nvSpPr>
          <p:cNvPr id="64" name="[p4] Icono mail"/>
          <p:cNvSpPr/>
          <p:nvPr/>
        </p:nvSpPr>
        <p:spPr>
          <a:xfrm>
            <a:off x="7319772" y="3557016"/>
            <a:ext cx="365760" cy="365760"/>
          </a:xfrm>
          <a:custGeom>
            <a:avLst/>
            <a:gdLst/>
            <a:ahLst/>
            <a:cxnLst/>
            <a:rect l="l" t="t" r="r" b="b"/>
            <a:pathLst>
              <a:path w="365760" h="365760">
                <a:moveTo>
                  <a:pt x="60960" y="60960"/>
                </a:moveTo>
                <a:lnTo>
                  <a:pt x="304800" y="60960"/>
                </a:lnTo>
                <a:cubicBezTo>
                  <a:pt x="321634" y="60960"/>
                  <a:pt x="335280" y="74606"/>
                  <a:pt x="335280" y="91440"/>
                </a:cubicBezTo>
                <a:lnTo>
                  <a:pt x="335280" y="274320"/>
                </a:lnTo>
                <a:cubicBezTo>
                  <a:pt x="335280" y="291154"/>
                  <a:pt x="321634" y="304800"/>
                  <a:pt x="304800" y="304800"/>
                </a:cubicBezTo>
                <a:lnTo>
                  <a:pt x="60960" y="304800"/>
                </a:lnTo>
                <a:cubicBezTo>
                  <a:pt x="44126" y="304800"/>
                  <a:pt x="30480" y="291154"/>
                  <a:pt x="30480" y="274320"/>
                </a:cubicBezTo>
                <a:lnTo>
                  <a:pt x="30480" y="91440"/>
                </a:lnTo>
                <a:cubicBezTo>
                  <a:pt x="30480" y="74606"/>
                  <a:pt x="44126" y="60960"/>
                  <a:pt x="60960" y="60960"/>
                </a:cubicBezTo>
                <a:close/>
                <a:moveTo>
                  <a:pt x="335280" y="106680"/>
                </a:moveTo>
                <a:lnTo>
                  <a:pt x="198577" y="193548"/>
                </a:lnTo>
                <a:cubicBezTo>
                  <a:pt x="188977" y="199563"/>
                  <a:pt x="176783" y="199563"/>
                  <a:pt x="167183" y="193548"/>
                </a:cubicBezTo>
                <a:lnTo>
                  <a:pt x="30480" y="106680"/>
                </a:lnTo>
              </a:path>
            </a:pathLst>
          </a:custGeom>
          <a:noFill/>
          <a:ln w="30480" cap="rnd">
            <a:solidFill>
              <a:srgbClr val="0B6E8A"/>
            </a:solidFill>
            <a:prstDash val="solid"/>
            <a:round/>
          </a:ln>
        </p:spPr>
      </p:sp>
      <p:sp>
        <p:nvSpPr>
          <p:cNvPr id="65" name="[p4] Forma"/>
          <p:cNvSpPr/>
          <p:nvPr/>
        </p:nvSpPr>
        <p:spPr>
          <a:xfrm>
            <a:off x="7795260" y="3438144"/>
            <a:ext cx="2148840" cy="219456"/>
          </a:xfrm>
          <a:prstGeom prst="rect">
            <a:avLst/>
          </a:prstGeom>
          <a:noFill/>
          <a:ln/>
        </p:spPr>
        <p:txBody>
          <a:bodyPr wrap="square" lIns="0" tIns="0" rIns="0" bIns="0" rtlCol="0" anchor="t">
            <a:normAutofit/>
          </a:bodyPr>
          <a:lstStyle/>
          <a:p>
            <a:pPr algn="l" indent="0" marL="0">
              <a:buNone/>
            </a:pPr>
            <a:r>
              <a:rPr lang="en-US" sz="950" b="1" dirty="0">
                <a:solidFill>
                  <a:srgbClr val="0B6E8A"/>
                </a:solidFill>
                <a:latin typeface="Segoe UI" pitchFamily="34" charset="0"/>
                <a:ea typeface="Segoe UI" pitchFamily="34" charset="-122"/>
                <a:cs typeface="Segoe UI" pitchFamily="34" charset="-120"/>
              </a:rPr>
              <a:t>EL DATO QUE VIAJA</a:t>
            </a:r>
            <a:endParaRPr lang="en-US" sz="950" dirty="0"/>
          </a:p>
        </p:txBody>
      </p:sp>
      <p:sp>
        <p:nvSpPr>
          <p:cNvPr id="66" name="[p4] Forma"/>
          <p:cNvSpPr/>
          <p:nvPr/>
        </p:nvSpPr>
        <p:spPr>
          <a:xfrm>
            <a:off x="7795260" y="3639312"/>
            <a:ext cx="2148840" cy="420624"/>
          </a:xfrm>
          <a:prstGeom prst="rect">
            <a:avLst/>
          </a:prstGeom>
          <a:noFill/>
          <a:ln/>
        </p:spPr>
        <p:txBody>
          <a:bodyPr wrap="square" lIns="0" tIns="0" rIns="0" bIns="0" rtlCol="0" anchor="ctr">
            <a:normAutofit/>
          </a:bodyPr>
          <a:lstStyle/>
          <a:p>
            <a:pPr algn="l" indent="0" marL="0">
              <a:buNone/>
            </a:pPr>
            <a:r>
              <a:rPr lang="en-US" sz="1200" dirty="0">
                <a:solidFill>
                  <a:srgbClr val="0B1A3C"/>
                </a:solidFill>
                <a:latin typeface="Segoe UI" pitchFamily="34" charset="0"/>
                <a:ea typeface="Segoe UI" pitchFamily="34" charset="-122"/>
                <a:cs typeface="Segoe UI" pitchFamily="34" charset="-120"/>
              </a:rPr>
              <a:t>SolicitudEnviada: eventoId, id y tipo</a:t>
            </a:r>
            <a:endParaRPr lang="en-US" sz="1200" dirty="0"/>
          </a:p>
        </p:txBody>
      </p:sp>
      <p:sp>
        <p:nvSpPr>
          <p:cNvPr id="67" name="[p7] Forma"/>
          <p:cNvSpPr/>
          <p:nvPr/>
        </p:nvSpPr>
        <p:spPr>
          <a:xfrm>
            <a:off x="10484968" y="3072384"/>
            <a:ext cx="0" cy="1335024"/>
          </a:xfrm>
          <a:prstGeom prst="line">
            <a:avLst/>
          </a:prstGeom>
          <a:noFill/>
          <a:ln w="25400">
            <a:solidFill>
              <a:srgbClr val="DFE6F0"/>
            </a:solidFill>
            <a:prstDash val="sysDot"/>
          </a:ln>
        </p:spPr>
      </p:sp>
      <p:sp>
        <p:nvSpPr>
          <p:cNvPr id="68" name="[p7] Forma"/>
          <p:cNvSpPr/>
          <p:nvPr/>
        </p:nvSpPr>
        <p:spPr>
          <a:xfrm>
            <a:off x="10247224" y="3502152"/>
            <a:ext cx="475488" cy="475488"/>
          </a:xfrm>
          <a:prstGeom prst="ellipse">
            <a:avLst/>
          </a:prstGeom>
          <a:solidFill>
            <a:srgbClr val="F7E3E7"/>
          </a:solidFill>
          <a:ln w="12700">
            <a:solidFill>
              <a:srgbClr val="F7E3E7"/>
            </a:solidFill>
            <a:prstDash val="solid"/>
          </a:ln>
        </p:spPr>
      </p:sp>
      <p:sp>
        <p:nvSpPr>
          <p:cNvPr id="69" name="[p7] Icono ban"/>
          <p:cNvSpPr/>
          <p:nvPr/>
        </p:nvSpPr>
        <p:spPr>
          <a:xfrm>
            <a:off x="10361341" y="3616269"/>
            <a:ext cx="247254" cy="247254"/>
          </a:xfrm>
          <a:custGeom>
            <a:avLst/>
            <a:gdLst/>
            <a:ahLst/>
            <a:cxnLst/>
            <a:rect l="l" t="t" r="r" b="b"/>
            <a:pathLst>
              <a:path w="247254" h="247254">
                <a:moveTo>
                  <a:pt x="226649" y="123627"/>
                </a:moveTo>
                <a:cubicBezTo>
                  <a:pt x="226649" y="180525"/>
                  <a:pt x="180525" y="226649"/>
                  <a:pt x="123627" y="226649"/>
                </a:cubicBezTo>
                <a:cubicBezTo>
                  <a:pt x="66729" y="226649"/>
                  <a:pt x="20604" y="180525"/>
                  <a:pt x="20604" y="123627"/>
                </a:cubicBezTo>
                <a:cubicBezTo>
                  <a:pt x="20604" y="66729"/>
                  <a:pt x="66729" y="20604"/>
                  <a:pt x="123627" y="20604"/>
                </a:cubicBezTo>
                <a:cubicBezTo>
                  <a:pt x="180525" y="20604"/>
                  <a:pt x="226649" y="66729"/>
                  <a:pt x="226649" y="123627"/>
                </a:cubicBezTo>
                <a:close/>
                <a:moveTo>
                  <a:pt x="50481" y="50481"/>
                </a:moveTo>
                <a:lnTo>
                  <a:pt x="196773" y="196773"/>
                </a:lnTo>
              </a:path>
            </a:pathLst>
          </a:custGeom>
          <a:noFill/>
          <a:ln w="20604" cap="rnd">
            <a:solidFill>
              <a:srgbClr val="AB243E"/>
            </a:solidFill>
            <a:prstDash val="solid"/>
            <a:round/>
          </a:ln>
        </p:spPr>
      </p:sp>
      <p:sp>
        <p:nvSpPr>
          <p:cNvPr id="70" name="[p7] Forma"/>
          <p:cNvSpPr/>
          <p:nvPr/>
        </p:nvSpPr>
        <p:spPr>
          <a:xfrm>
            <a:off x="612648" y="5897880"/>
            <a:ext cx="10966399" cy="457200"/>
          </a:xfrm>
          <a:prstGeom prst="roundRect">
            <a:avLst>
              <a:gd name="adj" fmla="val 20000"/>
            </a:avLst>
          </a:prstGeom>
          <a:solidFill>
            <a:srgbClr val="F4F7FB"/>
          </a:solidFill>
          <a:ln w="9525">
            <a:solidFill>
              <a:srgbClr val="DFE6F0"/>
            </a:solidFill>
            <a:prstDash val="solid"/>
          </a:ln>
        </p:spPr>
      </p:sp>
      <p:sp>
        <p:nvSpPr>
          <p:cNvPr id="71" name="[p7] Icono shield-check"/>
          <p:cNvSpPr/>
          <p:nvPr/>
        </p:nvSpPr>
        <p:spPr>
          <a:xfrm>
            <a:off x="795528" y="5989320"/>
            <a:ext cx="274320" cy="274320"/>
          </a:xfrm>
          <a:custGeom>
            <a:avLst/>
            <a:gdLst/>
            <a:ahLst/>
            <a:cxnLst/>
            <a:rect l="l" t="t" r="r" b="b"/>
            <a:pathLst>
              <a:path w="274320" h="274320">
                <a:moveTo>
                  <a:pt x="228600" y="148590"/>
                </a:moveTo>
                <a:cubicBezTo>
                  <a:pt x="228600" y="205740"/>
                  <a:pt x="188595" y="234315"/>
                  <a:pt x="141046" y="250888"/>
                </a:cubicBezTo>
                <a:cubicBezTo>
                  <a:pt x="138556" y="251732"/>
                  <a:pt x="135852" y="251692"/>
                  <a:pt x="133388" y="250774"/>
                </a:cubicBezTo>
                <a:cubicBezTo>
                  <a:pt x="85725" y="234315"/>
                  <a:pt x="45720" y="205740"/>
                  <a:pt x="45720" y="148590"/>
                </a:cubicBezTo>
                <a:lnTo>
                  <a:pt x="45720" y="68580"/>
                </a:lnTo>
                <a:cubicBezTo>
                  <a:pt x="45720" y="62267"/>
                  <a:pt x="50837" y="57150"/>
                  <a:pt x="57150" y="57150"/>
                </a:cubicBezTo>
                <a:cubicBezTo>
                  <a:pt x="80010" y="57150"/>
                  <a:pt x="108585" y="43434"/>
                  <a:pt x="128473" y="26060"/>
                </a:cubicBezTo>
                <a:cubicBezTo>
                  <a:pt x="133476" y="21786"/>
                  <a:pt x="140844" y="21786"/>
                  <a:pt x="145847" y="26060"/>
                </a:cubicBezTo>
                <a:cubicBezTo>
                  <a:pt x="165849" y="43548"/>
                  <a:pt x="194310" y="57150"/>
                  <a:pt x="217170" y="57150"/>
                </a:cubicBezTo>
                <a:cubicBezTo>
                  <a:pt x="223483" y="57150"/>
                  <a:pt x="228600" y="62267"/>
                  <a:pt x="228600" y="68580"/>
                </a:cubicBezTo>
                <a:close/>
                <a:moveTo>
                  <a:pt x="102870" y="137160"/>
                </a:moveTo>
                <a:lnTo>
                  <a:pt x="125730" y="160020"/>
                </a:lnTo>
                <a:lnTo>
                  <a:pt x="171450" y="114300"/>
                </a:lnTo>
              </a:path>
            </a:pathLst>
          </a:custGeom>
          <a:noFill/>
          <a:ln w="22860" cap="rnd">
            <a:solidFill>
              <a:srgbClr val="0A6648"/>
            </a:solidFill>
            <a:prstDash val="solid"/>
            <a:round/>
          </a:ln>
        </p:spPr>
      </p:sp>
      <p:sp>
        <p:nvSpPr>
          <p:cNvPr id="72" name="[p7] Forma"/>
          <p:cNvSpPr/>
          <p:nvPr/>
        </p:nvSpPr>
        <p:spPr>
          <a:xfrm>
            <a:off x="1207008" y="5897880"/>
            <a:ext cx="10189159" cy="457200"/>
          </a:xfrm>
          <a:prstGeom prst="rect">
            <a:avLst/>
          </a:prstGeom>
          <a:noFill/>
          <a:ln/>
        </p:spPr>
        <p:txBody>
          <a:bodyPr wrap="square" lIns="0" tIns="0" rIns="0" bIns="0" rtlCol="0" anchor="ctr">
            <a:normAutofit/>
          </a:bodyPr>
          <a:lstStyle/>
          <a:p>
            <a:pPr algn="l" indent="0" marL="0">
              <a:buNone/>
            </a:pPr>
            <a:r>
              <a:rPr lang="en-US" sz="1400" b="1" dirty="0">
                <a:solidFill>
                  <a:srgbClr val="0B1A3C"/>
                </a:solidFill>
                <a:latin typeface="Segoe UI" pitchFamily="34" charset="0"/>
                <a:ea typeface="Segoe UI" pitchFamily="34" charset="-122"/>
                <a:cs typeface="Segoe UI" pitchFamily="34" charset="-120"/>
              </a:rPr>
              <a:t>Ninguna flecha une las dos bases: cada servicio es dueño de sus datos.</a:t>
            </a:r>
            <a:endParaRPr lang="en-US" sz="1400" dirty="0"/>
          </a:p>
        </p:txBody>
      </p:sp>
      <p:sp>
        <p:nvSpPr>
          <p:cNvPr id="73" name="Text 71"/>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ARQUITECTURA</a:t>
            </a:r>
            <a:endParaRPr lang="en-US" sz="800" dirty="0"/>
          </a:p>
        </p:txBody>
      </p:sp>
      <p:sp>
        <p:nvSpPr>
          <p:cNvPr id="74"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41"/>
                                        </p:tgtEl>
                                        <p:attrNameLst>
                                          <p:attrName>style.visibility</p:attrName>
                                        </p:attrNameLst>
                                      </p:cBhvr>
                                      <p:to>
                                        <p:strVal val="visible"/>
                                      </p:to>
                                    </p:set>
                                    <p:animEffect transition="in" filter="fade">
                                      <p:cBhvr>
                                        <p:cTn id="5" dur="400"/>
                                        <p:tgtEl>
                                          <p:spTgt spid="4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42"/>
                                        </p:tgtEl>
                                        <p:attrNameLst>
                                          <p:attrName>style.visibility</p:attrName>
                                        </p:attrNameLst>
                                      </p:cBhvr>
                                      <p:to>
                                        <p:strVal val="visible"/>
                                      </p:to>
                                    </p:set>
                                    <p:animEffect transition="in" filter="fade">
                                      <p:cBhvr>
                                        <p:cTn id="8" dur="400"/>
                                        <p:tgtEl>
                                          <p:spTgt spid="42"/>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3"/>
                                        </p:tgtEl>
                                        <p:attrNameLst>
                                          <p:attrName>style.visibility</p:attrName>
                                        </p:attrNameLst>
                                      </p:cBhvr>
                                      <p:to>
                                        <p:strVal val="visible"/>
                                      </p:to>
                                    </p:set>
                                    <p:animEffect transition="in" filter="fade">
                                      <p:cBhvr>
                                        <p:cTn id="11" dur="400"/>
                                        <p:tgtEl>
                                          <p:spTgt spid="43"/>
                                        </p:tgtEl>
                                      </p:cBhvr>
                                    </p:animEffect>
                                  </p:childTnLst>
                                </p:cTn>
                              </p:par>
                            </p:childTnLst>
                          </p:cTn>
                        </p:par>
                      </p:childTnLst>
                    </p:cTn>
                  </p:par>
                  <p:par>
                    <p:cTn id="29" fill="hold">
                      <p:stCondLst>
                        <p:cond delay="indefinite"/>
                      </p:stCondLst>
                      <p:childTnLst>
                        <p:par>
                          <p:cTn id="30"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44"/>
                                        </p:tgtEl>
                                        <p:attrNameLst>
                                          <p:attrName>style.visibility</p:attrName>
                                        </p:attrNameLst>
                                      </p:cBhvr>
                                      <p:to>
                                        <p:strVal val="visible"/>
                                      </p:to>
                                    </p:set>
                                    <p:animEffect transition="in" filter="fade">
                                      <p:cBhvr>
                                        <p:cTn id="16" dur="400"/>
                                        <p:tgtEl>
                                          <p:spTgt spid="4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5"/>
                                        </p:tgtEl>
                                        <p:attrNameLst>
                                          <p:attrName>style.visibility</p:attrName>
                                        </p:attrNameLst>
                                      </p:cBhvr>
                                      <p:to>
                                        <p:strVal val="visible"/>
                                      </p:to>
                                    </p:set>
                                    <p:animEffect transition="in" filter="fade">
                                      <p:cBhvr>
                                        <p:cTn id="19" dur="400"/>
                                        <p:tgtEl>
                                          <p:spTgt spid="4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46"/>
                                        </p:tgtEl>
                                        <p:attrNameLst>
                                          <p:attrName>style.visibility</p:attrName>
                                        </p:attrNameLst>
                                      </p:cBhvr>
                                      <p:to>
                                        <p:strVal val="visible"/>
                                      </p:to>
                                    </p:set>
                                    <p:animEffect transition="in" filter="fade">
                                      <p:cBhvr>
                                        <p:cTn id="22" dur="400"/>
                                        <p:tgtEl>
                                          <p:spTgt spid="4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47"/>
                                        </p:tgtEl>
                                        <p:attrNameLst>
                                          <p:attrName>style.visibility</p:attrName>
                                        </p:attrNameLst>
                                      </p:cBhvr>
                                      <p:to>
                                        <p:strVal val="visible"/>
                                      </p:to>
                                    </p:set>
                                    <p:animEffect transition="in" filter="fade">
                                      <p:cBhvr>
                                        <p:cTn id="25" dur="400"/>
                                        <p:tgtEl>
                                          <p:spTgt spid="4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48"/>
                                        </p:tgtEl>
                                        <p:attrNameLst>
                                          <p:attrName>style.visibility</p:attrName>
                                        </p:attrNameLst>
                                      </p:cBhvr>
                                      <p:to>
                                        <p:strVal val="visible"/>
                                      </p:to>
                                    </p:set>
                                    <p:animEffect transition="in" filter="fade">
                                      <p:cBhvr>
                                        <p:cTn id="28" dur="400"/>
                                        <p:tgtEl>
                                          <p:spTgt spid="48"/>
                                        </p:tgtEl>
                                      </p:cBhvr>
                                    </p:animEffect>
                                  </p:childTnLst>
                                </p:cTn>
                              </p:par>
                            </p:childTnLst>
                          </p:cTn>
                        </p:par>
                      </p:childTnLst>
                    </p:cTn>
                  </p:par>
                  <p:par>
                    <p:cTn id="40" fill="hold">
                      <p:stCondLst>
                        <p:cond delay="indefinite"/>
                      </p:stCondLst>
                      <p:childTnLst>
                        <p:par>
                          <p:cTn id="41"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54"/>
                                        </p:tgtEl>
                                        <p:attrNameLst>
                                          <p:attrName>style.visibility</p:attrName>
                                        </p:attrNameLst>
                                      </p:cBhvr>
                                      <p:to>
                                        <p:strVal val="visible"/>
                                      </p:to>
                                    </p:set>
                                    <p:animEffect transition="in" filter="fade">
                                      <p:cBhvr>
                                        <p:cTn id="33" dur="400"/>
                                        <p:tgtEl>
                                          <p:spTgt spid="5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55"/>
                                        </p:tgtEl>
                                        <p:attrNameLst>
                                          <p:attrName>style.visibility</p:attrName>
                                        </p:attrNameLst>
                                      </p:cBhvr>
                                      <p:to>
                                        <p:strVal val="visible"/>
                                      </p:to>
                                    </p:set>
                                    <p:animEffect transition="in" filter="fade">
                                      <p:cBhvr>
                                        <p:cTn id="36" dur="400"/>
                                        <p:tgtEl>
                                          <p:spTgt spid="55"/>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56"/>
                                        </p:tgtEl>
                                        <p:attrNameLst>
                                          <p:attrName>style.visibility</p:attrName>
                                        </p:attrNameLst>
                                      </p:cBhvr>
                                      <p:to>
                                        <p:strVal val="visible"/>
                                      </p:to>
                                    </p:set>
                                    <p:animEffect transition="in" filter="fade">
                                      <p:cBhvr>
                                        <p:cTn id="39" dur="400"/>
                                        <p:tgtEl>
                                          <p:spTgt spid="56"/>
                                        </p:tgtEl>
                                      </p:cBhvr>
                                    </p:animEffect>
                                  </p:childTnLst>
                                </p:cTn>
                              </p:par>
                            </p:childTnLst>
                          </p:cTn>
                        </p:par>
                      </p:childTnLst>
                    </p:cTn>
                  </p:par>
                  <p:par>
                    <p:cTn id="63" fill="hold">
                      <p:stCondLst>
                        <p:cond delay="indefinite"/>
                      </p:stCondLst>
                      <p:childTnLst>
                        <p:par>
                          <p:cTn id="64"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60"/>
                                        </p:tgtEl>
                                        <p:attrNameLst>
                                          <p:attrName>style.visibility</p:attrName>
                                        </p:attrNameLst>
                                      </p:cBhvr>
                                      <p:to>
                                        <p:strVal val="visible"/>
                                      </p:to>
                                    </p:set>
                                    <p:animEffect transition="in" filter="fade">
                                      <p:cBhvr>
                                        <p:cTn id="44" dur="400"/>
                                        <p:tgtEl>
                                          <p:spTgt spid="60"/>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61"/>
                                        </p:tgtEl>
                                        <p:attrNameLst>
                                          <p:attrName>style.visibility</p:attrName>
                                        </p:attrNameLst>
                                      </p:cBhvr>
                                      <p:to>
                                        <p:strVal val="visible"/>
                                      </p:to>
                                    </p:set>
                                    <p:animEffect transition="in" filter="fade">
                                      <p:cBhvr>
                                        <p:cTn id="47" dur="400"/>
                                        <p:tgtEl>
                                          <p:spTgt spid="61"/>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62"/>
                                        </p:tgtEl>
                                        <p:attrNameLst>
                                          <p:attrName>style.visibility</p:attrName>
                                        </p:attrNameLst>
                                      </p:cBhvr>
                                      <p:to>
                                        <p:strVal val="visible"/>
                                      </p:to>
                                    </p:set>
                                    <p:animEffect transition="in" filter="fade">
                                      <p:cBhvr>
                                        <p:cTn id="50" dur="400"/>
                                        <p:tgtEl>
                                          <p:spTgt spid="62"/>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63"/>
                                        </p:tgtEl>
                                        <p:attrNameLst>
                                          <p:attrName>style.visibility</p:attrName>
                                        </p:attrNameLst>
                                      </p:cBhvr>
                                      <p:to>
                                        <p:strVal val="visible"/>
                                      </p:to>
                                    </p:set>
                                    <p:animEffect transition="in" filter="fade">
                                      <p:cBhvr>
                                        <p:cTn id="53" dur="400"/>
                                        <p:tgtEl>
                                          <p:spTgt spid="63"/>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64"/>
                                        </p:tgtEl>
                                        <p:attrNameLst>
                                          <p:attrName>style.visibility</p:attrName>
                                        </p:attrNameLst>
                                      </p:cBhvr>
                                      <p:to>
                                        <p:strVal val="visible"/>
                                      </p:to>
                                    </p:set>
                                    <p:animEffect transition="in" filter="fade">
                                      <p:cBhvr>
                                        <p:cTn id="56" dur="400"/>
                                        <p:tgtEl>
                                          <p:spTgt spid="64"/>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65"/>
                                        </p:tgtEl>
                                        <p:attrNameLst>
                                          <p:attrName>style.visibility</p:attrName>
                                        </p:attrNameLst>
                                      </p:cBhvr>
                                      <p:to>
                                        <p:strVal val="visible"/>
                                      </p:to>
                                    </p:set>
                                    <p:animEffect transition="in" filter="fade">
                                      <p:cBhvr>
                                        <p:cTn id="59" dur="400"/>
                                        <p:tgtEl>
                                          <p:spTgt spid="65"/>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66"/>
                                        </p:tgtEl>
                                        <p:attrNameLst>
                                          <p:attrName>style.visibility</p:attrName>
                                        </p:attrNameLst>
                                      </p:cBhvr>
                                      <p:to>
                                        <p:strVal val="visible"/>
                                      </p:to>
                                    </p:set>
                                    <p:animEffect transition="in" filter="fade">
                                      <p:cBhvr>
                                        <p:cTn id="62" dur="400"/>
                                        <p:tgtEl>
                                          <p:spTgt spid="66"/>
                                        </p:tgtEl>
                                      </p:cBhvr>
                                    </p:animEffect>
                                  </p:childTnLst>
                                </p:cTn>
                              </p:par>
                            </p:childTnLst>
                          </p:cTn>
                        </p:par>
                      </p:childTnLst>
                    </p:cTn>
                  </p:par>
                  <p:par>
                    <p:cTn id="74" fill="hold">
                      <p:stCondLst>
                        <p:cond delay="indefinite"/>
                      </p:stCondLst>
                      <p:childTnLst>
                        <p:par>
                          <p:cTn id="75"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57"/>
                                        </p:tgtEl>
                                        <p:attrNameLst>
                                          <p:attrName>style.visibility</p:attrName>
                                        </p:attrNameLst>
                                      </p:cBhvr>
                                      <p:to>
                                        <p:strVal val="visible"/>
                                      </p:to>
                                    </p:set>
                                    <p:animEffect transition="in" filter="fade">
                                      <p:cBhvr>
                                        <p:cTn id="67" dur="400"/>
                                        <p:tgtEl>
                                          <p:spTgt spid="57"/>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58"/>
                                        </p:tgtEl>
                                        <p:attrNameLst>
                                          <p:attrName>style.visibility</p:attrName>
                                        </p:attrNameLst>
                                      </p:cBhvr>
                                      <p:to>
                                        <p:strVal val="visible"/>
                                      </p:to>
                                    </p:set>
                                    <p:animEffect transition="in" filter="fade">
                                      <p:cBhvr>
                                        <p:cTn id="70" dur="400"/>
                                        <p:tgtEl>
                                          <p:spTgt spid="58"/>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59"/>
                                        </p:tgtEl>
                                        <p:attrNameLst>
                                          <p:attrName>style.visibility</p:attrName>
                                        </p:attrNameLst>
                                      </p:cBhvr>
                                      <p:to>
                                        <p:strVal val="visible"/>
                                      </p:to>
                                    </p:set>
                                    <p:animEffect transition="in" filter="fade">
                                      <p:cBhvr>
                                        <p:cTn id="73" dur="400"/>
                                        <p:tgtEl>
                                          <p:spTgt spid="59"/>
                                        </p:tgtEl>
                                      </p:cBhvr>
                                    </p:animEffect>
                                  </p:childTnLst>
                                </p:cTn>
                              </p:par>
                            </p:childTnLst>
                          </p:cTn>
                        </p:par>
                      </p:childTnLst>
                    </p:cTn>
                  </p:par>
                  <p:par>
                    <p:cTn id="91" fill="hold">
                      <p:stCondLst>
                        <p:cond delay="indefinite"/>
                      </p:stCondLst>
                      <p:childTnLst>
                        <p:par>
                          <p:cTn id="92"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49"/>
                                        </p:tgtEl>
                                        <p:attrNameLst>
                                          <p:attrName>style.visibility</p:attrName>
                                        </p:attrNameLst>
                                      </p:cBhvr>
                                      <p:to>
                                        <p:strVal val="visible"/>
                                      </p:to>
                                    </p:set>
                                    <p:animEffect transition="in" filter="fade">
                                      <p:cBhvr>
                                        <p:cTn id="78" dur="400"/>
                                        <p:tgtEl>
                                          <p:spTgt spid="49"/>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50"/>
                                        </p:tgtEl>
                                        <p:attrNameLst>
                                          <p:attrName>style.visibility</p:attrName>
                                        </p:attrNameLst>
                                      </p:cBhvr>
                                      <p:to>
                                        <p:strVal val="visible"/>
                                      </p:to>
                                    </p:set>
                                    <p:animEffect transition="in" filter="fade">
                                      <p:cBhvr>
                                        <p:cTn id="81" dur="400"/>
                                        <p:tgtEl>
                                          <p:spTgt spid="50"/>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51"/>
                                        </p:tgtEl>
                                        <p:attrNameLst>
                                          <p:attrName>style.visibility</p:attrName>
                                        </p:attrNameLst>
                                      </p:cBhvr>
                                      <p:to>
                                        <p:strVal val="visible"/>
                                      </p:to>
                                    </p:set>
                                    <p:animEffect transition="in" filter="fade">
                                      <p:cBhvr>
                                        <p:cTn id="84" dur="400"/>
                                        <p:tgtEl>
                                          <p:spTgt spid="51"/>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52"/>
                                        </p:tgtEl>
                                        <p:attrNameLst>
                                          <p:attrName>style.visibility</p:attrName>
                                        </p:attrNameLst>
                                      </p:cBhvr>
                                      <p:to>
                                        <p:strVal val="visible"/>
                                      </p:to>
                                    </p:set>
                                    <p:animEffect transition="in" filter="fade">
                                      <p:cBhvr>
                                        <p:cTn id="87" dur="400"/>
                                        <p:tgtEl>
                                          <p:spTgt spid="52"/>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53"/>
                                        </p:tgtEl>
                                        <p:attrNameLst>
                                          <p:attrName>style.visibility</p:attrName>
                                        </p:attrNameLst>
                                      </p:cBhvr>
                                      <p:to>
                                        <p:strVal val="visible"/>
                                      </p:to>
                                    </p:set>
                                    <p:animEffect transition="in" filter="fade">
                                      <p:cBhvr>
                                        <p:cTn id="90" dur="400"/>
                                        <p:tgtEl>
                                          <p:spTgt spid="53"/>
                                        </p:tgtEl>
                                      </p:cBhvr>
                                    </p:animEffect>
                                  </p:childTnLst>
                                </p:cTn>
                              </p:par>
                            </p:childTnLst>
                          </p:cTn>
                        </p:par>
                      </p:childTnLst>
                    </p:cTn>
                  </p:par>
                  <p:par>
                    <p:cTn id="111" fill="hold">
                      <p:stCondLst>
                        <p:cond delay="indefinite"/>
                      </p:stCondLst>
                      <p:childTnLst>
                        <p:par>
                          <p:cTn id="112" fill="hold">
                            <p:stCondLst>
                              <p:cond delay="0"/>
                            </p:stCondLst>
                            <p:childTnLst>
                              <p:par>
                                <p:cTn id="93" presetID="10" presetClass="entr" presetSubtype="0" fill="hold" grpId="0" nodeType="clickEffect">
                                  <p:stCondLst>
                                    <p:cond delay="0"/>
                                  </p:stCondLst>
                                  <p:childTnLst>
                                    <p:set>
                                      <p:cBhvr>
                                        <p:cTn id="94" dur="1" fill="hold">
                                          <p:stCondLst>
                                            <p:cond delay="0"/>
                                          </p:stCondLst>
                                        </p:cTn>
                                        <p:tgtEl>
                                          <p:spTgt spid="67"/>
                                        </p:tgtEl>
                                        <p:attrNameLst>
                                          <p:attrName>style.visibility</p:attrName>
                                        </p:attrNameLst>
                                      </p:cBhvr>
                                      <p:to>
                                        <p:strVal val="visible"/>
                                      </p:to>
                                    </p:set>
                                    <p:animEffect transition="in" filter="fade">
                                      <p:cBhvr>
                                        <p:cTn id="95" dur="400"/>
                                        <p:tgtEl>
                                          <p:spTgt spid="67"/>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68"/>
                                        </p:tgtEl>
                                        <p:attrNameLst>
                                          <p:attrName>style.visibility</p:attrName>
                                        </p:attrNameLst>
                                      </p:cBhvr>
                                      <p:to>
                                        <p:strVal val="visible"/>
                                      </p:to>
                                    </p:set>
                                    <p:animEffect transition="in" filter="fade">
                                      <p:cBhvr>
                                        <p:cTn id="98" dur="400"/>
                                        <p:tgtEl>
                                          <p:spTgt spid="68"/>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69"/>
                                        </p:tgtEl>
                                        <p:attrNameLst>
                                          <p:attrName>style.visibility</p:attrName>
                                        </p:attrNameLst>
                                      </p:cBhvr>
                                      <p:to>
                                        <p:strVal val="visible"/>
                                      </p:to>
                                    </p:set>
                                    <p:animEffect transition="in" filter="fade">
                                      <p:cBhvr>
                                        <p:cTn id="101" dur="400"/>
                                        <p:tgtEl>
                                          <p:spTgt spid="69"/>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70"/>
                                        </p:tgtEl>
                                        <p:attrNameLst>
                                          <p:attrName>style.visibility</p:attrName>
                                        </p:attrNameLst>
                                      </p:cBhvr>
                                      <p:to>
                                        <p:strVal val="visible"/>
                                      </p:to>
                                    </p:set>
                                    <p:animEffect transition="in" filter="fade">
                                      <p:cBhvr>
                                        <p:cTn id="104" dur="400"/>
                                        <p:tgtEl>
                                          <p:spTgt spid="70"/>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71"/>
                                        </p:tgtEl>
                                        <p:attrNameLst>
                                          <p:attrName>style.visibility</p:attrName>
                                        </p:attrNameLst>
                                      </p:cBhvr>
                                      <p:to>
                                        <p:strVal val="visible"/>
                                      </p:to>
                                    </p:set>
                                    <p:animEffect transition="in" filter="fade">
                                      <p:cBhvr>
                                        <p:cTn id="107" dur="400"/>
                                        <p:tgtEl>
                                          <p:spTgt spid="71"/>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72"/>
                                        </p:tgtEl>
                                        <p:attrNameLst>
                                          <p:attrName>style.visibility</p:attrName>
                                        </p:attrNameLst>
                                      </p:cBhvr>
                                      <p:to>
                                        <p:strVal val="visible"/>
                                      </p:to>
                                    </p:set>
                                    <p:animEffect transition="in" filter="fade">
                                      <p:cBhvr>
                                        <p:cTn id="110" dur="4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Dos bases, una por servicio</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Cada microservicio tiene su propia base, y las dos corren en PostgreSQL.</a:t>
            </a:r>
            <a:endParaRPr lang="en-US" sz="1700" dirty="0"/>
          </a:p>
        </p:txBody>
      </p:sp>
      <p:sp>
        <p:nvSpPr>
          <p:cNvPr id="13" name="Shape 11"/>
          <p:cNvSpPr/>
          <p:nvPr/>
        </p:nvSpPr>
        <p:spPr>
          <a:xfrm>
            <a:off x="612648" y="2482596"/>
            <a:ext cx="2577008" cy="3108960"/>
          </a:xfrm>
          <a:prstGeom prst="roundRect">
            <a:avLst>
              <a:gd name="adj" fmla="val 4968"/>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4" name="Shape 12"/>
          <p:cNvSpPr/>
          <p:nvPr/>
        </p:nvSpPr>
        <p:spPr>
          <a:xfrm>
            <a:off x="740664" y="2482596"/>
            <a:ext cx="2320976" cy="64008"/>
          </a:xfrm>
          <a:prstGeom prst="rect">
            <a:avLst/>
          </a:prstGeom>
          <a:solidFill>
            <a:srgbClr val="0B2350"/>
          </a:solidFill>
          <a:ln w="12700">
            <a:solidFill>
              <a:srgbClr val="0B2350"/>
            </a:solidFill>
            <a:prstDash val="solid"/>
          </a:ln>
        </p:spPr>
      </p:sp>
      <p:sp>
        <p:nvSpPr>
          <p:cNvPr id="15" name="Shape 13"/>
          <p:cNvSpPr/>
          <p:nvPr/>
        </p:nvSpPr>
        <p:spPr>
          <a:xfrm>
            <a:off x="2403272" y="2720340"/>
            <a:ext cx="566928" cy="566928"/>
          </a:xfrm>
          <a:prstGeom prst="ellipse">
            <a:avLst/>
          </a:prstGeom>
          <a:solidFill>
            <a:srgbClr val="E8EEF8"/>
          </a:solidFill>
          <a:ln w="12700">
            <a:solidFill>
              <a:srgbClr val="E8EEF8"/>
            </a:solidFill>
            <a:prstDash val="solid"/>
          </a:ln>
        </p:spPr>
      </p:sp>
      <p:sp>
        <p:nvSpPr>
          <p:cNvPr id="16" name="Icono database"/>
          <p:cNvSpPr/>
          <p:nvPr/>
        </p:nvSpPr>
        <p:spPr>
          <a:xfrm>
            <a:off x="2539335" y="2856403"/>
            <a:ext cx="294803" cy="294803"/>
          </a:xfrm>
          <a:custGeom>
            <a:avLst/>
            <a:gdLst/>
            <a:ahLst/>
            <a:cxnLst/>
            <a:rect l="l" t="t" r="r" b="b"/>
            <a:pathLst>
              <a:path w="294803" h="294803">
                <a:moveTo>
                  <a:pt x="257952" y="61417"/>
                </a:moveTo>
                <a:cubicBezTo>
                  <a:pt x="257952" y="81769"/>
                  <a:pt x="208457" y="98268"/>
                  <a:pt x="147401" y="98268"/>
                </a:cubicBezTo>
                <a:cubicBezTo>
                  <a:pt x="86346" y="98268"/>
                  <a:pt x="36850" y="81769"/>
                  <a:pt x="36850" y="61417"/>
                </a:cubicBezTo>
                <a:cubicBezTo>
                  <a:pt x="36850" y="41065"/>
                  <a:pt x="86346" y="24567"/>
                  <a:pt x="147401" y="24567"/>
                </a:cubicBezTo>
                <a:cubicBezTo>
                  <a:pt x="208457" y="24567"/>
                  <a:pt x="257952" y="41065"/>
                  <a:pt x="257952" y="61417"/>
                </a:cubicBezTo>
                <a:close/>
                <a:moveTo>
                  <a:pt x="36850" y="61417"/>
                </a:moveTo>
                <a:lnTo>
                  <a:pt x="36850" y="233385"/>
                </a:lnTo>
                <a:cubicBezTo>
                  <a:pt x="36850" y="253737"/>
                  <a:pt x="86346" y="270236"/>
                  <a:pt x="147401" y="270236"/>
                </a:cubicBezTo>
                <a:cubicBezTo>
                  <a:pt x="208457" y="270236"/>
                  <a:pt x="257952" y="253737"/>
                  <a:pt x="257952" y="233385"/>
                </a:cubicBezTo>
                <a:lnTo>
                  <a:pt x="257952" y="61417"/>
                </a:lnTo>
                <a:moveTo>
                  <a:pt x="36850" y="147401"/>
                </a:moveTo>
                <a:cubicBezTo>
                  <a:pt x="36850" y="167753"/>
                  <a:pt x="86346" y="184252"/>
                  <a:pt x="147401" y="184252"/>
                </a:cubicBezTo>
                <a:cubicBezTo>
                  <a:pt x="208457" y="184252"/>
                  <a:pt x="257952" y="167753"/>
                  <a:pt x="257952" y="147401"/>
                </a:cubicBezTo>
              </a:path>
            </a:pathLst>
          </a:custGeom>
          <a:noFill/>
          <a:ln w="24567" cap="rnd">
            <a:solidFill>
              <a:srgbClr val="0B2350"/>
            </a:solidFill>
            <a:prstDash val="solid"/>
            <a:round/>
          </a:ln>
        </p:spPr>
      </p:sp>
      <p:sp>
        <p:nvSpPr>
          <p:cNvPr id="17" name="Text 15"/>
          <p:cNvSpPr/>
          <p:nvPr/>
        </p:nvSpPr>
        <p:spPr>
          <a:xfrm>
            <a:off x="868680" y="2665476"/>
            <a:ext cx="1479728" cy="871728"/>
          </a:xfrm>
          <a:prstGeom prst="rect">
            <a:avLst/>
          </a:prstGeom>
          <a:noFill/>
          <a:ln/>
        </p:spPr>
        <p:txBody>
          <a:bodyPr wrap="square" lIns="0" tIns="0" rIns="0" bIns="0" rtlCol="0" anchor="ctr">
            <a:normAutofit/>
          </a:bodyPr>
          <a:lstStyle/>
          <a:p>
            <a:pPr algn="l" indent="0" marL="0">
              <a:buNone/>
            </a:pPr>
            <a:r>
              <a:rPr lang="en-US" sz="5600" b="1" dirty="0">
                <a:solidFill>
                  <a:srgbClr val="0B2350"/>
                </a:solidFill>
                <a:latin typeface="Segoe UI Semibold" pitchFamily="34" charset="0"/>
                <a:ea typeface="Segoe UI Semibold" pitchFamily="34" charset="-122"/>
                <a:cs typeface="Segoe UI Semibold" pitchFamily="34" charset="-120"/>
              </a:rPr>
              <a:t>2</a:t>
            </a:r>
            <a:endParaRPr lang="en-US" sz="5600" dirty="0"/>
          </a:p>
        </p:txBody>
      </p:sp>
      <p:sp>
        <p:nvSpPr>
          <p:cNvPr id="18" name="Text 16"/>
          <p:cNvSpPr/>
          <p:nvPr/>
        </p:nvSpPr>
        <p:spPr>
          <a:xfrm>
            <a:off x="868680" y="3518916"/>
            <a:ext cx="2119808" cy="457200"/>
          </a:xfrm>
          <a:prstGeom prst="rect">
            <a:avLst/>
          </a:prstGeom>
          <a:noFill/>
          <a:ln/>
        </p:spPr>
        <p:txBody>
          <a:bodyPr wrap="square" lIns="0" tIns="0" rIns="0" bIns="0" rtlCol="0" anchor="t">
            <a:normAutofit/>
          </a:bodyPr>
          <a:lstStyle/>
          <a:p>
            <a:pPr algn="l" indent="0" marL="0">
              <a:buNone/>
            </a:pPr>
            <a:r>
              <a:rPr lang="en-US" sz="1800" b="1" dirty="0">
                <a:solidFill>
                  <a:srgbClr val="0B1A3C"/>
                </a:solidFill>
                <a:latin typeface="Segoe UI Semibold" pitchFamily="34" charset="0"/>
                <a:ea typeface="Segoe UI Semibold" pitchFamily="34" charset="-122"/>
                <a:cs typeface="Segoe UI Semibold" pitchFamily="34" charset="-120"/>
              </a:rPr>
              <a:t>bases de datos</a:t>
            </a:r>
            <a:endParaRPr lang="en-US" sz="1800" dirty="0"/>
          </a:p>
        </p:txBody>
      </p:sp>
      <p:sp>
        <p:nvSpPr>
          <p:cNvPr id="19" name="Text 17"/>
          <p:cNvSpPr/>
          <p:nvPr/>
        </p:nvSpPr>
        <p:spPr>
          <a:xfrm>
            <a:off x="868680" y="4021836"/>
            <a:ext cx="2119808" cy="1478280"/>
          </a:xfrm>
          <a:prstGeom prst="rect">
            <a:avLst/>
          </a:prstGeom>
          <a:noFill/>
          <a:ln/>
        </p:spPr>
        <p:txBody>
          <a:bodyPr wrap="square" lIns="0" tIns="0" rIns="0" bIns="0" rtlCol="0" anchor="t">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db-solicitudes y db-notificaciones: una por servicio.</a:t>
            </a:r>
            <a:endParaRPr lang="en-US" sz="1500" dirty="0"/>
          </a:p>
        </p:txBody>
      </p:sp>
      <p:sp>
        <p:nvSpPr>
          <p:cNvPr id="20" name="[p1] Forma"/>
          <p:cNvSpPr/>
          <p:nvPr/>
        </p:nvSpPr>
        <p:spPr>
          <a:xfrm>
            <a:off x="3409112" y="2482596"/>
            <a:ext cx="2577008" cy="3108960"/>
          </a:xfrm>
          <a:prstGeom prst="roundRect">
            <a:avLst>
              <a:gd name="adj" fmla="val 4968"/>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1" name="[p1] Forma"/>
          <p:cNvSpPr/>
          <p:nvPr/>
        </p:nvSpPr>
        <p:spPr>
          <a:xfrm>
            <a:off x="3537128" y="2482596"/>
            <a:ext cx="2320976" cy="64008"/>
          </a:xfrm>
          <a:prstGeom prst="rect">
            <a:avLst/>
          </a:prstGeom>
          <a:solidFill>
            <a:srgbClr val="0B6E8A"/>
          </a:solidFill>
          <a:ln w="12700">
            <a:solidFill>
              <a:srgbClr val="0B6E8A"/>
            </a:solidFill>
            <a:prstDash val="solid"/>
          </a:ln>
        </p:spPr>
      </p:sp>
      <p:sp>
        <p:nvSpPr>
          <p:cNvPr id="22" name="[p1] Forma"/>
          <p:cNvSpPr/>
          <p:nvPr/>
        </p:nvSpPr>
        <p:spPr>
          <a:xfrm>
            <a:off x="5199736" y="2720340"/>
            <a:ext cx="566928" cy="566928"/>
          </a:xfrm>
          <a:prstGeom prst="ellipse">
            <a:avLst/>
          </a:prstGeom>
          <a:solidFill>
            <a:srgbClr val="E3F4FA"/>
          </a:solidFill>
          <a:ln w="12700">
            <a:solidFill>
              <a:srgbClr val="E3F4FA"/>
            </a:solidFill>
            <a:prstDash val="solid"/>
          </a:ln>
        </p:spPr>
      </p:sp>
      <p:sp>
        <p:nvSpPr>
          <p:cNvPr id="23" name="[p1] Icono server"/>
          <p:cNvSpPr/>
          <p:nvPr/>
        </p:nvSpPr>
        <p:spPr>
          <a:xfrm>
            <a:off x="5335798" y="2856403"/>
            <a:ext cx="294803" cy="294803"/>
          </a:xfrm>
          <a:custGeom>
            <a:avLst/>
            <a:gdLst/>
            <a:ahLst/>
            <a:cxnLst/>
            <a:rect l="l" t="t" r="r" b="b"/>
            <a:pathLst>
              <a:path w="294803" h="294803">
                <a:moveTo>
                  <a:pt x="49134" y="24567"/>
                </a:moveTo>
                <a:lnTo>
                  <a:pt x="245669" y="24567"/>
                </a:lnTo>
                <a:cubicBezTo>
                  <a:pt x="259237" y="24567"/>
                  <a:pt x="270236" y="35566"/>
                  <a:pt x="270236" y="49134"/>
                </a:cubicBezTo>
                <a:lnTo>
                  <a:pt x="270236" y="98268"/>
                </a:lnTo>
                <a:cubicBezTo>
                  <a:pt x="270236" y="111835"/>
                  <a:pt x="259237" y="122834"/>
                  <a:pt x="245669" y="122834"/>
                </a:cubicBezTo>
                <a:lnTo>
                  <a:pt x="49134" y="122834"/>
                </a:lnTo>
                <a:cubicBezTo>
                  <a:pt x="35566" y="122834"/>
                  <a:pt x="24567" y="111835"/>
                  <a:pt x="24567" y="98268"/>
                </a:cubicBezTo>
                <a:lnTo>
                  <a:pt x="24567" y="49134"/>
                </a:lnTo>
                <a:cubicBezTo>
                  <a:pt x="24567" y="35566"/>
                  <a:pt x="35566" y="24567"/>
                  <a:pt x="49134" y="24567"/>
                </a:cubicBezTo>
                <a:close/>
                <a:moveTo>
                  <a:pt x="49134" y="171968"/>
                </a:moveTo>
                <a:lnTo>
                  <a:pt x="245669" y="171968"/>
                </a:lnTo>
                <a:cubicBezTo>
                  <a:pt x="259237" y="171968"/>
                  <a:pt x="270236" y="182967"/>
                  <a:pt x="270236" y="196535"/>
                </a:cubicBezTo>
                <a:lnTo>
                  <a:pt x="270236" y="245669"/>
                </a:lnTo>
                <a:cubicBezTo>
                  <a:pt x="270236" y="259237"/>
                  <a:pt x="259237" y="270236"/>
                  <a:pt x="245669" y="270236"/>
                </a:cubicBezTo>
                <a:lnTo>
                  <a:pt x="49134" y="270236"/>
                </a:lnTo>
                <a:cubicBezTo>
                  <a:pt x="35566" y="270236"/>
                  <a:pt x="24567" y="259237"/>
                  <a:pt x="24567" y="245669"/>
                </a:cubicBezTo>
                <a:lnTo>
                  <a:pt x="24567" y="196535"/>
                </a:lnTo>
                <a:cubicBezTo>
                  <a:pt x="24567" y="182967"/>
                  <a:pt x="35566" y="171968"/>
                  <a:pt x="49134" y="171968"/>
                </a:cubicBezTo>
                <a:close/>
                <a:moveTo>
                  <a:pt x="73701" y="73701"/>
                </a:moveTo>
                <a:lnTo>
                  <a:pt x="73823" y="73701"/>
                </a:lnTo>
                <a:moveTo>
                  <a:pt x="73701" y="221102"/>
                </a:moveTo>
                <a:lnTo>
                  <a:pt x="73823" y="221102"/>
                </a:lnTo>
              </a:path>
            </a:pathLst>
          </a:custGeom>
          <a:noFill/>
          <a:ln w="24567" cap="rnd">
            <a:solidFill>
              <a:srgbClr val="0B6E8A"/>
            </a:solidFill>
            <a:prstDash val="solid"/>
            <a:round/>
          </a:ln>
        </p:spPr>
      </p:sp>
      <p:sp>
        <p:nvSpPr>
          <p:cNvPr id="24" name="[p1] Forma"/>
          <p:cNvSpPr/>
          <p:nvPr/>
        </p:nvSpPr>
        <p:spPr>
          <a:xfrm>
            <a:off x="3665144" y="2665476"/>
            <a:ext cx="1479728" cy="871728"/>
          </a:xfrm>
          <a:prstGeom prst="rect">
            <a:avLst/>
          </a:prstGeom>
          <a:noFill/>
          <a:ln/>
        </p:spPr>
        <p:txBody>
          <a:bodyPr wrap="square" lIns="0" tIns="0" rIns="0" bIns="0" rtlCol="0" anchor="ctr">
            <a:normAutofit/>
          </a:bodyPr>
          <a:lstStyle/>
          <a:p>
            <a:pPr algn="l" indent="0" marL="0">
              <a:buNone/>
            </a:pPr>
            <a:r>
              <a:rPr lang="en-US" sz="5600" b="1" dirty="0">
                <a:solidFill>
                  <a:srgbClr val="0B6E8A"/>
                </a:solidFill>
                <a:latin typeface="Segoe UI Semibold" pitchFamily="34" charset="0"/>
                <a:ea typeface="Segoe UI Semibold" pitchFamily="34" charset="-122"/>
                <a:cs typeface="Segoe UI Semibold" pitchFamily="34" charset="-120"/>
              </a:rPr>
              <a:t>17</a:t>
            </a:r>
            <a:endParaRPr lang="en-US" sz="5600" dirty="0"/>
          </a:p>
        </p:txBody>
      </p:sp>
      <p:sp>
        <p:nvSpPr>
          <p:cNvPr id="25" name="[p1] Forma"/>
          <p:cNvSpPr/>
          <p:nvPr/>
        </p:nvSpPr>
        <p:spPr>
          <a:xfrm>
            <a:off x="3665144" y="3518916"/>
            <a:ext cx="2119808" cy="457200"/>
          </a:xfrm>
          <a:prstGeom prst="rect">
            <a:avLst/>
          </a:prstGeom>
          <a:noFill/>
          <a:ln/>
        </p:spPr>
        <p:txBody>
          <a:bodyPr wrap="square" lIns="0" tIns="0" rIns="0" bIns="0" rtlCol="0" anchor="t">
            <a:normAutofit/>
          </a:bodyPr>
          <a:lstStyle/>
          <a:p>
            <a:pPr algn="l" indent="0" marL="0">
              <a:buNone/>
            </a:pPr>
            <a:r>
              <a:rPr lang="en-US" sz="1800" b="1" dirty="0">
                <a:solidFill>
                  <a:srgbClr val="0B1A3C"/>
                </a:solidFill>
                <a:latin typeface="Segoe UI Semibold" pitchFamily="34" charset="0"/>
                <a:ea typeface="Segoe UI Semibold" pitchFamily="34" charset="-122"/>
                <a:cs typeface="Segoe UI Semibold" pitchFamily="34" charset="-120"/>
              </a:rPr>
              <a:t>PostgreSQL</a:t>
            </a:r>
            <a:endParaRPr lang="en-US" sz="1800" dirty="0"/>
          </a:p>
        </p:txBody>
      </p:sp>
      <p:sp>
        <p:nvSpPr>
          <p:cNvPr id="26" name="[p1] Forma"/>
          <p:cNvSpPr/>
          <p:nvPr/>
        </p:nvSpPr>
        <p:spPr>
          <a:xfrm>
            <a:off x="3665144" y="4021836"/>
            <a:ext cx="2119808" cy="1478280"/>
          </a:xfrm>
          <a:prstGeom prst="rect">
            <a:avLst/>
          </a:prstGeom>
          <a:noFill/>
          <a:ln/>
        </p:spPr>
        <p:txBody>
          <a:bodyPr wrap="square" lIns="0" tIns="0" rIns="0" bIns="0" rtlCol="0" anchor="t">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El mismo motor y la misma versión en las dos.</a:t>
            </a:r>
            <a:endParaRPr lang="en-US" sz="1500" dirty="0"/>
          </a:p>
        </p:txBody>
      </p:sp>
      <p:sp>
        <p:nvSpPr>
          <p:cNvPr id="27" name="[p2] Forma"/>
          <p:cNvSpPr/>
          <p:nvPr/>
        </p:nvSpPr>
        <p:spPr>
          <a:xfrm>
            <a:off x="6205576" y="2482596"/>
            <a:ext cx="2577008" cy="3108960"/>
          </a:xfrm>
          <a:prstGeom prst="roundRect">
            <a:avLst>
              <a:gd name="adj" fmla="val 4968"/>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8" name="[p2] Forma"/>
          <p:cNvSpPr/>
          <p:nvPr/>
        </p:nvSpPr>
        <p:spPr>
          <a:xfrm>
            <a:off x="6333592" y="2482596"/>
            <a:ext cx="2320976" cy="64008"/>
          </a:xfrm>
          <a:prstGeom prst="rect">
            <a:avLst/>
          </a:prstGeom>
          <a:solidFill>
            <a:srgbClr val="AB243E"/>
          </a:solidFill>
          <a:ln w="12700">
            <a:solidFill>
              <a:srgbClr val="AB243E"/>
            </a:solidFill>
            <a:prstDash val="solid"/>
          </a:ln>
        </p:spPr>
      </p:sp>
      <p:sp>
        <p:nvSpPr>
          <p:cNvPr id="29" name="[p2] Forma"/>
          <p:cNvSpPr/>
          <p:nvPr/>
        </p:nvSpPr>
        <p:spPr>
          <a:xfrm>
            <a:off x="7996199" y="2720340"/>
            <a:ext cx="566928" cy="566928"/>
          </a:xfrm>
          <a:prstGeom prst="ellipse">
            <a:avLst/>
          </a:prstGeom>
          <a:solidFill>
            <a:srgbClr val="F7E3E7"/>
          </a:solidFill>
          <a:ln w="12700">
            <a:solidFill>
              <a:srgbClr val="F7E3E7"/>
            </a:solidFill>
            <a:prstDash val="solid"/>
          </a:ln>
        </p:spPr>
      </p:sp>
      <p:sp>
        <p:nvSpPr>
          <p:cNvPr id="30" name="[p2] Icono ban"/>
          <p:cNvSpPr/>
          <p:nvPr/>
        </p:nvSpPr>
        <p:spPr>
          <a:xfrm>
            <a:off x="8132262" y="2856403"/>
            <a:ext cx="294803" cy="294803"/>
          </a:xfrm>
          <a:custGeom>
            <a:avLst/>
            <a:gdLst/>
            <a:ahLst/>
            <a:cxnLst/>
            <a:rect l="l" t="t" r="r" b="b"/>
            <a:pathLst>
              <a:path w="294803" h="294803">
                <a:moveTo>
                  <a:pt x="270236" y="147401"/>
                </a:moveTo>
                <a:cubicBezTo>
                  <a:pt x="270236" y="215241"/>
                  <a:pt x="215241" y="270236"/>
                  <a:pt x="147401" y="270236"/>
                </a:cubicBezTo>
                <a:cubicBezTo>
                  <a:pt x="79562" y="270236"/>
                  <a:pt x="24567" y="215241"/>
                  <a:pt x="24567" y="147401"/>
                </a:cubicBezTo>
                <a:cubicBezTo>
                  <a:pt x="24567" y="79562"/>
                  <a:pt x="79562" y="24567"/>
                  <a:pt x="147401" y="24567"/>
                </a:cubicBezTo>
                <a:cubicBezTo>
                  <a:pt x="215241" y="24567"/>
                  <a:pt x="270236" y="79562"/>
                  <a:pt x="270236" y="147401"/>
                </a:cubicBezTo>
                <a:close/>
                <a:moveTo>
                  <a:pt x="60189" y="60189"/>
                </a:moveTo>
                <a:lnTo>
                  <a:pt x="234614" y="234614"/>
                </a:lnTo>
              </a:path>
            </a:pathLst>
          </a:custGeom>
          <a:noFill/>
          <a:ln w="24567" cap="rnd">
            <a:solidFill>
              <a:srgbClr val="AB243E"/>
            </a:solidFill>
            <a:prstDash val="solid"/>
            <a:round/>
          </a:ln>
        </p:spPr>
      </p:sp>
      <p:sp>
        <p:nvSpPr>
          <p:cNvPr id="31" name="[p2] Forma"/>
          <p:cNvSpPr/>
          <p:nvPr/>
        </p:nvSpPr>
        <p:spPr>
          <a:xfrm>
            <a:off x="6461608" y="2665476"/>
            <a:ext cx="1479728" cy="871728"/>
          </a:xfrm>
          <a:prstGeom prst="rect">
            <a:avLst/>
          </a:prstGeom>
          <a:noFill/>
          <a:ln/>
        </p:spPr>
        <p:txBody>
          <a:bodyPr wrap="square" lIns="0" tIns="0" rIns="0" bIns="0" rtlCol="0" anchor="ctr">
            <a:normAutofit/>
          </a:bodyPr>
          <a:lstStyle/>
          <a:p>
            <a:pPr algn="l" indent="0" marL="0">
              <a:buNone/>
            </a:pPr>
            <a:r>
              <a:rPr lang="en-US" sz="5600" b="1" dirty="0">
                <a:solidFill>
                  <a:srgbClr val="AB243E"/>
                </a:solidFill>
                <a:latin typeface="Segoe UI Semibold" pitchFamily="34" charset="0"/>
                <a:ea typeface="Segoe UI Semibold" pitchFamily="34" charset="-122"/>
                <a:cs typeface="Segoe UI Semibold" pitchFamily="34" charset="-120"/>
              </a:rPr>
              <a:t>0</a:t>
            </a:r>
            <a:endParaRPr lang="en-US" sz="5600" dirty="0"/>
          </a:p>
        </p:txBody>
      </p:sp>
      <p:sp>
        <p:nvSpPr>
          <p:cNvPr id="32" name="[p2] Forma"/>
          <p:cNvSpPr/>
          <p:nvPr/>
        </p:nvSpPr>
        <p:spPr>
          <a:xfrm>
            <a:off x="6461608" y="3518916"/>
            <a:ext cx="2119808" cy="457200"/>
          </a:xfrm>
          <a:prstGeom prst="rect">
            <a:avLst/>
          </a:prstGeom>
          <a:noFill/>
          <a:ln/>
        </p:spPr>
        <p:txBody>
          <a:bodyPr wrap="square" lIns="0" tIns="0" rIns="0" bIns="0" rtlCol="0" anchor="t">
            <a:normAutofit/>
          </a:bodyPr>
          <a:lstStyle/>
          <a:p>
            <a:pPr algn="l" indent="0" marL="0">
              <a:buNone/>
            </a:pPr>
            <a:r>
              <a:rPr lang="en-US" sz="1800" b="1" dirty="0">
                <a:solidFill>
                  <a:srgbClr val="0B1A3C"/>
                </a:solidFill>
                <a:latin typeface="Segoe UI Semibold" pitchFamily="34" charset="0"/>
                <a:ea typeface="Segoe UI Semibold" pitchFamily="34" charset="-122"/>
                <a:cs typeface="Segoe UI Semibold" pitchFamily="34" charset="-120"/>
              </a:rPr>
              <a:t>JOIN entre bases</a:t>
            </a:r>
            <a:endParaRPr lang="en-US" sz="1800" dirty="0"/>
          </a:p>
        </p:txBody>
      </p:sp>
      <p:sp>
        <p:nvSpPr>
          <p:cNvPr id="33" name="[p2] Forma"/>
          <p:cNvSpPr/>
          <p:nvPr/>
        </p:nvSpPr>
        <p:spPr>
          <a:xfrm>
            <a:off x="6461608" y="4021836"/>
            <a:ext cx="2119808" cy="1478280"/>
          </a:xfrm>
          <a:prstGeom prst="rect">
            <a:avLst/>
          </a:prstGeom>
          <a:noFill/>
          <a:ln/>
        </p:spPr>
        <p:txBody>
          <a:bodyPr wrap="square" lIns="0" tIns="0" rIns="0" bIns="0" rtlCol="0" anchor="t">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Ni consultas ni llaves foráneas que crucen de una a otra.</a:t>
            </a:r>
            <a:endParaRPr lang="en-US" sz="1500" dirty="0"/>
          </a:p>
        </p:txBody>
      </p:sp>
      <p:sp>
        <p:nvSpPr>
          <p:cNvPr id="34" name="[p3] Forma"/>
          <p:cNvSpPr/>
          <p:nvPr/>
        </p:nvSpPr>
        <p:spPr>
          <a:xfrm>
            <a:off x="9002039" y="2482596"/>
            <a:ext cx="2577008" cy="3108960"/>
          </a:xfrm>
          <a:prstGeom prst="roundRect">
            <a:avLst>
              <a:gd name="adj" fmla="val 4968"/>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5" name="[p3] Forma"/>
          <p:cNvSpPr/>
          <p:nvPr/>
        </p:nvSpPr>
        <p:spPr>
          <a:xfrm>
            <a:off x="9130055" y="2482596"/>
            <a:ext cx="2320976" cy="64008"/>
          </a:xfrm>
          <a:prstGeom prst="rect">
            <a:avLst/>
          </a:prstGeom>
          <a:solidFill>
            <a:srgbClr val="0A6648"/>
          </a:solidFill>
          <a:ln w="12700">
            <a:solidFill>
              <a:srgbClr val="0A6648"/>
            </a:solidFill>
            <a:prstDash val="solid"/>
          </a:ln>
        </p:spPr>
      </p:sp>
      <p:sp>
        <p:nvSpPr>
          <p:cNvPr id="36" name="[p3] Forma"/>
          <p:cNvSpPr/>
          <p:nvPr/>
        </p:nvSpPr>
        <p:spPr>
          <a:xfrm>
            <a:off x="10792663" y="2720340"/>
            <a:ext cx="566928" cy="566928"/>
          </a:xfrm>
          <a:prstGeom prst="ellipse">
            <a:avLst/>
          </a:prstGeom>
          <a:solidFill>
            <a:srgbClr val="E1F1EA"/>
          </a:solidFill>
          <a:ln w="12700">
            <a:solidFill>
              <a:srgbClr val="E1F1EA"/>
            </a:solidFill>
            <a:prstDash val="solid"/>
          </a:ln>
        </p:spPr>
      </p:sp>
      <p:sp>
        <p:nvSpPr>
          <p:cNvPr id="37" name="[p3] Icono hard-drive"/>
          <p:cNvSpPr/>
          <p:nvPr/>
        </p:nvSpPr>
        <p:spPr>
          <a:xfrm>
            <a:off x="10928726" y="2856403"/>
            <a:ext cx="294803" cy="294803"/>
          </a:xfrm>
          <a:custGeom>
            <a:avLst/>
            <a:gdLst/>
            <a:ahLst/>
            <a:cxnLst/>
            <a:rect l="l" t="t" r="r" b="b"/>
            <a:pathLst>
              <a:path w="294803" h="294803">
                <a:moveTo>
                  <a:pt x="270236" y="147401"/>
                </a:moveTo>
                <a:lnTo>
                  <a:pt x="24567" y="147401"/>
                </a:lnTo>
                <a:moveTo>
                  <a:pt x="66945" y="62768"/>
                </a:moveTo>
                <a:lnTo>
                  <a:pt x="24567" y="147401"/>
                </a:lnTo>
                <a:lnTo>
                  <a:pt x="24567" y="221102"/>
                </a:lnTo>
                <a:cubicBezTo>
                  <a:pt x="24567" y="234670"/>
                  <a:pt x="35566" y="245669"/>
                  <a:pt x="49134" y="245669"/>
                </a:cubicBezTo>
                <a:lnTo>
                  <a:pt x="245669" y="245669"/>
                </a:lnTo>
                <a:cubicBezTo>
                  <a:pt x="259237" y="245669"/>
                  <a:pt x="270236" y="234670"/>
                  <a:pt x="270236" y="221102"/>
                </a:cubicBezTo>
                <a:lnTo>
                  <a:pt x="270236" y="147401"/>
                </a:lnTo>
                <a:lnTo>
                  <a:pt x="227858" y="62768"/>
                </a:lnTo>
                <a:cubicBezTo>
                  <a:pt x="223709" y="54420"/>
                  <a:pt x="215193" y="49139"/>
                  <a:pt x="205870" y="49134"/>
                </a:cubicBezTo>
                <a:lnTo>
                  <a:pt x="88932" y="49134"/>
                </a:lnTo>
                <a:cubicBezTo>
                  <a:pt x="79610" y="49139"/>
                  <a:pt x="71093" y="54420"/>
                  <a:pt x="66945" y="62768"/>
                </a:cubicBezTo>
                <a:close/>
                <a:moveTo>
                  <a:pt x="73701" y="196535"/>
                </a:moveTo>
                <a:lnTo>
                  <a:pt x="73823" y="196535"/>
                </a:lnTo>
                <a:moveTo>
                  <a:pt x="122834" y="196535"/>
                </a:moveTo>
                <a:lnTo>
                  <a:pt x="122957" y="196535"/>
                </a:lnTo>
              </a:path>
            </a:pathLst>
          </a:custGeom>
          <a:noFill/>
          <a:ln w="24567" cap="rnd">
            <a:solidFill>
              <a:srgbClr val="0A6648"/>
            </a:solidFill>
            <a:prstDash val="solid"/>
            <a:round/>
          </a:ln>
        </p:spPr>
      </p:sp>
      <p:sp>
        <p:nvSpPr>
          <p:cNvPr id="38" name="[p3] Forma"/>
          <p:cNvSpPr/>
          <p:nvPr/>
        </p:nvSpPr>
        <p:spPr>
          <a:xfrm>
            <a:off x="9258071" y="2665476"/>
            <a:ext cx="1479728" cy="871728"/>
          </a:xfrm>
          <a:prstGeom prst="rect">
            <a:avLst/>
          </a:prstGeom>
          <a:noFill/>
          <a:ln/>
        </p:spPr>
        <p:txBody>
          <a:bodyPr wrap="square" lIns="0" tIns="0" rIns="0" bIns="0" rtlCol="0" anchor="ctr">
            <a:normAutofit/>
          </a:bodyPr>
          <a:lstStyle/>
          <a:p>
            <a:pPr algn="l" indent="0" marL="0">
              <a:buNone/>
            </a:pPr>
            <a:r>
              <a:rPr lang="en-US" sz="5600" b="1" dirty="0">
                <a:solidFill>
                  <a:srgbClr val="0A6648"/>
                </a:solidFill>
                <a:latin typeface="Segoe UI Semibold" pitchFamily="34" charset="0"/>
                <a:ea typeface="Segoe UI Semibold" pitchFamily="34" charset="-122"/>
                <a:cs typeface="Segoe UI Semibold" pitchFamily="34" charset="-120"/>
              </a:rPr>
              <a:t>1</a:t>
            </a:r>
            <a:endParaRPr lang="en-US" sz="5600" dirty="0"/>
          </a:p>
        </p:txBody>
      </p:sp>
      <p:sp>
        <p:nvSpPr>
          <p:cNvPr id="39" name="[p3] Forma"/>
          <p:cNvSpPr/>
          <p:nvPr/>
        </p:nvSpPr>
        <p:spPr>
          <a:xfrm>
            <a:off x="9258071" y="3518916"/>
            <a:ext cx="2119808" cy="457200"/>
          </a:xfrm>
          <a:prstGeom prst="rect">
            <a:avLst/>
          </a:prstGeom>
          <a:noFill/>
          <a:ln/>
        </p:spPr>
        <p:txBody>
          <a:bodyPr wrap="square" lIns="0" tIns="0" rIns="0" bIns="0" rtlCol="0" anchor="t">
            <a:normAutofit/>
          </a:bodyPr>
          <a:lstStyle/>
          <a:p>
            <a:pPr algn="l" indent="0" marL="0">
              <a:buNone/>
            </a:pPr>
            <a:r>
              <a:rPr lang="en-US" sz="1800" b="1" dirty="0">
                <a:solidFill>
                  <a:srgbClr val="0B1A3C"/>
                </a:solidFill>
                <a:latin typeface="Segoe UI Semibold" pitchFamily="34" charset="0"/>
                <a:ea typeface="Segoe UI Semibold" pitchFamily="34" charset="-122"/>
                <a:cs typeface="Segoe UI Semibold" pitchFamily="34" charset="-120"/>
              </a:rPr>
              <a:t>disco por base</a:t>
            </a:r>
            <a:endParaRPr lang="en-US" sz="1800" dirty="0"/>
          </a:p>
        </p:txBody>
      </p:sp>
      <p:sp>
        <p:nvSpPr>
          <p:cNvPr id="40" name="[p3] Forma"/>
          <p:cNvSpPr/>
          <p:nvPr/>
        </p:nvSpPr>
        <p:spPr>
          <a:xfrm>
            <a:off x="9258071" y="4021836"/>
            <a:ext cx="2119808" cy="1478280"/>
          </a:xfrm>
          <a:prstGeom prst="rect">
            <a:avLst/>
          </a:prstGeom>
          <a:noFill/>
          <a:ln/>
        </p:spPr>
        <p:txBody>
          <a:bodyPr wrap="square" lIns="0" tIns="0" rIns="0" bIns="0" rtlCol="0" anchor="t">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En Kubernetes, los datos sobreviven aunque el contenedor se reinicie.</a:t>
            </a:r>
            <a:endParaRPr lang="en-US" sz="1500" dirty="0"/>
          </a:p>
        </p:txBody>
      </p:sp>
      <p:sp>
        <p:nvSpPr>
          <p:cNvPr id="41" name="Text 3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42"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4" fill="hold">
                      <p:stCondLst>
                        <p:cond delay="indefinite"/>
                      </p:stCondLst>
                      <p:childTnLst>
                        <p:par>
                          <p:cTn id="25"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0"/>
                                        </p:tgtEl>
                                        <p:attrNameLst>
                                          <p:attrName>style.visibility</p:attrName>
                                        </p:attrNameLst>
                                      </p:cBhvr>
                                      <p:to>
                                        <p:strVal val="visible"/>
                                      </p:to>
                                    </p:set>
                                    <p:animEffect transition="in" filter="fade">
                                      <p:cBhvr>
                                        <p:cTn id="5" dur="400"/>
                                        <p:tgtEl>
                                          <p:spTgt spid="20"/>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1"/>
                                        </p:tgtEl>
                                        <p:attrNameLst>
                                          <p:attrName>style.visibility</p:attrName>
                                        </p:attrNameLst>
                                      </p:cBhvr>
                                      <p:to>
                                        <p:strVal val="visible"/>
                                      </p:to>
                                    </p:set>
                                    <p:animEffect transition="in" filter="fade">
                                      <p:cBhvr>
                                        <p:cTn id="8" dur="400"/>
                                        <p:tgtEl>
                                          <p:spTgt spid="21"/>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fade">
                                      <p:cBhvr>
                                        <p:cTn id="11" dur="400"/>
                                        <p:tgtEl>
                                          <p:spTgt spid="2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400"/>
                                        <p:tgtEl>
                                          <p:spTgt spid="2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fade">
                                      <p:cBhvr>
                                        <p:cTn id="20" dur="400"/>
                                        <p:tgtEl>
                                          <p:spTgt spid="2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childTnLst>
                          </p:cTn>
                        </p:par>
                      </p:childTnLst>
                    </p:cTn>
                  </p:par>
                  <p:par>
                    <p:cTn id="47" fill="hold">
                      <p:stCondLst>
                        <p:cond delay="indefinite"/>
                      </p:stCondLst>
                      <p:childTnLst>
                        <p:par>
                          <p:cTn id="48"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400"/>
                                        <p:tgtEl>
                                          <p:spTgt spid="27"/>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400"/>
                                        <p:tgtEl>
                                          <p:spTgt spid="2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fade">
                                      <p:cBhvr>
                                        <p:cTn id="37" dur="400"/>
                                        <p:tgtEl>
                                          <p:spTgt spid="30"/>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1"/>
                                        </p:tgtEl>
                                        <p:attrNameLst>
                                          <p:attrName>style.visibility</p:attrName>
                                        </p:attrNameLst>
                                      </p:cBhvr>
                                      <p:to>
                                        <p:strVal val="visible"/>
                                      </p:to>
                                    </p:set>
                                    <p:animEffect transition="in" filter="fade">
                                      <p:cBhvr>
                                        <p:cTn id="40" dur="400"/>
                                        <p:tgtEl>
                                          <p:spTgt spid="31"/>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2"/>
                                        </p:tgtEl>
                                        <p:attrNameLst>
                                          <p:attrName>style.visibility</p:attrName>
                                        </p:attrNameLst>
                                      </p:cBhvr>
                                      <p:to>
                                        <p:strVal val="visible"/>
                                      </p:to>
                                    </p:set>
                                    <p:animEffect transition="in" filter="fade">
                                      <p:cBhvr>
                                        <p:cTn id="43" dur="400"/>
                                        <p:tgtEl>
                                          <p:spTgt spid="32"/>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3"/>
                                        </p:tgtEl>
                                        <p:attrNameLst>
                                          <p:attrName>style.visibility</p:attrName>
                                        </p:attrNameLst>
                                      </p:cBhvr>
                                      <p:to>
                                        <p:strVal val="visible"/>
                                      </p:to>
                                    </p:set>
                                    <p:animEffect transition="in" filter="fade">
                                      <p:cBhvr>
                                        <p:cTn id="46" dur="400"/>
                                        <p:tgtEl>
                                          <p:spTgt spid="33"/>
                                        </p:tgtEl>
                                      </p:cBhvr>
                                    </p:animEffect>
                                  </p:childTnLst>
                                </p:cTn>
                              </p:par>
                            </p:childTnLst>
                          </p:cTn>
                        </p:par>
                      </p:childTnLst>
                    </p:cTn>
                  </p:par>
                  <p:par>
                    <p:cTn id="70" fill="hold">
                      <p:stCondLst>
                        <p:cond delay="indefinite"/>
                      </p:stCondLst>
                      <p:childTnLst>
                        <p:par>
                          <p:cTn id="71"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34"/>
                                        </p:tgtEl>
                                        <p:attrNameLst>
                                          <p:attrName>style.visibility</p:attrName>
                                        </p:attrNameLst>
                                      </p:cBhvr>
                                      <p:to>
                                        <p:strVal val="visible"/>
                                      </p:to>
                                    </p:set>
                                    <p:animEffect transition="in" filter="fade">
                                      <p:cBhvr>
                                        <p:cTn id="51" dur="400"/>
                                        <p:tgtEl>
                                          <p:spTgt spid="34"/>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5"/>
                                        </p:tgtEl>
                                        <p:attrNameLst>
                                          <p:attrName>style.visibility</p:attrName>
                                        </p:attrNameLst>
                                      </p:cBhvr>
                                      <p:to>
                                        <p:strVal val="visible"/>
                                      </p:to>
                                    </p:set>
                                    <p:animEffect transition="in" filter="fade">
                                      <p:cBhvr>
                                        <p:cTn id="54" dur="400"/>
                                        <p:tgtEl>
                                          <p:spTgt spid="35"/>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6"/>
                                        </p:tgtEl>
                                        <p:attrNameLst>
                                          <p:attrName>style.visibility</p:attrName>
                                        </p:attrNameLst>
                                      </p:cBhvr>
                                      <p:to>
                                        <p:strVal val="visible"/>
                                      </p:to>
                                    </p:set>
                                    <p:animEffect transition="in" filter="fade">
                                      <p:cBhvr>
                                        <p:cTn id="57" dur="400"/>
                                        <p:tgtEl>
                                          <p:spTgt spid="36"/>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7"/>
                                        </p:tgtEl>
                                        <p:attrNameLst>
                                          <p:attrName>style.visibility</p:attrName>
                                        </p:attrNameLst>
                                      </p:cBhvr>
                                      <p:to>
                                        <p:strVal val="visible"/>
                                      </p:to>
                                    </p:set>
                                    <p:animEffect transition="in" filter="fade">
                                      <p:cBhvr>
                                        <p:cTn id="60" dur="400"/>
                                        <p:tgtEl>
                                          <p:spTgt spid="37"/>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38"/>
                                        </p:tgtEl>
                                        <p:attrNameLst>
                                          <p:attrName>style.visibility</p:attrName>
                                        </p:attrNameLst>
                                      </p:cBhvr>
                                      <p:to>
                                        <p:strVal val="visible"/>
                                      </p:to>
                                    </p:set>
                                    <p:animEffect transition="in" filter="fade">
                                      <p:cBhvr>
                                        <p:cTn id="63" dur="400"/>
                                        <p:tgtEl>
                                          <p:spTgt spid="38"/>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9"/>
                                        </p:tgtEl>
                                        <p:attrNameLst>
                                          <p:attrName>style.visibility</p:attrName>
                                        </p:attrNameLst>
                                      </p:cBhvr>
                                      <p:to>
                                        <p:strVal val="visible"/>
                                      </p:to>
                                    </p:set>
                                    <p:animEffect transition="in" filter="fade">
                                      <p:cBhvr>
                                        <p:cTn id="66" dur="400"/>
                                        <p:tgtEl>
                                          <p:spTgt spid="39"/>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40"/>
                                        </p:tgtEl>
                                        <p:attrNameLst>
                                          <p:attrName>style.visibility</p:attrName>
                                        </p:attrNameLst>
                                      </p:cBhvr>
                                      <p:to>
                                        <p:strVal val="visible"/>
                                      </p:to>
                                    </p:set>
                                    <p:animEffect transition="in" filter="fade">
                                      <p:cBhvr>
                                        <p:cTn id="69"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Del procedimiento almacenado al ORM</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La diferencia no es la base de datos: es dónde vive la regla del negocio.</a:t>
            </a:r>
            <a:endParaRPr lang="en-US" sz="1700" dirty="0"/>
          </a:p>
        </p:txBody>
      </p:sp>
      <p:sp>
        <p:nvSpPr>
          <p:cNvPr id="13" name="Shape 11"/>
          <p:cNvSpPr/>
          <p:nvPr/>
        </p:nvSpPr>
        <p:spPr>
          <a:xfrm>
            <a:off x="612648" y="1719072"/>
            <a:ext cx="10966399" cy="1897380"/>
          </a:xfrm>
          <a:prstGeom prst="roundRect">
            <a:avLst>
              <a:gd name="adj" fmla="val 6747"/>
            </a:avLst>
          </a:prstGeom>
          <a:solidFill>
            <a:srgbClr val="F8FAFC"/>
          </a:solidFill>
          <a:ln w="12700">
            <a:solidFill>
              <a:srgbClr val="C4C8D2"/>
            </a:solidFill>
            <a:prstDash val="solid"/>
          </a:ln>
        </p:spPr>
      </p:sp>
      <p:sp>
        <p:nvSpPr>
          <p:cNvPr id="14" name="Text 12"/>
          <p:cNvSpPr/>
          <p:nvPr/>
        </p:nvSpPr>
        <p:spPr>
          <a:xfrm>
            <a:off x="612648" y="1719072"/>
            <a:ext cx="1874520" cy="1897380"/>
          </a:xfrm>
          <a:prstGeom prst="roundRect">
            <a:avLst>
              <a:gd name="adj" fmla="val 6829"/>
            </a:avLst>
          </a:prstGeom>
          <a:solidFill>
            <a:srgbClr val="55627E"/>
          </a:solidFill>
          <a:ln>
            <a:solidFill>
              <a:srgbClr val="55627E"/>
            </a:solidFill>
          </a:ln>
        </p:spPr>
        <p:txBody>
          <a:bodyPr wrap="square" lIns="101600" tIns="101600" rIns="101600" bIns="101600" rtlCol="0" anchor="ctr"/>
          <a:lstStyle/>
          <a:p>
            <a:pPr algn="ctr" indent="0" marL="0">
              <a:buNone/>
            </a:pPr>
            <a:r>
              <a:rPr lang="en-US" sz="1550" b="1" dirty="0">
                <a:solidFill>
                  <a:srgbClr val="FFFFFF"/>
                </a:solidFill>
                <a:latin typeface="Segoe UI Semibold" pitchFamily="34" charset="0"/>
                <a:ea typeface="Segoe UI Semibold" pitchFamily="34" charset="-122"/>
                <a:cs typeface="Segoe UI Semibold" pitchFamily="34" charset="-120"/>
              </a:rPr>
              <a:t>Hoy: procedimientos almacenados</a:t>
            </a:r>
            <a:endParaRPr lang="en-US" sz="1550" dirty="0"/>
          </a:p>
        </p:txBody>
      </p:sp>
      <p:sp>
        <p:nvSpPr>
          <p:cNvPr id="15" name="Shape 13"/>
          <p:cNvSpPr/>
          <p:nvPr/>
        </p:nvSpPr>
        <p:spPr>
          <a:xfrm>
            <a:off x="2761488" y="2171700"/>
            <a:ext cx="2085746" cy="1280160"/>
          </a:xfrm>
          <a:prstGeom prst="roundRect">
            <a:avLst>
              <a:gd name="adj" fmla="val 10000"/>
            </a:avLst>
          </a:prstGeom>
          <a:solidFill>
            <a:srgbClr val="FFFFFF"/>
          </a:solidFill>
          <a:ln w="12700">
            <a:solidFill>
              <a:srgbClr val="B3B8C5"/>
            </a:solidFill>
            <a:prstDash val="solid"/>
          </a:ln>
          <a:effectLst>
            <a:outerShdw sx="100000" sy="100000" kx="0" ky="0" algn="bl" rotWithShape="0" blurRad="76200" dist="19050" dir="5400000">
              <a:srgbClr val="0B1F3A">
                <a:alpha val="14000"/>
              </a:srgbClr>
            </a:outerShdw>
          </a:effectLst>
        </p:spPr>
      </p:sp>
      <p:sp>
        <p:nvSpPr>
          <p:cNvPr id="16" name="Shape 14"/>
          <p:cNvSpPr/>
          <p:nvPr/>
        </p:nvSpPr>
        <p:spPr>
          <a:xfrm>
            <a:off x="3575761" y="2263140"/>
            <a:ext cx="457200" cy="457200"/>
          </a:xfrm>
          <a:prstGeom prst="ellipse">
            <a:avLst/>
          </a:prstGeom>
          <a:solidFill>
            <a:srgbClr val="F4F7FB"/>
          </a:solidFill>
          <a:ln w="12700">
            <a:solidFill>
              <a:srgbClr val="F4F7FB"/>
            </a:solidFill>
            <a:prstDash val="solid"/>
          </a:ln>
        </p:spPr>
      </p:sp>
      <p:sp>
        <p:nvSpPr>
          <p:cNvPr id="17" name="Icono monitor"/>
          <p:cNvSpPr/>
          <p:nvPr/>
        </p:nvSpPr>
        <p:spPr>
          <a:xfrm>
            <a:off x="3685489" y="2372868"/>
            <a:ext cx="237744" cy="237744"/>
          </a:xfrm>
          <a:custGeom>
            <a:avLst/>
            <a:gdLst/>
            <a:ahLst/>
            <a:cxnLst/>
            <a:rect l="l" t="t" r="r" b="b"/>
            <a:pathLst>
              <a:path w="237744" h="237744">
                <a:moveTo>
                  <a:pt x="39624" y="29718"/>
                </a:moveTo>
                <a:lnTo>
                  <a:pt x="198120" y="29718"/>
                </a:lnTo>
                <a:cubicBezTo>
                  <a:pt x="209062" y="29718"/>
                  <a:pt x="217932" y="38588"/>
                  <a:pt x="217932" y="49530"/>
                </a:cubicBezTo>
                <a:lnTo>
                  <a:pt x="217932" y="148590"/>
                </a:lnTo>
                <a:cubicBezTo>
                  <a:pt x="217932" y="159532"/>
                  <a:pt x="209062" y="168402"/>
                  <a:pt x="198120" y="168402"/>
                </a:cubicBezTo>
                <a:lnTo>
                  <a:pt x="39624" y="168402"/>
                </a:lnTo>
                <a:cubicBezTo>
                  <a:pt x="28682" y="168402"/>
                  <a:pt x="19812" y="159532"/>
                  <a:pt x="19812" y="148590"/>
                </a:cubicBezTo>
                <a:lnTo>
                  <a:pt x="19812" y="49530"/>
                </a:lnTo>
                <a:cubicBezTo>
                  <a:pt x="19812" y="38588"/>
                  <a:pt x="28682" y="29718"/>
                  <a:pt x="39624" y="29718"/>
                </a:cubicBezTo>
                <a:close/>
                <a:moveTo>
                  <a:pt x="79248" y="208026"/>
                </a:moveTo>
                <a:lnTo>
                  <a:pt x="158496" y="208026"/>
                </a:lnTo>
                <a:moveTo>
                  <a:pt x="118872" y="168402"/>
                </a:moveTo>
                <a:lnTo>
                  <a:pt x="118872" y="208026"/>
                </a:lnTo>
              </a:path>
            </a:pathLst>
          </a:custGeom>
          <a:noFill/>
          <a:ln w="19812" cap="rnd">
            <a:solidFill>
              <a:srgbClr val="55627E"/>
            </a:solidFill>
            <a:prstDash val="solid"/>
            <a:round/>
          </a:ln>
        </p:spPr>
      </p:sp>
      <p:sp>
        <p:nvSpPr>
          <p:cNvPr id="18" name="Text 16"/>
          <p:cNvSpPr/>
          <p:nvPr/>
        </p:nvSpPr>
        <p:spPr>
          <a:xfrm>
            <a:off x="2834640" y="2756916"/>
            <a:ext cx="1939442" cy="292608"/>
          </a:xfrm>
          <a:prstGeom prst="rect">
            <a:avLst/>
          </a:prstGeom>
          <a:noFill/>
          <a:ln/>
        </p:spPr>
        <p:txBody>
          <a:bodyPr wrap="square" lIns="0" tIns="0" rIns="0" bIns="0" rtlCol="0" anchor="ctr">
            <a:normAutofit/>
          </a:bodyPr>
          <a:lstStyle/>
          <a:p>
            <a:pPr algn="ctr" indent="0" marL="0">
              <a:buNone/>
            </a:pPr>
            <a:r>
              <a:rPr lang="en-US" sz="1400" b="1" dirty="0">
                <a:solidFill>
                  <a:srgbClr val="55627E"/>
                </a:solidFill>
                <a:latin typeface="Segoe UI Semibold" pitchFamily="34" charset="0"/>
                <a:ea typeface="Segoe UI Semibold" pitchFamily="34" charset="-122"/>
                <a:cs typeface="Segoe UI Semibold" pitchFamily="34" charset="-120"/>
              </a:rPr>
              <a:t>Pantalla</a:t>
            </a:r>
            <a:endParaRPr lang="en-US" sz="1400" dirty="0"/>
          </a:p>
        </p:txBody>
      </p:sp>
      <p:sp>
        <p:nvSpPr>
          <p:cNvPr id="19" name="Text 17"/>
          <p:cNvSpPr/>
          <p:nvPr/>
        </p:nvSpPr>
        <p:spPr>
          <a:xfrm>
            <a:off x="2852928" y="3049524"/>
            <a:ext cx="1902866" cy="347472"/>
          </a:xfrm>
          <a:prstGeom prst="rect">
            <a:avLst/>
          </a:prstGeom>
          <a:noFill/>
          <a:ln/>
        </p:spPr>
        <p:txBody>
          <a:bodyPr wrap="square" lIns="0" tIns="0" rIns="0" bIns="0" rtlCol="0" anchor="t">
            <a:normAutofit/>
          </a:bodyPr>
          <a:lstStyle/>
          <a:p>
            <a:pPr algn="ctr" indent="0" marL="0">
              <a:buNone/>
            </a:pPr>
            <a:r>
              <a:rPr lang="en-US" sz="1150" dirty="0">
                <a:solidFill>
                  <a:srgbClr val="0B1A3C"/>
                </a:solidFill>
                <a:latin typeface="Segoe UI" pitchFamily="34" charset="0"/>
                <a:ea typeface="Segoe UI" pitchFamily="34" charset="-122"/>
                <a:cs typeface="Segoe UI" pitchFamily="34" charset="-120"/>
              </a:rPr>
              <a:t>La persona pulsa Enviar.</a:t>
            </a:r>
            <a:endParaRPr lang="en-US" sz="1150" dirty="0"/>
          </a:p>
        </p:txBody>
      </p:sp>
      <p:sp>
        <p:nvSpPr>
          <p:cNvPr id="20" name="Shape 18"/>
          <p:cNvSpPr/>
          <p:nvPr/>
        </p:nvSpPr>
        <p:spPr>
          <a:xfrm>
            <a:off x="4920386" y="2811780"/>
            <a:ext cx="1042416" cy="0"/>
          </a:xfrm>
          <a:prstGeom prst="line">
            <a:avLst/>
          </a:prstGeom>
          <a:noFill/>
          <a:ln w="31750">
            <a:solidFill>
              <a:srgbClr val="55627E"/>
            </a:solidFill>
            <a:prstDash val="solid"/>
            <a:tailEnd type="triangle"/>
          </a:ln>
        </p:spPr>
      </p:sp>
      <p:sp>
        <p:nvSpPr>
          <p:cNvPr id="21" name="Text 19"/>
          <p:cNvSpPr/>
          <p:nvPr/>
        </p:nvSpPr>
        <p:spPr>
          <a:xfrm>
            <a:off x="4883810" y="2244852"/>
            <a:ext cx="1115568" cy="512064"/>
          </a:xfrm>
          <a:prstGeom prst="rect">
            <a:avLst/>
          </a:prstGeom>
          <a:noFill/>
          <a:ln/>
        </p:spPr>
        <p:txBody>
          <a:bodyPr wrap="square" lIns="0" tIns="0" rIns="0" bIns="0" rtlCol="0" anchor="b"/>
          <a:lstStyle/>
          <a:p>
            <a:pPr algn="ctr" indent="0" marL="0">
              <a:buNone/>
            </a:pPr>
            <a:r>
              <a:rPr lang="en-US" sz="1150" b="1" dirty="0">
                <a:solidFill>
                  <a:srgbClr val="55627E"/>
                </a:solidFill>
                <a:latin typeface="Consolas" pitchFamily="34" charset="0"/>
                <a:ea typeface="Consolas" pitchFamily="34" charset="-122"/>
                <a:cs typeface="Consolas" pitchFamily="34" charset="-120"/>
              </a:rPr>
              <a:t>clic</a:t>
            </a:r>
            <a:endParaRPr lang="en-US" sz="1150" dirty="0"/>
          </a:p>
        </p:txBody>
      </p:sp>
      <p:sp>
        <p:nvSpPr>
          <p:cNvPr id="22" name="Shape 20"/>
          <p:cNvSpPr/>
          <p:nvPr/>
        </p:nvSpPr>
        <p:spPr>
          <a:xfrm>
            <a:off x="6035954" y="2171700"/>
            <a:ext cx="2085746" cy="1280160"/>
          </a:xfrm>
          <a:prstGeom prst="roundRect">
            <a:avLst>
              <a:gd name="adj" fmla="val 10000"/>
            </a:avLst>
          </a:prstGeom>
          <a:solidFill>
            <a:srgbClr val="FFFFFF"/>
          </a:solidFill>
          <a:ln w="12700">
            <a:solidFill>
              <a:srgbClr val="B3B8C5"/>
            </a:solidFill>
            <a:prstDash val="solid"/>
          </a:ln>
          <a:effectLst>
            <a:outerShdw sx="100000" sy="100000" kx="0" ky="0" algn="bl" rotWithShape="0" blurRad="76200" dist="19050" dir="5400000">
              <a:srgbClr val="0B1F3A">
                <a:alpha val="14000"/>
              </a:srgbClr>
            </a:outerShdw>
          </a:effectLst>
        </p:spPr>
      </p:sp>
      <p:sp>
        <p:nvSpPr>
          <p:cNvPr id="23" name="Shape 21"/>
          <p:cNvSpPr/>
          <p:nvPr/>
        </p:nvSpPr>
        <p:spPr>
          <a:xfrm>
            <a:off x="6850228" y="2263140"/>
            <a:ext cx="457200" cy="457200"/>
          </a:xfrm>
          <a:prstGeom prst="ellipse">
            <a:avLst/>
          </a:prstGeom>
          <a:solidFill>
            <a:srgbClr val="F4F7FB"/>
          </a:solidFill>
          <a:ln w="12700">
            <a:solidFill>
              <a:srgbClr val="F4F7FB"/>
            </a:solidFill>
            <a:prstDash val="solid"/>
          </a:ln>
        </p:spPr>
      </p:sp>
      <p:sp>
        <p:nvSpPr>
          <p:cNvPr id="24" name="Icono server"/>
          <p:cNvSpPr/>
          <p:nvPr/>
        </p:nvSpPr>
        <p:spPr>
          <a:xfrm>
            <a:off x="6959956" y="2372868"/>
            <a:ext cx="237744" cy="237744"/>
          </a:xfrm>
          <a:custGeom>
            <a:avLst/>
            <a:gdLst/>
            <a:ahLst/>
            <a:cxnLst/>
            <a:rect l="l" t="t" r="r" b="b"/>
            <a:pathLst>
              <a:path w="237744" h="237744">
                <a:moveTo>
                  <a:pt x="39624" y="19812"/>
                </a:moveTo>
                <a:lnTo>
                  <a:pt x="198120" y="19812"/>
                </a:lnTo>
                <a:cubicBezTo>
                  <a:pt x="209062" y="19812"/>
                  <a:pt x="217932" y="28682"/>
                  <a:pt x="217932" y="39624"/>
                </a:cubicBezTo>
                <a:lnTo>
                  <a:pt x="217932" y="79248"/>
                </a:lnTo>
                <a:cubicBezTo>
                  <a:pt x="217932" y="90190"/>
                  <a:pt x="209062" y="99060"/>
                  <a:pt x="198120" y="99060"/>
                </a:cubicBezTo>
                <a:lnTo>
                  <a:pt x="39624" y="99060"/>
                </a:lnTo>
                <a:cubicBezTo>
                  <a:pt x="28682" y="99060"/>
                  <a:pt x="19812" y="90190"/>
                  <a:pt x="19812" y="79248"/>
                </a:cubicBezTo>
                <a:lnTo>
                  <a:pt x="19812" y="39624"/>
                </a:lnTo>
                <a:cubicBezTo>
                  <a:pt x="19812" y="28682"/>
                  <a:pt x="28682" y="19812"/>
                  <a:pt x="39624" y="19812"/>
                </a:cubicBezTo>
                <a:close/>
                <a:moveTo>
                  <a:pt x="39624" y="138684"/>
                </a:moveTo>
                <a:lnTo>
                  <a:pt x="198120" y="138684"/>
                </a:lnTo>
                <a:cubicBezTo>
                  <a:pt x="209062" y="138684"/>
                  <a:pt x="217932" y="147554"/>
                  <a:pt x="217932" y="158496"/>
                </a:cubicBezTo>
                <a:lnTo>
                  <a:pt x="217932" y="198120"/>
                </a:lnTo>
                <a:cubicBezTo>
                  <a:pt x="217932" y="209062"/>
                  <a:pt x="209062" y="217932"/>
                  <a:pt x="198120" y="217932"/>
                </a:cubicBezTo>
                <a:lnTo>
                  <a:pt x="39624" y="217932"/>
                </a:lnTo>
                <a:cubicBezTo>
                  <a:pt x="28682" y="217932"/>
                  <a:pt x="19812" y="209062"/>
                  <a:pt x="19812" y="198120"/>
                </a:cubicBezTo>
                <a:lnTo>
                  <a:pt x="19812" y="158496"/>
                </a:lnTo>
                <a:cubicBezTo>
                  <a:pt x="19812" y="147554"/>
                  <a:pt x="28682" y="138684"/>
                  <a:pt x="39624" y="138684"/>
                </a:cubicBezTo>
                <a:close/>
                <a:moveTo>
                  <a:pt x="59436" y="59436"/>
                </a:moveTo>
                <a:lnTo>
                  <a:pt x="59535" y="59436"/>
                </a:lnTo>
                <a:moveTo>
                  <a:pt x="59436" y="178308"/>
                </a:moveTo>
                <a:lnTo>
                  <a:pt x="59535" y="178308"/>
                </a:lnTo>
              </a:path>
            </a:pathLst>
          </a:custGeom>
          <a:noFill/>
          <a:ln w="19812" cap="rnd">
            <a:solidFill>
              <a:srgbClr val="55627E"/>
            </a:solidFill>
            <a:prstDash val="solid"/>
            <a:round/>
          </a:ln>
        </p:spPr>
      </p:sp>
      <p:sp>
        <p:nvSpPr>
          <p:cNvPr id="25" name="Text 23"/>
          <p:cNvSpPr/>
          <p:nvPr/>
        </p:nvSpPr>
        <p:spPr>
          <a:xfrm>
            <a:off x="6109106" y="2756916"/>
            <a:ext cx="1939442" cy="292608"/>
          </a:xfrm>
          <a:prstGeom prst="rect">
            <a:avLst/>
          </a:prstGeom>
          <a:noFill/>
          <a:ln/>
        </p:spPr>
        <p:txBody>
          <a:bodyPr wrap="square" lIns="0" tIns="0" rIns="0" bIns="0" rtlCol="0" anchor="ctr">
            <a:normAutofit/>
          </a:bodyPr>
          <a:lstStyle/>
          <a:p>
            <a:pPr algn="ctr" indent="0" marL="0">
              <a:buNone/>
            </a:pPr>
            <a:r>
              <a:rPr lang="en-US" sz="1400" b="1" dirty="0">
                <a:solidFill>
                  <a:srgbClr val="55627E"/>
                </a:solidFill>
                <a:latin typeface="Segoe UI Semibold" pitchFamily="34" charset="0"/>
                <a:ea typeface="Segoe UI Semibold" pitchFamily="34" charset="-122"/>
                <a:cs typeface="Segoe UI Semibold" pitchFamily="34" charset="-120"/>
              </a:rPr>
              <a:t>Aplicación</a:t>
            </a:r>
            <a:endParaRPr lang="en-US" sz="1400" dirty="0"/>
          </a:p>
        </p:txBody>
      </p:sp>
      <p:sp>
        <p:nvSpPr>
          <p:cNvPr id="26" name="Text 24"/>
          <p:cNvSpPr/>
          <p:nvPr/>
        </p:nvSpPr>
        <p:spPr>
          <a:xfrm>
            <a:off x="6127394" y="3049524"/>
            <a:ext cx="1902866" cy="347472"/>
          </a:xfrm>
          <a:prstGeom prst="rect">
            <a:avLst/>
          </a:prstGeom>
          <a:noFill/>
          <a:ln/>
        </p:spPr>
        <p:txBody>
          <a:bodyPr wrap="square" lIns="0" tIns="0" rIns="0" bIns="0" rtlCol="0" anchor="t">
            <a:normAutofit/>
          </a:bodyPr>
          <a:lstStyle/>
          <a:p>
            <a:pPr algn="ctr" indent="0" marL="0">
              <a:buNone/>
            </a:pPr>
            <a:r>
              <a:rPr lang="en-US" sz="1100" dirty="0">
                <a:solidFill>
                  <a:srgbClr val="0B1A3C"/>
                </a:solidFill>
                <a:latin typeface="Segoe UI" pitchFamily="34" charset="0"/>
                <a:ea typeface="Segoe UI" pitchFamily="34" charset="-122"/>
                <a:cs typeface="Segoe UI" pitchFamily="34" charset="-120"/>
              </a:rPr>
              <a:t>Solo pasa los parámetros.</a:t>
            </a:r>
            <a:endParaRPr lang="en-US" sz="1100" dirty="0"/>
          </a:p>
        </p:txBody>
      </p:sp>
      <p:sp>
        <p:nvSpPr>
          <p:cNvPr id="27" name="Shape 25"/>
          <p:cNvSpPr/>
          <p:nvPr/>
        </p:nvSpPr>
        <p:spPr>
          <a:xfrm>
            <a:off x="8194853" y="2811780"/>
            <a:ext cx="1042416" cy="0"/>
          </a:xfrm>
          <a:prstGeom prst="line">
            <a:avLst/>
          </a:prstGeom>
          <a:noFill/>
          <a:ln w="31750">
            <a:solidFill>
              <a:srgbClr val="55627E"/>
            </a:solidFill>
            <a:prstDash val="solid"/>
            <a:tailEnd type="triangle"/>
          </a:ln>
        </p:spPr>
      </p:sp>
      <p:sp>
        <p:nvSpPr>
          <p:cNvPr id="28" name="Text 26"/>
          <p:cNvSpPr/>
          <p:nvPr/>
        </p:nvSpPr>
        <p:spPr>
          <a:xfrm>
            <a:off x="8158277" y="2244852"/>
            <a:ext cx="1115568" cy="512064"/>
          </a:xfrm>
          <a:prstGeom prst="rect">
            <a:avLst/>
          </a:prstGeom>
          <a:noFill/>
          <a:ln/>
        </p:spPr>
        <p:txBody>
          <a:bodyPr wrap="square" lIns="0" tIns="0" rIns="0" bIns="0" rtlCol="0" anchor="b"/>
          <a:lstStyle/>
          <a:p>
            <a:pPr algn="ctr" indent="0" marL="0">
              <a:buNone/>
            </a:pPr>
            <a:r>
              <a:rPr lang="en-US" sz="1150" b="1" dirty="0">
                <a:solidFill>
                  <a:srgbClr val="55627E"/>
                </a:solidFill>
                <a:latin typeface="Consolas" pitchFamily="34" charset="0"/>
                <a:ea typeface="Consolas" pitchFamily="34" charset="-122"/>
                <a:cs typeface="Consolas" pitchFamily="34" charset="-120"/>
              </a:rPr>
              <a:t>EXEC sp_enviar @id</a:t>
            </a:r>
            <a:endParaRPr lang="en-US" sz="1150" dirty="0"/>
          </a:p>
        </p:txBody>
      </p:sp>
      <p:sp>
        <p:nvSpPr>
          <p:cNvPr id="29" name="Shape 27"/>
          <p:cNvSpPr/>
          <p:nvPr/>
        </p:nvSpPr>
        <p:spPr>
          <a:xfrm>
            <a:off x="9310421" y="2171700"/>
            <a:ext cx="2085746" cy="1280160"/>
          </a:xfrm>
          <a:prstGeom prst="roundRect">
            <a:avLst>
              <a:gd name="adj" fmla="val 10000"/>
            </a:avLst>
          </a:prstGeom>
          <a:solidFill>
            <a:srgbClr val="FCEFD6"/>
          </a:solidFill>
          <a:ln w="12700">
            <a:solidFill>
              <a:srgbClr val="8A4B06"/>
            </a:solidFill>
            <a:prstDash val="solid"/>
          </a:ln>
          <a:effectLst>
            <a:outerShdw sx="100000" sy="100000" kx="0" ky="0" algn="bl" rotWithShape="0" blurRad="76200" dist="19050" dir="5400000">
              <a:srgbClr val="0B1F3A">
                <a:alpha val="14000"/>
              </a:srgbClr>
            </a:outerShdw>
          </a:effectLst>
        </p:spPr>
      </p:sp>
      <p:sp>
        <p:nvSpPr>
          <p:cNvPr id="30" name="Shape 28"/>
          <p:cNvSpPr/>
          <p:nvPr/>
        </p:nvSpPr>
        <p:spPr>
          <a:xfrm>
            <a:off x="9310421" y="2171700"/>
            <a:ext cx="2085746" cy="1280160"/>
          </a:xfrm>
          <a:prstGeom prst="roundRect">
            <a:avLst>
              <a:gd name="adj" fmla="val 10000"/>
            </a:avLst>
          </a:prstGeom>
          <a:solidFill>
            <a:srgbClr val="FCEFD6">
              <a:alpha val="0"/>
            </a:srgbClr>
          </a:solidFill>
          <a:ln w="31750">
            <a:solidFill>
              <a:srgbClr val="8A4B06"/>
            </a:solidFill>
            <a:prstDash val="solid"/>
          </a:ln>
        </p:spPr>
      </p:sp>
      <p:sp>
        <p:nvSpPr>
          <p:cNvPr id="31" name="Text 29"/>
          <p:cNvSpPr/>
          <p:nvPr/>
        </p:nvSpPr>
        <p:spPr>
          <a:xfrm>
            <a:off x="9393174" y="1842516"/>
            <a:ext cx="1920240" cy="274320"/>
          </a:xfrm>
          <a:prstGeom prst="roundRect">
            <a:avLst>
              <a:gd name="adj" fmla="val 50000"/>
            </a:avLst>
          </a:prstGeom>
          <a:solidFill>
            <a:srgbClr val="8A4B06"/>
          </a:solidFill>
          <a:ln>
            <a:solidFill>
              <a:srgbClr val="8A4B06"/>
            </a:solidFill>
          </a:ln>
        </p:spPr>
        <p:txBody>
          <a:bodyPr wrap="square" lIns="0" tIns="0" rIns="0" bIns="0" rtlCol="0" anchor="ctr"/>
          <a:lstStyle/>
          <a:p>
            <a:pPr algn="ctr" indent="0" marL="0">
              <a:buNone/>
            </a:pPr>
            <a:r>
              <a:rPr lang="en-US" sz="950" b="1" spc="100" kern="0" dirty="0">
                <a:solidFill>
                  <a:srgbClr val="FFFFFF"/>
                </a:solidFill>
                <a:latin typeface="Segoe UI" pitchFamily="34" charset="0"/>
                <a:ea typeface="Segoe UI" pitchFamily="34" charset="-122"/>
                <a:cs typeface="Segoe UI" pitchFamily="34" charset="-120"/>
              </a:rPr>
              <a:t>AQUÍ VIVE LA REGLA</a:t>
            </a:r>
            <a:endParaRPr lang="en-US" sz="950" dirty="0"/>
          </a:p>
        </p:txBody>
      </p:sp>
      <p:sp>
        <p:nvSpPr>
          <p:cNvPr id="32" name="Shape 30"/>
          <p:cNvSpPr/>
          <p:nvPr/>
        </p:nvSpPr>
        <p:spPr>
          <a:xfrm>
            <a:off x="10124694" y="2263140"/>
            <a:ext cx="457200" cy="457200"/>
          </a:xfrm>
          <a:prstGeom prst="ellipse">
            <a:avLst/>
          </a:prstGeom>
          <a:solidFill>
            <a:srgbClr val="FFFFFF"/>
          </a:solidFill>
          <a:ln w="12700">
            <a:solidFill>
              <a:srgbClr val="FFFFFF"/>
            </a:solidFill>
            <a:prstDash val="solid"/>
          </a:ln>
        </p:spPr>
      </p:sp>
      <p:sp>
        <p:nvSpPr>
          <p:cNvPr id="33" name="Icono database"/>
          <p:cNvSpPr/>
          <p:nvPr/>
        </p:nvSpPr>
        <p:spPr>
          <a:xfrm>
            <a:off x="10234422" y="2372868"/>
            <a:ext cx="237744" cy="237744"/>
          </a:xfrm>
          <a:custGeom>
            <a:avLst/>
            <a:gdLst/>
            <a:ahLst/>
            <a:cxnLst/>
            <a:rect l="l" t="t" r="r" b="b"/>
            <a:pathLst>
              <a:path w="237744" h="237744">
                <a:moveTo>
                  <a:pt x="208026" y="49530"/>
                </a:moveTo>
                <a:cubicBezTo>
                  <a:pt x="208026" y="65943"/>
                  <a:pt x="168110" y="79248"/>
                  <a:pt x="118872" y="79248"/>
                </a:cubicBezTo>
                <a:cubicBezTo>
                  <a:pt x="69634" y="79248"/>
                  <a:pt x="29718" y="65943"/>
                  <a:pt x="29718" y="49530"/>
                </a:cubicBezTo>
                <a:cubicBezTo>
                  <a:pt x="29718" y="33117"/>
                  <a:pt x="69634" y="19812"/>
                  <a:pt x="118872" y="19812"/>
                </a:cubicBezTo>
                <a:cubicBezTo>
                  <a:pt x="168110" y="19812"/>
                  <a:pt x="208026" y="33117"/>
                  <a:pt x="208026" y="49530"/>
                </a:cubicBezTo>
                <a:close/>
                <a:moveTo>
                  <a:pt x="29718" y="49530"/>
                </a:moveTo>
                <a:lnTo>
                  <a:pt x="29718" y="188214"/>
                </a:lnTo>
                <a:cubicBezTo>
                  <a:pt x="29718" y="204627"/>
                  <a:pt x="69634" y="217932"/>
                  <a:pt x="118872" y="217932"/>
                </a:cubicBezTo>
                <a:cubicBezTo>
                  <a:pt x="168110" y="217932"/>
                  <a:pt x="208026" y="204627"/>
                  <a:pt x="208026" y="188214"/>
                </a:cubicBezTo>
                <a:lnTo>
                  <a:pt x="208026" y="49530"/>
                </a:lnTo>
                <a:moveTo>
                  <a:pt x="29718" y="118872"/>
                </a:moveTo>
                <a:cubicBezTo>
                  <a:pt x="29718" y="135285"/>
                  <a:pt x="69634" y="148590"/>
                  <a:pt x="118872" y="148590"/>
                </a:cubicBezTo>
                <a:cubicBezTo>
                  <a:pt x="168110" y="148590"/>
                  <a:pt x="208026" y="135285"/>
                  <a:pt x="208026" y="118872"/>
                </a:cubicBezTo>
              </a:path>
            </a:pathLst>
          </a:custGeom>
          <a:noFill/>
          <a:ln w="19812" cap="rnd">
            <a:solidFill>
              <a:srgbClr val="8A4B06"/>
            </a:solidFill>
            <a:prstDash val="solid"/>
            <a:round/>
          </a:ln>
        </p:spPr>
      </p:sp>
      <p:sp>
        <p:nvSpPr>
          <p:cNvPr id="34" name="Text 32"/>
          <p:cNvSpPr/>
          <p:nvPr/>
        </p:nvSpPr>
        <p:spPr>
          <a:xfrm>
            <a:off x="9383573" y="2756916"/>
            <a:ext cx="1939442" cy="292608"/>
          </a:xfrm>
          <a:prstGeom prst="rect">
            <a:avLst/>
          </a:prstGeom>
          <a:noFill/>
          <a:ln/>
        </p:spPr>
        <p:txBody>
          <a:bodyPr wrap="square" lIns="0" tIns="0" rIns="0" bIns="0" rtlCol="0" anchor="ctr">
            <a:normAutofit/>
          </a:bodyPr>
          <a:lstStyle/>
          <a:p>
            <a:pPr algn="ctr" indent="0" marL="0">
              <a:buNone/>
            </a:pPr>
            <a:r>
              <a:rPr lang="en-US" sz="1400" b="1" dirty="0">
                <a:solidFill>
                  <a:srgbClr val="8A4B06"/>
                </a:solidFill>
                <a:latin typeface="Segoe UI Semibold" pitchFamily="34" charset="0"/>
                <a:ea typeface="Segoe UI Semibold" pitchFamily="34" charset="-122"/>
                <a:cs typeface="Segoe UI Semibold" pitchFamily="34" charset="-120"/>
              </a:rPr>
              <a:t>Base de datos</a:t>
            </a:r>
            <a:endParaRPr lang="en-US" sz="1400" dirty="0"/>
          </a:p>
        </p:txBody>
      </p:sp>
      <p:sp>
        <p:nvSpPr>
          <p:cNvPr id="35" name="Text 33"/>
          <p:cNvSpPr/>
          <p:nvPr/>
        </p:nvSpPr>
        <p:spPr>
          <a:xfrm>
            <a:off x="9401861" y="3049524"/>
            <a:ext cx="1902866" cy="347472"/>
          </a:xfrm>
          <a:prstGeom prst="rect">
            <a:avLst/>
          </a:prstGeom>
          <a:noFill/>
          <a:ln/>
        </p:spPr>
        <p:txBody>
          <a:bodyPr wrap="square" lIns="0" tIns="0" rIns="0" bIns="0" rtlCol="0" anchor="t">
            <a:normAutofit/>
          </a:bodyPr>
          <a:lstStyle/>
          <a:p>
            <a:pPr algn="ctr" indent="0" marL="0">
              <a:buNone/>
            </a:pPr>
            <a:r>
              <a:rPr lang="en-US" sz="1100" dirty="0">
                <a:solidFill>
                  <a:srgbClr val="0B1A3C"/>
                </a:solidFill>
                <a:latin typeface="Segoe UI" pitchFamily="34" charset="0"/>
                <a:ea typeface="Segoe UI" pitchFamily="34" charset="-122"/>
                <a:cs typeface="Segoe UI" pitchFamily="34" charset="-120"/>
              </a:rPr>
              <a:t>El procedimiento decide y guarda.</a:t>
            </a:r>
            <a:endParaRPr lang="en-US" sz="1100" dirty="0"/>
          </a:p>
        </p:txBody>
      </p:sp>
      <p:sp>
        <p:nvSpPr>
          <p:cNvPr id="36" name="[p1] Forma"/>
          <p:cNvSpPr/>
          <p:nvPr/>
        </p:nvSpPr>
        <p:spPr>
          <a:xfrm>
            <a:off x="612648" y="3936492"/>
            <a:ext cx="10966399" cy="1897380"/>
          </a:xfrm>
          <a:prstGeom prst="roundRect">
            <a:avLst>
              <a:gd name="adj" fmla="val 6747"/>
            </a:avLst>
          </a:prstGeom>
          <a:solidFill>
            <a:srgbClr val="EDF8FC"/>
          </a:solidFill>
          <a:ln w="12700">
            <a:solidFill>
              <a:srgbClr val="AACCD6"/>
            </a:solidFill>
            <a:prstDash val="solid"/>
          </a:ln>
        </p:spPr>
      </p:sp>
      <p:sp>
        <p:nvSpPr>
          <p:cNvPr id="37" name="[p1] Forma"/>
          <p:cNvSpPr/>
          <p:nvPr/>
        </p:nvSpPr>
        <p:spPr>
          <a:xfrm>
            <a:off x="612648" y="3936492"/>
            <a:ext cx="1874520" cy="1897380"/>
          </a:xfrm>
          <a:prstGeom prst="roundRect">
            <a:avLst>
              <a:gd name="adj" fmla="val 6829"/>
            </a:avLst>
          </a:prstGeom>
          <a:solidFill>
            <a:srgbClr val="0B6E8A"/>
          </a:solidFill>
          <a:ln>
            <a:solidFill>
              <a:srgbClr val="0B6E8A"/>
            </a:solidFill>
          </a:ln>
        </p:spPr>
        <p:txBody>
          <a:bodyPr wrap="square" lIns="101600" tIns="101600" rIns="101600" bIns="10160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ARKA-Lite: un ORM</a:t>
            </a:r>
            <a:endParaRPr lang="en-US" sz="1600" dirty="0"/>
          </a:p>
        </p:txBody>
      </p:sp>
      <p:sp>
        <p:nvSpPr>
          <p:cNvPr id="38" name="[p1] Forma"/>
          <p:cNvSpPr/>
          <p:nvPr/>
        </p:nvSpPr>
        <p:spPr>
          <a:xfrm>
            <a:off x="2761488" y="4389120"/>
            <a:ext cx="1267130" cy="1280160"/>
          </a:xfrm>
          <a:prstGeom prst="roundRect">
            <a:avLst>
              <a:gd name="adj" fmla="val 10103"/>
            </a:avLst>
          </a:prstGeom>
          <a:solidFill>
            <a:srgbClr val="FFFFFF"/>
          </a:solidFill>
          <a:ln w="12700">
            <a:solidFill>
              <a:srgbClr val="91BECA"/>
            </a:solidFill>
            <a:prstDash val="solid"/>
          </a:ln>
          <a:effectLst>
            <a:outerShdw sx="100000" sy="100000" kx="0" ky="0" algn="bl" rotWithShape="0" blurRad="76200" dist="19050" dir="5400000">
              <a:srgbClr val="0B1F3A">
                <a:alpha val="14000"/>
              </a:srgbClr>
            </a:outerShdw>
          </a:effectLst>
        </p:spPr>
      </p:sp>
      <p:sp>
        <p:nvSpPr>
          <p:cNvPr id="39" name="[p1] Forma"/>
          <p:cNvSpPr/>
          <p:nvPr/>
        </p:nvSpPr>
        <p:spPr>
          <a:xfrm>
            <a:off x="3166453" y="4480560"/>
            <a:ext cx="457200" cy="457200"/>
          </a:xfrm>
          <a:prstGeom prst="ellipse">
            <a:avLst/>
          </a:prstGeom>
          <a:solidFill>
            <a:srgbClr val="E3F4FA"/>
          </a:solidFill>
          <a:ln w="12700">
            <a:solidFill>
              <a:srgbClr val="E3F4FA"/>
            </a:solidFill>
            <a:prstDash val="solid"/>
          </a:ln>
        </p:spPr>
      </p:sp>
      <p:sp>
        <p:nvSpPr>
          <p:cNvPr id="40" name="[p1] Icono monitor"/>
          <p:cNvSpPr/>
          <p:nvPr/>
        </p:nvSpPr>
        <p:spPr>
          <a:xfrm>
            <a:off x="3276181" y="4590288"/>
            <a:ext cx="237744" cy="237744"/>
          </a:xfrm>
          <a:custGeom>
            <a:avLst/>
            <a:gdLst/>
            <a:ahLst/>
            <a:cxnLst/>
            <a:rect l="l" t="t" r="r" b="b"/>
            <a:pathLst>
              <a:path w="237744" h="237744">
                <a:moveTo>
                  <a:pt x="39624" y="29718"/>
                </a:moveTo>
                <a:lnTo>
                  <a:pt x="198120" y="29718"/>
                </a:lnTo>
                <a:cubicBezTo>
                  <a:pt x="209062" y="29718"/>
                  <a:pt x="217932" y="38588"/>
                  <a:pt x="217932" y="49530"/>
                </a:cubicBezTo>
                <a:lnTo>
                  <a:pt x="217932" y="148590"/>
                </a:lnTo>
                <a:cubicBezTo>
                  <a:pt x="217932" y="159532"/>
                  <a:pt x="209062" y="168402"/>
                  <a:pt x="198120" y="168402"/>
                </a:cubicBezTo>
                <a:lnTo>
                  <a:pt x="39624" y="168402"/>
                </a:lnTo>
                <a:cubicBezTo>
                  <a:pt x="28682" y="168402"/>
                  <a:pt x="19812" y="159532"/>
                  <a:pt x="19812" y="148590"/>
                </a:cubicBezTo>
                <a:lnTo>
                  <a:pt x="19812" y="49530"/>
                </a:lnTo>
                <a:cubicBezTo>
                  <a:pt x="19812" y="38588"/>
                  <a:pt x="28682" y="29718"/>
                  <a:pt x="39624" y="29718"/>
                </a:cubicBezTo>
                <a:close/>
                <a:moveTo>
                  <a:pt x="79248" y="208026"/>
                </a:moveTo>
                <a:lnTo>
                  <a:pt x="158496" y="208026"/>
                </a:lnTo>
                <a:moveTo>
                  <a:pt x="118872" y="168402"/>
                </a:moveTo>
                <a:lnTo>
                  <a:pt x="118872" y="208026"/>
                </a:lnTo>
              </a:path>
            </a:pathLst>
          </a:custGeom>
          <a:noFill/>
          <a:ln w="19812" cap="rnd">
            <a:solidFill>
              <a:srgbClr val="0B6E8A"/>
            </a:solidFill>
            <a:prstDash val="solid"/>
            <a:round/>
          </a:ln>
        </p:spPr>
      </p:sp>
      <p:sp>
        <p:nvSpPr>
          <p:cNvPr id="41" name="[p1] Forma"/>
          <p:cNvSpPr/>
          <p:nvPr/>
        </p:nvSpPr>
        <p:spPr>
          <a:xfrm>
            <a:off x="2834640" y="4974336"/>
            <a:ext cx="1120826" cy="292608"/>
          </a:xfrm>
          <a:prstGeom prst="rect">
            <a:avLst/>
          </a:prstGeom>
          <a:noFill/>
          <a:ln/>
        </p:spPr>
        <p:txBody>
          <a:bodyPr wrap="square" lIns="0" tIns="0" rIns="0" bIns="0" rtlCol="0" anchor="ctr">
            <a:normAutofit/>
          </a:bodyPr>
          <a:lstStyle/>
          <a:p>
            <a:pPr algn="ctr" indent="0" marL="0">
              <a:buNone/>
            </a:pPr>
            <a:r>
              <a:rPr lang="en-US" sz="1400" b="1" dirty="0">
                <a:solidFill>
                  <a:srgbClr val="0B6E8A"/>
                </a:solidFill>
                <a:latin typeface="Segoe UI Semibold" pitchFamily="34" charset="0"/>
                <a:ea typeface="Segoe UI Semibold" pitchFamily="34" charset="-122"/>
                <a:cs typeface="Segoe UI Semibold" pitchFamily="34" charset="-120"/>
              </a:rPr>
              <a:t>Pantalla</a:t>
            </a:r>
            <a:endParaRPr lang="en-US" sz="1400" dirty="0"/>
          </a:p>
        </p:txBody>
      </p:sp>
      <p:sp>
        <p:nvSpPr>
          <p:cNvPr id="42" name="[p1] Forma"/>
          <p:cNvSpPr/>
          <p:nvPr/>
        </p:nvSpPr>
        <p:spPr>
          <a:xfrm>
            <a:off x="2852928" y="5266944"/>
            <a:ext cx="1084250" cy="347472"/>
          </a:xfrm>
          <a:prstGeom prst="rect">
            <a:avLst/>
          </a:prstGeom>
          <a:noFill/>
          <a:ln/>
        </p:spPr>
        <p:txBody>
          <a:bodyPr wrap="square" lIns="0" tIns="0" rIns="0" bIns="0" rtlCol="0" anchor="t">
            <a:normAutofit/>
          </a:bodyPr>
          <a:lstStyle/>
          <a:p>
            <a:pPr algn="ctr" indent="0" marL="0">
              <a:buNone/>
            </a:pPr>
            <a:r>
              <a:rPr lang="en-US" sz="1100" dirty="0">
                <a:solidFill>
                  <a:srgbClr val="0B1A3C"/>
                </a:solidFill>
                <a:latin typeface="Segoe UI" pitchFamily="34" charset="0"/>
                <a:ea typeface="Segoe UI" pitchFamily="34" charset="-122"/>
                <a:cs typeface="Segoe UI" pitchFamily="34" charset="-120"/>
              </a:rPr>
              <a:t>La persona pulsa Enviar.</a:t>
            </a:r>
            <a:endParaRPr lang="en-US" sz="1100" dirty="0"/>
          </a:p>
        </p:txBody>
      </p:sp>
      <p:sp>
        <p:nvSpPr>
          <p:cNvPr id="43" name="[p1] Forma"/>
          <p:cNvSpPr/>
          <p:nvPr/>
        </p:nvSpPr>
        <p:spPr>
          <a:xfrm>
            <a:off x="4101770" y="5029200"/>
            <a:ext cx="1042416" cy="0"/>
          </a:xfrm>
          <a:prstGeom prst="line">
            <a:avLst/>
          </a:prstGeom>
          <a:noFill/>
          <a:ln w="31750">
            <a:solidFill>
              <a:srgbClr val="0B6E8A"/>
            </a:solidFill>
            <a:prstDash val="solid"/>
            <a:tailEnd type="triangle"/>
          </a:ln>
        </p:spPr>
      </p:sp>
      <p:sp>
        <p:nvSpPr>
          <p:cNvPr id="44" name="[p1] Forma"/>
          <p:cNvSpPr/>
          <p:nvPr/>
        </p:nvSpPr>
        <p:spPr>
          <a:xfrm>
            <a:off x="4065194" y="4462272"/>
            <a:ext cx="1115568" cy="512064"/>
          </a:xfrm>
          <a:prstGeom prst="rect">
            <a:avLst/>
          </a:prstGeom>
          <a:noFill/>
          <a:ln/>
        </p:spPr>
        <p:txBody>
          <a:bodyPr wrap="square" lIns="0" tIns="0" rIns="0" bIns="0" rtlCol="0" anchor="b"/>
          <a:lstStyle/>
          <a:p>
            <a:pPr algn="ctr" indent="0" marL="0">
              <a:buNone/>
            </a:pPr>
            <a:r>
              <a:rPr lang="en-US" sz="1150" b="1" dirty="0">
                <a:solidFill>
                  <a:srgbClr val="0B6E8A"/>
                </a:solidFill>
                <a:latin typeface="Consolas" pitchFamily="34" charset="0"/>
                <a:ea typeface="Consolas" pitchFamily="34" charset="-122"/>
                <a:cs typeface="Consolas" pitchFamily="34" charset="-120"/>
              </a:rPr>
              <a:t>POST /enviar</a:t>
            </a:r>
            <a:endParaRPr lang="en-US" sz="1150" dirty="0"/>
          </a:p>
        </p:txBody>
      </p:sp>
      <p:sp>
        <p:nvSpPr>
          <p:cNvPr id="45" name="[p1] Forma"/>
          <p:cNvSpPr/>
          <p:nvPr/>
        </p:nvSpPr>
        <p:spPr>
          <a:xfrm>
            <a:off x="5217338" y="4389120"/>
            <a:ext cx="1267130" cy="1280160"/>
          </a:xfrm>
          <a:prstGeom prst="roundRect">
            <a:avLst>
              <a:gd name="adj" fmla="val 10103"/>
            </a:avLst>
          </a:prstGeom>
          <a:solidFill>
            <a:srgbClr val="FCEFD6"/>
          </a:solidFill>
          <a:ln w="12700">
            <a:solidFill>
              <a:srgbClr val="8A4B06"/>
            </a:solidFill>
            <a:prstDash val="solid"/>
          </a:ln>
          <a:effectLst>
            <a:outerShdw sx="100000" sy="100000" kx="0" ky="0" algn="bl" rotWithShape="0" blurRad="76200" dist="19050" dir="5400000">
              <a:srgbClr val="0B1F3A">
                <a:alpha val="14000"/>
              </a:srgbClr>
            </a:outerShdw>
          </a:effectLst>
        </p:spPr>
      </p:sp>
      <p:sp>
        <p:nvSpPr>
          <p:cNvPr id="46" name="[p1] Forma"/>
          <p:cNvSpPr/>
          <p:nvPr/>
        </p:nvSpPr>
        <p:spPr>
          <a:xfrm>
            <a:off x="5217338" y="4389120"/>
            <a:ext cx="1267130" cy="1280160"/>
          </a:xfrm>
          <a:prstGeom prst="roundRect">
            <a:avLst>
              <a:gd name="adj" fmla="val 10103"/>
            </a:avLst>
          </a:prstGeom>
          <a:solidFill>
            <a:srgbClr val="FCEFD6">
              <a:alpha val="0"/>
            </a:srgbClr>
          </a:solidFill>
          <a:ln w="31750">
            <a:solidFill>
              <a:srgbClr val="8A4B06"/>
            </a:solidFill>
            <a:prstDash val="solid"/>
          </a:ln>
        </p:spPr>
      </p:sp>
      <p:sp>
        <p:nvSpPr>
          <p:cNvPr id="47" name="[p1] Forma"/>
          <p:cNvSpPr/>
          <p:nvPr/>
        </p:nvSpPr>
        <p:spPr>
          <a:xfrm>
            <a:off x="4890783" y="4059936"/>
            <a:ext cx="1920240" cy="274320"/>
          </a:xfrm>
          <a:prstGeom prst="roundRect">
            <a:avLst>
              <a:gd name="adj" fmla="val 50000"/>
            </a:avLst>
          </a:prstGeom>
          <a:solidFill>
            <a:srgbClr val="8A4B06"/>
          </a:solidFill>
          <a:ln>
            <a:solidFill>
              <a:srgbClr val="8A4B06"/>
            </a:solidFill>
          </a:ln>
        </p:spPr>
        <p:txBody>
          <a:bodyPr wrap="square" lIns="0" tIns="0" rIns="0" bIns="0" rtlCol="0" anchor="ctr"/>
          <a:lstStyle/>
          <a:p>
            <a:pPr algn="ctr" indent="0" marL="0">
              <a:buNone/>
            </a:pPr>
            <a:r>
              <a:rPr lang="en-US" sz="950" b="1" spc="100" kern="0" dirty="0">
                <a:solidFill>
                  <a:srgbClr val="FFFFFF"/>
                </a:solidFill>
                <a:latin typeface="Segoe UI" pitchFamily="34" charset="0"/>
                <a:ea typeface="Segoe UI" pitchFamily="34" charset="-122"/>
                <a:cs typeface="Segoe UI" pitchFamily="34" charset="-120"/>
              </a:rPr>
              <a:t>AQUÍ VIVE LA REGLA</a:t>
            </a:r>
            <a:endParaRPr lang="en-US" sz="950" dirty="0"/>
          </a:p>
        </p:txBody>
      </p:sp>
      <p:sp>
        <p:nvSpPr>
          <p:cNvPr id="48" name="[p1] Forma"/>
          <p:cNvSpPr/>
          <p:nvPr/>
        </p:nvSpPr>
        <p:spPr>
          <a:xfrm>
            <a:off x="5622303" y="4480560"/>
            <a:ext cx="457200" cy="457200"/>
          </a:xfrm>
          <a:prstGeom prst="ellipse">
            <a:avLst/>
          </a:prstGeom>
          <a:solidFill>
            <a:srgbClr val="FFFFFF"/>
          </a:solidFill>
          <a:ln w="12700">
            <a:solidFill>
              <a:srgbClr val="FFFFFF"/>
            </a:solidFill>
            <a:prstDash val="solid"/>
          </a:ln>
        </p:spPr>
      </p:sp>
      <p:sp>
        <p:nvSpPr>
          <p:cNvPr id="49" name="[p1] Icono code"/>
          <p:cNvSpPr/>
          <p:nvPr/>
        </p:nvSpPr>
        <p:spPr>
          <a:xfrm>
            <a:off x="5732031" y="4590288"/>
            <a:ext cx="237744" cy="237744"/>
          </a:xfrm>
          <a:custGeom>
            <a:avLst/>
            <a:gdLst/>
            <a:ahLst/>
            <a:cxnLst/>
            <a:rect l="l" t="t" r="r" b="b"/>
            <a:pathLst>
              <a:path w="237744" h="237744">
                <a:moveTo>
                  <a:pt x="158496" y="178308"/>
                </a:moveTo>
                <a:lnTo>
                  <a:pt x="217932" y="118872"/>
                </a:lnTo>
                <a:lnTo>
                  <a:pt x="158496" y="59436"/>
                </a:lnTo>
                <a:moveTo>
                  <a:pt x="79248" y="59436"/>
                </a:moveTo>
                <a:lnTo>
                  <a:pt x="19812" y="118872"/>
                </a:lnTo>
                <a:lnTo>
                  <a:pt x="79248" y="178308"/>
                </a:lnTo>
              </a:path>
            </a:pathLst>
          </a:custGeom>
          <a:noFill/>
          <a:ln w="19812" cap="rnd">
            <a:solidFill>
              <a:srgbClr val="8A4B06"/>
            </a:solidFill>
            <a:prstDash val="solid"/>
            <a:round/>
          </a:ln>
        </p:spPr>
      </p:sp>
      <p:sp>
        <p:nvSpPr>
          <p:cNvPr id="50" name="[p1] Forma"/>
          <p:cNvSpPr/>
          <p:nvPr/>
        </p:nvSpPr>
        <p:spPr>
          <a:xfrm>
            <a:off x="5290490" y="4974336"/>
            <a:ext cx="1120826" cy="292608"/>
          </a:xfrm>
          <a:prstGeom prst="rect">
            <a:avLst/>
          </a:prstGeom>
          <a:noFill/>
          <a:ln/>
        </p:spPr>
        <p:txBody>
          <a:bodyPr wrap="square" lIns="0" tIns="0" rIns="0" bIns="0" rtlCol="0" anchor="ctr">
            <a:normAutofit/>
          </a:bodyPr>
          <a:lstStyle/>
          <a:p>
            <a:pPr algn="ctr" indent="0" marL="0">
              <a:buNone/>
            </a:pPr>
            <a:r>
              <a:rPr lang="en-US" sz="1150" b="1" dirty="0">
                <a:solidFill>
                  <a:srgbClr val="8A4B06"/>
                </a:solidFill>
                <a:latin typeface="Segoe UI Semibold" pitchFamily="34" charset="0"/>
                <a:ea typeface="Segoe UI Semibold" pitchFamily="34" charset="-122"/>
                <a:cs typeface="Segoe UI Semibold" pitchFamily="34" charset="-120"/>
              </a:rPr>
              <a:t>Servicio Java</a:t>
            </a:r>
            <a:endParaRPr lang="en-US" sz="1150" dirty="0"/>
          </a:p>
        </p:txBody>
      </p:sp>
      <p:sp>
        <p:nvSpPr>
          <p:cNvPr id="51" name="[p1] Forma"/>
          <p:cNvSpPr/>
          <p:nvPr/>
        </p:nvSpPr>
        <p:spPr>
          <a:xfrm>
            <a:off x="5308778" y="5266944"/>
            <a:ext cx="1084250" cy="347472"/>
          </a:xfrm>
          <a:prstGeom prst="rect">
            <a:avLst/>
          </a:prstGeom>
          <a:noFill/>
          <a:ln/>
        </p:spPr>
        <p:txBody>
          <a:bodyPr wrap="square" lIns="0" tIns="0" rIns="0" bIns="0" rtlCol="0" anchor="t">
            <a:normAutofit/>
          </a:bodyPr>
          <a:lstStyle/>
          <a:p>
            <a:pPr algn="ctr" indent="0" marL="0">
              <a:buNone/>
            </a:pPr>
            <a:r>
              <a:rPr lang="en-US" sz="1100" dirty="0">
                <a:solidFill>
                  <a:srgbClr val="0B1A3C"/>
                </a:solidFill>
                <a:latin typeface="Segoe UI" pitchFamily="34" charset="0"/>
                <a:ea typeface="Segoe UI" pitchFamily="34" charset="-122"/>
                <a:cs typeface="Segoe UI" pitchFamily="34" charset="-120"/>
              </a:rPr>
              <a:t>Decide, con su prueba.</a:t>
            </a:r>
            <a:endParaRPr lang="en-US" sz="1100" dirty="0"/>
          </a:p>
        </p:txBody>
      </p:sp>
      <p:sp>
        <p:nvSpPr>
          <p:cNvPr id="52" name="[p1] Forma"/>
          <p:cNvSpPr/>
          <p:nvPr/>
        </p:nvSpPr>
        <p:spPr>
          <a:xfrm>
            <a:off x="6557620" y="5029200"/>
            <a:ext cx="1042416" cy="0"/>
          </a:xfrm>
          <a:prstGeom prst="line">
            <a:avLst/>
          </a:prstGeom>
          <a:noFill/>
          <a:ln w="31750">
            <a:solidFill>
              <a:srgbClr val="0B6E8A"/>
            </a:solidFill>
            <a:prstDash val="solid"/>
            <a:tailEnd type="triangle"/>
          </a:ln>
        </p:spPr>
      </p:sp>
      <p:sp>
        <p:nvSpPr>
          <p:cNvPr id="53" name="[p1] Forma"/>
          <p:cNvSpPr/>
          <p:nvPr/>
        </p:nvSpPr>
        <p:spPr>
          <a:xfrm>
            <a:off x="6521044" y="4462272"/>
            <a:ext cx="1115568" cy="512064"/>
          </a:xfrm>
          <a:prstGeom prst="rect">
            <a:avLst/>
          </a:prstGeom>
          <a:noFill/>
          <a:ln/>
        </p:spPr>
        <p:txBody>
          <a:bodyPr wrap="square" lIns="0" tIns="0" rIns="0" bIns="0" rtlCol="0" anchor="b"/>
          <a:lstStyle/>
          <a:p>
            <a:pPr algn="ctr" indent="0" marL="0">
              <a:buNone/>
            </a:pPr>
            <a:r>
              <a:rPr lang="en-US" sz="1150" b="1" dirty="0">
                <a:solidFill>
                  <a:srgbClr val="0B6E8A"/>
                </a:solidFill>
                <a:latin typeface="Consolas" pitchFamily="34" charset="0"/>
                <a:ea typeface="Consolas" pitchFamily="34" charset="-122"/>
                <a:cs typeface="Consolas" pitchFamily="34" charset="-120"/>
              </a:rPr>
              <a:t>save(…)</a:t>
            </a:r>
            <a:endParaRPr lang="en-US" sz="1150" dirty="0"/>
          </a:p>
        </p:txBody>
      </p:sp>
      <p:sp>
        <p:nvSpPr>
          <p:cNvPr id="54" name="[p1] Forma"/>
          <p:cNvSpPr/>
          <p:nvPr/>
        </p:nvSpPr>
        <p:spPr>
          <a:xfrm>
            <a:off x="7673188" y="4389120"/>
            <a:ext cx="1267130" cy="1280160"/>
          </a:xfrm>
          <a:prstGeom prst="roundRect">
            <a:avLst>
              <a:gd name="adj" fmla="val 10103"/>
            </a:avLst>
          </a:prstGeom>
          <a:solidFill>
            <a:srgbClr val="FFFFFF"/>
          </a:solidFill>
          <a:ln w="12700">
            <a:solidFill>
              <a:srgbClr val="91BECA"/>
            </a:solidFill>
            <a:prstDash val="solid"/>
          </a:ln>
          <a:effectLst>
            <a:outerShdw sx="100000" sy="100000" kx="0" ky="0" algn="bl" rotWithShape="0" blurRad="76200" dist="19050" dir="5400000">
              <a:srgbClr val="0B1F3A">
                <a:alpha val="14000"/>
              </a:srgbClr>
            </a:outerShdw>
          </a:effectLst>
        </p:spPr>
      </p:sp>
      <p:sp>
        <p:nvSpPr>
          <p:cNvPr id="55" name="[p1] Forma"/>
          <p:cNvSpPr/>
          <p:nvPr/>
        </p:nvSpPr>
        <p:spPr>
          <a:xfrm>
            <a:off x="8078153" y="4480560"/>
            <a:ext cx="457200" cy="457200"/>
          </a:xfrm>
          <a:prstGeom prst="ellipse">
            <a:avLst/>
          </a:prstGeom>
          <a:solidFill>
            <a:srgbClr val="E3F4FA"/>
          </a:solidFill>
          <a:ln w="12700">
            <a:solidFill>
              <a:srgbClr val="E3F4FA"/>
            </a:solidFill>
            <a:prstDash val="solid"/>
          </a:ln>
        </p:spPr>
      </p:sp>
      <p:sp>
        <p:nvSpPr>
          <p:cNvPr id="56" name="[p1] Icono table"/>
          <p:cNvSpPr/>
          <p:nvPr/>
        </p:nvSpPr>
        <p:spPr>
          <a:xfrm>
            <a:off x="8187881" y="4590288"/>
            <a:ext cx="237744" cy="237744"/>
          </a:xfrm>
          <a:custGeom>
            <a:avLst/>
            <a:gdLst/>
            <a:ahLst/>
            <a:cxnLst/>
            <a:rect l="l" t="t" r="r" b="b"/>
            <a:pathLst>
              <a:path w="237744" h="237744">
                <a:moveTo>
                  <a:pt x="118872" y="29718"/>
                </a:moveTo>
                <a:lnTo>
                  <a:pt x="118872" y="208026"/>
                </a:lnTo>
                <a:moveTo>
                  <a:pt x="49530" y="29718"/>
                </a:moveTo>
                <a:lnTo>
                  <a:pt x="188214" y="29718"/>
                </a:lnTo>
                <a:cubicBezTo>
                  <a:pt x="199156" y="29718"/>
                  <a:pt x="208026" y="38588"/>
                  <a:pt x="208026" y="49530"/>
                </a:cubicBezTo>
                <a:lnTo>
                  <a:pt x="208026" y="188214"/>
                </a:lnTo>
                <a:cubicBezTo>
                  <a:pt x="208026" y="199156"/>
                  <a:pt x="199156" y="208026"/>
                  <a:pt x="188214" y="208026"/>
                </a:cubicBezTo>
                <a:lnTo>
                  <a:pt x="49530" y="208026"/>
                </a:lnTo>
                <a:cubicBezTo>
                  <a:pt x="38588" y="208026"/>
                  <a:pt x="29718" y="199156"/>
                  <a:pt x="29718" y="188214"/>
                </a:cubicBezTo>
                <a:lnTo>
                  <a:pt x="29718" y="49530"/>
                </a:lnTo>
                <a:cubicBezTo>
                  <a:pt x="29718" y="38588"/>
                  <a:pt x="38588" y="29718"/>
                  <a:pt x="49530" y="29718"/>
                </a:cubicBezTo>
                <a:close/>
                <a:moveTo>
                  <a:pt x="29718" y="89154"/>
                </a:moveTo>
                <a:lnTo>
                  <a:pt x="208026" y="89154"/>
                </a:lnTo>
                <a:moveTo>
                  <a:pt x="29718" y="148590"/>
                </a:moveTo>
                <a:lnTo>
                  <a:pt x="208026" y="148590"/>
                </a:lnTo>
              </a:path>
            </a:pathLst>
          </a:custGeom>
          <a:noFill/>
          <a:ln w="19812" cap="rnd">
            <a:solidFill>
              <a:srgbClr val="0B6E8A"/>
            </a:solidFill>
            <a:prstDash val="solid"/>
            <a:round/>
          </a:ln>
        </p:spPr>
      </p:sp>
      <p:sp>
        <p:nvSpPr>
          <p:cNvPr id="57" name="[p1] Forma"/>
          <p:cNvSpPr/>
          <p:nvPr/>
        </p:nvSpPr>
        <p:spPr>
          <a:xfrm>
            <a:off x="7746340" y="4974336"/>
            <a:ext cx="1120826" cy="292608"/>
          </a:xfrm>
          <a:prstGeom prst="rect">
            <a:avLst/>
          </a:prstGeom>
          <a:noFill/>
          <a:ln/>
        </p:spPr>
        <p:txBody>
          <a:bodyPr wrap="square" lIns="0" tIns="0" rIns="0" bIns="0" rtlCol="0" anchor="ctr">
            <a:normAutofit/>
          </a:bodyPr>
          <a:lstStyle/>
          <a:p>
            <a:pPr algn="ctr" indent="0" marL="0">
              <a:buNone/>
            </a:pPr>
            <a:r>
              <a:rPr lang="en-US" sz="1400" b="1" dirty="0">
                <a:solidFill>
                  <a:srgbClr val="0B6E8A"/>
                </a:solidFill>
                <a:latin typeface="Segoe UI Semibold" pitchFamily="34" charset="0"/>
                <a:ea typeface="Segoe UI Semibold" pitchFamily="34" charset="-122"/>
                <a:cs typeface="Segoe UI Semibold" pitchFamily="34" charset="-120"/>
              </a:rPr>
              <a:t>Hibernate</a:t>
            </a:r>
            <a:endParaRPr lang="en-US" sz="1400" dirty="0"/>
          </a:p>
        </p:txBody>
      </p:sp>
      <p:sp>
        <p:nvSpPr>
          <p:cNvPr id="58" name="[p1] Forma"/>
          <p:cNvSpPr/>
          <p:nvPr/>
        </p:nvSpPr>
        <p:spPr>
          <a:xfrm>
            <a:off x="7764628" y="5266944"/>
            <a:ext cx="1084250" cy="347472"/>
          </a:xfrm>
          <a:prstGeom prst="rect">
            <a:avLst/>
          </a:prstGeom>
          <a:noFill/>
          <a:ln/>
        </p:spPr>
        <p:txBody>
          <a:bodyPr wrap="square" lIns="0" tIns="0" rIns="0" bIns="0" rtlCol="0" anchor="t">
            <a:normAutofit/>
          </a:bodyPr>
          <a:lstStyle/>
          <a:p>
            <a:pPr algn="ctr" indent="0" marL="0">
              <a:buNone/>
            </a:pPr>
            <a:r>
              <a:rPr lang="en-US" sz="1100" dirty="0">
                <a:solidFill>
                  <a:srgbClr val="0B1A3C"/>
                </a:solidFill>
                <a:latin typeface="Segoe UI" pitchFamily="34" charset="0"/>
                <a:ea typeface="Segoe UI" pitchFamily="34" charset="-122"/>
                <a:cs typeface="Segoe UI" pitchFamily="34" charset="-120"/>
              </a:rPr>
              <a:t>Escribe el SQL.</a:t>
            </a:r>
            <a:endParaRPr lang="en-US" sz="1100" dirty="0"/>
          </a:p>
        </p:txBody>
      </p:sp>
      <p:sp>
        <p:nvSpPr>
          <p:cNvPr id="59" name="[p1] Forma"/>
          <p:cNvSpPr/>
          <p:nvPr/>
        </p:nvSpPr>
        <p:spPr>
          <a:xfrm>
            <a:off x="9013469" y="5029200"/>
            <a:ext cx="1042416" cy="0"/>
          </a:xfrm>
          <a:prstGeom prst="line">
            <a:avLst/>
          </a:prstGeom>
          <a:noFill/>
          <a:ln w="31750">
            <a:solidFill>
              <a:srgbClr val="0B6E8A"/>
            </a:solidFill>
            <a:prstDash val="solid"/>
            <a:tailEnd type="triangle"/>
          </a:ln>
        </p:spPr>
      </p:sp>
      <p:sp>
        <p:nvSpPr>
          <p:cNvPr id="60" name="[p1] Forma"/>
          <p:cNvSpPr/>
          <p:nvPr/>
        </p:nvSpPr>
        <p:spPr>
          <a:xfrm>
            <a:off x="8976893" y="4462272"/>
            <a:ext cx="1115568" cy="512064"/>
          </a:xfrm>
          <a:prstGeom prst="rect">
            <a:avLst/>
          </a:prstGeom>
          <a:noFill/>
          <a:ln/>
        </p:spPr>
        <p:txBody>
          <a:bodyPr wrap="square" lIns="0" tIns="0" rIns="0" bIns="0" rtlCol="0" anchor="b"/>
          <a:lstStyle/>
          <a:p>
            <a:pPr algn="ctr" indent="0" marL="0">
              <a:buNone/>
            </a:pPr>
            <a:r>
              <a:rPr lang="en-US" sz="1150" b="1" dirty="0">
                <a:solidFill>
                  <a:srgbClr val="0B6E8A"/>
                </a:solidFill>
                <a:latin typeface="Consolas" pitchFamily="34" charset="0"/>
                <a:ea typeface="Consolas" pitchFamily="34" charset="-122"/>
                <a:cs typeface="Consolas" pitchFamily="34" charset="-120"/>
              </a:rPr>
              <a:t>UPDATE + INSERT</a:t>
            </a:r>
            <a:endParaRPr lang="en-US" sz="1150" dirty="0"/>
          </a:p>
        </p:txBody>
      </p:sp>
      <p:sp>
        <p:nvSpPr>
          <p:cNvPr id="61" name="[p1] Forma"/>
          <p:cNvSpPr/>
          <p:nvPr/>
        </p:nvSpPr>
        <p:spPr>
          <a:xfrm>
            <a:off x="10129037" y="4389120"/>
            <a:ext cx="1267130" cy="1280160"/>
          </a:xfrm>
          <a:prstGeom prst="roundRect">
            <a:avLst>
              <a:gd name="adj" fmla="val 10103"/>
            </a:avLst>
          </a:prstGeom>
          <a:solidFill>
            <a:srgbClr val="FFFFFF"/>
          </a:solidFill>
          <a:ln w="12700">
            <a:solidFill>
              <a:srgbClr val="91BECA"/>
            </a:solidFill>
            <a:prstDash val="solid"/>
          </a:ln>
          <a:effectLst>
            <a:outerShdw sx="100000" sy="100000" kx="0" ky="0" algn="bl" rotWithShape="0" blurRad="76200" dist="19050" dir="5400000">
              <a:srgbClr val="0B1F3A">
                <a:alpha val="14000"/>
              </a:srgbClr>
            </a:outerShdw>
          </a:effectLst>
        </p:spPr>
      </p:sp>
      <p:sp>
        <p:nvSpPr>
          <p:cNvPr id="62" name="[p1] Forma"/>
          <p:cNvSpPr/>
          <p:nvPr/>
        </p:nvSpPr>
        <p:spPr>
          <a:xfrm>
            <a:off x="10534002" y="4480560"/>
            <a:ext cx="457200" cy="457200"/>
          </a:xfrm>
          <a:prstGeom prst="ellipse">
            <a:avLst/>
          </a:prstGeom>
          <a:solidFill>
            <a:srgbClr val="E3F4FA"/>
          </a:solidFill>
          <a:ln w="12700">
            <a:solidFill>
              <a:srgbClr val="E3F4FA"/>
            </a:solidFill>
            <a:prstDash val="solid"/>
          </a:ln>
        </p:spPr>
      </p:sp>
      <p:sp>
        <p:nvSpPr>
          <p:cNvPr id="63" name="[p1] Icono database"/>
          <p:cNvSpPr/>
          <p:nvPr/>
        </p:nvSpPr>
        <p:spPr>
          <a:xfrm>
            <a:off x="10643730" y="4590288"/>
            <a:ext cx="237744" cy="237744"/>
          </a:xfrm>
          <a:custGeom>
            <a:avLst/>
            <a:gdLst/>
            <a:ahLst/>
            <a:cxnLst/>
            <a:rect l="l" t="t" r="r" b="b"/>
            <a:pathLst>
              <a:path w="237744" h="237744">
                <a:moveTo>
                  <a:pt x="208026" y="49530"/>
                </a:moveTo>
                <a:cubicBezTo>
                  <a:pt x="208026" y="65943"/>
                  <a:pt x="168110" y="79248"/>
                  <a:pt x="118872" y="79248"/>
                </a:cubicBezTo>
                <a:cubicBezTo>
                  <a:pt x="69634" y="79248"/>
                  <a:pt x="29718" y="65943"/>
                  <a:pt x="29718" y="49530"/>
                </a:cubicBezTo>
                <a:cubicBezTo>
                  <a:pt x="29718" y="33117"/>
                  <a:pt x="69634" y="19812"/>
                  <a:pt x="118872" y="19812"/>
                </a:cubicBezTo>
                <a:cubicBezTo>
                  <a:pt x="168110" y="19812"/>
                  <a:pt x="208026" y="33117"/>
                  <a:pt x="208026" y="49530"/>
                </a:cubicBezTo>
                <a:close/>
                <a:moveTo>
                  <a:pt x="29718" y="49530"/>
                </a:moveTo>
                <a:lnTo>
                  <a:pt x="29718" y="188214"/>
                </a:lnTo>
                <a:cubicBezTo>
                  <a:pt x="29718" y="204627"/>
                  <a:pt x="69634" y="217932"/>
                  <a:pt x="118872" y="217932"/>
                </a:cubicBezTo>
                <a:cubicBezTo>
                  <a:pt x="168110" y="217932"/>
                  <a:pt x="208026" y="204627"/>
                  <a:pt x="208026" y="188214"/>
                </a:cubicBezTo>
                <a:lnTo>
                  <a:pt x="208026" y="49530"/>
                </a:lnTo>
                <a:moveTo>
                  <a:pt x="29718" y="118872"/>
                </a:moveTo>
                <a:cubicBezTo>
                  <a:pt x="29718" y="135285"/>
                  <a:pt x="69634" y="148590"/>
                  <a:pt x="118872" y="148590"/>
                </a:cubicBezTo>
                <a:cubicBezTo>
                  <a:pt x="168110" y="148590"/>
                  <a:pt x="208026" y="135285"/>
                  <a:pt x="208026" y="118872"/>
                </a:cubicBezTo>
              </a:path>
            </a:pathLst>
          </a:custGeom>
          <a:noFill/>
          <a:ln w="19812" cap="rnd">
            <a:solidFill>
              <a:srgbClr val="0B6E8A"/>
            </a:solidFill>
            <a:prstDash val="solid"/>
            <a:round/>
          </a:ln>
        </p:spPr>
      </p:sp>
      <p:sp>
        <p:nvSpPr>
          <p:cNvPr id="64" name="[p1] Forma"/>
          <p:cNvSpPr/>
          <p:nvPr/>
        </p:nvSpPr>
        <p:spPr>
          <a:xfrm>
            <a:off x="10202189" y="4974336"/>
            <a:ext cx="1120826" cy="292608"/>
          </a:xfrm>
          <a:prstGeom prst="rect">
            <a:avLst/>
          </a:prstGeom>
          <a:noFill/>
          <a:ln/>
        </p:spPr>
        <p:txBody>
          <a:bodyPr wrap="square" lIns="0" tIns="0" rIns="0" bIns="0" rtlCol="0" anchor="ctr">
            <a:normAutofit/>
          </a:bodyPr>
          <a:lstStyle/>
          <a:p>
            <a:pPr algn="ctr" indent="0" marL="0">
              <a:buNone/>
            </a:pPr>
            <a:r>
              <a:rPr lang="en-US" sz="1400" b="1" dirty="0">
                <a:solidFill>
                  <a:srgbClr val="0B6E8A"/>
                </a:solidFill>
                <a:latin typeface="Segoe UI Semibold" pitchFamily="34" charset="0"/>
                <a:ea typeface="Segoe UI Semibold" pitchFamily="34" charset="-122"/>
                <a:cs typeface="Segoe UI Semibold" pitchFamily="34" charset="-120"/>
              </a:rPr>
              <a:t>PostgreSQL</a:t>
            </a:r>
            <a:endParaRPr lang="en-US" sz="1400" dirty="0"/>
          </a:p>
        </p:txBody>
      </p:sp>
      <p:sp>
        <p:nvSpPr>
          <p:cNvPr id="65" name="[p1] Forma"/>
          <p:cNvSpPr/>
          <p:nvPr/>
        </p:nvSpPr>
        <p:spPr>
          <a:xfrm>
            <a:off x="10220477" y="5266944"/>
            <a:ext cx="1084250" cy="347472"/>
          </a:xfrm>
          <a:prstGeom prst="rect">
            <a:avLst/>
          </a:prstGeom>
          <a:noFill/>
          <a:ln/>
        </p:spPr>
        <p:txBody>
          <a:bodyPr wrap="square" lIns="0" tIns="0" rIns="0" bIns="0" rtlCol="0" anchor="t">
            <a:normAutofit/>
          </a:bodyPr>
          <a:lstStyle/>
          <a:p>
            <a:pPr algn="ctr" indent="0" marL="0">
              <a:buNone/>
            </a:pPr>
            <a:r>
              <a:rPr lang="en-US" sz="900" dirty="0">
                <a:solidFill>
                  <a:srgbClr val="0B1A3C"/>
                </a:solidFill>
                <a:latin typeface="Segoe UI" pitchFamily="34" charset="0"/>
                <a:ea typeface="Segoe UI" pitchFamily="34" charset="-122"/>
                <a:cs typeface="Segoe UI" pitchFamily="34" charset="-120"/>
              </a:rPr>
              <a:t>Guarda y cuida llaves e índices.</a:t>
            </a:r>
            <a:endParaRPr lang="en-US" sz="900" dirty="0"/>
          </a:p>
        </p:txBody>
      </p:sp>
      <p:sp>
        <p:nvSpPr>
          <p:cNvPr id="66" name="Shape 64"/>
          <p:cNvSpPr/>
          <p:nvPr/>
        </p:nvSpPr>
        <p:spPr>
          <a:xfrm>
            <a:off x="0" y="5961888"/>
            <a:ext cx="12191695" cy="475488"/>
          </a:xfrm>
          <a:prstGeom prst="rect">
            <a:avLst/>
          </a:prstGeom>
          <a:solidFill>
            <a:srgbClr val="0B2350"/>
          </a:solidFill>
          <a:ln w="12700">
            <a:solidFill>
              <a:srgbClr val="0B2350"/>
            </a:solidFill>
            <a:prstDash val="solid"/>
          </a:ln>
        </p:spPr>
      </p:sp>
      <p:sp>
        <p:nvSpPr>
          <p:cNvPr id="67" name="Icono target"/>
          <p:cNvSpPr/>
          <p:nvPr/>
        </p:nvSpPr>
        <p:spPr>
          <a:xfrm>
            <a:off x="612648" y="6071616"/>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192024" y="128016"/>
                </a:moveTo>
                <a:cubicBezTo>
                  <a:pt x="192024" y="163367"/>
                  <a:pt x="163367" y="192024"/>
                  <a:pt x="128016" y="192024"/>
                </a:cubicBezTo>
                <a:cubicBezTo>
                  <a:pt x="92665" y="192024"/>
                  <a:pt x="64008" y="163367"/>
                  <a:pt x="64008" y="128016"/>
                </a:cubicBezTo>
                <a:cubicBezTo>
                  <a:pt x="64008" y="92665"/>
                  <a:pt x="92665" y="64008"/>
                  <a:pt x="128016" y="64008"/>
                </a:cubicBezTo>
                <a:cubicBezTo>
                  <a:pt x="163367" y="64008"/>
                  <a:pt x="192024" y="92665"/>
                  <a:pt x="192024" y="128016"/>
                </a:cubicBezTo>
                <a:close/>
                <a:moveTo>
                  <a:pt x="149352" y="128016"/>
                </a:moveTo>
                <a:cubicBezTo>
                  <a:pt x="149352" y="139800"/>
                  <a:pt x="139800" y="149352"/>
                  <a:pt x="128016" y="149352"/>
                </a:cubicBezTo>
                <a:cubicBezTo>
                  <a:pt x="116232" y="149352"/>
                  <a:pt x="106680" y="139800"/>
                  <a:pt x="106680" y="128016"/>
                </a:cubicBezTo>
                <a:cubicBezTo>
                  <a:pt x="106680" y="116232"/>
                  <a:pt x="116232" y="106680"/>
                  <a:pt x="128016" y="106680"/>
                </a:cubicBezTo>
                <a:cubicBezTo>
                  <a:pt x="139800" y="106680"/>
                  <a:pt x="149352" y="116232"/>
                  <a:pt x="149352" y="128016"/>
                </a:cubicBezTo>
                <a:close/>
              </a:path>
            </a:pathLst>
          </a:custGeom>
          <a:noFill/>
          <a:ln w="21336" cap="rnd">
            <a:solidFill>
              <a:srgbClr val="2BA6CB"/>
            </a:solidFill>
            <a:prstDash val="solid"/>
            <a:round/>
          </a:ln>
        </p:spPr>
      </p:sp>
      <p:sp>
        <p:nvSpPr>
          <p:cNvPr id="68" name="Text 66"/>
          <p:cNvSpPr/>
          <p:nvPr/>
        </p:nvSpPr>
        <p:spPr>
          <a:xfrm>
            <a:off x="978408" y="5961888"/>
            <a:ext cx="1060063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No es todo o nada: las reglas van al código y los reportes o consultas pesadas pueden seguir en SQL.</a:t>
            </a:r>
            <a:endParaRPr lang="en-US" sz="1400" dirty="0"/>
          </a:p>
        </p:txBody>
      </p:sp>
      <p:sp>
        <p:nvSpPr>
          <p:cNvPr id="69" name="Text 6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70"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3" fill="hold">
                      <p:stCondLst>
                        <p:cond delay="indefinite"/>
                      </p:stCondLst>
                      <p:childTnLst>
                        <p:par>
                          <p:cTn id="94"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6"/>
                                        </p:tgtEl>
                                        <p:attrNameLst>
                                          <p:attrName>style.visibility</p:attrName>
                                        </p:attrNameLst>
                                      </p:cBhvr>
                                      <p:to>
                                        <p:strVal val="visible"/>
                                      </p:to>
                                    </p:set>
                                    <p:animEffect transition="in" filter="fade">
                                      <p:cBhvr>
                                        <p:cTn id="5" dur="400"/>
                                        <p:tgtEl>
                                          <p:spTgt spid="3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7"/>
                                        </p:tgtEl>
                                        <p:attrNameLst>
                                          <p:attrName>style.visibility</p:attrName>
                                        </p:attrNameLst>
                                      </p:cBhvr>
                                      <p:to>
                                        <p:strVal val="visible"/>
                                      </p:to>
                                    </p:set>
                                    <p:animEffect transition="in" filter="fade">
                                      <p:cBhvr>
                                        <p:cTn id="8" dur="400"/>
                                        <p:tgtEl>
                                          <p:spTgt spid="3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38"/>
                                        </p:tgtEl>
                                        <p:attrNameLst>
                                          <p:attrName>style.visibility</p:attrName>
                                        </p:attrNameLst>
                                      </p:cBhvr>
                                      <p:to>
                                        <p:strVal val="visible"/>
                                      </p:to>
                                    </p:set>
                                    <p:animEffect transition="in" filter="fade">
                                      <p:cBhvr>
                                        <p:cTn id="11" dur="400"/>
                                        <p:tgtEl>
                                          <p:spTgt spid="3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9"/>
                                        </p:tgtEl>
                                        <p:attrNameLst>
                                          <p:attrName>style.visibility</p:attrName>
                                        </p:attrNameLst>
                                      </p:cBhvr>
                                      <p:to>
                                        <p:strVal val="visible"/>
                                      </p:to>
                                    </p:set>
                                    <p:animEffect transition="in" filter="fade">
                                      <p:cBhvr>
                                        <p:cTn id="14" dur="400"/>
                                        <p:tgtEl>
                                          <p:spTgt spid="3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40"/>
                                        </p:tgtEl>
                                        <p:attrNameLst>
                                          <p:attrName>style.visibility</p:attrName>
                                        </p:attrNameLst>
                                      </p:cBhvr>
                                      <p:to>
                                        <p:strVal val="visible"/>
                                      </p:to>
                                    </p:set>
                                    <p:animEffect transition="in" filter="fade">
                                      <p:cBhvr>
                                        <p:cTn id="17" dur="400"/>
                                        <p:tgtEl>
                                          <p:spTgt spid="4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41"/>
                                        </p:tgtEl>
                                        <p:attrNameLst>
                                          <p:attrName>style.visibility</p:attrName>
                                        </p:attrNameLst>
                                      </p:cBhvr>
                                      <p:to>
                                        <p:strVal val="visible"/>
                                      </p:to>
                                    </p:set>
                                    <p:animEffect transition="in" filter="fade">
                                      <p:cBhvr>
                                        <p:cTn id="20" dur="400"/>
                                        <p:tgtEl>
                                          <p:spTgt spid="4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42"/>
                                        </p:tgtEl>
                                        <p:attrNameLst>
                                          <p:attrName>style.visibility</p:attrName>
                                        </p:attrNameLst>
                                      </p:cBhvr>
                                      <p:to>
                                        <p:strVal val="visible"/>
                                      </p:to>
                                    </p:set>
                                    <p:animEffect transition="in" filter="fade">
                                      <p:cBhvr>
                                        <p:cTn id="23" dur="400"/>
                                        <p:tgtEl>
                                          <p:spTgt spid="4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43"/>
                                        </p:tgtEl>
                                        <p:attrNameLst>
                                          <p:attrName>style.visibility</p:attrName>
                                        </p:attrNameLst>
                                      </p:cBhvr>
                                      <p:to>
                                        <p:strVal val="visible"/>
                                      </p:to>
                                    </p:set>
                                    <p:animEffect transition="in" filter="fade">
                                      <p:cBhvr>
                                        <p:cTn id="26" dur="400"/>
                                        <p:tgtEl>
                                          <p:spTgt spid="4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44"/>
                                        </p:tgtEl>
                                        <p:attrNameLst>
                                          <p:attrName>style.visibility</p:attrName>
                                        </p:attrNameLst>
                                      </p:cBhvr>
                                      <p:to>
                                        <p:strVal val="visible"/>
                                      </p:to>
                                    </p:set>
                                    <p:animEffect transition="in" filter="fade">
                                      <p:cBhvr>
                                        <p:cTn id="29" dur="400"/>
                                        <p:tgtEl>
                                          <p:spTgt spid="4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5"/>
                                        </p:tgtEl>
                                        <p:attrNameLst>
                                          <p:attrName>style.visibility</p:attrName>
                                        </p:attrNameLst>
                                      </p:cBhvr>
                                      <p:to>
                                        <p:strVal val="visible"/>
                                      </p:to>
                                    </p:set>
                                    <p:animEffect transition="in" filter="fade">
                                      <p:cBhvr>
                                        <p:cTn id="32" dur="400"/>
                                        <p:tgtEl>
                                          <p:spTgt spid="4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6"/>
                                        </p:tgtEl>
                                        <p:attrNameLst>
                                          <p:attrName>style.visibility</p:attrName>
                                        </p:attrNameLst>
                                      </p:cBhvr>
                                      <p:to>
                                        <p:strVal val="visible"/>
                                      </p:to>
                                    </p:set>
                                    <p:animEffect transition="in" filter="fade">
                                      <p:cBhvr>
                                        <p:cTn id="35" dur="400"/>
                                        <p:tgtEl>
                                          <p:spTgt spid="4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7"/>
                                        </p:tgtEl>
                                        <p:attrNameLst>
                                          <p:attrName>style.visibility</p:attrName>
                                        </p:attrNameLst>
                                      </p:cBhvr>
                                      <p:to>
                                        <p:strVal val="visible"/>
                                      </p:to>
                                    </p:set>
                                    <p:animEffect transition="in" filter="fade">
                                      <p:cBhvr>
                                        <p:cTn id="38" dur="400"/>
                                        <p:tgtEl>
                                          <p:spTgt spid="4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48"/>
                                        </p:tgtEl>
                                        <p:attrNameLst>
                                          <p:attrName>style.visibility</p:attrName>
                                        </p:attrNameLst>
                                      </p:cBhvr>
                                      <p:to>
                                        <p:strVal val="visible"/>
                                      </p:to>
                                    </p:set>
                                    <p:animEffect transition="in" filter="fade">
                                      <p:cBhvr>
                                        <p:cTn id="41" dur="400"/>
                                        <p:tgtEl>
                                          <p:spTgt spid="48"/>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49"/>
                                        </p:tgtEl>
                                        <p:attrNameLst>
                                          <p:attrName>style.visibility</p:attrName>
                                        </p:attrNameLst>
                                      </p:cBhvr>
                                      <p:to>
                                        <p:strVal val="visible"/>
                                      </p:to>
                                    </p:set>
                                    <p:animEffect transition="in" filter="fade">
                                      <p:cBhvr>
                                        <p:cTn id="44" dur="400"/>
                                        <p:tgtEl>
                                          <p:spTgt spid="49"/>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50"/>
                                        </p:tgtEl>
                                        <p:attrNameLst>
                                          <p:attrName>style.visibility</p:attrName>
                                        </p:attrNameLst>
                                      </p:cBhvr>
                                      <p:to>
                                        <p:strVal val="visible"/>
                                      </p:to>
                                    </p:set>
                                    <p:animEffect transition="in" filter="fade">
                                      <p:cBhvr>
                                        <p:cTn id="47" dur="400"/>
                                        <p:tgtEl>
                                          <p:spTgt spid="50"/>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51"/>
                                        </p:tgtEl>
                                        <p:attrNameLst>
                                          <p:attrName>style.visibility</p:attrName>
                                        </p:attrNameLst>
                                      </p:cBhvr>
                                      <p:to>
                                        <p:strVal val="visible"/>
                                      </p:to>
                                    </p:set>
                                    <p:animEffect transition="in" filter="fade">
                                      <p:cBhvr>
                                        <p:cTn id="50" dur="400"/>
                                        <p:tgtEl>
                                          <p:spTgt spid="51"/>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52"/>
                                        </p:tgtEl>
                                        <p:attrNameLst>
                                          <p:attrName>style.visibility</p:attrName>
                                        </p:attrNameLst>
                                      </p:cBhvr>
                                      <p:to>
                                        <p:strVal val="visible"/>
                                      </p:to>
                                    </p:set>
                                    <p:animEffect transition="in" filter="fade">
                                      <p:cBhvr>
                                        <p:cTn id="53" dur="400"/>
                                        <p:tgtEl>
                                          <p:spTgt spid="52"/>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53"/>
                                        </p:tgtEl>
                                        <p:attrNameLst>
                                          <p:attrName>style.visibility</p:attrName>
                                        </p:attrNameLst>
                                      </p:cBhvr>
                                      <p:to>
                                        <p:strVal val="visible"/>
                                      </p:to>
                                    </p:set>
                                    <p:animEffect transition="in" filter="fade">
                                      <p:cBhvr>
                                        <p:cTn id="56" dur="400"/>
                                        <p:tgtEl>
                                          <p:spTgt spid="53"/>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54"/>
                                        </p:tgtEl>
                                        <p:attrNameLst>
                                          <p:attrName>style.visibility</p:attrName>
                                        </p:attrNameLst>
                                      </p:cBhvr>
                                      <p:to>
                                        <p:strVal val="visible"/>
                                      </p:to>
                                    </p:set>
                                    <p:animEffect transition="in" filter="fade">
                                      <p:cBhvr>
                                        <p:cTn id="59" dur="400"/>
                                        <p:tgtEl>
                                          <p:spTgt spid="54"/>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55"/>
                                        </p:tgtEl>
                                        <p:attrNameLst>
                                          <p:attrName>style.visibility</p:attrName>
                                        </p:attrNameLst>
                                      </p:cBhvr>
                                      <p:to>
                                        <p:strVal val="visible"/>
                                      </p:to>
                                    </p:set>
                                    <p:animEffect transition="in" filter="fade">
                                      <p:cBhvr>
                                        <p:cTn id="62" dur="400"/>
                                        <p:tgtEl>
                                          <p:spTgt spid="55"/>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56"/>
                                        </p:tgtEl>
                                        <p:attrNameLst>
                                          <p:attrName>style.visibility</p:attrName>
                                        </p:attrNameLst>
                                      </p:cBhvr>
                                      <p:to>
                                        <p:strVal val="visible"/>
                                      </p:to>
                                    </p:set>
                                    <p:animEffect transition="in" filter="fade">
                                      <p:cBhvr>
                                        <p:cTn id="65" dur="400"/>
                                        <p:tgtEl>
                                          <p:spTgt spid="56"/>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57"/>
                                        </p:tgtEl>
                                        <p:attrNameLst>
                                          <p:attrName>style.visibility</p:attrName>
                                        </p:attrNameLst>
                                      </p:cBhvr>
                                      <p:to>
                                        <p:strVal val="visible"/>
                                      </p:to>
                                    </p:set>
                                    <p:animEffect transition="in" filter="fade">
                                      <p:cBhvr>
                                        <p:cTn id="68" dur="400"/>
                                        <p:tgtEl>
                                          <p:spTgt spid="57"/>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58"/>
                                        </p:tgtEl>
                                        <p:attrNameLst>
                                          <p:attrName>style.visibility</p:attrName>
                                        </p:attrNameLst>
                                      </p:cBhvr>
                                      <p:to>
                                        <p:strVal val="visible"/>
                                      </p:to>
                                    </p:set>
                                    <p:animEffect transition="in" filter="fade">
                                      <p:cBhvr>
                                        <p:cTn id="71" dur="400"/>
                                        <p:tgtEl>
                                          <p:spTgt spid="58"/>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59"/>
                                        </p:tgtEl>
                                        <p:attrNameLst>
                                          <p:attrName>style.visibility</p:attrName>
                                        </p:attrNameLst>
                                      </p:cBhvr>
                                      <p:to>
                                        <p:strVal val="visible"/>
                                      </p:to>
                                    </p:set>
                                    <p:animEffect transition="in" filter="fade">
                                      <p:cBhvr>
                                        <p:cTn id="74" dur="400"/>
                                        <p:tgtEl>
                                          <p:spTgt spid="59"/>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60"/>
                                        </p:tgtEl>
                                        <p:attrNameLst>
                                          <p:attrName>style.visibility</p:attrName>
                                        </p:attrNameLst>
                                      </p:cBhvr>
                                      <p:to>
                                        <p:strVal val="visible"/>
                                      </p:to>
                                    </p:set>
                                    <p:animEffect transition="in" filter="fade">
                                      <p:cBhvr>
                                        <p:cTn id="77" dur="400"/>
                                        <p:tgtEl>
                                          <p:spTgt spid="60"/>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61"/>
                                        </p:tgtEl>
                                        <p:attrNameLst>
                                          <p:attrName>style.visibility</p:attrName>
                                        </p:attrNameLst>
                                      </p:cBhvr>
                                      <p:to>
                                        <p:strVal val="visible"/>
                                      </p:to>
                                    </p:set>
                                    <p:animEffect transition="in" filter="fade">
                                      <p:cBhvr>
                                        <p:cTn id="80" dur="400"/>
                                        <p:tgtEl>
                                          <p:spTgt spid="61"/>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62"/>
                                        </p:tgtEl>
                                        <p:attrNameLst>
                                          <p:attrName>style.visibility</p:attrName>
                                        </p:attrNameLst>
                                      </p:cBhvr>
                                      <p:to>
                                        <p:strVal val="visible"/>
                                      </p:to>
                                    </p:set>
                                    <p:animEffect transition="in" filter="fade">
                                      <p:cBhvr>
                                        <p:cTn id="83" dur="400"/>
                                        <p:tgtEl>
                                          <p:spTgt spid="62"/>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63"/>
                                        </p:tgtEl>
                                        <p:attrNameLst>
                                          <p:attrName>style.visibility</p:attrName>
                                        </p:attrNameLst>
                                      </p:cBhvr>
                                      <p:to>
                                        <p:strVal val="visible"/>
                                      </p:to>
                                    </p:set>
                                    <p:animEffect transition="in" filter="fade">
                                      <p:cBhvr>
                                        <p:cTn id="86" dur="400"/>
                                        <p:tgtEl>
                                          <p:spTgt spid="63"/>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64"/>
                                        </p:tgtEl>
                                        <p:attrNameLst>
                                          <p:attrName>style.visibility</p:attrName>
                                        </p:attrNameLst>
                                      </p:cBhvr>
                                      <p:to>
                                        <p:strVal val="visible"/>
                                      </p:to>
                                    </p:set>
                                    <p:animEffect transition="in" filter="fade">
                                      <p:cBhvr>
                                        <p:cTn id="89" dur="400"/>
                                        <p:tgtEl>
                                          <p:spTgt spid="64"/>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65"/>
                                        </p:tgtEl>
                                        <p:attrNameLst>
                                          <p:attrName>style.visibility</p:attrName>
                                        </p:attrNameLst>
                                      </p:cBhvr>
                                      <p:to>
                                        <p:strVal val="visible"/>
                                      </p:to>
                                    </p:set>
                                    <p:animEffect transition="in" filter="fade">
                                      <p:cBhvr>
                                        <p:cTn id="92" dur="4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¿Dónde está la cadena de conexión?</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Ni en el código ni en la imagen: la pone el ambiente donde corre la aplicación.</a:t>
            </a:r>
            <a:endParaRPr lang="en-US" sz="1700" dirty="0"/>
          </a:p>
        </p:txBody>
      </p:sp>
      <p:sp>
        <p:nvSpPr>
          <p:cNvPr id="13" name="Shape 11"/>
          <p:cNvSpPr/>
          <p:nvPr/>
        </p:nvSpPr>
        <p:spPr>
          <a:xfrm>
            <a:off x="4818888" y="2253996"/>
            <a:ext cx="3246120" cy="2240280"/>
          </a:xfrm>
          <a:prstGeom prst="roundRect">
            <a:avLst>
              <a:gd name="adj" fmla="val 571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4" name="Shape 12"/>
          <p:cNvSpPr/>
          <p:nvPr/>
        </p:nvSpPr>
        <p:spPr>
          <a:xfrm>
            <a:off x="4818888" y="2253996"/>
            <a:ext cx="3246120" cy="566928"/>
          </a:xfrm>
          <a:prstGeom prst="roundRect">
            <a:avLst>
              <a:gd name="adj" fmla="val 22581"/>
            </a:avLst>
          </a:prstGeom>
          <a:solidFill>
            <a:srgbClr val="0B2350"/>
          </a:solidFill>
          <a:ln w="12700">
            <a:solidFill>
              <a:srgbClr val="0B2350"/>
            </a:solidFill>
            <a:prstDash val="solid"/>
          </a:ln>
        </p:spPr>
      </p:sp>
      <p:sp>
        <p:nvSpPr>
          <p:cNvPr id="15" name="Shape 13"/>
          <p:cNvSpPr/>
          <p:nvPr/>
        </p:nvSpPr>
        <p:spPr>
          <a:xfrm>
            <a:off x="4818888" y="2638044"/>
            <a:ext cx="3246120" cy="182880"/>
          </a:xfrm>
          <a:prstGeom prst="rect">
            <a:avLst/>
          </a:prstGeom>
          <a:solidFill>
            <a:srgbClr val="0B2350"/>
          </a:solidFill>
          <a:ln w="12700">
            <a:solidFill>
              <a:srgbClr val="0B2350"/>
            </a:solidFill>
            <a:prstDash val="solid"/>
          </a:ln>
        </p:spPr>
      </p:sp>
      <p:sp>
        <p:nvSpPr>
          <p:cNvPr id="16" name="Icono file-code"/>
          <p:cNvSpPr/>
          <p:nvPr/>
        </p:nvSpPr>
        <p:spPr>
          <a:xfrm>
            <a:off x="4983480" y="2372868"/>
            <a:ext cx="329184" cy="329184"/>
          </a:xfrm>
          <a:custGeom>
            <a:avLst/>
            <a:gdLst/>
            <a:ahLst/>
            <a:cxnLst/>
            <a:rect l="l" t="t" r="r" b="b"/>
            <a:pathLst>
              <a:path w="329184" h="329184">
                <a:moveTo>
                  <a:pt x="137160" y="171450"/>
                </a:moveTo>
                <a:lnTo>
                  <a:pt x="109728" y="205740"/>
                </a:lnTo>
                <a:lnTo>
                  <a:pt x="137160" y="240030"/>
                </a:lnTo>
                <a:moveTo>
                  <a:pt x="192024" y="171450"/>
                </a:moveTo>
                <a:lnTo>
                  <a:pt x="219456" y="205740"/>
                </a:lnTo>
                <a:lnTo>
                  <a:pt x="192024" y="240030"/>
                </a:lnTo>
                <a:moveTo>
                  <a:pt x="192024" y="27432"/>
                </a:moveTo>
                <a:lnTo>
                  <a:pt x="192024" y="82296"/>
                </a:lnTo>
                <a:cubicBezTo>
                  <a:pt x="192024" y="97446"/>
                  <a:pt x="204306" y="109728"/>
                  <a:pt x="219456" y="109728"/>
                </a:cubicBezTo>
                <a:lnTo>
                  <a:pt x="274320" y="109728"/>
                </a:lnTo>
                <a:moveTo>
                  <a:pt x="205740" y="27432"/>
                </a:moveTo>
                <a:lnTo>
                  <a:pt x="82296" y="27432"/>
                </a:lnTo>
                <a:cubicBezTo>
                  <a:pt x="67146" y="27432"/>
                  <a:pt x="54864" y="39714"/>
                  <a:pt x="54864" y="54864"/>
                </a:cubicBezTo>
                <a:lnTo>
                  <a:pt x="54864" y="274320"/>
                </a:lnTo>
                <a:cubicBezTo>
                  <a:pt x="54864" y="289470"/>
                  <a:pt x="67146" y="301752"/>
                  <a:pt x="82296" y="301752"/>
                </a:cubicBezTo>
                <a:lnTo>
                  <a:pt x="246888" y="301752"/>
                </a:lnTo>
                <a:cubicBezTo>
                  <a:pt x="262038" y="301752"/>
                  <a:pt x="274320" y="289470"/>
                  <a:pt x="274320" y="274320"/>
                </a:cubicBezTo>
                <a:lnTo>
                  <a:pt x="274320" y="96012"/>
                </a:lnTo>
                <a:close/>
              </a:path>
            </a:pathLst>
          </a:custGeom>
          <a:noFill/>
          <a:ln w="27432" cap="rnd">
            <a:solidFill>
              <a:srgbClr val="FFFFFF"/>
            </a:solidFill>
            <a:prstDash val="solid"/>
            <a:round/>
          </a:ln>
        </p:spPr>
      </p:sp>
      <p:sp>
        <p:nvSpPr>
          <p:cNvPr id="17" name="Text 15"/>
          <p:cNvSpPr/>
          <p:nvPr/>
        </p:nvSpPr>
        <p:spPr>
          <a:xfrm>
            <a:off x="5422392" y="2299716"/>
            <a:ext cx="2514600" cy="475488"/>
          </a:xfrm>
          <a:prstGeom prst="rect">
            <a:avLst/>
          </a:prstGeom>
          <a:noFill/>
          <a:ln/>
        </p:spPr>
        <p:txBody>
          <a:bodyPr wrap="square" lIns="0" tIns="0" rIns="0" bIns="0" rtlCol="0" anchor="ctr">
            <a:normAutofit/>
          </a:bodyPr>
          <a:lstStyle/>
          <a:p>
            <a:pPr algn="l" indent="0" marL="0">
              <a:buNone/>
            </a:pPr>
            <a:r>
              <a:rPr lang="en-US" sz="1500" b="1" dirty="0">
                <a:solidFill>
                  <a:srgbClr val="FFFFFF"/>
                </a:solidFill>
                <a:latin typeface="Segoe UI Semibold" pitchFamily="34" charset="0"/>
                <a:ea typeface="Segoe UI Semibold" pitchFamily="34" charset="-122"/>
                <a:cs typeface="Segoe UI Semibold" pitchFamily="34" charset="-120"/>
              </a:rPr>
              <a:t>El servicio al arrancar</a:t>
            </a:r>
            <a:endParaRPr lang="en-US" sz="1500" dirty="0"/>
          </a:p>
        </p:txBody>
      </p:sp>
      <p:sp>
        <p:nvSpPr>
          <p:cNvPr id="18" name="Text 16"/>
          <p:cNvSpPr/>
          <p:nvPr/>
        </p:nvSpPr>
        <p:spPr>
          <a:xfrm>
            <a:off x="5001768" y="2912364"/>
            <a:ext cx="2880360" cy="457200"/>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application.properties solo tiene marcadores.</a:t>
            </a:r>
            <a:endParaRPr lang="en-US" sz="1200" dirty="0"/>
          </a:p>
        </p:txBody>
      </p:sp>
      <p:sp>
        <p:nvSpPr>
          <p:cNvPr id="19" name="Text 17"/>
          <p:cNvSpPr/>
          <p:nvPr/>
        </p:nvSpPr>
        <p:spPr>
          <a:xfrm>
            <a:off x="4983480" y="3406140"/>
            <a:ext cx="2916936" cy="941832"/>
          </a:xfrm>
          <a:prstGeom prst="roundRect">
            <a:avLst>
              <a:gd name="adj" fmla="val 7767"/>
            </a:avLst>
          </a:prstGeom>
          <a:solidFill>
            <a:srgbClr val="0B1F3A"/>
          </a:solidFill>
          <a:ln>
            <a:solidFill>
              <a:srgbClr val="0B1F3A"/>
            </a:solidFill>
          </a:ln>
        </p:spPr>
        <p:txBody>
          <a:bodyPr wrap="square" lIns="101600" tIns="101600" rIns="101600" bIns="101600" rtlCol="0" anchor="ctr">
            <a:normAutofit/>
          </a:bodyPr>
          <a:lstStyle/>
          <a:p>
            <a:pPr indent="0" marL="0">
              <a:buNone/>
            </a:pPr>
            <a:r>
              <a:rPr lang="en-US" sz="1150" dirty="0">
                <a:solidFill>
                  <a:srgbClr val="2BA6CB"/>
                </a:solidFill>
                <a:latin typeface="Consolas" pitchFamily="34" charset="0"/>
                <a:ea typeface="Consolas" pitchFamily="34" charset="-122"/>
                <a:cs typeface="Consolas" pitchFamily="34" charset="-120"/>
              </a:rPr>
              <a:t>url=${DB_URL}</a:t>
            </a:r>
            <a:endParaRPr lang="en-US" sz="1150" dirty="0"/>
          </a:p>
          <a:p>
            <a:pPr indent="0" marL="0">
              <a:buNone/>
            </a:pPr>
            <a:r>
              <a:rPr lang="en-US" sz="1150" dirty="0">
                <a:solidFill>
                  <a:srgbClr val="2BA6CB"/>
                </a:solidFill>
                <a:latin typeface="Consolas" pitchFamily="34" charset="0"/>
                <a:ea typeface="Consolas" pitchFamily="34" charset="-122"/>
                <a:cs typeface="Consolas" pitchFamily="34" charset="-120"/>
              </a:rPr>
              <a:t>username=${DB_USER}</a:t>
            </a:r>
            <a:endParaRPr lang="en-US" sz="1150" dirty="0"/>
          </a:p>
          <a:p>
            <a:pPr indent="0" marL="0">
              <a:buNone/>
            </a:pPr>
            <a:r>
              <a:rPr lang="en-US" sz="1150" dirty="0">
                <a:solidFill>
                  <a:srgbClr val="2BA6CB"/>
                </a:solidFill>
                <a:latin typeface="Consolas" pitchFamily="34" charset="0"/>
                <a:ea typeface="Consolas" pitchFamily="34" charset="-122"/>
                <a:cs typeface="Consolas" pitchFamily="34" charset="-120"/>
              </a:rPr>
              <a:t>password=${DB_PASSWORD}</a:t>
            </a:r>
            <a:endParaRPr lang="en-US" sz="1150" dirty="0"/>
          </a:p>
        </p:txBody>
      </p:sp>
      <p:sp>
        <p:nvSpPr>
          <p:cNvPr id="20" name="[p1] Forma"/>
          <p:cNvSpPr/>
          <p:nvPr/>
        </p:nvSpPr>
        <p:spPr>
          <a:xfrm>
            <a:off x="612648" y="1719072"/>
            <a:ext cx="3429000" cy="993648"/>
          </a:xfrm>
          <a:prstGeom prst="roundRect">
            <a:avLst>
              <a:gd name="adj" fmla="val 12883"/>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1" name="[p1] Forma"/>
          <p:cNvSpPr/>
          <p:nvPr/>
        </p:nvSpPr>
        <p:spPr>
          <a:xfrm>
            <a:off x="612648" y="1810512"/>
            <a:ext cx="64008" cy="810768"/>
          </a:xfrm>
          <a:prstGeom prst="rect">
            <a:avLst/>
          </a:prstGeom>
          <a:solidFill>
            <a:srgbClr val="0B6E8A"/>
          </a:solidFill>
          <a:ln w="12700">
            <a:solidFill>
              <a:srgbClr val="0B6E8A"/>
            </a:solidFill>
            <a:prstDash val="solid"/>
          </a:ln>
        </p:spPr>
      </p:sp>
      <p:sp>
        <p:nvSpPr>
          <p:cNvPr id="22" name="[p1] Forma"/>
          <p:cNvSpPr/>
          <p:nvPr/>
        </p:nvSpPr>
        <p:spPr>
          <a:xfrm>
            <a:off x="777240" y="1810512"/>
            <a:ext cx="457200" cy="457200"/>
          </a:xfrm>
          <a:prstGeom prst="ellipse">
            <a:avLst/>
          </a:prstGeom>
          <a:solidFill>
            <a:srgbClr val="E3F4FA"/>
          </a:solidFill>
          <a:ln w="12700">
            <a:solidFill>
              <a:srgbClr val="E3F4FA"/>
            </a:solidFill>
            <a:prstDash val="solid"/>
          </a:ln>
        </p:spPr>
      </p:sp>
      <p:sp>
        <p:nvSpPr>
          <p:cNvPr id="23" name="[p1] Icono container"/>
          <p:cNvSpPr/>
          <p:nvPr/>
        </p:nvSpPr>
        <p:spPr>
          <a:xfrm>
            <a:off x="886968" y="1920240"/>
            <a:ext cx="237744" cy="237744"/>
          </a:xfrm>
          <a:custGeom>
            <a:avLst/>
            <a:gdLst/>
            <a:ahLst/>
            <a:cxnLst/>
            <a:rect l="l" t="t" r="r" b="b"/>
            <a:pathLst>
              <a:path w="237744" h="237744">
                <a:moveTo>
                  <a:pt x="217932" y="76276"/>
                </a:moveTo>
                <a:cubicBezTo>
                  <a:pt x="217932" y="70333"/>
                  <a:pt x="213970" y="64389"/>
                  <a:pt x="210007" y="61417"/>
                </a:cubicBezTo>
                <a:lnTo>
                  <a:pt x="147599" y="22784"/>
                </a:lnTo>
                <a:cubicBezTo>
                  <a:pt x="142378" y="19816"/>
                  <a:pt x="135980" y="19816"/>
                  <a:pt x="130759" y="22784"/>
                </a:cubicBezTo>
                <a:lnTo>
                  <a:pt x="28727" y="82220"/>
                </a:lnTo>
                <a:cubicBezTo>
                  <a:pt x="23774" y="84201"/>
                  <a:pt x="19812" y="90145"/>
                  <a:pt x="19812" y="96088"/>
                </a:cubicBezTo>
                <a:lnTo>
                  <a:pt x="19812" y="161468"/>
                </a:lnTo>
                <a:cubicBezTo>
                  <a:pt x="19812" y="166421"/>
                  <a:pt x="23774" y="173355"/>
                  <a:pt x="27737" y="176327"/>
                </a:cubicBezTo>
                <a:lnTo>
                  <a:pt x="90145" y="214960"/>
                </a:lnTo>
                <a:cubicBezTo>
                  <a:pt x="95366" y="217928"/>
                  <a:pt x="101764" y="217928"/>
                  <a:pt x="106985" y="214960"/>
                </a:cubicBezTo>
                <a:lnTo>
                  <a:pt x="209017" y="155524"/>
                </a:lnTo>
                <a:cubicBezTo>
                  <a:pt x="213970" y="152552"/>
                  <a:pt x="217932" y="145618"/>
                  <a:pt x="217932" y="140665"/>
                </a:cubicBezTo>
                <a:close/>
                <a:moveTo>
                  <a:pt x="99060" y="216941"/>
                </a:moveTo>
                <a:lnTo>
                  <a:pt x="99060" y="138684"/>
                </a:lnTo>
                <a:lnTo>
                  <a:pt x="20803" y="90145"/>
                </a:lnTo>
                <a:moveTo>
                  <a:pt x="99060" y="138684"/>
                </a:moveTo>
                <a:lnTo>
                  <a:pt x="216941" y="70333"/>
                </a:lnTo>
                <a:moveTo>
                  <a:pt x="138684" y="196139"/>
                </a:moveTo>
                <a:lnTo>
                  <a:pt x="138684" y="115900"/>
                </a:lnTo>
                <a:moveTo>
                  <a:pt x="178308" y="173355"/>
                </a:moveTo>
                <a:lnTo>
                  <a:pt x="178308" y="93116"/>
                </a:lnTo>
              </a:path>
            </a:pathLst>
          </a:custGeom>
          <a:noFill/>
          <a:ln w="19812" cap="rnd">
            <a:solidFill>
              <a:srgbClr val="0B6E8A"/>
            </a:solidFill>
            <a:prstDash val="solid"/>
            <a:round/>
          </a:ln>
        </p:spPr>
      </p:sp>
      <p:sp>
        <p:nvSpPr>
          <p:cNvPr id="24" name="[p1] Forma"/>
          <p:cNvSpPr/>
          <p:nvPr/>
        </p:nvSpPr>
        <p:spPr>
          <a:xfrm>
            <a:off x="1344168" y="1773936"/>
            <a:ext cx="2606040" cy="274320"/>
          </a:xfrm>
          <a:prstGeom prst="rect">
            <a:avLst/>
          </a:prstGeom>
          <a:noFill/>
          <a:ln/>
        </p:spPr>
        <p:txBody>
          <a:bodyPr wrap="square" lIns="0" tIns="0" rIns="0" bIns="0" rtlCol="0" anchor="ctr">
            <a:normAutofit/>
          </a:bodyPr>
          <a:lstStyle/>
          <a:p>
            <a:pPr algn="l" indent="0" marL="0">
              <a:buNone/>
            </a:pPr>
            <a:r>
              <a:rPr lang="en-US" sz="1350" b="1" dirty="0">
                <a:solidFill>
                  <a:srgbClr val="0B6E8A"/>
                </a:solidFill>
                <a:latin typeface="Segoe UI Semibold" pitchFamily="34" charset="0"/>
                <a:ea typeface="Segoe UI Semibold" pitchFamily="34" charset="-122"/>
                <a:cs typeface="Segoe UI Semibold" pitchFamily="34" charset="-120"/>
              </a:rPr>
              <a:t>Docker Compose</a:t>
            </a:r>
            <a:endParaRPr lang="en-US" sz="1350" dirty="0"/>
          </a:p>
        </p:txBody>
      </p:sp>
      <p:sp>
        <p:nvSpPr>
          <p:cNvPr id="25" name="[p1] Forma"/>
          <p:cNvSpPr/>
          <p:nvPr/>
        </p:nvSpPr>
        <p:spPr>
          <a:xfrm>
            <a:off x="1344168" y="2048256"/>
            <a:ext cx="2606040" cy="237744"/>
          </a:xfrm>
          <a:prstGeom prst="rect">
            <a:avLst/>
          </a:prstGeom>
          <a:noFill/>
          <a:ln/>
        </p:spPr>
        <p:txBody>
          <a:bodyPr wrap="square" lIns="0" tIns="0" rIns="0" bIns="0" rtlCol="0" anchor="t">
            <a:normAutofit/>
          </a:bodyPr>
          <a:lstStyle/>
          <a:p>
            <a:pPr algn="l" indent="0" marL="0">
              <a:buNone/>
            </a:pPr>
            <a:r>
              <a:rPr lang="en-US" sz="1100" dirty="0">
                <a:solidFill>
                  <a:srgbClr val="55627E"/>
                </a:solidFill>
                <a:latin typeface="Segoe UI" pitchFamily="34" charset="0"/>
                <a:ea typeface="Segoe UI" pitchFamily="34" charset="-122"/>
                <a:cs typeface="Segoe UI" pitchFamily="34" charset="-120"/>
              </a:rPr>
              <a:t>compose.yaml, en cada servicio</a:t>
            </a:r>
            <a:endParaRPr lang="en-US" sz="1100" dirty="0"/>
          </a:p>
        </p:txBody>
      </p:sp>
      <p:sp>
        <p:nvSpPr>
          <p:cNvPr id="26" name="[p1] Forma"/>
          <p:cNvSpPr/>
          <p:nvPr/>
        </p:nvSpPr>
        <p:spPr>
          <a:xfrm>
            <a:off x="777240" y="2328672"/>
            <a:ext cx="3154680" cy="292608"/>
          </a:xfrm>
          <a:prstGeom prst="roundRect">
            <a:avLst>
              <a:gd name="adj" fmla="val 18750"/>
            </a:avLst>
          </a:prstGeom>
          <a:solidFill>
            <a:srgbClr val="F4F7FB"/>
          </a:solidFill>
          <a:ln w="6350">
            <a:solidFill>
              <a:srgbClr val="DFE6F0"/>
            </a:solidFill>
          </a:ln>
        </p:spPr>
        <p:txBody>
          <a:bodyPr wrap="square" lIns="50800" tIns="50800" rIns="50800" bIns="50800" rtlCol="0" anchor="ctr">
            <a:normAutofit/>
          </a:bodyPr>
          <a:lstStyle/>
          <a:p>
            <a:pPr indent="0" marL="0">
              <a:buNone/>
            </a:pPr>
            <a:r>
              <a:rPr lang="en-US" sz="1100" dirty="0">
                <a:solidFill>
                  <a:srgbClr val="0B1A3C"/>
                </a:solidFill>
                <a:latin typeface="Consolas" pitchFamily="34" charset="0"/>
                <a:ea typeface="Consolas" pitchFamily="34" charset="-122"/>
                <a:cs typeface="Consolas" pitchFamily="34" charset="-120"/>
              </a:rPr>
              <a:t>DB_URL → db-solicitudes:5432</a:t>
            </a:r>
            <a:endParaRPr lang="en-US" sz="1100" dirty="0"/>
          </a:p>
        </p:txBody>
      </p:sp>
      <p:sp>
        <p:nvSpPr>
          <p:cNvPr id="27" name="[p1] Forma"/>
          <p:cNvSpPr/>
          <p:nvPr/>
        </p:nvSpPr>
        <p:spPr>
          <a:xfrm>
            <a:off x="4096512" y="2215896"/>
            <a:ext cx="649224" cy="598170"/>
          </a:xfrm>
          <a:prstGeom prst="line">
            <a:avLst/>
          </a:prstGeom>
          <a:noFill/>
          <a:ln w="28575">
            <a:solidFill>
              <a:srgbClr val="0B6E8A"/>
            </a:solidFill>
            <a:prstDash val="solid"/>
            <a:tailEnd type="triangle"/>
          </a:ln>
        </p:spPr>
      </p:sp>
      <p:sp>
        <p:nvSpPr>
          <p:cNvPr id="28" name="[p2] Forma"/>
          <p:cNvSpPr/>
          <p:nvPr/>
        </p:nvSpPr>
        <p:spPr>
          <a:xfrm>
            <a:off x="612648" y="2877312"/>
            <a:ext cx="3429000" cy="993648"/>
          </a:xfrm>
          <a:prstGeom prst="roundRect">
            <a:avLst>
              <a:gd name="adj" fmla="val 12883"/>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9" name="[p2] Forma"/>
          <p:cNvSpPr/>
          <p:nvPr/>
        </p:nvSpPr>
        <p:spPr>
          <a:xfrm>
            <a:off x="612648" y="2968752"/>
            <a:ext cx="64008" cy="810768"/>
          </a:xfrm>
          <a:prstGeom prst="rect">
            <a:avLst/>
          </a:prstGeom>
          <a:solidFill>
            <a:srgbClr val="0A6648"/>
          </a:solidFill>
          <a:ln w="12700">
            <a:solidFill>
              <a:srgbClr val="0A6648"/>
            </a:solidFill>
            <a:prstDash val="solid"/>
          </a:ln>
        </p:spPr>
      </p:sp>
      <p:sp>
        <p:nvSpPr>
          <p:cNvPr id="30" name="[p2] Forma"/>
          <p:cNvSpPr/>
          <p:nvPr/>
        </p:nvSpPr>
        <p:spPr>
          <a:xfrm>
            <a:off x="777240" y="2968752"/>
            <a:ext cx="457200" cy="457200"/>
          </a:xfrm>
          <a:prstGeom prst="ellipse">
            <a:avLst/>
          </a:prstGeom>
          <a:solidFill>
            <a:srgbClr val="E1F1EA"/>
          </a:solidFill>
          <a:ln w="12700">
            <a:solidFill>
              <a:srgbClr val="E1F1EA"/>
            </a:solidFill>
            <a:prstDash val="solid"/>
          </a:ln>
        </p:spPr>
      </p:sp>
      <p:sp>
        <p:nvSpPr>
          <p:cNvPr id="31" name="[p2] Icono ship-wheel"/>
          <p:cNvSpPr/>
          <p:nvPr/>
        </p:nvSpPr>
        <p:spPr>
          <a:xfrm>
            <a:off x="886968" y="3078480"/>
            <a:ext cx="237744" cy="237744"/>
          </a:xfrm>
          <a:custGeom>
            <a:avLst/>
            <a:gdLst/>
            <a:ahLst/>
            <a:cxnLst/>
            <a:rect l="l" t="t" r="r" b="b"/>
            <a:pathLst>
              <a:path w="237744" h="237744">
                <a:moveTo>
                  <a:pt x="198120" y="118872"/>
                </a:moveTo>
                <a:cubicBezTo>
                  <a:pt x="198120" y="162639"/>
                  <a:pt x="162639" y="198120"/>
                  <a:pt x="118872" y="198120"/>
                </a:cubicBezTo>
                <a:cubicBezTo>
                  <a:pt x="75105" y="198120"/>
                  <a:pt x="39624" y="162639"/>
                  <a:pt x="39624" y="118872"/>
                </a:cubicBezTo>
                <a:cubicBezTo>
                  <a:pt x="39624" y="75105"/>
                  <a:pt x="75105" y="39624"/>
                  <a:pt x="118872" y="39624"/>
                </a:cubicBezTo>
                <a:cubicBezTo>
                  <a:pt x="162639" y="39624"/>
                  <a:pt x="198120" y="75105"/>
                  <a:pt x="198120" y="118872"/>
                </a:cubicBezTo>
                <a:close/>
                <a:moveTo>
                  <a:pt x="118872" y="19812"/>
                </a:moveTo>
                <a:lnTo>
                  <a:pt x="118872" y="94107"/>
                </a:lnTo>
                <a:moveTo>
                  <a:pt x="188214" y="49530"/>
                </a:moveTo>
                <a:lnTo>
                  <a:pt x="136406" y="101338"/>
                </a:lnTo>
                <a:moveTo>
                  <a:pt x="217932" y="118872"/>
                </a:moveTo>
                <a:lnTo>
                  <a:pt x="143637" y="118872"/>
                </a:lnTo>
                <a:moveTo>
                  <a:pt x="188214" y="188214"/>
                </a:moveTo>
                <a:lnTo>
                  <a:pt x="136406" y="136406"/>
                </a:lnTo>
                <a:moveTo>
                  <a:pt x="118872" y="143637"/>
                </a:moveTo>
                <a:lnTo>
                  <a:pt x="118872" y="217932"/>
                </a:lnTo>
                <a:moveTo>
                  <a:pt x="101338" y="136406"/>
                </a:moveTo>
                <a:lnTo>
                  <a:pt x="49530" y="188214"/>
                </a:lnTo>
                <a:moveTo>
                  <a:pt x="94107" y="118872"/>
                </a:moveTo>
                <a:lnTo>
                  <a:pt x="19812" y="118872"/>
                </a:lnTo>
                <a:moveTo>
                  <a:pt x="101338" y="101338"/>
                </a:moveTo>
                <a:lnTo>
                  <a:pt x="49530" y="49530"/>
                </a:lnTo>
                <a:moveTo>
                  <a:pt x="143637" y="118872"/>
                </a:moveTo>
                <a:cubicBezTo>
                  <a:pt x="143637" y="132549"/>
                  <a:pt x="132549" y="143637"/>
                  <a:pt x="118872" y="143637"/>
                </a:cubicBezTo>
                <a:cubicBezTo>
                  <a:pt x="105195" y="143637"/>
                  <a:pt x="94107" y="132549"/>
                  <a:pt x="94107" y="118872"/>
                </a:cubicBezTo>
                <a:cubicBezTo>
                  <a:pt x="94107" y="105195"/>
                  <a:pt x="105195" y="94107"/>
                  <a:pt x="118872" y="94107"/>
                </a:cubicBezTo>
                <a:cubicBezTo>
                  <a:pt x="132549" y="94107"/>
                  <a:pt x="143637" y="105195"/>
                  <a:pt x="143637" y="118872"/>
                </a:cubicBezTo>
                <a:close/>
              </a:path>
            </a:pathLst>
          </a:custGeom>
          <a:noFill/>
          <a:ln w="19812" cap="rnd">
            <a:solidFill>
              <a:srgbClr val="0A6648"/>
            </a:solidFill>
            <a:prstDash val="solid"/>
            <a:round/>
          </a:ln>
        </p:spPr>
      </p:sp>
      <p:sp>
        <p:nvSpPr>
          <p:cNvPr id="32" name="[p2] Forma"/>
          <p:cNvSpPr/>
          <p:nvPr/>
        </p:nvSpPr>
        <p:spPr>
          <a:xfrm>
            <a:off x="1344168" y="2932176"/>
            <a:ext cx="2606040" cy="274320"/>
          </a:xfrm>
          <a:prstGeom prst="rect">
            <a:avLst/>
          </a:prstGeom>
          <a:noFill/>
          <a:ln/>
        </p:spPr>
        <p:txBody>
          <a:bodyPr wrap="square" lIns="0" tIns="0" rIns="0" bIns="0" rtlCol="0" anchor="ctr">
            <a:normAutofit/>
          </a:bodyPr>
          <a:lstStyle/>
          <a:p>
            <a:pPr algn="l" indent="0" marL="0">
              <a:buNone/>
            </a:pPr>
            <a:r>
              <a:rPr lang="en-US" sz="1350" b="1" dirty="0">
                <a:solidFill>
                  <a:srgbClr val="0A6648"/>
                </a:solidFill>
                <a:latin typeface="Segoe UI Semibold" pitchFamily="34" charset="0"/>
                <a:ea typeface="Segoe UI Semibold" pitchFamily="34" charset="-122"/>
                <a:cs typeface="Segoe UI Semibold" pitchFamily="34" charset="-120"/>
              </a:rPr>
              <a:t>Kubernetes · Deployment</a:t>
            </a:r>
            <a:endParaRPr lang="en-US" sz="1350" dirty="0"/>
          </a:p>
        </p:txBody>
      </p:sp>
      <p:sp>
        <p:nvSpPr>
          <p:cNvPr id="33" name="[p2] Forma"/>
          <p:cNvSpPr/>
          <p:nvPr/>
        </p:nvSpPr>
        <p:spPr>
          <a:xfrm>
            <a:off x="1344168" y="3206496"/>
            <a:ext cx="2606040" cy="237744"/>
          </a:xfrm>
          <a:prstGeom prst="rect">
            <a:avLst/>
          </a:prstGeom>
          <a:noFill/>
          <a:ln/>
        </p:spPr>
        <p:txBody>
          <a:bodyPr wrap="square" lIns="0" tIns="0" rIns="0" bIns="0" rtlCol="0" anchor="t">
            <a:normAutofit/>
          </a:bodyPr>
          <a:lstStyle/>
          <a:p>
            <a:pPr algn="l" indent="0" marL="0">
              <a:buNone/>
            </a:pPr>
            <a:r>
              <a:rPr lang="en-US" sz="1100" dirty="0">
                <a:solidFill>
                  <a:srgbClr val="55627E"/>
                </a:solidFill>
                <a:latin typeface="Segoe UI" pitchFamily="34" charset="0"/>
                <a:ea typeface="Segoe UI" pitchFamily="34" charset="-122"/>
                <a:cs typeface="Segoe UI" pitchFamily="34" charset="-120"/>
              </a:rPr>
              <a:t>La dirección y el usuario</a:t>
            </a:r>
            <a:endParaRPr lang="en-US" sz="1100" dirty="0"/>
          </a:p>
        </p:txBody>
      </p:sp>
      <p:sp>
        <p:nvSpPr>
          <p:cNvPr id="34" name="[p2] Forma"/>
          <p:cNvSpPr/>
          <p:nvPr/>
        </p:nvSpPr>
        <p:spPr>
          <a:xfrm>
            <a:off x="777240" y="3486912"/>
            <a:ext cx="3154680" cy="292608"/>
          </a:xfrm>
          <a:prstGeom prst="roundRect">
            <a:avLst>
              <a:gd name="adj" fmla="val 18750"/>
            </a:avLst>
          </a:prstGeom>
          <a:solidFill>
            <a:srgbClr val="F4F7FB"/>
          </a:solidFill>
          <a:ln w="6350">
            <a:solidFill>
              <a:srgbClr val="DFE6F0"/>
            </a:solidFill>
          </a:ln>
        </p:spPr>
        <p:txBody>
          <a:bodyPr wrap="square" lIns="50800" tIns="50800" rIns="50800" bIns="50800" rtlCol="0" anchor="ctr">
            <a:normAutofit/>
          </a:bodyPr>
          <a:lstStyle/>
          <a:p>
            <a:pPr indent="0" marL="0">
              <a:buNone/>
            </a:pPr>
            <a:r>
              <a:rPr lang="en-US" sz="1100" dirty="0">
                <a:solidFill>
                  <a:srgbClr val="0B1A3C"/>
                </a:solidFill>
                <a:latin typeface="Consolas" pitchFamily="34" charset="0"/>
                <a:ea typeface="Consolas" pitchFamily="34" charset="-122"/>
                <a:cs typeface="Consolas" pitchFamily="34" charset="-120"/>
              </a:rPr>
              <a:t>DB_URL · DB_USER</a:t>
            </a:r>
            <a:endParaRPr lang="en-US" sz="1100" dirty="0"/>
          </a:p>
        </p:txBody>
      </p:sp>
      <p:sp>
        <p:nvSpPr>
          <p:cNvPr id="35" name="[p2] Forma"/>
          <p:cNvSpPr/>
          <p:nvPr/>
        </p:nvSpPr>
        <p:spPr>
          <a:xfrm>
            <a:off x="4096512" y="3374136"/>
            <a:ext cx="649224" cy="0"/>
          </a:xfrm>
          <a:prstGeom prst="line">
            <a:avLst/>
          </a:prstGeom>
          <a:noFill/>
          <a:ln w="28575">
            <a:solidFill>
              <a:srgbClr val="0A6648"/>
            </a:solidFill>
            <a:prstDash val="solid"/>
            <a:tailEnd type="triangle"/>
          </a:ln>
        </p:spPr>
      </p:sp>
      <p:sp>
        <p:nvSpPr>
          <p:cNvPr id="36" name="[p3] Forma"/>
          <p:cNvSpPr/>
          <p:nvPr/>
        </p:nvSpPr>
        <p:spPr>
          <a:xfrm>
            <a:off x="612648" y="4035552"/>
            <a:ext cx="3429000" cy="993648"/>
          </a:xfrm>
          <a:prstGeom prst="roundRect">
            <a:avLst>
              <a:gd name="adj" fmla="val 12883"/>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7" name="[p3] Forma"/>
          <p:cNvSpPr/>
          <p:nvPr/>
        </p:nvSpPr>
        <p:spPr>
          <a:xfrm>
            <a:off x="612648" y="4126992"/>
            <a:ext cx="64008" cy="810768"/>
          </a:xfrm>
          <a:prstGeom prst="rect">
            <a:avLst/>
          </a:prstGeom>
          <a:solidFill>
            <a:srgbClr val="8A4B06"/>
          </a:solidFill>
          <a:ln w="12700">
            <a:solidFill>
              <a:srgbClr val="8A4B06"/>
            </a:solidFill>
            <a:prstDash val="solid"/>
          </a:ln>
        </p:spPr>
      </p:sp>
      <p:sp>
        <p:nvSpPr>
          <p:cNvPr id="38" name="[p3] Forma"/>
          <p:cNvSpPr/>
          <p:nvPr/>
        </p:nvSpPr>
        <p:spPr>
          <a:xfrm>
            <a:off x="777240" y="4126992"/>
            <a:ext cx="457200" cy="457200"/>
          </a:xfrm>
          <a:prstGeom prst="ellipse">
            <a:avLst/>
          </a:prstGeom>
          <a:solidFill>
            <a:srgbClr val="FCEFD6"/>
          </a:solidFill>
          <a:ln w="12700">
            <a:solidFill>
              <a:srgbClr val="FCEFD6"/>
            </a:solidFill>
            <a:prstDash val="solid"/>
          </a:ln>
        </p:spPr>
      </p:sp>
      <p:sp>
        <p:nvSpPr>
          <p:cNvPr id="39" name="[p3] Icono key-round"/>
          <p:cNvSpPr/>
          <p:nvPr/>
        </p:nvSpPr>
        <p:spPr>
          <a:xfrm>
            <a:off x="886968" y="4236720"/>
            <a:ext cx="237744" cy="237744"/>
          </a:xfrm>
          <a:custGeom>
            <a:avLst/>
            <a:gdLst/>
            <a:ahLst/>
            <a:cxnLst/>
            <a:rect l="l" t="t" r="r" b="b"/>
            <a:pathLst>
              <a:path w="237744" h="237744">
                <a:moveTo>
                  <a:pt x="25617" y="172503"/>
                </a:moveTo>
                <a:cubicBezTo>
                  <a:pt x="21901" y="176218"/>
                  <a:pt x="19813" y="181256"/>
                  <a:pt x="19812" y="186510"/>
                </a:cubicBezTo>
                <a:lnTo>
                  <a:pt x="19812" y="208026"/>
                </a:lnTo>
                <a:cubicBezTo>
                  <a:pt x="19812" y="213497"/>
                  <a:pt x="24247" y="217932"/>
                  <a:pt x="29718" y="217932"/>
                </a:cubicBezTo>
                <a:lnTo>
                  <a:pt x="59436" y="217932"/>
                </a:lnTo>
                <a:cubicBezTo>
                  <a:pt x="64907" y="217932"/>
                  <a:pt x="69342" y="213497"/>
                  <a:pt x="69342" y="208026"/>
                </a:cubicBezTo>
                <a:lnTo>
                  <a:pt x="69342" y="198120"/>
                </a:lnTo>
                <a:cubicBezTo>
                  <a:pt x="69342" y="192649"/>
                  <a:pt x="73777" y="188214"/>
                  <a:pt x="79248" y="188214"/>
                </a:cubicBezTo>
                <a:lnTo>
                  <a:pt x="89154" y="188214"/>
                </a:lnTo>
                <a:cubicBezTo>
                  <a:pt x="94625" y="188214"/>
                  <a:pt x="99060" y="183779"/>
                  <a:pt x="99060" y="178308"/>
                </a:cubicBezTo>
                <a:lnTo>
                  <a:pt x="99060" y="168402"/>
                </a:lnTo>
                <a:cubicBezTo>
                  <a:pt x="99060" y="162931"/>
                  <a:pt x="103495" y="158496"/>
                  <a:pt x="108966" y="158496"/>
                </a:cubicBezTo>
                <a:lnTo>
                  <a:pt x="110670" y="158496"/>
                </a:lnTo>
                <a:cubicBezTo>
                  <a:pt x="115924" y="158495"/>
                  <a:pt x="120962" y="156407"/>
                  <a:pt x="124677" y="152691"/>
                </a:cubicBezTo>
                <a:lnTo>
                  <a:pt x="132740" y="144628"/>
                </a:lnTo>
                <a:cubicBezTo>
                  <a:pt x="161093" y="154504"/>
                  <a:pt x="192509" y="143474"/>
                  <a:pt x="208465" y="118041"/>
                </a:cubicBezTo>
                <a:cubicBezTo>
                  <a:pt x="224421" y="92608"/>
                  <a:pt x="220682" y="59523"/>
                  <a:pt x="199452" y="38292"/>
                </a:cubicBezTo>
                <a:cubicBezTo>
                  <a:pt x="178221" y="17062"/>
                  <a:pt x="145136" y="13323"/>
                  <a:pt x="119703" y="29279"/>
                </a:cubicBezTo>
                <a:cubicBezTo>
                  <a:pt x="94270" y="45235"/>
                  <a:pt x="83240" y="76651"/>
                  <a:pt x="93116" y="105004"/>
                </a:cubicBezTo>
                <a:close/>
                <a:moveTo>
                  <a:pt x="168402" y="74295"/>
                </a:moveTo>
                <a:cubicBezTo>
                  <a:pt x="168402" y="77030"/>
                  <a:pt x="166184" y="79248"/>
                  <a:pt x="163449" y="79248"/>
                </a:cubicBezTo>
                <a:cubicBezTo>
                  <a:pt x="160714" y="79248"/>
                  <a:pt x="158496" y="77030"/>
                  <a:pt x="158496" y="74295"/>
                </a:cubicBezTo>
                <a:cubicBezTo>
                  <a:pt x="158496" y="71560"/>
                  <a:pt x="160714" y="69342"/>
                  <a:pt x="163449" y="69342"/>
                </a:cubicBezTo>
                <a:cubicBezTo>
                  <a:pt x="166184" y="69342"/>
                  <a:pt x="168402" y="71560"/>
                  <a:pt x="168402" y="74295"/>
                </a:cubicBezTo>
                <a:close/>
              </a:path>
            </a:pathLst>
          </a:custGeom>
          <a:noFill/>
          <a:ln w="19812" cap="rnd">
            <a:solidFill>
              <a:srgbClr val="8A4B06"/>
            </a:solidFill>
            <a:prstDash val="solid"/>
            <a:round/>
          </a:ln>
        </p:spPr>
      </p:sp>
      <p:sp>
        <p:nvSpPr>
          <p:cNvPr id="40" name="[p3] Forma"/>
          <p:cNvSpPr/>
          <p:nvPr/>
        </p:nvSpPr>
        <p:spPr>
          <a:xfrm>
            <a:off x="1344168" y="4090416"/>
            <a:ext cx="2606040" cy="274320"/>
          </a:xfrm>
          <a:prstGeom prst="rect">
            <a:avLst/>
          </a:prstGeom>
          <a:noFill/>
          <a:ln/>
        </p:spPr>
        <p:txBody>
          <a:bodyPr wrap="square" lIns="0" tIns="0" rIns="0" bIns="0" rtlCol="0" anchor="ctr">
            <a:normAutofit/>
          </a:bodyPr>
          <a:lstStyle/>
          <a:p>
            <a:pPr algn="l" indent="0" marL="0">
              <a:buNone/>
            </a:pPr>
            <a:r>
              <a:rPr lang="en-US" sz="1350" b="1" dirty="0">
                <a:solidFill>
                  <a:srgbClr val="8A4B06"/>
                </a:solidFill>
                <a:latin typeface="Segoe UI Semibold" pitchFamily="34" charset="0"/>
                <a:ea typeface="Segoe UI Semibold" pitchFamily="34" charset="-122"/>
                <a:cs typeface="Segoe UI Semibold" pitchFamily="34" charset="-120"/>
              </a:rPr>
              <a:t>Kubernetes · Secret</a:t>
            </a:r>
            <a:endParaRPr lang="en-US" sz="1350" dirty="0"/>
          </a:p>
        </p:txBody>
      </p:sp>
      <p:sp>
        <p:nvSpPr>
          <p:cNvPr id="41" name="[p3] Forma"/>
          <p:cNvSpPr/>
          <p:nvPr/>
        </p:nvSpPr>
        <p:spPr>
          <a:xfrm>
            <a:off x="1344168" y="4364736"/>
            <a:ext cx="2606040" cy="237744"/>
          </a:xfrm>
          <a:prstGeom prst="rect">
            <a:avLst/>
          </a:prstGeom>
          <a:noFill/>
          <a:ln/>
        </p:spPr>
        <p:txBody>
          <a:bodyPr wrap="square" lIns="0" tIns="0" rIns="0" bIns="0" rtlCol="0" anchor="t">
            <a:normAutofit/>
          </a:bodyPr>
          <a:lstStyle/>
          <a:p>
            <a:pPr algn="l" indent="0" marL="0">
              <a:buNone/>
            </a:pPr>
            <a:r>
              <a:rPr lang="en-US" sz="1100" dirty="0">
                <a:solidFill>
                  <a:srgbClr val="55627E"/>
                </a:solidFill>
                <a:latin typeface="Segoe UI" pitchFamily="34" charset="0"/>
                <a:ea typeface="Segoe UI" pitchFamily="34" charset="-122"/>
                <a:cs typeface="Segoe UI" pitchFamily="34" charset="-120"/>
              </a:rPr>
              <a:t>La clave, guardada aparte</a:t>
            </a:r>
            <a:endParaRPr lang="en-US" sz="1100" dirty="0"/>
          </a:p>
        </p:txBody>
      </p:sp>
      <p:sp>
        <p:nvSpPr>
          <p:cNvPr id="42" name="[p3] Forma"/>
          <p:cNvSpPr/>
          <p:nvPr/>
        </p:nvSpPr>
        <p:spPr>
          <a:xfrm>
            <a:off x="777240" y="4645152"/>
            <a:ext cx="3154680" cy="292608"/>
          </a:xfrm>
          <a:prstGeom prst="roundRect">
            <a:avLst>
              <a:gd name="adj" fmla="val 18750"/>
            </a:avLst>
          </a:prstGeom>
          <a:solidFill>
            <a:srgbClr val="F4F7FB"/>
          </a:solidFill>
          <a:ln w="6350">
            <a:solidFill>
              <a:srgbClr val="DFE6F0"/>
            </a:solidFill>
          </a:ln>
        </p:spPr>
        <p:txBody>
          <a:bodyPr wrap="square" lIns="50800" tIns="50800" rIns="50800" bIns="50800" rtlCol="0" anchor="ctr">
            <a:normAutofit/>
          </a:bodyPr>
          <a:lstStyle/>
          <a:p>
            <a:pPr indent="0" marL="0">
              <a:buNone/>
            </a:pPr>
            <a:r>
              <a:rPr lang="en-US" sz="1100" dirty="0">
                <a:solidFill>
                  <a:srgbClr val="0B1A3C"/>
                </a:solidFill>
                <a:latin typeface="Consolas" pitchFamily="34" charset="0"/>
                <a:ea typeface="Consolas" pitchFamily="34" charset="-122"/>
                <a:cs typeface="Consolas" pitchFamily="34" charset="-120"/>
              </a:rPr>
              <a:t>DB_PASSWORD ← Secret arka-postgres</a:t>
            </a:r>
            <a:endParaRPr lang="en-US" sz="1100" dirty="0"/>
          </a:p>
        </p:txBody>
      </p:sp>
      <p:sp>
        <p:nvSpPr>
          <p:cNvPr id="43" name="[p3] Forma"/>
          <p:cNvSpPr/>
          <p:nvPr/>
        </p:nvSpPr>
        <p:spPr>
          <a:xfrm flipV="1">
            <a:off x="4096512" y="3934206"/>
            <a:ext cx="649224" cy="598170"/>
          </a:xfrm>
          <a:prstGeom prst="line">
            <a:avLst/>
          </a:prstGeom>
          <a:noFill/>
          <a:ln w="28575">
            <a:solidFill>
              <a:srgbClr val="8A4B06"/>
            </a:solidFill>
            <a:prstDash val="solid"/>
            <a:tailEnd type="triangle"/>
          </a:ln>
        </p:spPr>
      </p:sp>
      <p:sp>
        <p:nvSpPr>
          <p:cNvPr id="44" name="[p4] Forma"/>
          <p:cNvSpPr/>
          <p:nvPr/>
        </p:nvSpPr>
        <p:spPr>
          <a:xfrm>
            <a:off x="9208008" y="2688336"/>
            <a:ext cx="2371039" cy="1371600"/>
          </a:xfrm>
          <a:prstGeom prst="can">
            <a:avLst/>
          </a:prstGeom>
          <a:solidFill>
            <a:srgbClr val="E8EEF8"/>
          </a:solidFill>
          <a:ln w="25400">
            <a:solidFill>
              <a:srgbClr val="0B2350"/>
            </a:solidFill>
            <a:prstDash val="solid"/>
          </a:ln>
          <a:effectLst>
            <a:outerShdw sx="100000" sy="100000" kx="0" ky="0" algn="bl" rotWithShape="0" blurRad="76200" dist="19050" dir="5400000">
              <a:srgbClr val="0B1F3A">
                <a:alpha val="14000"/>
              </a:srgbClr>
            </a:outerShdw>
          </a:effectLst>
        </p:spPr>
      </p:sp>
      <p:sp>
        <p:nvSpPr>
          <p:cNvPr id="45" name="[p4] Forma"/>
          <p:cNvSpPr/>
          <p:nvPr/>
        </p:nvSpPr>
        <p:spPr>
          <a:xfrm>
            <a:off x="9299448" y="3127248"/>
            <a:ext cx="2188159" cy="365760"/>
          </a:xfrm>
          <a:prstGeom prst="rect">
            <a:avLst/>
          </a:prstGeom>
          <a:noFill/>
          <a:ln/>
        </p:spPr>
        <p:txBody>
          <a:bodyPr wrap="square" lIns="0" tIns="0" rIns="0" bIns="0" rtlCol="0" anchor="ctr">
            <a:normAutofit/>
          </a:bodyPr>
          <a:lstStyle/>
          <a:p>
            <a:pPr algn="ctr" indent="0" marL="0">
              <a:buNone/>
            </a:pPr>
            <a:r>
              <a:rPr lang="en-US" sz="1500" b="1" dirty="0">
                <a:solidFill>
                  <a:srgbClr val="0B2350"/>
                </a:solidFill>
                <a:latin typeface="Consolas" pitchFamily="34" charset="0"/>
                <a:ea typeface="Consolas" pitchFamily="34" charset="-122"/>
                <a:cs typeface="Consolas" pitchFamily="34" charset="-120"/>
              </a:rPr>
              <a:t>db-solicitudes</a:t>
            </a:r>
            <a:endParaRPr lang="en-US" sz="1500" dirty="0"/>
          </a:p>
        </p:txBody>
      </p:sp>
      <p:sp>
        <p:nvSpPr>
          <p:cNvPr id="46" name="[p4] Forma"/>
          <p:cNvSpPr/>
          <p:nvPr/>
        </p:nvSpPr>
        <p:spPr>
          <a:xfrm>
            <a:off x="9299448" y="3493008"/>
            <a:ext cx="2188159" cy="274320"/>
          </a:xfrm>
          <a:prstGeom prst="rect">
            <a:avLst/>
          </a:prstGeom>
          <a:noFill/>
          <a:ln/>
        </p:spPr>
        <p:txBody>
          <a:bodyPr wrap="square" lIns="0" tIns="0" rIns="0" bIns="0" rtlCol="0" anchor="t">
            <a:normAutofit/>
          </a:bodyPr>
          <a:lstStyle/>
          <a:p>
            <a:pPr algn="ctr" indent="0" marL="0">
              <a:buNone/>
            </a:pPr>
            <a:r>
              <a:rPr lang="en-US" sz="1200" dirty="0">
                <a:solidFill>
                  <a:srgbClr val="55627E"/>
                </a:solidFill>
                <a:latin typeface="Segoe UI" pitchFamily="34" charset="0"/>
                <a:ea typeface="Segoe UI" pitchFamily="34" charset="-122"/>
                <a:cs typeface="Segoe UI" pitchFamily="34" charset="-120"/>
              </a:rPr>
              <a:t>PostgreSQL 17</a:t>
            </a:r>
            <a:endParaRPr lang="en-US" sz="1200" dirty="0"/>
          </a:p>
        </p:txBody>
      </p:sp>
      <p:sp>
        <p:nvSpPr>
          <p:cNvPr id="47" name="[p4] Forma"/>
          <p:cNvSpPr/>
          <p:nvPr/>
        </p:nvSpPr>
        <p:spPr>
          <a:xfrm>
            <a:off x="8138160" y="3374136"/>
            <a:ext cx="996696" cy="0"/>
          </a:xfrm>
          <a:prstGeom prst="line">
            <a:avLst/>
          </a:prstGeom>
          <a:noFill/>
          <a:ln w="31750">
            <a:solidFill>
              <a:srgbClr val="0B2350"/>
            </a:solidFill>
            <a:prstDash val="solid"/>
            <a:tailEnd type="triangle"/>
          </a:ln>
        </p:spPr>
      </p:sp>
      <p:sp>
        <p:nvSpPr>
          <p:cNvPr id="48" name="[p4] Forma"/>
          <p:cNvSpPr/>
          <p:nvPr/>
        </p:nvSpPr>
        <p:spPr>
          <a:xfrm>
            <a:off x="8110728" y="2825496"/>
            <a:ext cx="1051560" cy="475488"/>
          </a:xfrm>
          <a:prstGeom prst="rect">
            <a:avLst/>
          </a:prstGeom>
          <a:noFill/>
          <a:ln/>
        </p:spPr>
        <p:txBody>
          <a:bodyPr wrap="square" lIns="0" tIns="0" rIns="0" bIns="0" rtlCol="0" anchor="b">
            <a:normAutofit/>
          </a:bodyPr>
          <a:lstStyle/>
          <a:p>
            <a:pPr algn="ctr" indent="0" marL="0">
              <a:buNone/>
            </a:pPr>
            <a:r>
              <a:rPr lang="en-US" sz="1150" b="1" dirty="0">
                <a:solidFill>
                  <a:srgbClr val="0B2350"/>
                </a:solidFill>
                <a:latin typeface="Segoe UI" pitchFamily="34" charset="0"/>
                <a:ea typeface="Segoe UI" pitchFamily="34" charset="-122"/>
                <a:cs typeface="Segoe UI" pitchFamily="34" charset="-120"/>
              </a:rPr>
              <a:t>pool de conexiones</a:t>
            </a:r>
            <a:endParaRPr lang="en-US" sz="1150" dirty="0"/>
          </a:p>
        </p:txBody>
      </p:sp>
      <p:sp>
        <p:nvSpPr>
          <p:cNvPr id="49" name="[p5] Forma"/>
          <p:cNvSpPr/>
          <p:nvPr/>
        </p:nvSpPr>
        <p:spPr>
          <a:xfrm>
            <a:off x="4818888" y="5230368"/>
            <a:ext cx="6760159" cy="603504"/>
          </a:xfrm>
          <a:prstGeom prst="roundRect">
            <a:avLst>
              <a:gd name="adj" fmla="val 21212"/>
            </a:avLst>
          </a:prstGeom>
          <a:solidFill>
            <a:srgbClr val="F7E3E7"/>
          </a:solidFill>
          <a:ln w="12700">
            <a:solidFill>
              <a:srgbClr val="D5929F"/>
            </a:solidFill>
            <a:prstDash val="solid"/>
          </a:ln>
          <a:effectLst>
            <a:outerShdw sx="100000" sy="100000" kx="0" ky="0" algn="bl" rotWithShape="0" blurRad="76200" dist="19050" dir="5400000">
              <a:srgbClr val="0B1F3A">
                <a:alpha val="14000"/>
              </a:srgbClr>
            </a:outerShdw>
          </a:effectLst>
        </p:spPr>
      </p:sp>
      <p:sp>
        <p:nvSpPr>
          <p:cNvPr id="50" name="[p5] Forma"/>
          <p:cNvSpPr/>
          <p:nvPr/>
        </p:nvSpPr>
        <p:spPr>
          <a:xfrm>
            <a:off x="4965192" y="5321808"/>
            <a:ext cx="420624" cy="420624"/>
          </a:xfrm>
          <a:prstGeom prst="ellipse">
            <a:avLst/>
          </a:prstGeom>
          <a:solidFill>
            <a:srgbClr val="FFFFFF"/>
          </a:solidFill>
          <a:ln w="12700">
            <a:solidFill>
              <a:srgbClr val="FFFFFF"/>
            </a:solidFill>
            <a:prstDash val="solid"/>
          </a:ln>
        </p:spPr>
      </p:sp>
      <p:sp>
        <p:nvSpPr>
          <p:cNvPr id="51" name="[p5] Icono ban"/>
          <p:cNvSpPr/>
          <p:nvPr/>
        </p:nvSpPr>
        <p:spPr>
          <a:xfrm>
            <a:off x="5066142" y="5422758"/>
            <a:ext cx="218724" cy="218724"/>
          </a:xfrm>
          <a:custGeom>
            <a:avLst/>
            <a:gdLst/>
            <a:ahLst/>
            <a:cxnLst/>
            <a:rect l="l" t="t" r="r" b="b"/>
            <a:pathLst>
              <a:path w="218724" h="218724">
                <a:moveTo>
                  <a:pt x="200497" y="109362"/>
                </a:moveTo>
                <a:cubicBezTo>
                  <a:pt x="200497" y="159695"/>
                  <a:pt x="159695" y="200497"/>
                  <a:pt x="109362" y="200497"/>
                </a:cubicBezTo>
                <a:cubicBezTo>
                  <a:pt x="59030" y="200497"/>
                  <a:pt x="18227" y="159695"/>
                  <a:pt x="18227" y="109362"/>
                </a:cubicBezTo>
                <a:cubicBezTo>
                  <a:pt x="18227" y="59030"/>
                  <a:pt x="59030" y="18227"/>
                  <a:pt x="109362" y="18227"/>
                </a:cubicBezTo>
                <a:cubicBezTo>
                  <a:pt x="159695" y="18227"/>
                  <a:pt x="200497" y="59030"/>
                  <a:pt x="200497" y="109362"/>
                </a:cubicBezTo>
                <a:close/>
                <a:moveTo>
                  <a:pt x="44656" y="44656"/>
                </a:moveTo>
                <a:lnTo>
                  <a:pt x="174068" y="174068"/>
                </a:lnTo>
              </a:path>
            </a:pathLst>
          </a:custGeom>
          <a:noFill/>
          <a:ln w="18227" cap="rnd">
            <a:solidFill>
              <a:srgbClr val="AB243E"/>
            </a:solidFill>
            <a:prstDash val="solid"/>
            <a:round/>
          </a:ln>
        </p:spPr>
      </p:sp>
      <p:sp>
        <p:nvSpPr>
          <p:cNvPr id="52" name="[p5] Forma"/>
          <p:cNvSpPr/>
          <p:nvPr/>
        </p:nvSpPr>
        <p:spPr>
          <a:xfrm>
            <a:off x="5504688" y="5230368"/>
            <a:ext cx="5937199" cy="603504"/>
          </a:xfrm>
          <a:prstGeom prst="rect">
            <a:avLst/>
          </a:prstGeom>
          <a:noFill/>
          <a:ln/>
        </p:spPr>
        <p:txBody>
          <a:bodyPr wrap="square" lIns="0" tIns="0" rIns="0" bIns="0" rtlCol="0" anchor="ctr">
            <a:normAutofit/>
          </a:bodyPr>
          <a:lstStyle/>
          <a:p>
            <a:pPr indent="0" marL="0">
              <a:buNone/>
            </a:pPr>
            <a:r>
              <a:rPr lang="en-US" sz="1300" b="1" dirty="0">
                <a:solidFill>
                  <a:srgbClr val="AB243E"/>
                </a:solidFill>
                <a:latin typeface="Segoe UI" pitchFamily="34" charset="0"/>
                <a:ea typeface="Segoe UI" pitchFamily="34" charset="-122"/>
                <a:cs typeface="Segoe UI" pitchFamily="34" charset="-120"/>
              </a:rPr>
              <a:t>La imagen Docker:  </a:t>
            </a:r>
            <a:pPr indent="0" marL="0">
              <a:buNone/>
            </a:pPr>
            <a:r>
              <a:rPr lang="en-US" sz="1300" dirty="0">
                <a:solidFill>
                  <a:srgbClr val="0B1A3C"/>
                </a:solidFill>
                <a:latin typeface="Segoe UI" pitchFamily="34" charset="0"/>
                <a:ea typeface="Segoe UI" pitchFamily="34" charset="-122"/>
                <a:cs typeface="Segoe UI" pitchFamily="34" charset="-120"/>
              </a:rPr>
              <a:t>no lleva ni dirección ni clave. La misma imagen sirve en cualquier ambiente.</a:t>
            </a:r>
            <a:endParaRPr lang="en-US" sz="1300" dirty="0"/>
          </a:p>
        </p:txBody>
      </p:sp>
      <p:sp>
        <p:nvSpPr>
          <p:cNvPr id="53" name="Shape 51"/>
          <p:cNvSpPr/>
          <p:nvPr/>
        </p:nvSpPr>
        <p:spPr>
          <a:xfrm>
            <a:off x="0" y="5961888"/>
            <a:ext cx="12191695" cy="475488"/>
          </a:xfrm>
          <a:prstGeom prst="rect">
            <a:avLst/>
          </a:prstGeom>
          <a:solidFill>
            <a:srgbClr val="0B2350"/>
          </a:solidFill>
          <a:ln w="12700">
            <a:solidFill>
              <a:srgbClr val="0B2350"/>
            </a:solidFill>
            <a:prstDash val="solid"/>
          </a:ln>
        </p:spPr>
      </p:sp>
      <p:sp>
        <p:nvSpPr>
          <p:cNvPr id="54" name="Icono target"/>
          <p:cNvSpPr/>
          <p:nvPr/>
        </p:nvSpPr>
        <p:spPr>
          <a:xfrm>
            <a:off x="612648" y="6071616"/>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192024" y="128016"/>
                </a:moveTo>
                <a:cubicBezTo>
                  <a:pt x="192024" y="163367"/>
                  <a:pt x="163367" y="192024"/>
                  <a:pt x="128016" y="192024"/>
                </a:cubicBezTo>
                <a:cubicBezTo>
                  <a:pt x="92665" y="192024"/>
                  <a:pt x="64008" y="163367"/>
                  <a:pt x="64008" y="128016"/>
                </a:cubicBezTo>
                <a:cubicBezTo>
                  <a:pt x="64008" y="92665"/>
                  <a:pt x="92665" y="64008"/>
                  <a:pt x="128016" y="64008"/>
                </a:cubicBezTo>
                <a:cubicBezTo>
                  <a:pt x="163367" y="64008"/>
                  <a:pt x="192024" y="92665"/>
                  <a:pt x="192024" y="128016"/>
                </a:cubicBezTo>
                <a:close/>
                <a:moveTo>
                  <a:pt x="149352" y="128016"/>
                </a:moveTo>
                <a:cubicBezTo>
                  <a:pt x="149352" y="139800"/>
                  <a:pt x="139800" y="149352"/>
                  <a:pt x="128016" y="149352"/>
                </a:cubicBezTo>
                <a:cubicBezTo>
                  <a:pt x="116232" y="149352"/>
                  <a:pt x="106680" y="139800"/>
                  <a:pt x="106680" y="128016"/>
                </a:cubicBezTo>
                <a:cubicBezTo>
                  <a:pt x="106680" y="116232"/>
                  <a:pt x="116232" y="106680"/>
                  <a:pt x="128016" y="106680"/>
                </a:cubicBezTo>
                <a:cubicBezTo>
                  <a:pt x="139800" y="106680"/>
                  <a:pt x="149352" y="116232"/>
                  <a:pt x="149352" y="128016"/>
                </a:cubicBezTo>
                <a:close/>
              </a:path>
            </a:pathLst>
          </a:custGeom>
          <a:noFill/>
          <a:ln w="21336" cap="rnd">
            <a:solidFill>
              <a:srgbClr val="2BA6CB"/>
            </a:solidFill>
            <a:prstDash val="solid"/>
            <a:round/>
          </a:ln>
        </p:spPr>
      </p:sp>
      <p:sp>
        <p:nvSpPr>
          <p:cNvPr id="55" name="Text 53"/>
          <p:cNvSpPr/>
          <p:nvPr/>
        </p:nvSpPr>
        <p:spPr>
          <a:xfrm>
            <a:off x="978408" y="5961888"/>
            <a:ext cx="1060063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Cambiar de servidor o rotar una clave no obliga a recompilar ni a tocar el código.</a:t>
            </a:r>
            <a:endParaRPr lang="en-US" sz="1400" dirty="0"/>
          </a:p>
        </p:txBody>
      </p:sp>
      <p:sp>
        <p:nvSpPr>
          <p:cNvPr id="56" name="Text 5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57"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7" fill="hold">
                      <p:stCondLst>
                        <p:cond delay="indefinite"/>
                      </p:stCondLst>
                      <p:childTnLst>
                        <p:par>
                          <p:cTn id="28"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0"/>
                                        </p:tgtEl>
                                        <p:attrNameLst>
                                          <p:attrName>style.visibility</p:attrName>
                                        </p:attrNameLst>
                                      </p:cBhvr>
                                      <p:to>
                                        <p:strVal val="visible"/>
                                      </p:to>
                                    </p:set>
                                    <p:animEffect transition="in" filter="fade">
                                      <p:cBhvr>
                                        <p:cTn id="5" dur="400"/>
                                        <p:tgtEl>
                                          <p:spTgt spid="20"/>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1"/>
                                        </p:tgtEl>
                                        <p:attrNameLst>
                                          <p:attrName>style.visibility</p:attrName>
                                        </p:attrNameLst>
                                      </p:cBhvr>
                                      <p:to>
                                        <p:strVal val="visible"/>
                                      </p:to>
                                    </p:set>
                                    <p:animEffect transition="in" filter="fade">
                                      <p:cBhvr>
                                        <p:cTn id="8" dur="400"/>
                                        <p:tgtEl>
                                          <p:spTgt spid="21"/>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fade">
                                      <p:cBhvr>
                                        <p:cTn id="11" dur="400"/>
                                        <p:tgtEl>
                                          <p:spTgt spid="2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400"/>
                                        <p:tgtEl>
                                          <p:spTgt spid="2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fade">
                                      <p:cBhvr>
                                        <p:cTn id="20" dur="400"/>
                                        <p:tgtEl>
                                          <p:spTgt spid="2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7"/>
                                        </p:tgtEl>
                                        <p:attrNameLst>
                                          <p:attrName>style.visibility</p:attrName>
                                        </p:attrNameLst>
                                      </p:cBhvr>
                                      <p:to>
                                        <p:strVal val="visible"/>
                                      </p:to>
                                    </p:set>
                                    <p:animEffect transition="in" filter="fade">
                                      <p:cBhvr>
                                        <p:cTn id="26" dur="400"/>
                                        <p:tgtEl>
                                          <p:spTgt spid="27"/>
                                        </p:tgtEl>
                                      </p:cBhvr>
                                    </p:animEffect>
                                  </p:childTnLst>
                                </p:cTn>
                              </p:par>
                            </p:childTnLst>
                          </p:cTn>
                        </p:par>
                      </p:childTnLst>
                    </p:cTn>
                  </p:par>
                  <p:par>
                    <p:cTn id="53" fill="hold">
                      <p:stCondLst>
                        <p:cond delay="indefinite"/>
                      </p:stCondLst>
                      <p:childTnLst>
                        <p:par>
                          <p:cTn id="54"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400"/>
                                        <p:tgtEl>
                                          <p:spTgt spid="2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fade">
                                      <p:cBhvr>
                                        <p:cTn id="37" dur="400"/>
                                        <p:tgtEl>
                                          <p:spTgt spid="30"/>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1"/>
                                        </p:tgtEl>
                                        <p:attrNameLst>
                                          <p:attrName>style.visibility</p:attrName>
                                        </p:attrNameLst>
                                      </p:cBhvr>
                                      <p:to>
                                        <p:strVal val="visible"/>
                                      </p:to>
                                    </p:set>
                                    <p:animEffect transition="in" filter="fade">
                                      <p:cBhvr>
                                        <p:cTn id="40" dur="400"/>
                                        <p:tgtEl>
                                          <p:spTgt spid="31"/>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2"/>
                                        </p:tgtEl>
                                        <p:attrNameLst>
                                          <p:attrName>style.visibility</p:attrName>
                                        </p:attrNameLst>
                                      </p:cBhvr>
                                      <p:to>
                                        <p:strVal val="visible"/>
                                      </p:to>
                                    </p:set>
                                    <p:animEffect transition="in" filter="fade">
                                      <p:cBhvr>
                                        <p:cTn id="43" dur="400"/>
                                        <p:tgtEl>
                                          <p:spTgt spid="32"/>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3"/>
                                        </p:tgtEl>
                                        <p:attrNameLst>
                                          <p:attrName>style.visibility</p:attrName>
                                        </p:attrNameLst>
                                      </p:cBhvr>
                                      <p:to>
                                        <p:strVal val="visible"/>
                                      </p:to>
                                    </p:set>
                                    <p:animEffect transition="in" filter="fade">
                                      <p:cBhvr>
                                        <p:cTn id="46" dur="400"/>
                                        <p:tgtEl>
                                          <p:spTgt spid="33"/>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animEffect transition="in" filter="fade">
                                      <p:cBhvr>
                                        <p:cTn id="49" dur="400"/>
                                        <p:tgtEl>
                                          <p:spTgt spid="34"/>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5"/>
                                        </p:tgtEl>
                                        <p:attrNameLst>
                                          <p:attrName>style.visibility</p:attrName>
                                        </p:attrNameLst>
                                      </p:cBhvr>
                                      <p:to>
                                        <p:strVal val="visible"/>
                                      </p:to>
                                    </p:set>
                                    <p:animEffect transition="in" filter="fade">
                                      <p:cBhvr>
                                        <p:cTn id="52" dur="400"/>
                                        <p:tgtEl>
                                          <p:spTgt spid="35"/>
                                        </p:tgtEl>
                                      </p:cBhvr>
                                    </p:animEffect>
                                  </p:childTnLst>
                                </p:cTn>
                              </p:par>
                            </p:childTnLst>
                          </p:cTn>
                        </p:par>
                      </p:childTnLst>
                    </p:cTn>
                  </p:par>
                  <p:par>
                    <p:cTn id="79" fill="hold">
                      <p:stCondLst>
                        <p:cond delay="indefinite"/>
                      </p:stCondLst>
                      <p:childTnLst>
                        <p:par>
                          <p:cTn id="80"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6"/>
                                        </p:tgtEl>
                                        <p:attrNameLst>
                                          <p:attrName>style.visibility</p:attrName>
                                        </p:attrNameLst>
                                      </p:cBhvr>
                                      <p:to>
                                        <p:strVal val="visible"/>
                                      </p:to>
                                    </p:set>
                                    <p:animEffect transition="in" filter="fade">
                                      <p:cBhvr>
                                        <p:cTn id="57" dur="400"/>
                                        <p:tgtEl>
                                          <p:spTgt spid="36"/>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7"/>
                                        </p:tgtEl>
                                        <p:attrNameLst>
                                          <p:attrName>style.visibility</p:attrName>
                                        </p:attrNameLst>
                                      </p:cBhvr>
                                      <p:to>
                                        <p:strVal val="visible"/>
                                      </p:to>
                                    </p:set>
                                    <p:animEffect transition="in" filter="fade">
                                      <p:cBhvr>
                                        <p:cTn id="60" dur="400"/>
                                        <p:tgtEl>
                                          <p:spTgt spid="37"/>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38"/>
                                        </p:tgtEl>
                                        <p:attrNameLst>
                                          <p:attrName>style.visibility</p:attrName>
                                        </p:attrNameLst>
                                      </p:cBhvr>
                                      <p:to>
                                        <p:strVal val="visible"/>
                                      </p:to>
                                    </p:set>
                                    <p:animEffect transition="in" filter="fade">
                                      <p:cBhvr>
                                        <p:cTn id="63" dur="400"/>
                                        <p:tgtEl>
                                          <p:spTgt spid="38"/>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9"/>
                                        </p:tgtEl>
                                        <p:attrNameLst>
                                          <p:attrName>style.visibility</p:attrName>
                                        </p:attrNameLst>
                                      </p:cBhvr>
                                      <p:to>
                                        <p:strVal val="visible"/>
                                      </p:to>
                                    </p:set>
                                    <p:animEffect transition="in" filter="fade">
                                      <p:cBhvr>
                                        <p:cTn id="66" dur="400"/>
                                        <p:tgtEl>
                                          <p:spTgt spid="39"/>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40"/>
                                        </p:tgtEl>
                                        <p:attrNameLst>
                                          <p:attrName>style.visibility</p:attrName>
                                        </p:attrNameLst>
                                      </p:cBhvr>
                                      <p:to>
                                        <p:strVal val="visible"/>
                                      </p:to>
                                    </p:set>
                                    <p:animEffect transition="in" filter="fade">
                                      <p:cBhvr>
                                        <p:cTn id="69" dur="400"/>
                                        <p:tgtEl>
                                          <p:spTgt spid="40"/>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1"/>
                                        </p:tgtEl>
                                        <p:attrNameLst>
                                          <p:attrName>style.visibility</p:attrName>
                                        </p:attrNameLst>
                                      </p:cBhvr>
                                      <p:to>
                                        <p:strVal val="visible"/>
                                      </p:to>
                                    </p:set>
                                    <p:animEffect transition="in" filter="fade">
                                      <p:cBhvr>
                                        <p:cTn id="72" dur="400"/>
                                        <p:tgtEl>
                                          <p:spTgt spid="41"/>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2"/>
                                        </p:tgtEl>
                                        <p:attrNameLst>
                                          <p:attrName>style.visibility</p:attrName>
                                        </p:attrNameLst>
                                      </p:cBhvr>
                                      <p:to>
                                        <p:strVal val="visible"/>
                                      </p:to>
                                    </p:set>
                                    <p:animEffect transition="in" filter="fade">
                                      <p:cBhvr>
                                        <p:cTn id="75" dur="400"/>
                                        <p:tgtEl>
                                          <p:spTgt spid="42"/>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3"/>
                                        </p:tgtEl>
                                        <p:attrNameLst>
                                          <p:attrName>style.visibility</p:attrName>
                                        </p:attrNameLst>
                                      </p:cBhvr>
                                      <p:to>
                                        <p:strVal val="visible"/>
                                      </p:to>
                                    </p:set>
                                    <p:animEffect transition="in" filter="fade">
                                      <p:cBhvr>
                                        <p:cTn id="78" dur="400"/>
                                        <p:tgtEl>
                                          <p:spTgt spid="43"/>
                                        </p:tgtEl>
                                      </p:cBhvr>
                                    </p:animEffect>
                                  </p:childTnLst>
                                </p:cTn>
                              </p:par>
                            </p:childTnLst>
                          </p:cTn>
                        </p:par>
                      </p:childTnLst>
                    </p:cTn>
                  </p:par>
                  <p:par>
                    <p:cTn id="96" fill="hold">
                      <p:stCondLst>
                        <p:cond delay="indefinite"/>
                      </p:stCondLst>
                      <p:childTnLst>
                        <p:par>
                          <p:cTn id="97"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44"/>
                                        </p:tgtEl>
                                        <p:attrNameLst>
                                          <p:attrName>style.visibility</p:attrName>
                                        </p:attrNameLst>
                                      </p:cBhvr>
                                      <p:to>
                                        <p:strVal val="visible"/>
                                      </p:to>
                                    </p:set>
                                    <p:animEffect transition="in" filter="fade">
                                      <p:cBhvr>
                                        <p:cTn id="83" dur="400"/>
                                        <p:tgtEl>
                                          <p:spTgt spid="44"/>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45"/>
                                        </p:tgtEl>
                                        <p:attrNameLst>
                                          <p:attrName>style.visibility</p:attrName>
                                        </p:attrNameLst>
                                      </p:cBhvr>
                                      <p:to>
                                        <p:strVal val="visible"/>
                                      </p:to>
                                    </p:set>
                                    <p:animEffect transition="in" filter="fade">
                                      <p:cBhvr>
                                        <p:cTn id="86" dur="400"/>
                                        <p:tgtEl>
                                          <p:spTgt spid="45"/>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46"/>
                                        </p:tgtEl>
                                        <p:attrNameLst>
                                          <p:attrName>style.visibility</p:attrName>
                                        </p:attrNameLst>
                                      </p:cBhvr>
                                      <p:to>
                                        <p:strVal val="visible"/>
                                      </p:to>
                                    </p:set>
                                    <p:animEffect transition="in" filter="fade">
                                      <p:cBhvr>
                                        <p:cTn id="89" dur="400"/>
                                        <p:tgtEl>
                                          <p:spTgt spid="46"/>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47"/>
                                        </p:tgtEl>
                                        <p:attrNameLst>
                                          <p:attrName>style.visibility</p:attrName>
                                        </p:attrNameLst>
                                      </p:cBhvr>
                                      <p:to>
                                        <p:strVal val="visible"/>
                                      </p:to>
                                    </p:set>
                                    <p:animEffect transition="in" filter="fade">
                                      <p:cBhvr>
                                        <p:cTn id="92" dur="400"/>
                                        <p:tgtEl>
                                          <p:spTgt spid="47"/>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48"/>
                                        </p:tgtEl>
                                        <p:attrNameLst>
                                          <p:attrName>style.visibility</p:attrName>
                                        </p:attrNameLst>
                                      </p:cBhvr>
                                      <p:to>
                                        <p:strVal val="visible"/>
                                      </p:to>
                                    </p:set>
                                    <p:animEffect transition="in" filter="fade">
                                      <p:cBhvr>
                                        <p:cTn id="95" dur="400"/>
                                        <p:tgtEl>
                                          <p:spTgt spid="48"/>
                                        </p:tgtEl>
                                      </p:cBhvr>
                                    </p:animEffect>
                                  </p:childTnLst>
                                </p:cTn>
                              </p:par>
                            </p:childTnLst>
                          </p:cTn>
                        </p:par>
                      </p:childTnLst>
                    </p:cTn>
                  </p:par>
                  <p:par>
                    <p:cTn id="110" fill="hold">
                      <p:stCondLst>
                        <p:cond delay="indefinite"/>
                      </p:stCondLst>
                      <p:childTnLst>
                        <p:par>
                          <p:cTn id="111" fill="hold">
                            <p:stCondLst>
                              <p:cond delay="0"/>
                            </p:stCondLst>
                            <p:childTnLst>
                              <p:par>
                                <p:cTn id="98" presetID="10" presetClass="entr" presetSubtype="0" fill="hold" grpId="0" nodeType="clickEffect">
                                  <p:stCondLst>
                                    <p:cond delay="0"/>
                                  </p:stCondLst>
                                  <p:childTnLst>
                                    <p:set>
                                      <p:cBhvr>
                                        <p:cTn id="99" dur="1" fill="hold">
                                          <p:stCondLst>
                                            <p:cond delay="0"/>
                                          </p:stCondLst>
                                        </p:cTn>
                                        <p:tgtEl>
                                          <p:spTgt spid="49"/>
                                        </p:tgtEl>
                                        <p:attrNameLst>
                                          <p:attrName>style.visibility</p:attrName>
                                        </p:attrNameLst>
                                      </p:cBhvr>
                                      <p:to>
                                        <p:strVal val="visible"/>
                                      </p:to>
                                    </p:set>
                                    <p:animEffect transition="in" filter="fade">
                                      <p:cBhvr>
                                        <p:cTn id="100" dur="400"/>
                                        <p:tgtEl>
                                          <p:spTgt spid="49"/>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50"/>
                                        </p:tgtEl>
                                        <p:attrNameLst>
                                          <p:attrName>style.visibility</p:attrName>
                                        </p:attrNameLst>
                                      </p:cBhvr>
                                      <p:to>
                                        <p:strVal val="visible"/>
                                      </p:to>
                                    </p:set>
                                    <p:animEffect transition="in" filter="fade">
                                      <p:cBhvr>
                                        <p:cTn id="103" dur="400"/>
                                        <p:tgtEl>
                                          <p:spTgt spid="50"/>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51"/>
                                        </p:tgtEl>
                                        <p:attrNameLst>
                                          <p:attrName>style.visibility</p:attrName>
                                        </p:attrNameLst>
                                      </p:cBhvr>
                                      <p:to>
                                        <p:strVal val="visible"/>
                                      </p:to>
                                    </p:set>
                                    <p:animEffect transition="in" filter="fade">
                                      <p:cBhvr>
                                        <p:cTn id="106" dur="400"/>
                                        <p:tgtEl>
                                          <p:spTgt spid="51"/>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52"/>
                                        </p:tgtEl>
                                        <p:attrNameLst>
                                          <p:attrName>style.visibility</p:attrName>
                                        </p:attrNameLst>
                                      </p:cBhvr>
                                      <p:to>
                                        <p:strVal val="visible"/>
                                      </p:to>
                                    </p:set>
                                    <p:animEffect transition="in" filter="fade">
                                      <p:cBhvr>
                                        <p:cTn id="109" dur="4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INTERCONEXIÓN DE SERVICIOS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Síncrono o asíncrono</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2BA6CB"/>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Lo que la persona necesita ver se responde ya; lo que puede esperar se avisa después.</a:t>
            </a:r>
            <a:endParaRPr lang="en-US" sz="1700" dirty="0"/>
          </a:p>
        </p:txBody>
      </p:sp>
      <p:sp>
        <p:nvSpPr>
          <p:cNvPr id="13" name="Shape 11"/>
          <p:cNvSpPr/>
          <p:nvPr/>
        </p:nvSpPr>
        <p:spPr>
          <a:xfrm>
            <a:off x="612648" y="5696712"/>
            <a:ext cx="10966399" cy="658368"/>
          </a:xfrm>
          <a:prstGeom prst="roundRect">
            <a:avLst>
              <a:gd name="adj" fmla="val 16667"/>
            </a:avLst>
          </a:prstGeom>
          <a:solidFill>
            <a:srgbClr val="E3F4FA"/>
          </a:solidFill>
          <a:ln w="12700">
            <a:solidFill>
              <a:srgbClr val="8ACEE2"/>
            </a:solidFill>
            <a:prstDash val="solid"/>
          </a:ln>
        </p:spPr>
      </p:sp>
      <p:sp>
        <p:nvSpPr>
          <p:cNvPr id="14" name="Shape 12"/>
          <p:cNvSpPr/>
          <p:nvPr/>
        </p:nvSpPr>
        <p:spPr>
          <a:xfrm>
            <a:off x="795528" y="5806440"/>
            <a:ext cx="438912" cy="438912"/>
          </a:xfrm>
          <a:prstGeom prst="ellipse">
            <a:avLst/>
          </a:prstGeom>
          <a:solidFill>
            <a:srgbClr val="FFFFFF"/>
          </a:solidFill>
          <a:ln w="12700">
            <a:solidFill>
              <a:srgbClr val="FFFFFF"/>
            </a:solidFill>
            <a:prstDash val="solid"/>
          </a:ln>
        </p:spPr>
      </p:sp>
      <p:sp>
        <p:nvSpPr>
          <p:cNvPr id="15" name="Icono message-square"/>
          <p:cNvSpPr/>
          <p:nvPr/>
        </p:nvSpPr>
        <p:spPr>
          <a:xfrm>
            <a:off x="900867" y="5911779"/>
            <a:ext cx="228234" cy="228234"/>
          </a:xfrm>
          <a:custGeom>
            <a:avLst/>
            <a:gdLst/>
            <a:ahLst/>
            <a:cxnLst/>
            <a:rect l="l" t="t" r="r" b="b"/>
            <a:pathLst>
              <a:path w="228234" h="228234">
                <a:moveTo>
                  <a:pt x="199705" y="142646"/>
                </a:moveTo>
                <a:cubicBezTo>
                  <a:pt x="199705" y="153151"/>
                  <a:pt x="191190" y="161666"/>
                  <a:pt x="180685" y="161666"/>
                </a:cubicBezTo>
                <a:lnTo>
                  <a:pt x="66568" y="161666"/>
                </a:lnTo>
                <a:lnTo>
                  <a:pt x="28529" y="199705"/>
                </a:lnTo>
                <a:lnTo>
                  <a:pt x="28529" y="47549"/>
                </a:lnTo>
                <a:cubicBezTo>
                  <a:pt x="28529" y="37045"/>
                  <a:pt x="37045" y="28529"/>
                  <a:pt x="47549" y="28529"/>
                </a:cubicBezTo>
                <a:lnTo>
                  <a:pt x="180685" y="28529"/>
                </a:lnTo>
                <a:cubicBezTo>
                  <a:pt x="191190" y="28529"/>
                  <a:pt x="199705" y="37045"/>
                  <a:pt x="199705" y="47549"/>
                </a:cubicBezTo>
                <a:close/>
              </a:path>
            </a:pathLst>
          </a:custGeom>
          <a:noFill/>
          <a:ln w="19020" cap="rnd">
            <a:solidFill>
              <a:srgbClr val="0B6E8A"/>
            </a:solidFill>
            <a:prstDash val="solid"/>
            <a:round/>
          </a:ln>
        </p:spPr>
      </p:sp>
      <p:sp>
        <p:nvSpPr>
          <p:cNvPr id="16" name="Text 14"/>
          <p:cNvSpPr/>
          <p:nvPr/>
        </p:nvSpPr>
        <p:spPr>
          <a:xfrm>
            <a:off x="1399032" y="5769864"/>
            <a:ext cx="10024567" cy="512064"/>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Síncrono es una llamada: me quedo en la línea hasta que me responden. Asíncrono es un correo: lo envío y sigo con lo mío.</a:t>
            </a:r>
            <a:endParaRPr lang="en-US" sz="1450" dirty="0"/>
          </a:p>
        </p:txBody>
      </p:sp>
      <p:sp>
        <p:nvSpPr>
          <p:cNvPr id="17" name="Shape 15"/>
          <p:cNvSpPr/>
          <p:nvPr/>
        </p:nvSpPr>
        <p:spPr>
          <a:xfrm>
            <a:off x="612648" y="1719072"/>
            <a:ext cx="5163160" cy="3794760"/>
          </a:xfrm>
          <a:prstGeom prst="roundRect">
            <a:avLst>
              <a:gd name="adj" fmla="val 3373"/>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8" name="Shape 16"/>
          <p:cNvSpPr/>
          <p:nvPr/>
        </p:nvSpPr>
        <p:spPr>
          <a:xfrm>
            <a:off x="612648" y="1719072"/>
            <a:ext cx="5163160" cy="914400"/>
          </a:xfrm>
          <a:prstGeom prst="roundRect">
            <a:avLst>
              <a:gd name="adj" fmla="val 14000"/>
            </a:avLst>
          </a:prstGeom>
          <a:solidFill>
            <a:srgbClr val="0B2350"/>
          </a:solidFill>
          <a:ln w="12700">
            <a:solidFill>
              <a:srgbClr val="0B2350"/>
            </a:solidFill>
            <a:prstDash val="solid"/>
          </a:ln>
        </p:spPr>
      </p:sp>
      <p:sp>
        <p:nvSpPr>
          <p:cNvPr id="19" name="Shape 17"/>
          <p:cNvSpPr/>
          <p:nvPr/>
        </p:nvSpPr>
        <p:spPr>
          <a:xfrm>
            <a:off x="612648" y="2267712"/>
            <a:ext cx="5163160" cy="365760"/>
          </a:xfrm>
          <a:prstGeom prst="rect">
            <a:avLst/>
          </a:prstGeom>
          <a:solidFill>
            <a:srgbClr val="0B2350"/>
          </a:solidFill>
          <a:ln w="12700">
            <a:solidFill>
              <a:srgbClr val="0B2350"/>
            </a:solidFill>
            <a:prstDash val="solid"/>
          </a:ln>
        </p:spPr>
      </p:sp>
      <p:sp>
        <p:nvSpPr>
          <p:cNvPr id="20" name="Shape 18"/>
          <p:cNvSpPr/>
          <p:nvPr/>
        </p:nvSpPr>
        <p:spPr>
          <a:xfrm>
            <a:off x="841248" y="1874520"/>
            <a:ext cx="603504" cy="603504"/>
          </a:xfrm>
          <a:prstGeom prst="ellipse">
            <a:avLst/>
          </a:prstGeom>
          <a:solidFill>
            <a:srgbClr val="FFFFFF"/>
          </a:solidFill>
          <a:ln w="12700">
            <a:solidFill>
              <a:srgbClr val="FFFFFF"/>
            </a:solidFill>
            <a:prstDash val="solid"/>
          </a:ln>
        </p:spPr>
      </p:sp>
      <p:sp>
        <p:nvSpPr>
          <p:cNvPr id="21" name="Icono arrow-right"/>
          <p:cNvSpPr/>
          <p:nvPr/>
        </p:nvSpPr>
        <p:spPr>
          <a:xfrm>
            <a:off x="986089" y="2019361"/>
            <a:ext cx="313822" cy="313822"/>
          </a:xfrm>
          <a:custGeom>
            <a:avLst/>
            <a:gdLst/>
            <a:ahLst/>
            <a:cxnLst/>
            <a:rect l="l" t="t" r="r" b="b"/>
            <a:pathLst>
              <a:path w="313822" h="313822">
                <a:moveTo>
                  <a:pt x="65380" y="156911"/>
                </a:moveTo>
                <a:lnTo>
                  <a:pt x="248442" y="156911"/>
                </a:lnTo>
                <a:moveTo>
                  <a:pt x="156911" y="65380"/>
                </a:moveTo>
                <a:lnTo>
                  <a:pt x="248442" y="156911"/>
                </a:lnTo>
                <a:lnTo>
                  <a:pt x="156911" y="248442"/>
                </a:lnTo>
              </a:path>
            </a:pathLst>
          </a:custGeom>
          <a:noFill/>
          <a:ln w="26152" cap="rnd">
            <a:solidFill>
              <a:srgbClr val="0B2350"/>
            </a:solidFill>
            <a:prstDash val="solid"/>
            <a:round/>
          </a:ln>
        </p:spPr>
      </p:sp>
      <p:sp>
        <p:nvSpPr>
          <p:cNvPr id="22" name="Text 20"/>
          <p:cNvSpPr/>
          <p:nvPr/>
        </p:nvSpPr>
        <p:spPr>
          <a:xfrm>
            <a:off x="1618488" y="1828800"/>
            <a:ext cx="4020160" cy="694944"/>
          </a:xfrm>
          <a:prstGeom prst="rect">
            <a:avLst/>
          </a:prstGeom>
          <a:noFill/>
          <a:ln/>
        </p:spPr>
        <p:txBody>
          <a:bodyPr wrap="square" lIns="0" tIns="0" rIns="0" bIns="0" rtlCol="0" anchor="ctr">
            <a:normAutofit/>
          </a:bodyPr>
          <a:lstStyle/>
          <a:p>
            <a:pPr algn="l" indent="0" marL="0">
              <a:buNone/>
            </a:pPr>
            <a:r>
              <a:rPr lang="en-US" sz="1900" b="1" dirty="0">
                <a:solidFill>
                  <a:srgbClr val="FFFFFF"/>
                </a:solidFill>
                <a:latin typeface="Segoe UI Semibold" pitchFamily="34" charset="0"/>
                <a:ea typeface="Segoe UI Semibold" pitchFamily="34" charset="-122"/>
                <a:cs typeface="Segoe UI Semibold" pitchFamily="34" charset="-120"/>
              </a:rPr>
              <a:t>Síncrono</a:t>
            </a:r>
            <a:endParaRPr lang="en-US" sz="1900" dirty="0"/>
          </a:p>
        </p:txBody>
      </p:sp>
      <p:sp>
        <p:nvSpPr>
          <p:cNvPr id="23" name="Icono arrow-right"/>
          <p:cNvSpPr/>
          <p:nvPr/>
        </p:nvSpPr>
        <p:spPr>
          <a:xfrm>
            <a:off x="905256" y="3040380"/>
            <a:ext cx="329184" cy="329184"/>
          </a:xfrm>
          <a:custGeom>
            <a:avLst/>
            <a:gdLst/>
            <a:ahLst/>
            <a:cxnLst/>
            <a:rect l="l" t="t" r="r" b="b"/>
            <a:pathLst>
              <a:path w="329184" h="329184">
                <a:moveTo>
                  <a:pt x="68580" y="164592"/>
                </a:moveTo>
                <a:lnTo>
                  <a:pt x="260604" y="164592"/>
                </a:lnTo>
                <a:moveTo>
                  <a:pt x="164592" y="68580"/>
                </a:moveTo>
                <a:lnTo>
                  <a:pt x="260604" y="164592"/>
                </a:lnTo>
                <a:lnTo>
                  <a:pt x="164592" y="260604"/>
                </a:lnTo>
              </a:path>
            </a:pathLst>
          </a:custGeom>
          <a:noFill/>
          <a:ln w="27432" cap="rnd">
            <a:solidFill>
              <a:srgbClr val="0B2350"/>
            </a:solidFill>
            <a:prstDash val="solid"/>
            <a:round/>
          </a:ln>
        </p:spPr>
      </p:sp>
      <p:sp>
        <p:nvSpPr>
          <p:cNvPr id="24" name="Text 22"/>
          <p:cNvSpPr/>
          <p:nvPr/>
        </p:nvSpPr>
        <p:spPr>
          <a:xfrm>
            <a:off x="1399032" y="281635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La UI llama y espera que se complete el proceso.</a:t>
            </a:r>
            <a:endParaRPr lang="en-US" sz="1500" dirty="0"/>
          </a:p>
        </p:txBody>
      </p:sp>
      <p:sp>
        <p:nvSpPr>
          <p:cNvPr id="25" name="Shape 23"/>
          <p:cNvSpPr/>
          <p:nvPr/>
        </p:nvSpPr>
        <p:spPr>
          <a:xfrm>
            <a:off x="886968" y="3593592"/>
            <a:ext cx="4614520" cy="0"/>
          </a:xfrm>
          <a:prstGeom prst="line">
            <a:avLst/>
          </a:prstGeom>
          <a:noFill/>
          <a:ln w="9525">
            <a:solidFill>
              <a:srgbClr val="DFE6F0"/>
            </a:solidFill>
            <a:prstDash val="solid"/>
          </a:ln>
        </p:spPr>
      </p:sp>
      <p:sp>
        <p:nvSpPr>
          <p:cNvPr id="26" name="Icono arrow-right"/>
          <p:cNvSpPr/>
          <p:nvPr/>
        </p:nvSpPr>
        <p:spPr>
          <a:xfrm>
            <a:off x="905256" y="3817620"/>
            <a:ext cx="329184" cy="329184"/>
          </a:xfrm>
          <a:custGeom>
            <a:avLst/>
            <a:gdLst/>
            <a:ahLst/>
            <a:cxnLst/>
            <a:rect l="l" t="t" r="r" b="b"/>
            <a:pathLst>
              <a:path w="329184" h="329184">
                <a:moveTo>
                  <a:pt x="68580" y="164592"/>
                </a:moveTo>
                <a:lnTo>
                  <a:pt x="260604" y="164592"/>
                </a:lnTo>
                <a:moveTo>
                  <a:pt x="164592" y="68580"/>
                </a:moveTo>
                <a:lnTo>
                  <a:pt x="260604" y="164592"/>
                </a:lnTo>
                <a:lnTo>
                  <a:pt x="164592" y="260604"/>
                </a:lnTo>
              </a:path>
            </a:pathLst>
          </a:custGeom>
          <a:noFill/>
          <a:ln w="27432" cap="rnd">
            <a:solidFill>
              <a:srgbClr val="0B2350"/>
            </a:solidFill>
            <a:prstDash val="solid"/>
            <a:round/>
          </a:ln>
        </p:spPr>
      </p:sp>
      <p:sp>
        <p:nvSpPr>
          <p:cNvPr id="27" name="Text 25"/>
          <p:cNvSpPr/>
          <p:nvPr/>
        </p:nvSpPr>
        <p:spPr>
          <a:xfrm>
            <a:off x="1399032" y="359359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Respuesta inmediata</a:t>
            </a:r>
            <a:endParaRPr lang="en-US" sz="1500" dirty="0"/>
          </a:p>
        </p:txBody>
      </p:sp>
      <p:sp>
        <p:nvSpPr>
          <p:cNvPr id="28" name="Shape 26"/>
          <p:cNvSpPr/>
          <p:nvPr/>
        </p:nvSpPr>
        <p:spPr>
          <a:xfrm>
            <a:off x="886968" y="4370832"/>
            <a:ext cx="4614520" cy="0"/>
          </a:xfrm>
          <a:prstGeom prst="line">
            <a:avLst/>
          </a:prstGeom>
          <a:noFill/>
          <a:ln w="9525">
            <a:solidFill>
              <a:srgbClr val="DFE6F0"/>
            </a:solidFill>
            <a:prstDash val="solid"/>
          </a:ln>
        </p:spPr>
      </p:sp>
      <p:sp>
        <p:nvSpPr>
          <p:cNvPr id="29" name="Icono arrow-right"/>
          <p:cNvSpPr/>
          <p:nvPr/>
        </p:nvSpPr>
        <p:spPr>
          <a:xfrm>
            <a:off x="905256" y="4594860"/>
            <a:ext cx="329184" cy="329184"/>
          </a:xfrm>
          <a:custGeom>
            <a:avLst/>
            <a:gdLst/>
            <a:ahLst/>
            <a:cxnLst/>
            <a:rect l="l" t="t" r="r" b="b"/>
            <a:pathLst>
              <a:path w="329184" h="329184">
                <a:moveTo>
                  <a:pt x="68580" y="164592"/>
                </a:moveTo>
                <a:lnTo>
                  <a:pt x="260604" y="164592"/>
                </a:lnTo>
                <a:moveTo>
                  <a:pt x="164592" y="68580"/>
                </a:moveTo>
                <a:lnTo>
                  <a:pt x="260604" y="164592"/>
                </a:lnTo>
                <a:lnTo>
                  <a:pt x="164592" y="260604"/>
                </a:lnTo>
              </a:path>
            </a:pathLst>
          </a:custGeom>
          <a:noFill/>
          <a:ln w="27432" cap="rnd">
            <a:solidFill>
              <a:srgbClr val="0B2350"/>
            </a:solidFill>
            <a:prstDash val="solid"/>
            <a:round/>
          </a:ln>
        </p:spPr>
      </p:sp>
      <p:sp>
        <p:nvSpPr>
          <p:cNvPr id="30" name="Text 28"/>
          <p:cNvSpPr/>
          <p:nvPr/>
        </p:nvSpPr>
        <p:spPr>
          <a:xfrm>
            <a:off x="1399032" y="437083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Si el servicio se cae, la persona ve error</a:t>
            </a:r>
            <a:endParaRPr lang="en-US" sz="1500" dirty="0"/>
          </a:p>
        </p:txBody>
      </p:sp>
      <p:sp>
        <p:nvSpPr>
          <p:cNvPr id="31" name="[p1] Forma"/>
          <p:cNvSpPr/>
          <p:nvPr/>
        </p:nvSpPr>
        <p:spPr>
          <a:xfrm>
            <a:off x="6415888" y="1719072"/>
            <a:ext cx="5163160" cy="3794760"/>
          </a:xfrm>
          <a:prstGeom prst="roundRect">
            <a:avLst>
              <a:gd name="adj" fmla="val 3373"/>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2" name="[p1] Forma"/>
          <p:cNvSpPr/>
          <p:nvPr/>
        </p:nvSpPr>
        <p:spPr>
          <a:xfrm>
            <a:off x="6415888" y="1719072"/>
            <a:ext cx="5163160" cy="914400"/>
          </a:xfrm>
          <a:prstGeom prst="roundRect">
            <a:avLst>
              <a:gd name="adj" fmla="val 14000"/>
            </a:avLst>
          </a:prstGeom>
          <a:solidFill>
            <a:srgbClr val="0B6E8A"/>
          </a:solidFill>
          <a:ln w="12700">
            <a:solidFill>
              <a:srgbClr val="0B6E8A"/>
            </a:solidFill>
            <a:prstDash val="solid"/>
          </a:ln>
        </p:spPr>
      </p:sp>
      <p:sp>
        <p:nvSpPr>
          <p:cNvPr id="33" name="[p1] Forma"/>
          <p:cNvSpPr/>
          <p:nvPr/>
        </p:nvSpPr>
        <p:spPr>
          <a:xfrm>
            <a:off x="6415888" y="2267712"/>
            <a:ext cx="5163160" cy="365760"/>
          </a:xfrm>
          <a:prstGeom prst="rect">
            <a:avLst/>
          </a:prstGeom>
          <a:solidFill>
            <a:srgbClr val="0B6E8A"/>
          </a:solidFill>
          <a:ln w="12700">
            <a:solidFill>
              <a:srgbClr val="0B6E8A"/>
            </a:solidFill>
            <a:prstDash val="solid"/>
          </a:ln>
        </p:spPr>
      </p:sp>
      <p:sp>
        <p:nvSpPr>
          <p:cNvPr id="34" name="[p1] Forma"/>
          <p:cNvSpPr/>
          <p:nvPr/>
        </p:nvSpPr>
        <p:spPr>
          <a:xfrm>
            <a:off x="6644488" y="1874520"/>
            <a:ext cx="603504" cy="603504"/>
          </a:xfrm>
          <a:prstGeom prst="ellipse">
            <a:avLst/>
          </a:prstGeom>
          <a:solidFill>
            <a:srgbClr val="FFFFFF"/>
          </a:solidFill>
          <a:ln w="12700">
            <a:solidFill>
              <a:srgbClr val="FFFFFF"/>
            </a:solidFill>
            <a:prstDash val="solid"/>
          </a:ln>
        </p:spPr>
      </p:sp>
      <p:sp>
        <p:nvSpPr>
          <p:cNvPr id="35" name="[p1] Icono mail"/>
          <p:cNvSpPr/>
          <p:nvPr/>
        </p:nvSpPr>
        <p:spPr>
          <a:xfrm>
            <a:off x="6789329" y="2019361"/>
            <a:ext cx="313822" cy="313822"/>
          </a:xfrm>
          <a:custGeom>
            <a:avLst/>
            <a:gdLst/>
            <a:ahLst/>
            <a:cxnLst/>
            <a:rect l="l" t="t" r="r" b="b"/>
            <a:pathLst>
              <a:path w="313822" h="313822">
                <a:moveTo>
                  <a:pt x="52304" y="52304"/>
                </a:moveTo>
                <a:lnTo>
                  <a:pt x="261518" y="52304"/>
                </a:lnTo>
                <a:cubicBezTo>
                  <a:pt x="275962" y="52304"/>
                  <a:pt x="287670" y="64012"/>
                  <a:pt x="287670" y="78456"/>
                </a:cubicBezTo>
                <a:lnTo>
                  <a:pt x="287670" y="235367"/>
                </a:lnTo>
                <a:cubicBezTo>
                  <a:pt x="287670" y="249810"/>
                  <a:pt x="275962" y="261518"/>
                  <a:pt x="261518" y="261518"/>
                </a:cubicBezTo>
                <a:lnTo>
                  <a:pt x="52304" y="261518"/>
                </a:lnTo>
                <a:cubicBezTo>
                  <a:pt x="37860" y="261518"/>
                  <a:pt x="26152" y="249810"/>
                  <a:pt x="26152" y="235367"/>
                </a:cubicBezTo>
                <a:lnTo>
                  <a:pt x="26152" y="78456"/>
                </a:lnTo>
                <a:cubicBezTo>
                  <a:pt x="26152" y="64012"/>
                  <a:pt x="37860" y="52304"/>
                  <a:pt x="52304" y="52304"/>
                </a:cubicBezTo>
                <a:close/>
                <a:moveTo>
                  <a:pt x="287670" y="91531"/>
                </a:moveTo>
                <a:lnTo>
                  <a:pt x="170379" y="166064"/>
                </a:lnTo>
                <a:cubicBezTo>
                  <a:pt x="162142" y="171225"/>
                  <a:pt x="151680" y="171225"/>
                  <a:pt x="143443" y="166064"/>
                </a:cubicBezTo>
                <a:lnTo>
                  <a:pt x="26152" y="91531"/>
                </a:lnTo>
              </a:path>
            </a:pathLst>
          </a:custGeom>
          <a:noFill/>
          <a:ln w="26152" cap="rnd">
            <a:solidFill>
              <a:srgbClr val="0B6E8A"/>
            </a:solidFill>
            <a:prstDash val="solid"/>
            <a:round/>
          </a:ln>
        </p:spPr>
      </p:sp>
      <p:sp>
        <p:nvSpPr>
          <p:cNvPr id="36" name="[p1] Forma"/>
          <p:cNvSpPr/>
          <p:nvPr/>
        </p:nvSpPr>
        <p:spPr>
          <a:xfrm>
            <a:off x="7421728" y="1828800"/>
            <a:ext cx="4020160" cy="694944"/>
          </a:xfrm>
          <a:prstGeom prst="rect">
            <a:avLst/>
          </a:prstGeom>
          <a:noFill/>
          <a:ln/>
        </p:spPr>
        <p:txBody>
          <a:bodyPr wrap="square" lIns="0" tIns="0" rIns="0" bIns="0" rtlCol="0" anchor="ctr">
            <a:normAutofit/>
          </a:bodyPr>
          <a:lstStyle/>
          <a:p>
            <a:pPr algn="l" indent="0" marL="0">
              <a:buNone/>
            </a:pPr>
            <a:r>
              <a:rPr lang="en-US" sz="1900" b="1" dirty="0">
                <a:solidFill>
                  <a:srgbClr val="FFFFFF"/>
                </a:solidFill>
                <a:latin typeface="Segoe UI Semibold" pitchFamily="34" charset="0"/>
                <a:ea typeface="Segoe UI Semibold" pitchFamily="34" charset="-122"/>
                <a:cs typeface="Segoe UI Semibold" pitchFamily="34" charset="-120"/>
              </a:rPr>
              <a:t>Asíncrono</a:t>
            </a:r>
            <a:endParaRPr lang="en-US" sz="1900" dirty="0"/>
          </a:p>
        </p:txBody>
      </p:sp>
      <p:sp>
        <p:nvSpPr>
          <p:cNvPr id="37" name="[p1] Icono circle-check"/>
          <p:cNvSpPr/>
          <p:nvPr/>
        </p:nvSpPr>
        <p:spPr>
          <a:xfrm>
            <a:off x="6708496" y="304038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38" name="[p1] Forma"/>
          <p:cNvSpPr/>
          <p:nvPr/>
        </p:nvSpPr>
        <p:spPr>
          <a:xfrm>
            <a:off x="7202272" y="281635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Servicio solicitudes envía evento a servicio notificaciones y continúa con su proceso</a:t>
            </a:r>
            <a:endParaRPr lang="en-US" sz="1500" dirty="0"/>
          </a:p>
        </p:txBody>
      </p:sp>
      <p:sp>
        <p:nvSpPr>
          <p:cNvPr id="39" name="[p1] Forma"/>
          <p:cNvSpPr/>
          <p:nvPr/>
        </p:nvSpPr>
        <p:spPr>
          <a:xfrm>
            <a:off x="6690208" y="3593592"/>
            <a:ext cx="4614520" cy="0"/>
          </a:xfrm>
          <a:prstGeom prst="line">
            <a:avLst/>
          </a:prstGeom>
          <a:noFill/>
          <a:ln w="9525">
            <a:solidFill>
              <a:srgbClr val="DFE6F0"/>
            </a:solidFill>
            <a:prstDash val="solid"/>
          </a:ln>
        </p:spPr>
      </p:sp>
      <p:sp>
        <p:nvSpPr>
          <p:cNvPr id="40" name="[p1] Icono circle-check"/>
          <p:cNvSpPr/>
          <p:nvPr/>
        </p:nvSpPr>
        <p:spPr>
          <a:xfrm>
            <a:off x="6708496" y="381762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41" name="[p1] Forma"/>
          <p:cNvSpPr/>
          <p:nvPr/>
        </p:nvSpPr>
        <p:spPr>
          <a:xfrm>
            <a:off x="7202272" y="359359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Respuesta puede demorar</a:t>
            </a:r>
            <a:endParaRPr lang="en-US" sz="1500" dirty="0"/>
          </a:p>
        </p:txBody>
      </p:sp>
      <p:sp>
        <p:nvSpPr>
          <p:cNvPr id="42" name="[p1] Forma"/>
          <p:cNvSpPr/>
          <p:nvPr/>
        </p:nvSpPr>
        <p:spPr>
          <a:xfrm>
            <a:off x="6690208" y="4370832"/>
            <a:ext cx="4614520" cy="0"/>
          </a:xfrm>
          <a:prstGeom prst="line">
            <a:avLst/>
          </a:prstGeom>
          <a:noFill/>
          <a:ln w="9525">
            <a:solidFill>
              <a:srgbClr val="DFE6F0"/>
            </a:solidFill>
            <a:prstDash val="solid"/>
          </a:ln>
        </p:spPr>
      </p:sp>
      <p:sp>
        <p:nvSpPr>
          <p:cNvPr id="43" name="[p1] Icono circle-check"/>
          <p:cNvSpPr/>
          <p:nvPr/>
        </p:nvSpPr>
        <p:spPr>
          <a:xfrm>
            <a:off x="6708496" y="459486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44" name="[p1] Forma"/>
          <p:cNvSpPr/>
          <p:nvPr/>
        </p:nvSpPr>
        <p:spPr>
          <a:xfrm>
            <a:off x="7202272" y="437083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Si notificaciones se cae, el evento espera</a:t>
            </a:r>
            <a:endParaRPr lang="en-US" sz="1500" dirty="0"/>
          </a:p>
        </p:txBody>
      </p:sp>
      <p:sp>
        <p:nvSpPr>
          <p:cNvPr id="45" name="[p1] Forma"/>
          <p:cNvSpPr/>
          <p:nvPr/>
        </p:nvSpPr>
        <p:spPr>
          <a:xfrm>
            <a:off x="5766664" y="3287268"/>
            <a:ext cx="658368" cy="658368"/>
          </a:xfrm>
          <a:prstGeom prst="ellipse">
            <a:avLst/>
          </a:prstGeom>
          <a:solidFill>
            <a:srgbClr val="0B1F3A"/>
          </a:solidFill>
          <a:ln w="38100">
            <a:solidFill>
              <a:srgbClr val="FFFFFF"/>
            </a:solidFill>
          </a:ln>
          <a:effectLst>
            <a:outerShdw sx="100000" sy="100000" kx="0" ky="0" algn="bl" rotWithShape="0" blurRad="76200" dist="19050" dir="5400000">
              <a:srgbClr val="0B1F3A">
                <a:alpha val="14000"/>
              </a:srgbClr>
            </a:outerShdw>
          </a:effectLst>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vs</a:t>
            </a:r>
            <a:endParaRPr lang="en-US" sz="1600" dirty="0"/>
          </a:p>
        </p:txBody>
      </p:sp>
      <p:sp>
        <p:nvSpPr>
          <p:cNvPr id="46" name="Text 4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INTERCONEXIÓN DE SERVICIOS</a:t>
            </a:r>
            <a:endParaRPr lang="en-US" sz="800" dirty="0"/>
          </a:p>
        </p:txBody>
      </p:sp>
      <p:sp>
        <p:nvSpPr>
          <p:cNvPr id="47"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8" fill="hold">
                      <p:stCondLst>
                        <p:cond delay="indefinite"/>
                      </p:stCondLst>
                      <p:childTnLst>
                        <p:par>
                          <p:cTn id="49"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1"/>
                                        </p:tgtEl>
                                        <p:attrNameLst>
                                          <p:attrName>style.visibility</p:attrName>
                                        </p:attrNameLst>
                                      </p:cBhvr>
                                      <p:to>
                                        <p:strVal val="visible"/>
                                      </p:to>
                                    </p:set>
                                    <p:animEffect transition="in" filter="fade">
                                      <p:cBhvr>
                                        <p:cTn id="5" dur="400"/>
                                        <p:tgtEl>
                                          <p:spTgt spid="3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2"/>
                                        </p:tgtEl>
                                        <p:attrNameLst>
                                          <p:attrName>style.visibility</p:attrName>
                                        </p:attrNameLst>
                                      </p:cBhvr>
                                      <p:to>
                                        <p:strVal val="visible"/>
                                      </p:to>
                                    </p:set>
                                    <p:animEffect transition="in" filter="fade">
                                      <p:cBhvr>
                                        <p:cTn id="8" dur="400"/>
                                        <p:tgtEl>
                                          <p:spTgt spid="32"/>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33"/>
                                        </p:tgtEl>
                                        <p:attrNameLst>
                                          <p:attrName>style.visibility</p:attrName>
                                        </p:attrNameLst>
                                      </p:cBhvr>
                                      <p:to>
                                        <p:strVal val="visible"/>
                                      </p:to>
                                    </p:set>
                                    <p:animEffect transition="in" filter="fade">
                                      <p:cBhvr>
                                        <p:cTn id="11" dur="400"/>
                                        <p:tgtEl>
                                          <p:spTgt spid="3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4"/>
                                        </p:tgtEl>
                                        <p:attrNameLst>
                                          <p:attrName>style.visibility</p:attrName>
                                        </p:attrNameLst>
                                      </p:cBhvr>
                                      <p:to>
                                        <p:strVal val="visible"/>
                                      </p:to>
                                    </p:set>
                                    <p:animEffect transition="in" filter="fade">
                                      <p:cBhvr>
                                        <p:cTn id="14" dur="400"/>
                                        <p:tgtEl>
                                          <p:spTgt spid="3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5"/>
                                        </p:tgtEl>
                                        <p:attrNameLst>
                                          <p:attrName>style.visibility</p:attrName>
                                        </p:attrNameLst>
                                      </p:cBhvr>
                                      <p:to>
                                        <p:strVal val="visible"/>
                                      </p:to>
                                    </p:set>
                                    <p:animEffect transition="in" filter="fade">
                                      <p:cBhvr>
                                        <p:cTn id="17" dur="400"/>
                                        <p:tgtEl>
                                          <p:spTgt spid="3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6"/>
                                        </p:tgtEl>
                                        <p:attrNameLst>
                                          <p:attrName>style.visibility</p:attrName>
                                        </p:attrNameLst>
                                      </p:cBhvr>
                                      <p:to>
                                        <p:strVal val="visible"/>
                                      </p:to>
                                    </p:set>
                                    <p:animEffect transition="in" filter="fade">
                                      <p:cBhvr>
                                        <p:cTn id="20" dur="400"/>
                                        <p:tgtEl>
                                          <p:spTgt spid="36"/>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7"/>
                                        </p:tgtEl>
                                        <p:attrNameLst>
                                          <p:attrName>style.visibility</p:attrName>
                                        </p:attrNameLst>
                                      </p:cBhvr>
                                      <p:to>
                                        <p:strVal val="visible"/>
                                      </p:to>
                                    </p:set>
                                    <p:animEffect transition="in" filter="fade">
                                      <p:cBhvr>
                                        <p:cTn id="23" dur="400"/>
                                        <p:tgtEl>
                                          <p:spTgt spid="3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8"/>
                                        </p:tgtEl>
                                        <p:attrNameLst>
                                          <p:attrName>style.visibility</p:attrName>
                                        </p:attrNameLst>
                                      </p:cBhvr>
                                      <p:to>
                                        <p:strVal val="visible"/>
                                      </p:to>
                                    </p:set>
                                    <p:animEffect transition="in" filter="fade">
                                      <p:cBhvr>
                                        <p:cTn id="26" dur="400"/>
                                        <p:tgtEl>
                                          <p:spTgt spid="3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9"/>
                                        </p:tgtEl>
                                        <p:attrNameLst>
                                          <p:attrName>style.visibility</p:attrName>
                                        </p:attrNameLst>
                                      </p:cBhvr>
                                      <p:to>
                                        <p:strVal val="visible"/>
                                      </p:to>
                                    </p:set>
                                    <p:animEffect transition="in" filter="fade">
                                      <p:cBhvr>
                                        <p:cTn id="29" dur="400"/>
                                        <p:tgtEl>
                                          <p:spTgt spid="39"/>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0"/>
                                        </p:tgtEl>
                                        <p:attrNameLst>
                                          <p:attrName>style.visibility</p:attrName>
                                        </p:attrNameLst>
                                      </p:cBhvr>
                                      <p:to>
                                        <p:strVal val="visible"/>
                                      </p:to>
                                    </p:set>
                                    <p:animEffect transition="in" filter="fade">
                                      <p:cBhvr>
                                        <p:cTn id="32" dur="400"/>
                                        <p:tgtEl>
                                          <p:spTgt spid="4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1"/>
                                        </p:tgtEl>
                                        <p:attrNameLst>
                                          <p:attrName>style.visibility</p:attrName>
                                        </p:attrNameLst>
                                      </p:cBhvr>
                                      <p:to>
                                        <p:strVal val="visible"/>
                                      </p:to>
                                    </p:set>
                                    <p:animEffect transition="in" filter="fade">
                                      <p:cBhvr>
                                        <p:cTn id="35" dur="400"/>
                                        <p:tgtEl>
                                          <p:spTgt spid="4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2"/>
                                        </p:tgtEl>
                                        <p:attrNameLst>
                                          <p:attrName>style.visibility</p:attrName>
                                        </p:attrNameLst>
                                      </p:cBhvr>
                                      <p:to>
                                        <p:strVal val="visible"/>
                                      </p:to>
                                    </p:set>
                                    <p:animEffect transition="in" filter="fade">
                                      <p:cBhvr>
                                        <p:cTn id="38" dur="400"/>
                                        <p:tgtEl>
                                          <p:spTgt spid="4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43"/>
                                        </p:tgtEl>
                                        <p:attrNameLst>
                                          <p:attrName>style.visibility</p:attrName>
                                        </p:attrNameLst>
                                      </p:cBhvr>
                                      <p:to>
                                        <p:strVal val="visible"/>
                                      </p:to>
                                    </p:set>
                                    <p:animEffect transition="in" filter="fade">
                                      <p:cBhvr>
                                        <p:cTn id="41" dur="400"/>
                                        <p:tgtEl>
                                          <p:spTgt spid="4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44"/>
                                        </p:tgtEl>
                                        <p:attrNameLst>
                                          <p:attrName>style.visibility</p:attrName>
                                        </p:attrNameLst>
                                      </p:cBhvr>
                                      <p:to>
                                        <p:strVal val="visible"/>
                                      </p:to>
                                    </p:set>
                                    <p:animEffect transition="in" filter="fade">
                                      <p:cBhvr>
                                        <p:cTn id="44" dur="400"/>
                                        <p:tgtEl>
                                          <p:spTgt spid="44"/>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45"/>
                                        </p:tgtEl>
                                        <p:attrNameLst>
                                          <p:attrName>style.visibility</p:attrName>
                                        </p:attrNameLst>
                                      </p:cBhvr>
                                      <p:to>
                                        <p:strVal val="visible"/>
                                      </p:to>
                                    </p:set>
                                    <p:animEffect transition="in" filter="fade">
                                      <p:cBhvr>
                                        <p:cTn id="47"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INTERCONEXIÓN DE SERVICIOS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Patrón Outbox: guardar primero, avisar después</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2BA6CB"/>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La solicitud y su evento se guardan en la misma transacción; el relevador avisa después.</a:t>
            </a:r>
            <a:endParaRPr lang="en-US" sz="1700" dirty="0"/>
          </a:p>
        </p:txBody>
      </p:sp>
      <p:sp>
        <p:nvSpPr>
          <p:cNvPr id="13" name="Shape 11"/>
          <p:cNvSpPr/>
          <p:nvPr/>
        </p:nvSpPr>
        <p:spPr>
          <a:xfrm>
            <a:off x="612648" y="5175504"/>
            <a:ext cx="10966399" cy="658368"/>
          </a:xfrm>
          <a:prstGeom prst="roundRect">
            <a:avLst>
              <a:gd name="adj" fmla="val 16667"/>
            </a:avLst>
          </a:prstGeom>
          <a:solidFill>
            <a:srgbClr val="E3F4FA"/>
          </a:solidFill>
          <a:ln w="12700">
            <a:solidFill>
              <a:srgbClr val="8ACEE2"/>
            </a:solidFill>
            <a:prstDash val="solid"/>
          </a:ln>
        </p:spPr>
      </p:sp>
      <p:sp>
        <p:nvSpPr>
          <p:cNvPr id="14" name="Shape 12"/>
          <p:cNvSpPr/>
          <p:nvPr/>
        </p:nvSpPr>
        <p:spPr>
          <a:xfrm>
            <a:off x="795528" y="5285232"/>
            <a:ext cx="438912" cy="438912"/>
          </a:xfrm>
          <a:prstGeom prst="ellipse">
            <a:avLst/>
          </a:prstGeom>
          <a:solidFill>
            <a:srgbClr val="FFFFFF"/>
          </a:solidFill>
          <a:ln w="12700">
            <a:solidFill>
              <a:srgbClr val="FFFFFF"/>
            </a:solidFill>
            <a:prstDash val="solid"/>
          </a:ln>
        </p:spPr>
      </p:sp>
      <p:sp>
        <p:nvSpPr>
          <p:cNvPr id="15" name="Icono mail"/>
          <p:cNvSpPr/>
          <p:nvPr/>
        </p:nvSpPr>
        <p:spPr>
          <a:xfrm>
            <a:off x="900867" y="5390571"/>
            <a:ext cx="228234" cy="228234"/>
          </a:xfrm>
          <a:custGeom>
            <a:avLst/>
            <a:gdLst/>
            <a:ahLst/>
            <a:cxnLst/>
            <a:rect l="l" t="t" r="r" b="b"/>
            <a:pathLst>
              <a:path w="228234" h="228234">
                <a:moveTo>
                  <a:pt x="38039" y="38039"/>
                </a:moveTo>
                <a:lnTo>
                  <a:pt x="190195" y="38039"/>
                </a:lnTo>
                <a:cubicBezTo>
                  <a:pt x="200699" y="38039"/>
                  <a:pt x="209215" y="46554"/>
                  <a:pt x="209215" y="57059"/>
                </a:cubicBezTo>
                <a:lnTo>
                  <a:pt x="209215" y="171176"/>
                </a:lnTo>
                <a:cubicBezTo>
                  <a:pt x="209215" y="181680"/>
                  <a:pt x="200699" y="190195"/>
                  <a:pt x="190195" y="190195"/>
                </a:cubicBezTo>
                <a:lnTo>
                  <a:pt x="38039" y="190195"/>
                </a:lnTo>
                <a:cubicBezTo>
                  <a:pt x="27535" y="190195"/>
                  <a:pt x="19020" y="181680"/>
                  <a:pt x="19020" y="171176"/>
                </a:cubicBezTo>
                <a:lnTo>
                  <a:pt x="19020" y="57059"/>
                </a:lnTo>
                <a:cubicBezTo>
                  <a:pt x="19020" y="46554"/>
                  <a:pt x="27535" y="38039"/>
                  <a:pt x="38039" y="38039"/>
                </a:cubicBezTo>
                <a:close/>
                <a:moveTo>
                  <a:pt x="209215" y="66568"/>
                </a:moveTo>
                <a:lnTo>
                  <a:pt x="123912" y="120774"/>
                </a:lnTo>
                <a:cubicBezTo>
                  <a:pt x="117921" y="124527"/>
                  <a:pt x="110313" y="124527"/>
                  <a:pt x="104322" y="120774"/>
                </a:cubicBezTo>
                <a:lnTo>
                  <a:pt x="19020" y="66568"/>
                </a:lnTo>
              </a:path>
            </a:pathLst>
          </a:custGeom>
          <a:noFill/>
          <a:ln w="19020" cap="rnd">
            <a:solidFill>
              <a:srgbClr val="0B6E8A"/>
            </a:solidFill>
            <a:prstDash val="solid"/>
            <a:round/>
          </a:ln>
        </p:spPr>
      </p:sp>
      <p:sp>
        <p:nvSpPr>
          <p:cNvPr id="16" name="Text 14"/>
          <p:cNvSpPr/>
          <p:nvPr/>
        </p:nvSpPr>
        <p:spPr>
          <a:xfrm>
            <a:off x="1399032" y="5248656"/>
            <a:ext cx="10024567" cy="512064"/>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dejar una carta en la bandeja de salida: aunque el mensajero no pase hoy, la carta no se pierde.</a:t>
            </a:r>
            <a:endParaRPr lang="en-US" sz="1450" dirty="0"/>
          </a:p>
        </p:txBody>
      </p:sp>
      <p:sp>
        <p:nvSpPr>
          <p:cNvPr id="17" name="Shape 15"/>
          <p:cNvSpPr/>
          <p:nvPr/>
        </p:nvSpPr>
        <p:spPr>
          <a:xfrm>
            <a:off x="1626832" y="1828800"/>
            <a:ext cx="713232" cy="713232"/>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18" name="Icono send"/>
          <p:cNvSpPr/>
          <p:nvPr/>
        </p:nvSpPr>
        <p:spPr>
          <a:xfrm>
            <a:off x="1790875" y="1992843"/>
            <a:ext cx="385145" cy="385145"/>
          </a:xfrm>
          <a:custGeom>
            <a:avLst/>
            <a:gdLst/>
            <a:ahLst/>
            <a:cxnLst/>
            <a:rect l="l" t="t" r="r" b="b"/>
            <a:pathLst>
              <a:path w="385145" h="385145">
                <a:moveTo>
                  <a:pt x="233270" y="348011"/>
                </a:moveTo>
                <a:cubicBezTo>
                  <a:pt x="234518" y="351123"/>
                  <a:pt x="237570" y="353130"/>
                  <a:pt x="240922" y="353044"/>
                </a:cubicBezTo>
                <a:cubicBezTo>
                  <a:pt x="244274" y="352958"/>
                  <a:pt x="247219" y="350797"/>
                  <a:pt x="248306" y="347626"/>
                </a:cubicBezTo>
                <a:lnTo>
                  <a:pt x="352617" y="42719"/>
                </a:lnTo>
                <a:cubicBezTo>
                  <a:pt x="353665" y="39816"/>
                  <a:pt x="352941" y="36569"/>
                  <a:pt x="350759" y="34387"/>
                </a:cubicBezTo>
                <a:cubicBezTo>
                  <a:pt x="348576" y="32204"/>
                  <a:pt x="345329" y="31480"/>
                  <a:pt x="342426" y="32529"/>
                </a:cubicBezTo>
                <a:lnTo>
                  <a:pt x="37520" y="136839"/>
                </a:lnTo>
                <a:cubicBezTo>
                  <a:pt x="34348" y="137927"/>
                  <a:pt x="32187" y="140872"/>
                  <a:pt x="32101" y="144223"/>
                </a:cubicBezTo>
                <a:cubicBezTo>
                  <a:pt x="32015" y="147575"/>
                  <a:pt x="34023" y="150627"/>
                  <a:pt x="37134" y="151876"/>
                </a:cubicBezTo>
                <a:lnTo>
                  <a:pt x="164393" y="202907"/>
                </a:lnTo>
                <a:cubicBezTo>
                  <a:pt x="172522" y="206162"/>
                  <a:pt x="178969" y="212597"/>
                  <a:pt x="182238" y="220720"/>
                </a:cubicBezTo>
                <a:close/>
                <a:moveTo>
                  <a:pt x="350707" y="34454"/>
                </a:moveTo>
                <a:lnTo>
                  <a:pt x="175145" y="210000"/>
                </a:lnTo>
              </a:path>
            </a:pathLst>
          </a:custGeom>
          <a:noFill/>
          <a:ln w="28084" cap="rnd">
            <a:solidFill>
              <a:srgbClr val="0B2350"/>
            </a:solidFill>
            <a:prstDash val="solid"/>
            <a:round/>
          </a:ln>
        </p:spPr>
      </p:sp>
      <p:sp>
        <p:nvSpPr>
          <p:cNvPr id="19" name="Text 17"/>
          <p:cNvSpPr/>
          <p:nvPr/>
        </p:nvSpPr>
        <p:spPr>
          <a:xfrm>
            <a:off x="1590256" y="1792224"/>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20" name="Text 18"/>
          <p:cNvSpPr/>
          <p:nvPr/>
        </p:nvSpPr>
        <p:spPr>
          <a:xfrm>
            <a:off x="658368" y="26700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Enviar</a:t>
            </a:r>
            <a:endParaRPr lang="en-US" sz="1800" dirty="0"/>
          </a:p>
        </p:txBody>
      </p:sp>
      <p:sp>
        <p:nvSpPr>
          <p:cNvPr id="21" name="Text 19"/>
          <p:cNvSpPr/>
          <p:nvPr/>
        </p:nvSpPr>
        <p:spPr>
          <a:xfrm>
            <a:off x="722376" y="3108960"/>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Solicitud ENVIADA + evento pendiente, en una transacción.</a:t>
            </a:r>
            <a:endParaRPr lang="en-US" sz="1400" dirty="0"/>
          </a:p>
        </p:txBody>
      </p:sp>
      <p:sp>
        <p:nvSpPr>
          <p:cNvPr id="22" name="[p1] Forma"/>
          <p:cNvSpPr/>
          <p:nvPr/>
        </p:nvSpPr>
        <p:spPr>
          <a:xfrm>
            <a:off x="2431504" y="2185416"/>
            <a:ext cx="1845488" cy="0"/>
          </a:xfrm>
          <a:prstGeom prst="line">
            <a:avLst/>
          </a:prstGeom>
          <a:noFill/>
          <a:ln w="38100">
            <a:solidFill>
              <a:srgbClr val="2BA6CB"/>
            </a:solidFill>
            <a:prstDash val="solid"/>
            <a:tailEnd type="triangle"/>
          </a:ln>
        </p:spPr>
      </p:sp>
      <p:sp>
        <p:nvSpPr>
          <p:cNvPr id="23" name="[p1] Forma"/>
          <p:cNvSpPr/>
          <p:nvPr/>
        </p:nvSpPr>
        <p:spPr>
          <a:xfrm>
            <a:off x="4368432" y="1828800"/>
            <a:ext cx="713232" cy="713232"/>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24" name="[p1] Icono inbox"/>
          <p:cNvSpPr/>
          <p:nvPr/>
        </p:nvSpPr>
        <p:spPr>
          <a:xfrm>
            <a:off x="4532475" y="1992843"/>
            <a:ext cx="385145" cy="385145"/>
          </a:xfrm>
          <a:custGeom>
            <a:avLst/>
            <a:gdLst/>
            <a:ahLst/>
            <a:cxnLst/>
            <a:rect l="l" t="t" r="r" b="b"/>
            <a:pathLst>
              <a:path w="385145" h="385145">
                <a:moveTo>
                  <a:pt x="353050" y="192573"/>
                </a:moveTo>
                <a:lnTo>
                  <a:pt x="256764" y="192573"/>
                </a:lnTo>
                <a:lnTo>
                  <a:pt x="224668" y="240716"/>
                </a:lnTo>
                <a:lnTo>
                  <a:pt x="160477" y="240716"/>
                </a:lnTo>
                <a:lnTo>
                  <a:pt x="128382" y="192573"/>
                </a:lnTo>
                <a:lnTo>
                  <a:pt x="32095" y="192573"/>
                </a:lnTo>
                <a:moveTo>
                  <a:pt x="87460" y="82004"/>
                </a:moveTo>
                <a:lnTo>
                  <a:pt x="32095" y="192573"/>
                </a:lnTo>
                <a:lnTo>
                  <a:pt x="32095" y="288859"/>
                </a:lnTo>
                <a:cubicBezTo>
                  <a:pt x="32095" y="306585"/>
                  <a:pt x="46465" y="320954"/>
                  <a:pt x="64191" y="320954"/>
                </a:cubicBezTo>
                <a:lnTo>
                  <a:pt x="320954" y="320954"/>
                </a:lnTo>
                <a:cubicBezTo>
                  <a:pt x="338680" y="320954"/>
                  <a:pt x="353050" y="306585"/>
                  <a:pt x="353050" y="288859"/>
                </a:cubicBezTo>
                <a:lnTo>
                  <a:pt x="353050" y="192573"/>
                </a:lnTo>
                <a:lnTo>
                  <a:pt x="297685" y="82004"/>
                </a:lnTo>
                <a:cubicBezTo>
                  <a:pt x="292265" y="71097"/>
                  <a:pt x="281139" y="64197"/>
                  <a:pt x="268960" y="64191"/>
                </a:cubicBezTo>
                <a:lnTo>
                  <a:pt x="116185" y="64191"/>
                </a:lnTo>
                <a:cubicBezTo>
                  <a:pt x="104006" y="64197"/>
                  <a:pt x="92880" y="71097"/>
                  <a:pt x="87460" y="82004"/>
                </a:cubicBezTo>
                <a:close/>
              </a:path>
            </a:pathLst>
          </a:custGeom>
          <a:noFill/>
          <a:ln w="28084" cap="rnd">
            <a:solidFill>
              <a:srgbClr val="0B2350"/>
            </a:solidFill>
            <a:prstDash val="solid"/>
            <a:round/>
          </a:ln>
        </p:spPr>
      </p:sp>
      <p:sp>
        <p:nvSpPr>
          <p:cNvPr id="25" name="[p1] Forma"/>
          <p:cNvSpPr/>
          <p:nvPr/>
        </p:nvSpPr>
        <p:spPr>
          <a:xfrm>
            <a:off x="4331856" y="1792224"/>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26" name="[p1] Forma"/>
          <p:cNvSpPr/>
          <p:nvPr/>
        </p:nvSpPr>
        <p:spPr>
          <a:xfrm>
            <a:off x="3399968" y="26700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Bandeja de salida</a:t>
            </a:r>
            <a:endParaRPr lang="en-US" sz="1800" dirty="0"/>
          </a:p>
        </p:txBody>
      </p:sp>
      <p:sp>
        <p:nvSpPr>
          <p:cNvPr id="27" name="[p1] Forma"/>
          <p:cNvSpPr/>
          <p:nvPr/>
        </p:nvSpPr>
        <p:spPr>
          <a:xfrm>
            <a:off x="3463976" y="3108960"/>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El evento espera en la tabla evento.</a:t>
            </a:r>
            <a:endParaRPr lang="en-US" sz="1400" dirty="0"/>
          </a:p>
        </p:txBody>
      </p:sp>
      <p:sp>
        <p:nvSpPr>
          <p:cNvPr id="28" name="[p2] Forma"/>
          <p:cNvSpPr/>
          <p:nvPr/>
        </p:nvSpPr>
        <p:spPr>
          <a:xfrm>
            <a:off x="5173104" y="2185416"/>
            <a:ext cx="1845488" cy="0"/>
          </a:xfrm>
          <a:prstGeom prst="line">
            <a:avLst/>
          </a:prstGeom>
          <a:noFill/>
          <a:ln w="38100">
            <a:solidFill>
              <a:srgbClr val="2BA6CB"/>
            </a:solidFill>
            <a:prstDash val="solid"/>
            <a:tailEnd type="triangle"/>
          </a:ln>
        </p:spPr>
      </p:sp>
      <p:sp>
        <p:nvSpPr>
          <p:cNvPr id="29" name="[p2] Forma"/>
          <p:cNvSpPr/>
          <p:nvPr/>
        </p:nvSpPr>
        <p:spPr>
          <a:xfrm>
            <a:off x="7110032" y="1828800"/>
            <a:ext cx="713232" cy="713232"/>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30" name="[p2] Icono timer"/>
          <p:cNvSpPr/>
          <p:nvPr/>
        </p:nvSpPr>
        <p:spPr>
          <a:xfrm>
            <a:off x="7274075" y="1992843"/>
            <a:ext cx="385145" cy="385145"/>
          </a:xfrm>
          <a:custGeom>
            <a:avLst/>
            <a:gdLst/>
            <a:ahLst/>
            <a:cxnLst/>
            <a:rect l="l" t="t" r="r" b="b"/>
            <a:pathLst>
              <a:path w="385145" h="385145">
                <a:moveTo>
                  <a:pt x="160477" y="32095"/>
                </a:moveTo>
                <a:lnTo>
                  <a:pt x="224668" y="32095"/>
                </a:lnTo>
                <a:moveTo>
                  <a:pt x="192573" y="224668"/>
                </a:moveTo>
                <a:lnTo>
                  <a:pt x="240716" y="176525"/>
                </a:lnTo>
                <a:moveTo>
                  <a:pt x="320954" y="224668"/>
                </a:moveTo>
                <a:cubicBezTo>
                  <a:pt x="320954" y="295571"/>
                  <a:pt x="263476" y="353050"/>
                  <a:pt x="192573" y="353050"/>
                </a:cubicBezTo>
                <a:cubicBezTo>
                  <a:pt x="121669" y="353050"/>
                  <a:pt x="64191" y="295571"/>
                  <a:pt x="64191" y="224668"/>
                </a:cubicBezTo>
                <a:cubicBezTo>
                  <a:pt x="64191" y="153765"/>
                  <a:pt x="121669" y="96286"/>
                  <a:pt x="192573" y="96286"/>
                </a:cubicBezTo>
                <a:cubicBezTo>
                  <a:pt x="263476" y="96286"/>
                  <a:pt x="320954" y="153765"/>
                  <a:pt x="320954" y="224668"/>
                </a:cubicBezTo>
                <a:close/>
              </a:path>
            </a:pathLst>
          </a:custGeom>
          <a:noFill/>
          <a:ln w="28084" cap="rnd">
            <a:solidFill>
              <a:srgbClr val="0B6E8A"/>
            </a:solidFill>
            <a:prstDash val="solid"/>
            <a:round/>
          </a:ln>
        </p:spPr>
      </p:sp>
      <p:sp>
        <p:nvSpPr>
          <p:cNvPr id="31" name="[p2] Forma"/>
          <p:cNvSpPr/>
          <p:nvPr/>
        </p:nvSpPr>
        <p:spPr>
          <a:xfrm>
            <a:off x="7073456" y="1792224"/>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32" name="[p2] Forma"/>
          <p:cNvSpPr/>
          <p:nvPr/>
        </p:nvSpPr>
        <p:spPr>
          <a:xfrm>
            <a:off x="6141568" y="26700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Relevador</a:t>
            </a:r>
            <a:endParaRPr lang="en-US" sz="1800" dirty="0"/>
          </a:p>
        </p:txBody>
      </p:sp>
      <p:sp>
        <p:nvSpPr>
          <p:cNvPr id="33" name="[p2] Forma"/>
          <p:cNvSpPr/>
          <p:nvPr/>
        </p:nvSpPr>
        <p:spPr>
          <a:xfrm>
            <a:off x="6205576" y="3108960"/>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Cada 5 s entrega los pendientes, hasta 3 intentos.</a:t>
            </a:r>
            <a:endParaRPr lang="en-US" sz="1400" dirty="0"/>
          </a:p>
        </p:txBody>
      </p:sp>
      <p:sp>
        <p:nvSpPr>
          <p:cNvPr id="34" name="[p3] Forma"/>
          <p:cNvSpPr/>
          <p:nvPr/>
        </p:nvSpPr>
        <p:spPr>
          <a:xfrm>
            <a:off x="7914704" y="2185416"/>
            <a:ext cx="1845488" cy="0"/>
          </a:xfrm>
          <a:prstGeom prst="line">
            <a:avLst/>
          </a:prstGeom>
          <a:noFill/>
          <a:ln w="38100">
            <a:solidFill>
              <a:srgbClr val="2BA6CB"/>
            </a:solidFill>
            <a:prstDash val="solid"/>
            <a:tailEnd type="triangle"/>
          </a:ln>
        </p:spPr>
      </p:sp>
      <p:sp>
        <p:nvSpPr>
          <p:cNvPr id="35" name="[p3] Forma"/>
          <p:cNvSpPr/>
          <p:nvPr/>
        </p:nvSpPr>
        <p:spPr>
          <a:xfrm>
            <a:off x="9851631" y="1828800"/>
            <a:ext cx="713232" cy="713232"/>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36" name="[p3] Icono bell"/>
          <p:cNvSpPr/>
          <p:nvPr/>
        </p:nvSpPr>
        <p:spPr>
          <a:xfrm>
            <a:off x="10015675" y="1992843"/>
            <a:ext cx="385145" cy="385145"/>
          </a:xfrm>
          <a:custGeom>
            <a:avLst/>
            <a:gdLst/>
            <a:ahLst/>
            <a:cxnLst/>
            <a:rect l="l" t="t" r="r" b="b"/>
            <a:pathLst>
              <a:path w="385145" h="385145">
                <a:moveTo>
                  <a:pt x="164778" y="337002"/>
                </a:moveTo>
                <a:cubicBezTo>
                  <a:pt x="170512" y="346932"/>
                  <a:pt x="181107" y="353048"/>
                  <a:pt x="192573" y="353048"/>
                </a:cubicBezTo>
                <a:cubicBezTo>
                  <a:pt x="204039" y="353048"/>
                  <a:pt x="214634" y="346932"/>
                  <a:pt x="220367" y="337002"/>
                </a:cubicBezTo>
                <a:moveTo>
                  <a:pt x="52348" y="245947"/>
                </a:moveTo>
                <a:cubicBezTo>
                  <a:pt x="48064" y="250642"/>
                  <a:pt x="46955" y="257422"/>
                  <a:pt x="49519" y="263237"/>
                </a:cubicBezTo>
                <a:cubicBezTo>
                  <a:pt x="52082" y="269052"/>
                  <a:pt x="57836" y="272807"/>
                  <a:pt x="64191" y="272811"/>
                </a:cubicBezTo>
                <a:lnTo>
                  <a:pt x="320954" y="272811"/>
                </a:lnTo>
                <a:cubicBezTo>
                  <a:pt x="327309" y="272814"/>
                  <a:pt x="333066" y="269066"/>
                  <a:pt x="335636" y="263255"/>
                </a:cubicBezTo>
                <a:cubicBezTo>
                  <a:pt x="338207" y="257444"/>
                  <a:pt x="337106" y="250663"/>
                  <a:pt x="332830" y="245963"/>
                </a:cubicBezTo>
                <a:cubicBezTo>
                  <a:pt x="311486" y="223962"/>
                  <a:pt x="288859" y="200580"/>
                  <a:pt x="288859" y="128382"/>
                </a:cubicBezTo>
                <a:cubicBezTo>
                  <a:pt x="288859" y="75204"/>
                  <a:pt x="245750" y="32095"/>
                  <a:pt x="192573" y="32095"/>
                </a:cubicBezTo>
                <a:cubicBezTo>
                  <a:pt x="139395" y="32095"/>
                  <a:pt x="96286" y="75204"/>
                  <a:pt x="96286" y="128382"/>
                </a:cubicBezTo>
                <a:cubicBezTo>
                  <a:pt x="96286" y="200580"/>
                  <a:pt x="73643" y="223962"/>
                  <a:pt x="52348" y="245947"/>
                </a:cubicBezTo>
              </a:path>
            </a:pathLst>
          </a:custGeom>
          <a:noFill/>
          <a:ln w="28084" cap="rnd">
            <a:solidFill>
              <a:srgbClr val="0A6648"/>
            </a:solidFill>
            <a:prstDash val="solid"/>
            <a:round/>
          </a:ln>
        </p:spPr>
      </p:sp>
      <p:sp>
        <p:nvSpPr>
          <p:cNvPr id="37" name="[p3] Forma"/>
          <p:cNvSpPr/>
          <p:nvPr/>
        </p:nvSpPr>
        <p:spPr>
          <a:xfrm>
            <a:off x="9815055" y="1792224"/>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8" name="[p3] Forma"/>
          <p:cNvSpPr/>
          <p:nvPr/>
        </p:nvSpPr>
        <p:spPr>
          <a:xfrm>
            <a:off x="8883167" y="26700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Notificaciones</a:t>
            </a:r>
            <a:endParaRPr lang="en-US" sz="1800" dirty="0"/>
          </a:p>
        </p:txBody>
      </p:sp>
      <p:sp>
        <p:nvSpPr>
          <p:cNvPr id="39" name="[p3] Forma"/>
          <p:cNvSpPr/>
          <p:nvPr/>
        </p:nvSpPr>
        <p:spPr>
          <a:xfrm>
            <a:off x="8947175" y="3108960"/>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Lo recibe y el evento queda procesado.</a:t>
            </a:r>
            <a:endParaRPr lang="en-US" sz="1400" dirty="0"/>
          </a:p>
        </p:txBody>
      </p:sp>
      <p:sp>
        <p:nvSpPr>
          <p:cNvPr id="40" name="[p4] Forma"/>
          <p:cNvSpPr/>
          <p:nvPr/>
        </p:nvSpPr>
        <p:spPr>
          <a:xfrm>
            <a:off x="7466648" y="3602736"/>
            <a:ext cx="0" cy="955548"/>
          </a:xfrm>
          <a:prstGeom prst="line">
            <a:avLst/>
          </a:prstGeom>
          <a:noFill/>
          <a:ln w="25400">
            <a:solidFill>
              <a:srgbClr val="8A4B06"/>
            </a:solidFill>
            <a:prstDash val="dash"/>
          </a:ln>
        </p:spPr>
      </p:sp>
      <p:sp>
        <p:nvSpPr>
          <p:cNvPr id="41" name="[p4] Forma"/>
          <p:cNvSpPr/>
          <p:nvPr/>
        </p:nvSpPr>
        <p:spPr>
          <a:xfrm flipH="1">
            <a:off x="7372807" y="4558284"/>
            <a:ext cx="93840" cy="0"/>
          </a:xfrm>
          <a:prstGeom prst="line">
            <a:avLst/>
          </a:prstGeom>
          <a:noFill/>
          <a:ln w="25400">
            <a:solidFill>
              <a:srgbClr val="8A4B06"/>
            </a:solidFill>
            <a:prstDash val="dash"/>
            <a:tailEnd type="triangle"/>
          </a:ln>
        </p:spPr>
      </p:sp>
      <p:sp>
        <p:nvSpPr>
          <p:cNvPr id="42" name="[p4] Forma"/>
          <p:cNvSpPr/>
          <p:nvPr/>
        </p:nvSpPr>
        <p:spPr>
          <a:xfrm>
            <a:off x="6003608" y="4229100"/>
            <a:ext cx="1371600" cy="274320"/>
          </a:xfrm>
          <a:prstGeom prst="rect">
            <a:avLst/>
          </a:prstGeom>
          <a:noFill/>
          <a:ln/>
        </p:spPr>
        <p:txBody>
          <a:bodyPr wrap="square" lIns="0" tIns="0" rIns="0" bIns="0" rtlCol="0" anchor="t">
            <a:normAutofit/>
          </a:bodyPr>
          <a:lstStyle/>
          <a:p>
            <a:pPr algn="r" indent="0" marL="0">
              <a:buNone/>
            </a:pPr>
            <a:r>
              <a:rPr lang="en-US" sz="1100" b="1" dirty="0">
                <a:solidFill>
                  <a:srgbClr val="8A4B06"/>
                </a:solidFill>
                <a:latin typeface="Segoe UI" pitchFamily="34" charset="0"/>
                <a:ea typeface="Segoe UI" pitchFamily="34" charset="-122"/>
                <a:cs typeface="Segoe UI" pitchFamily="34" charset="-120"/>
              </a:rPr>
              <a:t>si falla</a:t>
            </a:r>
            <a:endParaRPr lang="en-US" sz="1100" dirty="0"/>
          </a:p>
        </p:txBody>
      </p:sp>
      <p:sp>
        <p:nvSpPr>
          <p:cNvPr id="43" name="[p4] Forma"/>
          <p:cNvSpPr/>
          <p:nvPr/>
        </p:nvSpPr>
        <p:spPr>
          <a:xfrm>
            <a:off x="7372807" y="4123944"/>
            <a:ext cx="4206240" cy="868680"/>
          </a:xfrm>
          <a:prstGeom prst="roundRect">
            <a:avLst>
              <a:gd name="adj" fmla="val 14737"/>
            </a:avLst>
          </a:prstGeom>
          <a:solidFill>
            <a:srgbClr val="FCEFD6"/>
          </a:solidFill>
          <a:ln w="12700">
            <a:solidFill>
              <a:srgbClr val="C5A583"/>
            </a:solidFill>
            <a:prstDash val="solid"/>
          </a:ln>
          <a:effectLst>
            <a:outerShdw sx="100000" sy="100000" kx="0" ky="0" algn="bl" rotWithShape="0" blurRad="76200" dist="19050" dir="5400000">
              <a:srgbClr val="0B1F3A">
                <a:alpha val="14000"/>
              </a:srgbClr>
            </a:outerShdw>
          </a:effectLst>
        </p:spPr>
      </p:sp>
      <p:sp>
        <p:nvSpPr>
          <p:cNvPr id="44" name="[p4] Forma"/>
          <p:cNvSpPr/>
          <p:nvPr/>
        </p:nvSpPr>
        <p:spPr>
          <a:xfrm>
            <a:off x="7537399" y="4279392"/>
            <a:ext cx="548640" cy="548640"/>
          </a:xfrm>
          <a:prstGeom prst="ellipse">
            <a:avLst/>
          </a:prstGeom>
          <a:solidFill>
            <a:srgbClr val="FFFFFF"/>
          </a:solidFill>
          <a:ln w="12700">
            <a:solidFill>
              <a:srgbClr val="FFFFFF"/>
            </a:solidFill>
            <a:prstDash val="solid"/>
          </a:ln>
        </p:spPr>
      </p:sp>
      <p:sp>
        <p:nvSpPr>
          <p:cNvPr id="45" name="[p4] Icono refresh-cw"/>
          <p:cNvSpPr/>
          <p:nvPr/>
        </p:nvSpPr>
        <p:spPr>
          <a:xfrm>
            <a:off x="7669073" y="4411066"/>
            <a:ext cx="285293" cy="285293"/>
          </a:xfrm>
          <a:custGeom>
            <a:avLst/>
            <a:gdLst/>
            <a:ahLst/>
            <a:cxnLst/>
            <a:rect l="l" t="t" r="r" b="b"/>
            <a:pathLst>
              <a:path w="285293" h="285293">
                <a:moveTo>
                  <a:pt x="35662" y="142646"/>
                </a:moveTo>
                <a:cubicBezTo>
                  <a:pt x="35662" y="83560"/>
                  <a:pt x="83560" y="35662"/>
                  <a:pt x="142646" y="35662"/>
                </a:cubicBezTo>
                <a:cubicBezTo>
                  <a:pt x="172555" y="35774"/>
                  <a:pt x="201263" y="47444"/>
                  <a:pt x="222766" y="68233"/>
                </a:cubicBezTo>
                <a:lnTo>
                  <a:pt x="249631" y="95098"/>
                </a:lnTo>
                <a:moveTo>
                  <a:pt x="249631" y="35662"/>
                </a:moveTo>
                <a:lnTo>
                  <a:pt x="249631" y="95098"/>
                </a:lnTo>
                <a:lnTo>
                  <a:pt x="190195" y="95098"/>
                </a:lnTo>
                <a:moveTo>
                  <a:pt x="249631" y="142646"/>
                </a:moveTo>
                <a:cubicBezTo>
                  <a:pt x="249631" y="201732"/>
                  <a:pt x="201732" y="249631"/>
                  <a:pt x="142646" y="249631"/>
                </a:cubicBezTo>
                <a:cubicBezTo>
                  <a:pt x="112738" y="249519"/>
                  <a:pt x="84030" y="237848"/>
                  <a:pt x="62527" y="217060"/>
                </a:cubicBezTo>
                <a:lnTo>
                  <a:pt x="35662" y="190195"/>
                </a:lnTo>
                <a:moveTo>
                  <a:pt x="95098" y="190195"/>
                </a:moveTo>
                <a:lnTo>
                  <a:pt x="35662" y="190195"/>
                </a:lnTo>
                <a:lnTo>
                  <a:pt x="35662" y="249631"/>
                </a:lnTo>
              </a:path>
            </a:pathLst>
          </a:custGeom>
          <a:noFill/>
          <a:ln w="23774" cap="rnd">
            <a:solidFill>
              <a:srgbClr val="8A4B06"/>
            </a:solidFill>
            <a:prstDash val="solid"/>
            <a:round/>
          </a:ln>
        </p:spPr>
      </p:sp>
      <p:sp>
        <p:nvSpPr>
          <p:cNvPr id="46" name="[p4] Forma"/>
          <p:cNvSpPr/>
          <p:nvPr/>
        </p:nvSpPr>
        <p:spPr>
          <a:xfrm>
            <a:off x="8214055" y="4233672"/>
            <a:ext cx="3246120" cy="329184"/>
          </a:xfrm>
          <a:prstGeom prst="rect">
            <a:avLst/>
          </a:prstGeom>
          <a:noFill/>
          <a:ln/>
        </p:spPr>
        <p:txBody>
          <a:bodyPr wrap="square" lIns="0" tIns="0" rIns="0" bIns="0" rtlCol="0" anchor="t">
            <a:normAutofit/>
          </a:bodyPr>
          <a:lstStyle/>
          <a:p>
            <a:pPr algn="l" indent="0" marL="0">
              <a:buNone/>
            </a:pPr>
            <a:r>
              <a:rPr lang="en-US" sz="1450" b="1" dirty="0">
                <a:solidFill>
                  <a:srgbClr val="8A4B06"/>
                </a:solidFill>
                <a:latin typeface="Segoe UI Semibold" pitchFamily="34" charset="0"/>
                <a:ea typeface="Segoe UI Semibold" pitchFamily="34" charset="-122"/>
                <a:cs typeface="Segoe UI Semibold" pitchFamily="34" charset="-120"/>
              </a:rPr>
              <a:t>Sigue pendiente</a:t>
            </a:r>
            <a:endParaRPr lang="en-US" sz="1450" dirty="0"/>
          </a:p>
        </p:txBody>
      </p:sp>
      <p:sp>
        <p:nvSpPr>
          <p:cNvPr id="47" name="[p4] Forma"/>
          <p:cNvSpPr/>
          <p:nvPr/>
        </p:nvSpPr>
        <p:spPr>
          <a:xfrm>
            <a:off x="8214055" y="4562856"/>
            <a:ext cx="3246120" cy="365760"/>
          </a:xfrm>
          <a:prstGeom prst="rect">
            <a:avLst/>
          </a:prstGeom>
          <a:noFill/>
          <a:ln/>
        </p:spPr>
        <p:txBody>
          <a:bodyPr wrap="square" lIns="0" tIns="0" rIns="0" bIns="0" rtlCol="0" anchor="t">
            <a:normAutofit/>
          </a:bodyPr>
          <a:lstStyle/>
          <a:p>
            <a:pPr algn="l" indent="0" marL="0">
              <a:buNone/>
            </a:pPr>
            <a:r>
              <a:rPr lang="en-US" sz="1150" dirty="0">
                <a:solidFill>
                  <a:srgbClr val="0B1A3C"/>
                </a:solidFill>
                <a:latin typeface="Segoe UI" pitchFamily="34" charset="0"/>
                <a:ea typeface="Segoe UI" pitchFamily="34" charset="-122"/>
                <a:cs typeface="Segoe UI" pitchFamily="34" charset="-120"/>
              </a:rPr>
              <a:t>Mismo eventoId; se reintenta en el siguiente ciclo.</a:t>
            </a:r>
            <a:endParaRPr lang="en-US" sz="1150" dirty="0"/>
          </a:p>
        </p:txBody>
      </p:sp>
      <p:sp>
        <p:nvSpPr>
          <p:cNvPr id="48" name="Shape 46"/>
          <p:cNvSpPr/>
          <p:nvPr/>
        </p:nvSpPr>
        <p:spPr>
          <a:xfrm>
            <a:off x="0" y="5961888"/>
            <a:ext cx="12191695" cy="475488"/>
          </a:xfrm>
          <a:prstGeom prst="rect">
            <a:avLst/>
          </a:prstGeom>
          <a:solidFill>
            <a:srgbClr val="0B2350"/>
          </a:solidFill>
          <a:ln w="12700">
            <a:solidFill>
              <a:srgbClr val="0B2350"/>
            </a:solidFill>
            <a:prstDash val="solid"/>
          </a:ln>
        </p:spPr>
      </p:sp>
      <p:sp>
        <p:nvSpPr>
          <p:cNvPr id="49" name="Icono target"/>
          <p:cNvSpPr/>
          <p:nvPr/>
        </p:nvSpPr>
        <p:spPr>
          <a:xfrm>
            <a:off x="612648" y="6071616"/>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192024" y="128016"/>
                </a:moveTo>
                <a:cubicBezTo>
                  <a:pt x="192024" y="163367"/>
                  <a:pt x="163367" y="192024"/>
                  <a:pt x="128016" y="192024"/>
                </a:cubicBezTo>
                <a:cubicBezTo>
                  <a:pt x="92665" y="192024"/>
                  <a:pt x="64008" y="163367"/>
                  <a:pt x="64008" y="128016"/>
                </a:cubicBezTo>
                <a:cubicBezTo>
                  <a:pt x="64008" y="92665"/>
                  <a:pt x="92665" y="64008"/>
                  <a:pt x="128016" y="64008"/>
                </a:cubicBezTo>
                <a:cubicBezTo>
                  <a:pt x="163367" y="64008"/>
                  <a:pt x="192024" y="92665"/>
                  <a:pt x="192024" y="128016"/>
                </a:cubicBezTo>
                <a:close/>
                <a:moveTo>
                  <a:pt x="149352" y="128016"/>
                </a:moveTo>
                <a:cubicBezTo>
                  <a:pt x="149352" y="139800"/>
                  <a:pt x="139800" y="149352"/>
                  <a:pt x="128016" y="149352"/>
                </a:cubicBezTo>
                <a:cubicBezTo>
                  <a:pt x="116232" y="149352"/>
                  <a:pt x="106680" y="139800"/>
                  <a:pt x="106680" y="128016"/>
                </a:cubicBezTo>
                <a:cubicBezTo>
                  <a:pt x="106680" y="116232"/>
                  <a:pt x="116232" y="106680"/>
                  <a:pt x="128016" y="106680"/>
                </a:cubicBezTo>
                <a:cubicBezTo>
                  <a:pt x="139800" y="106680"/>
                  <a:pt x="149352" y="116232"/>
                  <a:pt x="149352" y="128016"/>
                </a:cubicBezTo>
                <a:close/>
              </a:path>
            </a:pathLst>
          </a:custGeom>
          <a:noFill/>
          <a:ln w="21336" cap="rnd">
            <a:solidFill>
              <a:srgbClr val="2BA6CB"/>
            </a:solidFill>
            <a:prstDash val="solid"/>
            <a:round/>
          </a:ln>
        </p:spPr>
      </p:sp>
      <p:sp>
        <p:nvSpPr>
          <p:cNvPr id="50" name="Text 48"/>
          <p:cNvSpPr/>
          <p:nvPr/>
        </p:nvSpPr>
        <p:spPr>
          <a:xfrm>
            <a:off x="978408" y="5961888"/>
            <a:ext cx="1060063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Si notificaciones está caído, ningún aviso se pierde: queda pendiente hasta que vuelve.</a:t>
            </a:r>
            <a:endParaRPr lang="en-US" sz="1400" dirty="0"/>
          </a:p>
        </p:txBody>
      </p:sp>
      <p:sp>
        <p:nvSpPr>
          <p:cNvPr id="51" name="Text 4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INTERCONEXIÓN DE SERVICIOS</a:t>
            </a:r>
            <a:endParaRPr lang="en-US" sz="800" dirty="0"/>
          </a:p>
        </p:txBody>
      </p:sp>
      <p:sp>
        <p:nvSpPr>
          <p:cNvPr id="52"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2"/>
                                        </p:tgtEl>
                                        <p:attrNameLst>
                                          <p:attrName>style.visibility</p:attrName>
                                        </p:attrNameLst>
                                      </p:cBhvr>
                                      <p:to>
                                        <p:strVal val="visible"/>
                                      </p:to>
                                    </p:set>
                                    <p:animEffect transition="in" filter="fade">
                                      <p:cBhvr>
                                        <p:cTn id="5" dur="400"/>
                                        <p:tgtEl>
                                          <p:spTgt spid="2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3"/>
                                        </p:tgtEl>
                                        <p:attrNameLst>
                                          <p:attrName>style.visibility</p:attrName>
                                        </p:attrNameLst>
                                      </p:cBhvr>
                                      <p:to>
                                        <p:strVal val="visible"/>
                                      </p:to>
                                    </p:set>
                                    <p:animEffect transition="in" filter="fade">
                                      <p:cBhvr>
                                        <p:cTn id="8" dur="400"/>
                                        <p:tgtEl>
                                          <p:spTgt spid="2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fade">
                                      <p:cBhvr>
                                        <p:cTn id="11" dur="400"/>
                                        <p:tgtEl>
                                          <p:spTgt spid="2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5"/>
                                        </p:tgtEl>
                                        <p:attrNameLst>
                                          <p:attrName>style.visibility</p:attrName>
                                        </p:attrNameLst>
                                      </p:cBhvr>
                                      <p:to>
                                        <p:strVal val="visible"/>
                                      </p:to>
                                    </p:set>
                                    <p:animEffect transition="in" filter="fade">
                                      <p:cBhvr>
                                        <p:cTn id="14" dur="400"/>
                                        <p:tgtEl>
                                          <p:spTgt spid="2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fade">
                                      <p:cBhvr>
                                        <p:cTn id="17" dur="400"/>
                                        <p:tgtEl>
                                          <p:spTgt spid="2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7"/>
                                        </p:tgtEl>
                                        <p:attrNameLst>
                                          <p:attrName>style.visibility</p:attrName>
                                        </p:attrNameLst>
                                      </p:cBhvr>
                                      <p:to>
                                        <p:strVal val="visible"/>
                                      </p:to>
                                    </p:set>
                                    <p:animEffect transition="in" filter="fade">
                                      <p:cBhvr>
                                        <p:cTn id="20" dur="400"/>
                                        <p:tgtEl>
                                          <p:spTgt spid="27"/>
                                        </p:tgtEl>
                                      </p:cBhvr>
                                    </p:animEffect>
                                  </p:childTnLst>
                                </p:cTn>
                              </p:par>
                            </p:childTnLst>
                          </p:cTn>
                        </p:par>
                      </p:childTnLst>
                    </p:cTn>
                  </p:par>
                  <p:par>
                    <p:cTn id="41" fill="hold">
                      <p:stCondLst>
                        <p:cond delay="indefinite"/>
                      </p:stCondLst>
                      <p:childTnLst>
                        <p:par>
                          <p:cTn id="4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400"/>
                                        <p:tgtEl>
                                          <p:spTgt spid="2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400"/>
                                        <p:tgtEl>
                                          <p:spTgt spid="2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400"/>
                                        <p:tgtEl>
                                          <p:spTgt spid="3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400"/>
                                        <p:tgtEl>
                                          <p:spTgt spid="3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400"/>
                                        <p:tgtEl>
                                          <p:spTgt spid="3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fade">
                                      <p:cBhvr>
                                        <p:cTn id="40" dur="400"/>
                                        <p:tgtEl>
                                          <p:spTgt spid="33"/>
                                        </p:tgtEl>
                                      </p:cBhvr>
                                    </p:animEffect>
                                  </p:childTnLst>
                                </p:cTn>
                              </p:par>
                            </p:childTnLst>
                          </p:cTn>
                        </p:par>
                      </p:childTnLst>
                    </p:cTn>
                  </p:par>
                  <p:par>
                    <p:cTn id="61" fill="hold">
                      <p:stCondLst>
                        <p:cond delay="indefinite"/>
                      </p:stCondLst>
                      <p:childTnLst>
                        <p:par>
                          <p:cTn id="6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animEffect transition="in" filter="fade">
                                      <p:cBhvr>
                                        <p:cTn id="45" dur="400"/>
                                        <p:tgtEl>
                                          <p:spTgt spid="34"/>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5"/>
                                        </p:tgtEl>
                                        <p:attrNameLst>
                                          <p:attrName>style.visibility</p:attrName>
                                        </p:attrNameLst>
                                      </p:cBhvr>
                                      <p:to>
                                        <p:strVal val="visible"/>
                                      </p:to>
                                    </p:set>
                                    <p:animEffect transition="in" filter="fade">
                                      <p:cBhvr>
                                        <p:cTn id="48" dur="400"/>
                                        <p:tgtEl>
                                          <p:spTgt spid="35"/>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6"/>
                                        </p:tgtEl>
                                        <p:attrNameLst>
                                          <p:attrName>style.visibility</p:attrName>
                                        </p:attrNameLst>
                                      </p:cBhvr>
                                      <p:to>
                                        <p:strVal val="visible"/>
                                      </p:to>
                                    </p:set>
                                    <p:animEffect transition="in" filter="fade">
                                      <p:cBhvr>
                                        <p:cTn id="51" dur="400"/>
                                        <p:tgtEl>
                                          <p:spTgt spid="36"/>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7"/>
                                        </p:tgtEl>
                                        <p:attrNameLst>
                                          <p:attrName>style.visibility</p:attrName>
                                        </p:attrNameLst>
                                      </p:cBhvr>
                                      <p:to>
                                        <p:strVal val="visible"/>
                                      </p:to>
                                    </p:set>
                                    <p:animEffect transition="in" filter="fade">
                                      <p:cBhvr>
                                        <p:cTn id="54" dur="400"/>
                                        <p:tgtEl>
                                          <p:spTgt spid="37"/>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8"/>
                                        </p:tgtEl>
                                        <p:attrNameLst>
                                          <p:attrName>style.visibility</p:attrName>
                                        </p:attrNameLst>
                                      </p:cBhvr>
                                      <p:to>
                                        <p:strVal val="visible"/>
                                      </p:to>
                                    </p:set>
                                    <p:animEffect transition="in" filter="fade">
                                      <p:cBhvr>
                                        <p:cTn id="57" dur="400"/>
                                        <p:tgtEl>
                                          <p:spTgt spid="38"/>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9"/>
                                        </p:tgtEl>
                                        <p:attrNameLst>
                                          <p:attrName>style.visibility</p:attrName>
                                        </p:attrNameLst>
                                      </p:cBhvr>
                                      <p:to>
                                        <p:strVal val="visible"/>
                                      </p:to>
                                    </p:set>
                                    <p:animEffect transition="in" filter="fade">
                                      <p:cBhvr>
                                        <p:cTn id="60" dur="400"/>
                                        <p:tgtEl>
                                          <p:spTgt spid="39"/>
                                        </p:tgtEl>
                                      </p:cBhvr>
                                    </p:animEffect>
                                  </p:childTnLst>
                                </p:cTn>
                              </p:par>
                            </p:childTnLst>
                          </p:cTn>
                        </p:par>
                      </p:childTnLst>
                    </p:cTn>
                  </p:par>
                  <p:par>
                    <p:cTn id="87" fill="hold">
                      <p:stCondLst>
                        <p:cond delay="indefinite"/>
                      </p:stCondLst>
                      <p:childTnLst>
                        <p:par>
                          <p:cTn id="88"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40"/>
                                        </p:tgtEl>
                                        <p:attrNameLst>
                                          <p:attrName>style.visibility</p:attrName>
                                        </p:attrNameLst>
                                      </p:cBhvr>
                                      <p:to>
                                        <p:strVal val="visible"/>
                                      </p:to>
                                    </p:set>
                                    <p:animEffect transition="in" filter="fade">
                                      <p:cBhvr>
                                        <p:cTn id="65" dur="400"/>
                                        <p:tgtEl>
                                          <p:spTgt spid="40"/>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41"/>
                                        </p:tgtEl>
                                        <p:attrNameLst>
                                          <p:attrName>style.visibility</p:attrName>
                                        </p:attrNameLst>
                                      </p:cBhvr>
                                      <p:to>
                                        <p:strVal val="visible"/>
                                      </p:to>
                                    </p:set>
                                    <p:animEffect transition="in" filter="fade">
                                      <p:cBhvr>
                                        <p:cTn id="68" dur="400"/>
                                        <p:tgtEl>
                                          <p:spTgt spid="41"/>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42"/>
                                        </p:tgtEl>
                                        <p:attrNameLst>
                                          <p:attrName>style.visibility</p:attrName>
                                        </p:attrNameLst>
                                      </p:cBhvr>
                                      <p:to>
                                        <p:strVal val="visible"/>
                                      </p:to>
                                    </p:set>
                                    <p:animEffect transition="in" filter="fade">
                                      <p:cBhvr>
                                        <p:cTn id="71" dur="400"/>
                                        <p:tgtEl>
                                          <p:spTgt spid="42"/>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43"/>
                                        </p:tgtEl>
                                        <p:attrNameLst>
                                          <p:attrName>style.visibility</p:attrName>
                                        </p:attrNameLst>
                                      </p:cBhvr>
                                      <p:to>
                                        <p:strVal val="visible"/>
                                      </p:to>
                                    </p:set>
                                    <p:animEffect transition="in" filter="fade">
                                      <p:cBhvr>
                                        <p:cTn id="74" dur="400"/>
                                        <p:tgtEl>
                                          <p:spTgt spid="43"/>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4"/>
                                        </p:tgtEl>
                                        <p:attrNameLst>
                                          <p:attrName>style.visibility</p:attrName>
                                        </p:attrNameLst>
                                      </p:cBhvr>
                                      <p:to>
                                        <p:strVal val="visible"/>
                                      </p:to>
                                    </p:set>
                                    <p:animEffect transition="in" filter="fade">
                                      <p:cBhvr>
                                        <p:cTn id="77" dur="400"/>
                                        <p:tgtEl>
                                          <p:spTgt spid="44"/>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45"/>
                                        </p:tgtEl>
                                        <p:attrNameLst>
                                          <p:attrName>style.visibility</p:attrName>
                                        </p:attrNameLst>
                                      </p:cBhvr>
                                      <p:to>
                                        <p:strVal val="visible"/>
                                      </p:to>
                                    </p:set>
                                    <p:animEffect transition="in" filter="fade">
                                      <p:cBhvr>
                                        <p:cTn id="80" dur="400"/>
                                        <p:tgtEl>
                                          <p:spTgt spid="45"/>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46"/>
                                        </p:tgtEl>
                                        <p:attrNameLst>
                                          <p:attrName>style.visibility</p:attrName>
                                        </p:attrNameLst>
                                      </p:cBhvr>
                                      <p:to>
                                        <p:strVal val="visible"/>
                                      </p:to>
                                    </p:set>
                                    <p:animEffect transition="in" filter="fade">
                                      <p:cBhvr>
                                        <p:cTn id="83" dur="400"/>
                                        <p:tgtEl>
                                          <p:spTgt spid="46"/>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47"/>
                                        </p:tgtEl>
                                        <p:attrNameLst>
                                          <p:attrName>style.visibility</p:attrName>
                                        </p:attrNameLst>
                                      </p:cBhvr>
                                      <p:to>
                                        <p:strVal val="visible"/>
                                      </p:to>
                                    </p:set>
                                    <p:animEffect transition="in" filter="fade">
                                      <p:cBhvr>
                                        <p:cTn id="86" dur="4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DEVOPS: DOCKER Y KUBERNETES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Docker y Kubernetes: no compiten, se complementan</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2BA6CB"/>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Docker construye la caja; Kubernetes la pone a correr y la cuida.</a:t>
            </a:r>
            <a:endParaRPr lang="en-US" sz="1700" dirty="0"/>
          </a:p>
        </p:txBody>
      </p:sp>
      <p:sp>
        <p:nvSpPr>
          <p:cNvPr id="13" name="Shape 11"/>
          <p:cNvSpPr/>
          <p:nvPr/>
        </p:nvSpPr>
        <p:spPr>
          <a:xfrm>
            <a:off x="612648" y="5696712"/>
            <a:ext cx="10966399" cy="658368"/>
          </a:xfrm>
          <a:prstGeom prst="roundRect">
            <a:avLst>
              <a:gd name="adj" fmla="val 16667"/>
            </a:avLst>
          </a:prstGeom>
          <a:solidFill>
            <a:srgbClr val="E3F4FA"/>
          </a:solidFill>
          <a:ln w="12700">
            <a:solidFill>
              <a:srgbClr val="8ACEE2"/>
            </a:solidFill>
            <a:prstDash val="solid"/>
          </a:ln>
        </p:spPr>
      </p:sp>
      <p:sp>
        <p:nvSpPr>
          <p:cNvPr id="14" name="Shape 12"/>
          <p:cNvSpPr/>
          <p:nvPr/>
        </p:nvSpPr>
        <p:spPr>
          <a:xfrm>
            <a:off x="795528" y="5806440"/>
            <a:ext cx="438912" cy="438912"/>
          </a:xfrm>
          <a:prstGeom prst="ellipse">
            <a:avLst/>
          </a:prstGeom>
          <a:solidFill>
            <a:srgbClr val="FFFFFF"/>
          </a:solidFill>
          <a:ln w="12700">
            <a:solidFill>
              <a:srgbClr val="FFFFFF"/>
            </a:solidFill>
            <a:prstDash val="solid"/>
          </a:ln>
        </p:spPr>
      </p:sp>
      <p:sp>
        <p:nvSpPr>
          <p:cNvPr id="15" name="Icono ship-wheel"/>
          <p:cNvSpPr/>
          <p:nvPr/>
        </p:nvSpPr>
        <p:spPr>
          <a:xfrm>
            <a:off x="900867" y="5911779"/>
            <a:ext cx="228234" cy="228234"/>
          </a:xfrm>
          <a:custGeom>
            <a:avLst/>
            <a:gdLst/>
            <a:ahLst/>
            <a:cxnLst/>
            <a:rect l="l" t="t" r="r" b="b"/>
            <a:pathLst>
              <a:path w="228234" h="228234">
                <a:moveTo>
                  <a:pt x="190195" y="114117"/>
                </a:moveTo>
                <a:cubicBezTo>
                  <a:pt x="190195" y="156134"/>
                  <a:pt x="156134" y="190195"/>
                  <a:pt x="114117" y="190195"/>
                </a:cubicBezTo>
                <a:cubicBezTo>
                  <a:pt x="72100" y="190195"/>
                  <a:pt x="38039" y="156134"/>
                  <a:pt x="38039" y="114117"/>
                </a:cubicBezTo>
                <a:cubicBezTo>
                  <a:pt x="38039" y="72100"/>
                  <a:pt x="72100" y="38039"/>
                  <a:pt x="114117" y="38039"/>
                </a:cubicBezTo>
                <a:cubicBezTo>
                  <a:pt x="156134" y="38039"/>
                  <a:pt x="190195" y="72100"/>
                  <a:pt x="190195" y="114117"/>
                </a:cubicBezTo>
                <a:close/>
                <a:moveTo>
                  <a:pt x="114117" y="19020"/>
                </a:moveTo>
                <a:lnTo>
                  <a:pt x="114117" y="90343"/>
                </a:lnTo>
                <a:moveTo>
                  <a:pt x="180685" y="47549"/>
                </a:moveTo>
                <a:lnTo>
                  <a:pt x="130949" y="97285"/>
                </a:lnTo>
                <a:moveTo>
                  <a:pt x="209215" y="114117"/>
                </a:moveTo>
                <a:lnTo>
                  <a:pt x="137892" y="114117"/>
                </a:lnTo>
                <a:moveTo>
                  <a:pt x="180685" y="180685"/>
                </a:moveTo>
                <a:lnTo>
                  <a:pt x="130949" y="130949"/>
                </a:lnTo>
                <a:moveTo>
                  <a:pt x="114117" y="137892"/>
                </a:moveTo>
                <a:lnTo>
                  <a:pt x="114117" y="209215"/>
                </a:lnTo>
                <a:moveTo>
                  <a:pt x="97285" y="130949"/>
                </a:moveTo>
                <a:lnTo>
                  <a:pt x="47549" y="180685"/>
                </a:lnTo>
                <a:moveTo>
                  <a:pt x="90343" y="114117"/>
                </a:moveTo>
                <a:lnTo>
                  <a:pt x="19020" y="114117"/>
                </a:lnTo>
                <a:moveTo>
                  <a:pt x="97285" y="97285"/>
                </a:moveTo>
                <a:lnTo>
                  <a:pt x="47549" y="47549"/>
                </a:lnTo>
                <a:moveTo>
                  <a:pt x="137892" y="114117"/>
                </a:moveTo>
                <a:cubicBezTo>
                  <a:pt x="137892" y="127247"/>
                  <a:pt x="127247" y="137892"/>
                  <a:pt x="114117" y="137892"/>
                </a:cubicBezTo>
                <a:cubicBezTo>
                  <a:pt x="100987" y="137892"/>
                  <a:pt x="90343" y="127247"/>
                  <a:pt x="90343" y="114117"/>
                </a:cubicBezTo>
                <a:cubicBezTo>
                  <a:pt x="90343" y="100987"/>
                  <a:pt x="100987" y="90343"/>
                  <a:pt x="114117" y="90343"/>
                </a:cubicBezTo>
                <a:cubicBezTo>
                  <a:pt x="127247" y="90343"/>
                  <a:pt x="137892" y="100987"/>
                  <a:pt x="137892" y="114117"/>
                </a:cubicBezTo>
                <a:close/>
              </a:path>
            </a:pathLst>
          </a:custGeom>
          <a:noFill/>
          <a:ln w="19020" cap="rnd">
            <a:solidFill>
              <a:srgbClr val="0B6E8A"/>
            </a:solidFill>
            <a:prstDash val="solid"/>
            <a:round/>
          </a:ln>
        </p:spPr>
      </p:sp>
      <p:sp>
        <p:nvSpPr>
          <p:cNvPr id="16" name="Text 14"/>
          <p:cNvSpPr/>
          <p:nvPr/>
        </p:nvSpPr>
        <p:spPr>
          <a:xfrm>
            <a:off x="1399032" y="5769864"/>
            <a:ext cx="10024567" cy="512064"/>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el transporte de carga: Docker es el contenedor estándar y Kubernetes, el puerto que los acomoda, los vigila y reemplaza el que se daña.</a:t>
            </a:r>
            <a:endParaRPr lang="en-US" sz="1450" dirty="0"/>
          </a:p>
        </p:txBody>
      </p:sp>
      <p:sp>
        <p:nvSpPr>
          <p:cNvPr id="17" name="Shape 15"/>
          <p:cNvSpPr/>
          <p:nvPr/>
        </p:nvSpPr>
        <p:spPr>
          <a:xfrm>
            <a:off x="612648" y="1719072"/>
            <a:ext cx="5163160" cy="3794760"/>
          </a:xfrm>
          <a:prstGeom prst="roundRect">
            <a:avLst>
              <a:gd name="adj" fmla="val 3373"/>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8" name="Shape 16"/>
          <p:cNvSpPr/>
          <p:nvPr/>
        </p:nvSpPr>
        <p:spPr>
          <a:xfrm>
            <a:off x="612648" y="1719072"/>
            <a:ext cx="5163160" cy="914400"/>
          </a:xfrm>
          <a:prstGeom prst="roundRect">
            <a:avLst>
              <a:gd name="adj" fmla="val 14000"/>
            </a:avLst>
          </a:prstGeom>
          <a:solidFill>
            <a:srgbClr val="0B6E8A"/>
          </a:solidFill>
          <a:ln w="12700">
            <a:solidFill>
              <a:srgbClr val="0B6E8A"/>
            </a:solidFill>
            <a:prstDash val="solid"/>
          </a:ln>
        </p:spPr>
      </p:sp>
      <p:sp>
        <p:nvSpPr>
          <p:cNvPr id="19" name="Shape 17"/>
          <p:cNvSpPr/>
          <p:nvPr/>
        </p:nvSpPr>
        <p:spPr>
          <a:xfrm>
            <a:off x="612648" y="2267712"/>
            <a:ext cx="5163160" cy="365760"/>
          </a:xfrm>
          <a:prstGeom prst="rect">
            <a:avLst/>
          </a:prstGeom>
          <a:solidFill>
            <a:srgbClr val="0B6E8A"/>
          </a:solidFill>
          <a:ln w="12700">
            <a:solidFill>
              <a:srgbClr val="0B6E8A"/>
            </a:solidFill>
            <a:prstDash val="solid"/>
          </a:ln>
        </p:spPr>
      </p:sp>
      <p:sp>
        <p:nvSpPr>
          <p:cNvPr id="20" name="Shape 18"/>
          <p:cNvSpPr/>
          <p:nvPr/>
        </p:nvSpPr>
        <p:spPr>
          <a:xfrm>
            <a:off x="841248" y="1874520"/>
            <a:ext cx="603504" cy="603504"/>
          </a:xfrm>
          <a:prstGeom prst="ellipse">
            <a:avLst/>
          </a:prstGeom>
          <a:solidFill>
            <a:srgbClr val="FFFFFF"/>
          </a:solidFill>
          <a:ln w="12700">
            <a:solidFill>
              <a:srgbClr val="FFFFFF"/>
            </a:solidFill>
            <a:prstDash val="solid"/>
          </a:ln>
        </p:spPr>
      </p:sp>
      <p:sp>
        <p:nvSpPr>
          <p:cNvPr id="21" name="Icono container"/>
          <p:cNvSpPr/>
          <p:nvPr/>
        </p:nvSpPr>
        <p:spPr>
          <a:xfrm>
            <a:off x="986089" y="2019361"/>
            <a:ext cx="313822" cy="313822"/>
          </a:xfrm>
          <a:custGeom>
            <a:avLst/>
            <a:gdLst/>
            <a:ahLst/>
            <a:cxnLst/>
            <a:rect l="l" t="t" r="r" b="b"/>
            <a:pathLst>
              <a:path w="313822" h="313822">
                <a:moveTo>
                  <a:pt x="287670" y="100685"/>
                </a:moveTo>
                <a:cubicBezTo>
                  <a:pt x="287670" y="92839"/>
                  <a:pt x="282440" y="84993"/>
                  <a:pt x="277210" y="81071"/>
                </a:cubicBezTo>
                <a:lnTo>
                  <a:pt x="194831" y="30075"/>
                </a:lnTo>
                <a:cubicBezTo>
                  <a:pt x="187939" y="26157"/>
                  <a:pt x="179494" y="26157"/>
                  <a:pt x="172602" y="30075"/>
                </a:cubicBezTo>
                <a:lnTo>
                  <a:pt x="37920" y="108530"/>
                </a:lnTo>
                <a:cubicBezTo>
                  <a:pt x="31382" y="111145"/>
                  <a:pt x="26152" y="118991"/>
                  <a:pt x="26152" y="126836"/>
                </a:cubicBezTo>
                <a:lnTo>
                  <a:pt x="26152" y="213137"/>
                </a:lnTo>
                <a:cubicBezTo>
                  <a:pt x="26152" y="219675"/>
                  <a:pt x="31382" y="228829"/>
                  <a:pt x="36613" y="232751"/>
                </a:cubicBezTo>
                <a:lnTo>
                  <a:pt x="118991" y="283747"/>
                </a:lnTo>
                <a:cubicBezTo>
                  <a:pt x="125883" y="287665"/>
                  <a:pt x="134328" y="287665"/>
                  <a:pt x="141220" y="283747"/>
                </a:cubicBezTo>
                <a:lnTo>
                  <a:pt x="275902" y="205292"/>
                </a:lnTo>
                <a:cubicBezTo>
                  <a:pt x="282440" y="201369"/>
                  <a:pt x="287670" y="192216"/>
                  <a:pt x="287670" y="185678"/>
                </a:cubicBezTo>
                <a:close/>
                <a:moveTo>
                  <a:pt x="130759" y="286363"/>
                </a:moveTo>
                <a:lnTo>
                  <a:pt x="130759" y="183063"/>
                </a:lnTo>
                <a:lnTo>
                  <a:pt x="27459" y="118991"/>
                </a:lnTo>
                <a:moveTo>
                  <a:pt x="130759" y="183063"/>
                </a:moveTo>
                <a:lnTo>
                  <a:pt x="286363" y="92839"/>
                </a:lnTo>
                <a:moveTo>
                  <a:pt x="183063" y="258903"/>
                </a:moveTo>
                <a:lnTo>
                  <a:pt x="183063" y="152988"/>
                </a:lnTo>
                <a:moveTo>
                  <a:pt x="235367" y="228829"/>
                </a:moveTo>
                <a:lnTo>
                  <a:pt x="235367" y="122914"/>
                </a:lnTo>
              </a:path>
            </a:pathLst>
          </a:custGeom>
          <a:noFill/>
          <a:ln w="26152" cap="rnd">
            <a:solidFill>
              <a:srgbClr val="0B6E8A"/>
            </a:solidFill>
            <a:prstDash val="solid"/>
            <a:round/>
          </a:ln>
        </p:spPr>
      </p:sp>
      <p:sp>
        <p:nvSpPr>
          <p:cNvPr id="22" name="Text 20"/>
          <p:cNvSpPr/>
          <p:nvPr/>
        </p:nvSpPr>
        <p:spPr>
          <a:xfrm>
            <a:off x="1618488" y="1828800"/>
            <a:ext cx="4020160" cy="694944"/>
          </a:xfrm>
          <a:prstGeom prst="rect">
            <a:avLst/>
          </a:prstGeom>
          <a:noFill/>
          <a:ln/>
        </p:spPr>
        <p:txBody>
          <a:bodyPr wrap="square" lIns="0" tIns="0" rIns="0" bIns="0" rtlCol="0" anchor="ctr">
            <a:normAutofit/>
          </a:bodyPr>
          <a:lstStyle/>
          <a:p>
            <a:pPr algn="l" indent="0" marL="0">
              <a:buNone/>
            </a:pPr>
            <a:r>
              <a:rPr lang="en-US" sz="1900" b="1" dirty="0">
                <a:solidFill>
                  <a:srgbClr val="FFFFFF"/>
                </a:solidFill>
                <a:latin typeface="Segoe UI Semibold" pitchFamily="34" charset="0"/>
                <a:ea typeface="Segoe UI Semibold" pitchFamily="34" charset="-122"/>
                <a:cs typeface="Segoe UI Semibold" pitchFamily="34" charset="-120"/>
              </a:rPr>
              <a:t>Docker: empaqueta</a:t>
            </a:r>
            <a:endParaRPr lang="en-US" sz="1900" dirty="0"/>
          </a:p>
        </p:txBody>
      </p:sp>
      <p:sp>
        <p:nvSpPr>
          <p:cNvPr id="23" name="Icono circle-check"/>
          <p:cNvSpPr/>
          <p:nvPr/>
        </p:nvSpPr>
        <p:spPr>
          <a:xfrm>
            <a:off x="905256" y="298323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24" name="Text 22"/>
          <p:cNvSpPr/>
          <p:nvPr/>
        </p:nvSpPr>
        <p:spPr>
          <a:xfrm>
            <a:off x="1399032" y="281635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Mete la app con Java y todo lo que usa</a:t>
            </a:r>
            <a:endParaRPr lang="en-US" sz="1500" dirty="0"/>
          </a:p>
        </p:txBody>
      </p:sp>
      <p:sp>
        <p:nvSpPr>
          <p:cNvPr id="25" name="Shape 23"/>
          <p:cNvSpPr/>
          <p:nvPr/>
        </p:nvSpPr>
        <p:spPr>
          <a:xfrm>
            <a:off x="886968" y="3479292"/>
            <a:ext cx="4614520" cy="0"/>
          </a:xfrm>
          <a:prstGeom prst="line">
            <a:avLst/>
          </a:prstGeom>
          <a:noFill/>
          <a:ln w="9525">
            <a:solidFill>
              <a:srgbClr val="DFE6F0"/>
            </a:solidFill>
            <a:prstDash val="solid"/>
          </a:ln>
        </p:spPr>
      </p:sp>
      <p:sp>
        <p:nvSpPr>
          <p:cNvPr id="26" name="Icono circle-check"/>
          <p:cNvSpPr/>
          <p:nvPr/>
        </p:nvSpPr>
        <p:spPr>
          <a:xfrm>
            <a:off x="905256" y="364617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27" name="Text 25"/>
          <p:cNvSpPr/>
          <p:nvPr/>
        </p:nvSpPr>
        <p:spPr>
          <a:xfrm>
            <a:off x="1399032" y="347929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Crea una imagen que no cambia</a:t>
            </a:r>
            <a:endParaRPr lang="en-US" sz="1500" dirty="0"/>
          </a:p>
        </p:txBody>
      </p:sp>
      <p:sp>
        <p:nvSpPr>
          <p:cNvPr id="28" name="Shape 26"/>
          <p:cNvSpPr/>
          <p:nvPr/>
        </p:nvSpPr>
        <p:spPr>
          <a:xfrm>
            <a:off x="886968" y="4142232"/>
            <a:ext cx="4614520" cy="0"/>
          </a:xfrm>
          <a:prstGeom prst="line">
            <a:avLst/>
          </a:prstGeom>
          <a:noFill/>
          <a:ln w="9525">
            <a:solidFill>
              <a:srgbClr val="DFE6F0"/>
            </a:solidFill>
            <a:prstDash val="solid"/>
          </a:ln>
        </p:spPr>
      </p:sp>
      <p:sp>
        <p:nvSpPr>
          <p:cNvPr id="29" name="Icono circle-check"/>
          <p:cNvSpPr/>
          <p:nvPr/>
        </p:nvSpPr>
        <p:spPr>
          <a:xfrm>
            <a:off x="905256" y="430911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30" name="Text 28"/>
          <p:cNvSpPr/>
          <p:nvPr/>
        </p:nvSpPr>
        <p:spPr>
          <a:xfrm>
            <a:off x="1399032" y="414223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Corre igual en una laptop o en un servidor</a:t>
            </a:r>
            <a:endParaRPr lang="en-US" sz="1500" dirty="0"/>
          </a:p>
        </p:txBody>
      </p:sp>
      <p:sp>
        <p:nvSpPr>
          <p:cNvPr id="31" name="Shape 29"/>
          <p:cNvSpPr/>
          <p:nvPr/>
        </p:nvSpPr>
        <p:spPr>
          <a:xfrm>
            <a:off x="886968" y="4805172"/>
            <a:ext cx="4614520" cy="0"/>
          </a:xfrm>
          <a:prstGeom prst="line">
            <a:avLst/>
          </a:prstGeom>
          <a:noFill/>
          <a:ln w="9525">
            <a:solidFill>
              <a:srgbClr val="DFE6F0"/>
            </a:solidFill>
            <a:prstDash val="solid"/>
          </a:ln>
        </p:spPr>
      </p:sp>
      <p:sp>
        <p:nvSpPr>
          <p:cNvPr id="32" name="Icono circle-check"/>
          <p:cNvSpPr/>
          <p:nvPr/>
        </p:nvSpPr>
        <p:spPr>
          <a:xfrm>
            <a:off x="905256" y="497205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33" name="Text 31"/>
          <p:cNvSpPr/>
          <p:nvPr/>
        </p:nvSpPr>
        <p:spPr>
          <a:xfrm>
            <a:off x="1399032" y="480517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Compose levanta varias cajas juntas</a:t>
            </a:r>
            <a:endParaRPr lang="en-US" sz="1500" dirty="0"/>
          </a:p>
        </p:txBody>
      </p:sp>
      <p:sp>
        <p:nvSpPr>
          <p:cNvPr id="34" name="[p1] Forma"/>
          <p:cNvSpPr/>
          <p:nvPr/>
        </p:nvSpPr>
        <p:spPr>
          <a:xfrm>
            <a:off x="6415888" y="1719072"/>
            <a:ext cx="5163160" cy="3794760"/>
          </a:xfrm>
          <a:prstGeom prst="roundRect">
            <a:avLst>
              <a:gd name="adj" fmla="val 3373"/>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5" name="[p1] Forma"/>
          <p:cNvSpPr/>
          <p:nvPr/>
        </p:nvSpPr>
        <p:spPr>
          <a:xfrm>
            <a:off x="6415888" y="1719072"/>
            <a:ext cx="5163160" cy="914400"/>
          </a:xfrm>
          <a:prstGeom prst="roundRect">
            <a:avLst>
              <a:gd name="adj" fmla="val 14000"/>
            </a:avLst>
          </a:prstGeom>
          <a:solidFill>
            <a:srgbClr val="0A6648"/>
          </a:solidFill>
          <a:ln w="12700">
            <a:solidFill>
              <a:srgbClr val="0A6648"/>
            </a:solidFill>
            <a:prstDash val="solid"/>
          </a:ln>
        </p:spPr>
      </p:sp>
      <p:sp>
        <p:nvSpPr>
          <p:cNvPr id="36" name="[p1] Forma"/>
          <p:cNvSpPr/>
          <p:nvPr/>
        </p:nvSpPr>
        <p:spPr>
          <a:xfrm>
            <a:off x="6415888" y="2267712"/>
            <a:ext cx="5163160" cy="365760"/>
          </a:xfrm>
          <a:prstGeom prst="rect">
            <a:avLst/>
          </a:prstGeom>
          <a:solidFill>
            <a:srgbClr val="0A6648"/>
          </a:solidFill>
          <a:ln w="12700">
            <a:solidFill>
              <a:srgbClr val="0A6648"/>
            </a:solidFill>
            <a:prstDash val="solid"/>
          </a:ln>
        </p:spPr>
      </p:sp>
      <p:sp>
        <p:nvSpPr>
          <p:cNvPr id="37" name="[p1] Forma"/>
          <p:cNvSpPr/>
          <p:nvPr/>
        </p:nvSpPr>
        <p:spPr>
          <a:xfrm>
            <a:off x="6644488" y="1874520"/>
            <a:ext cx="603504" cy="603504"/>
          </a:xfrm>
          <a:prstGeom prst="ellipse">
            <a:avLst/>
          </a:prstGeom>
          <a:solidFill>
            <a:srgbClr val="FFFFFF"/>
          </a:solidFill>
          <a:ln w="12700">
            <a:solidFill>
              <a:srgbClr val="FFFFFF"/>
            </a:solidFill>
            <a:prstDash val="solid"/>
          </a:ln>
        </p:spPr>
      </p:sp>
      <p:sp>
        <p:nvSpPr>
          <p:cNvPr id="38" name="[p1] Icono ship-wheel"/>
          <p:cNvSpPr/>
          <p:nvPr/>
        </p:nvSpPr>
        <p:spPr>
          <a:xfrm>
            <a:off x="6789329" y="2019361"/>
            <a:ext cx="313822" cy="313822"/>
          </a:xfrm>
          <a:custGeom>
            <a:avLst/>
            <a:gdLst/>
            <a:ahLst/>
            <a:cxnLst/>
            <a:rect l="l" t="t" r="r" b="b"/>
            <a:pathLst>
              <a:path w="313822" h="313822">
                <a:moveTo>
                  <a:pt x="261518" y="156911"/>
                </a:moveTo>
                <a:cubicBezTo>
                  <a:pt x="261518" y="214684"/>
                  <a:pt x="214684" y="261518"/>
                  <a:pt x="156911" y="261518"/>
                </a:cubicBezTo>
                <a:cubicBezTo>
                  <a:pt x="99138" y="261518"/>
                  <a:pt x="52304" y="214684"/>
                  <a:pt x="52304" y="156911"/>
                </a:cubicBezTo>
                <a:cubicBezTo>
                  <a:pt x="52304" y="99138"/>
                  <a:pt x="99138" y="52304"/>
                  <a:pt x="156911" y="52304"/>
                </a:cubicBezTo>
                <a:cubicBezTo>
                  <a:pt x="214684" y="52304"/>
                  <a:pt x="261518" y="99138"/>
                  <a:pt x="261518" y="156911"/>
                </a:cubicBezTo>
                <a:close/>
                <a:moveTo>
                  <a:pt x="156911" y="26152"/>
                </a:moveTo>
                <a:lnTo>
                  <a:pt x="156911" y="124221"/>
                </a:lnTo>
                <a:moveTo>
                  <a:pt x="248442" y="65380"/>
                </a:moveTo>
                <a:lnTo>
                  <a:pt x="180055" y="133767"/>
                </a:lnTo>
                <a:moveTo>
                  <a:pt x="287670" y="156911"/>
                </a:moveTo>
                <a:lnTo>
                  <a:pt x="189601" y="156911"/>
                </a:lnTo>
                <a:moveTo>
                  <a:pt x="248442" y="248442"/>
                </a:moveTo>
                <a:lnTo>
                  <a:pt x="180055" y="180055"/>
                </a:lnTo>
                <a:moveTo>
                  <a:pt x="156911" y="189601"/>
                </a:moveTo>
                <a:lnTo>
                  <a:pt x="156911" y="287670"/>
                </a:lnTo>
                <a:moveTo>
                  <a:pt x="133767" y="180055"/>
                </a:moveTo>
                <a:lnTo>
                  <a:pt x="65380" y="248442"/>
                </a:lnTo>
                <a:moveTo>
                  <a:pt x="124221" y="156911"/>
                </a:moveTo>
                <a:lnTo>
                  <a:pt x="26152" y="156911"/>
                </a:lnTo>
                <a:moveTo>
                  <a:pt x="133767" y="133767"/>
                </a:moveTo>
                <a:lnTo>
                  <a:pt x="65380" y="65380"/>
                </a:lnTo>
                <a:moveTo>
                  <a:pt x="189601" y="156911"/>
                </a:moveTo>
                <a:cubicBezTo>
                  <a:pt x="189601" y="174965"/>
                  <a:pt x="174965" y="189601"/>
                  <a:pt x="156911" y="189601"/>
                </a:cubicBezTo>
                <a:cubicBezTo>
                  <a:pt x="138857" y="189601"/>
                  <a:pt x="124221" y="174965"/>
                  <a:pt x="124221" y="156911"/>
                </a:cubicBezTo>
                <a:cubicBezTo>
                  <a:pt x="124221" y="138857"/>
                  <a:pt x="138857" y="124221"/>
                  <a:pt x="156911" y="124221"/>
                </a:cubicBezTo>
                <a:cubicBezTo>
                  <a:pt x="174965" y="124221"/>
                  <a:pt x="189601" y="138857"/>
                  <a:pt x="189601" y="156911"/>
                </a:cubicBezTo>
                <a:close/>
              </a:path>
            </a:pathLst>
          </a:custGeom>
          <a:noFill/>
          <a:ln w="26152" cap="rnd">
            <a:solidFill>
              <a:srgbClr val="0A6648"/>
            </a:solidFill>
            <a:prstDash val="solid"/>
            <a:round/>
          </a:ln>
        </p:spPr>
      </p:sp>
      <p:sp>
        <p:nvSpPr>
          <p:cNvPr id="39" name="[p1] Forma"/>
          <p:cNvSpPr/>
          <p:nvPr/>
        </p:nvSpPr>
        <p:spPr>
          <a:xfrm>
            <a:off x="7421728" y="1828800"/>
            <a:ext cx="4020160" cy="694944"/>
          </a:xfrm>
          <a:prstGeom prst="rect">
            <a:avLst/>
          </a:prstGeom>
          <a:noFill/>
          <a:ln/>
        </p:spPr>
        <p:txBody>
          <a:bodyPr wrap="square" lIns="0" tIns="0" rIns="0" bIns="0" rtlCol="0" anchor="ctr">
            <a:normAutofit/>
          </a:bodyPr>
          <a:lstStyle/>
          <a:p>
            <a:pPr algn="l" indent="0" marL="0">
              <a:buNone/>
            </a:pPr>
            <a:r>
              <a:rPr lang="en-US" sz="1900" b="1" dirty="0">
                <a:solidFill>
                  <a:srgbClr val="FFFFFF"/>
                </a:solidFill>
                <a:latin typeface="Segoe UI Semibold" pitchFamily="34" charset="0"/>
                <a:ea typeface="Segoe UI Semibold" pitchFamily="34" charset="-122"/>
                <a:cs typeface="Segoe UI Semibold" pitchFamily="34" charset="-120"/>
              </a:rPr>
              <a:t>Kubernetes: administra</a:t>
            </a:r>
            <a:endParaRPr lang="en-US" sz="1900" dirty="0"/>
          </a:p>
        </p:txBody>
      </p:sp>
      <p:sp>
        <p:nvSpPr>
          <p:cNvPr id="40" name="[p1] Icono circle-check"/>
          <p:cNvSpPr/>
          <p:nvPr/>
        </p:nvSpPr>
        <p:spPr>
          <a:xfrm>
            <a:off x="6708496" y="298323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A6648"/>
            </a:solidFill>
            <a:prstDash val="solid"/>
            <a:round/>
          </a:ln>
        </p:spPr>
      </p:sp>
      <p:sp>
        <p:nvSpPr>
          <p:cNvPr id="41" name="[p1] Forma"/>
          <p:cNvSpPr/>
          <p:nvPr/>
        </p:nvSpPr>
        <p:spPr>
          <a:xfrm>
            <a:off x="7202272" y="281635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Decide dónde corre cada caja</a:t>
            </a:r>
            <a:endParaRPr lang="en-US" sz="1500" dirty="0"/>
          </a:p>
        </p:txBody>
      </p:sp>
      <p:sp>
        <p:nvSpPr>
          <p:cNvPr id="42" name="[p1] Forma"/>
          <p:cNvSpPr/>
          <p:nvPr/>
        </p:nvSpPr>
        <p:spPr>
          <a:xfrm>
            <a:off x="6690208" y="3479292"/>
            <a:ext cx="4614520" cy="0"/>
          </a:xfrm>
          <a:prstGeom prst="line">
            <a:avLst/>
          </a:prstGeom>
          <a:noFill/>
          <a:ln w="9525">
            <a:solidFill>
              <a:srgbClr val="DFE6F0"/>
            </a:solidFill>
            <a:prstDash val="solid"/>
          </a:ln>
        </p:spPr>
      </p:sp>
      <p:sp>
        <p:nvSpPr>
          <p:cNvPr id="43" name="[p1] Icono circle-check"/>
          <p:cNvSpPr/>
          <p:nvPr/>
        </p:nvSpPr>
        <p:spPr>
          <a:xfrm>
            <a:off x="6708496" y="364617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A6648"/>
            </a:solidFill>
            <a:prstDash val="solid"/>
            <a:round/>
          </a:ln>
        </p:spPr>
      </p:sp>
      <p:sp>
        <p:nvSpPr>
          <p:cNvPr id="44" name="[p1] Forma"/>
          <p:cNvSpPr/>
          <p:nvPr/>
        </p:nvSpPr>
        <p:spPr>
          <a:xfrm>
            <a:off x="7202272" y="347929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Si una se cae, levanta otra</a:t>
            </a:r>
            <a:endParaRPr lang="en-US" sz="1500" dirty="0"/>
          </a:p>
        </p:txBody>
      </p:sp>
      <p:sp>
        <p:nvSpPr>
          <p:cNvPr id="45" name="[p1] Forma"/>
          <p:cNvSpPr/>
          <p:nvPr/>
        </p:nvSpPr>
        <p:spPr>
          <a:xfrm>
            <a:off x="6690208" y="4142232"/>
            <a:ext cx="4614520" cy="0"/>
          </a:xfrm>
          <a:prstGeom prst="line">
            <a:avLst/>
          </a:prstGeom>
          <a:noFill/>
          <a:ln w="9525">
            <a:solidFill>
              <a:srgbClr val="DFE6F0"/>
            </a:solidFill>
            <a:prstDash val="solid"/>
          </a:ln>
        </p:spPr>
      </p:sp>
      <p:sp>
        <p:nvSpPr>
          <p:cNvPr id="46" name="[p1] Icono circle-check"/>
          <p:cNvSpPr/>
          <p:nvPr/>
        </p:nvSpPr>
        <p:spPr>
          <a:xfrm>
            <a:off x="6708496" y="430911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A6648"/>
            </a:solidFill>
            <a:prstDash val="solid"/>
            <a:round/>
          </a:ln>
        </p:spPr>
      </p:sp>
      <p:sp>
        <p:nvSpPr>
          <p:cNvPr id="47" name="[p1] Forma"/>
          <p:cNvSpPr/>
          <p:nvPr/>
        </p:nvSpPr>
        <p:spPr>
          <a:xfrm>
            <a:off x="7202272" y="414223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Le da a cada servicio un nombre fijo</a:t>
            </a:r>
            <a:endParaRPr lang="en-US" sz="1500" dirty="0"/>
          </a:p>
        </p:txBody>
      </p:sp>
      <p:sp>
        <p:nvSpPr>
          <p:cNvPr id="48" name="[p1] Forma"/>
          <p:cNvSpPr/>
          <p:nvPr/>
        </p:nvSpPr>
        <p:spPr>
          <a:xfrm>
            <a:off x="6690208" y="4805172"/>
            <a:ext cx="4614520" cy="0"/>
          </a:xfrm>
          <a:prstGeom prst="line">
            <a:avLst/>
          </a:prstGeom>
          <a:noFill/>
          <a:ln w="9525">
            <a:solidFill>
              <a:srgbClr val="DFE6F0"/>
            </a:solidFill>
            <a:prstDash val="solid"/>
          </a:ln>
        </p:spPr>
      </p:sp>
      <p:sp>
        <p:nvSpPr>
          <p:cNvPr id="49" name="[p1] Icono circle-check"/>
          <p:cNvSpPr/>
          <p:nvPr/>
        </p:nvSpPr>
        <p:spPr>
          <a:xfrm>
            <a:off x="6708496" y="497205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A6648"/>
            </a:solidFill>
            <a:prstDash val="solid"/>
            <a:round/>
          </a:ln>
        </p:spPr>
      </p:sp>
      <p:sp>
        <p:nvSpPr>
          <p:cNvPr id="50" name="[p1] Forma"/>
          <p:cNvSpPr/>
          <p:nvPr/>
        </p:nvSpPr>
        <p:spPr>
          <a:xfrm>
            <a:off x="7202272" y="480517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Puede correr más copias si hay carga</a:t>
            </a:r>
            <a:endParaRPr lang="en-US" sz="1500" dirty="0"/>
          </a:p>
        </p:txBody>
      </p:sp>
      <p:sp>
        <p:nvSpPr>
          <p:cNvPr id="51" name="[p1] Forma"/>
          <p:cNvSpPr/>
          <p:nvPr/>
        </p:nvSpPr>
        <p:spPr>
          <a:xfrm>
            <a:off x="5766664" y="3287268"/>
            <a:ext cx="658368" cy="658368"/>
          </a:xfrm>
          <a:prstGeom prst="ellipse">
            <a:avLst/>
          </a:prstGeom>
          <a:solidFill>
            <a:srgbClr val="2BA6CB"/>
          </a:solidFill>
          <a:ln w="38100">
            <a:solidFill>
              <a:srgbClr val="FFFFFF"/>
            </a:solidFill>
          </a:ln>
          <a:effectLst>
            <a:outerShdw sx="100000" sy="100000" kx="0" ky="0" algn="bl" rotWithShape="0" blurRad="114300" dist="50800" dir="16200000">
              <a:srgbClr val="2BA6CB">
                <a:alpha val="60000"/>
              </a:srgbClr>
            </a:outerShdw>
          </a:effectLst>
        </p:spPr>
        <p:txBody>
          <a:bodyPr wrap="square" lIns="0" tIns="0" rIns="0" bIns="0" rtlCol="0" anchor="ctr"/>
          <a:lstStyle/>
          <a:p>
            <a:pPr algn="ctr" indent="0" marL="0">
              <a:buNone/>
            </a:pPr>
            <a:r>
              <a:rPr lang="en-US" sz="2800" b="1" dirty="0">
                <a:solidFill>
                  <a:srgbClr val="0B1F3A"/>
                </a:solidFill>
                <a:latin typeface="Segoe UI Semibold" pitchFamily="34" charset="0"/>
                <a:ea typeface="Segoe UI Semibold" pitchFamily="34" charset="-122"/>
                <a:cs typeface="Segoe UI Semibold" pitchFamily="34" charset="-120"/>
              </a:rPr>
              <a:t>+</a:t>
            </a:r>
            <a:endParaRPr lang="en-US" sz="2800" dirty="0"/>
          </a:p>
        </p:txBody>
      </p:sp>
      <p:sp>
        <p:nvSpPr>
          <p:cNvPr id="52" name="Text 5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DEVOPS: DOCKER Y KUBERNETES</a:t>
            </a:r>
            <a:endParaRPr lang="en-US" sz="800" dirty="0"/>
          </a:p>
        </p:txBody>
      </p:sp>
      <p:sp>
        <p:nvSpPr>
          <p:cNvPr id="53"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7" fill="hold">
                      <p:stCondLst>
                        <p:cond delay="indefinite"/>
                      </p:stCondLst>
                      <p:childTnLst>
                        <p:par>
                          <p:cTn id="58"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4"/>
                                        </p:tgtEl>
                                        <p:attrNameLst>
                                          <p:attrName>style.visibility</p:attrName>
                                        </p:attrNameLst>
                                      </p:cBhvr>
                                      <p:to>
                                        <p:strVal val="visible"/>
                                      </p:to>
                                    </p:set>
                                    <p:animEffect transition="in" filter="fade">
                                      <p:cBhvr>
                                        <p:cTn id="5" dur="400"/>
                                        <p:tgtEl>
                                          <p:spTgt spid="3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5"/>
                                        </p:tgtEl>
                                        <p:attrNameLst>
                                          <p:attrName>style.visibility</p:attrName>
                                        </p:attrNameLst>
                                      </p:cBhvr>
                                      <p:to>
                                        <p:strVal val="visible"/>
                                      </p:to>
                                    </p:set>
                                    <p:animEffect transition="in" filter="fade">
                                      <p:cBhvr>
                                        <p:cTn id="8" dur="400"/>
                                        <p:tgtEl>
                                          <p:spTgt spid="35"/>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36"/>
                                        </p:tgtEl>
                                        <p:attrNameLst>
                                          <p:attrName>style.visibility</p:attrName>
                                        </p:attrNameLst>
                                      </p:cBhvr>
                                      <p:to>
                                        <p:strVal val="visible"/>
                                      </p:to>
                                    </p:set>
                                    <p:animEffect transition="in" filter="fade">
                                      <p:cBhvr>
                                        <p:cTn id="11" dur="400"/>
                                        <p:tgtEl>
                                          <p:spTgt spid="3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7"/>
                                        </p:tgtEl>
                                        <p:attrNameLst>
                                          <p:attrName>style.visibility</p:attrName>
                                        </p:attrNameLst>
                                      </p:cBhvr>
                                      <p:to>
                                        <p:strVal val="visible"/>
                                      </p:to>
                                    </p:set>
                                    <p:animEffect transition="in" filter="fade">
                                      <p:cBhvr>
                                        <p:cTn id="14" dur="400"/>
                                        <p:tgtEl>
                                          <p:spTgt spid="3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8"/>
                                        </p:tgtEl>
                                        <p:attrNameLst>
                                          <p:attrName>style.visibility</p:attrName>
                                        </p:attrNameLst>
                                      </p:cBhvr>
                                      <p:to>
                                        <p:strVal val="visible"/>
                                      </p:to>
                                    </p:set>
                                    <p:animEffect transition="in" filter="fade">
                                      <p:cBhvr>
                                        <p:cTn id="17" dur="400"/>
                                        <p:tgtEl>
                                          <p:spTgt spid="3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9"/>
                                        </p:tgtEl>
                                        <p:attrNameLst>
                                          <p:attrName>style.visibility</p:attrName>
                                        </p:attrNameLst>
                                      </p:cBhvr>
                                      <p:to>
                                        <p:strVal val="visible"/>
                                      </p:to>
                                    </p:set>
                                    <p:animEffect transition="in" filter="fade">
                                      <p:cBhvr>
                                        <p:cTn id="20" dur="400"/>
                                        <p:tgtEl>
                                          <p:spTgt spid="3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40"/>
                                        </p:tgtEl>
                                        <p:attrNameLst>
                                          <p:attrName>style.visibility</p:attrName>
                                        </p:attrNameLst>
                                      </p:cBhvr>
                                      <p:to>
                                        <p:strVal val="visible"/>
                                      </p:to>
                                    </p:set>
                                    <p:animEffect transition="in" filter="fade">
                                      <p:cBhvr>
                                        <p:cTn id="23" dur="400"/>
                                        <p:tgtEl>
                                          <p:spTgt spid="4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41"/>
                                        </p:tgtEl>
                                        <p:attrNameLst>
                                          <p:attrName>style.visibility</p:attrName>
                                        </p:attrNameLst>
                                      </p:cBhvr>
                                      <p:to>
                                        <p:strVal val="visible"/>
                                      </p:to>
                                    </p:set>
                                    <p:animEffect transition="in" filter="fade">
                                      <p:cBhvr>
                                        <p:cTn id="26" dur="400"/>
                                        <p:tgtEl>
                                          <p:spTgt spid="4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42"/>
                                        </p:tgtEl>
                                        <p:attrNameLst>
                                          <p:attrName>style.visibility</p:attrName>
                                        </p:attrNameLst>
                                      </p:cBhvr>
                                      <p:to>
                                        <p:strVal val="visible"/>
                                      </p:to>
                                    </p:set>
                                    <p:animEffect transition="in" filter="fade">
                                      <p:cBhvr>
                                        <p:cTn id="29" dur="400"/>
                                        <p:tgtEl>
                                          <p:spTgt spid="4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3"/>
                                        </p:tgtEl>
                                        <p:attrNameLst>
                                          <p:attrName>style.visibility</p:attrName>
                                        </p:attrNameLst>
                                      </p:cBhvr>
                                      <p:to>
                                        <p:strVal val="visible"/>
                                      </p:to>
                                    </p:set>
                                    <p:animEffect transition="in" filter="fade">
                                      <p:cBhvr>
                                        <p:cTn id="32" dur="400"/>
                                        <p:tgtEl>
                                          <p:spTgt spid="4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4"/>
                                        </p:tgtEl>
                                        <p:attrNameLst>
                                          <p:attrName>style.visibility</p:attrName>
                                        </p:attrNameLst>
                                      </p:cBhvr>
                                      <p:to>
                                        <p:strVal val="visible"/>
                                      </p:to>
                                    </p:set>
                                    <p:animEffect transition="in" filter="fade">
                                      <p:cBhvr>
                                        <p:cTn id="35" dur="400"/>
                                        <p:tgtEl>
                                          <p:spTgt spid="44"/>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5"/>
                                        </p:tgtEl>
                                        <p:attrNameLst>
                                          <p:attrName>style.visibility</p:attrName>
                                        </p:attrNameLst>
                                      </p:cBhvr>
                                      <p:to>
                                        <p:strVal val="visible"/>
                                      </p:to>
                                    </p:set>
                                    <p:animEffect transition="in" filter="fade">
                                      <p:cBhvr>
                                        <p:cTn id="38" dur="400"/>
                                        <p:tgtEl>
                                          <p:spTgt spid="4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46"/>
                                        </p:tgtEl>
                                        <p:attrNameLst>
                                          <p:attrName>style.visibility</p:attrName>
                                        </p:attrNameLst>
                                      </p:cBhvr>
                                      <p:to>
                                        <p:strVal val="visible"/>
                                      </p:to>
                                    </p:set>
                                    <p:animEffect transition="in" filter="fade">
                                      <p:cBhvr>
                                        <p:cTn id="41" dur="400"/>
                                        <p:tgtEl>
                                          <p:spTgt spid="4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47"/>
                                        </p:tgtEl>
                                        <p:attrNameLst>
                                          <p:attrName>style.visibility</p:attrName>
                                        </p:attrNameLst>
                                      </p:cBhvr>
                                      <p:to>
                                        <p:strVal val="visible"/>
                                      </p:to>
                                    </p:set>
                                    <p:animEffect transition="in" filter="fade">
                                      <p:cBhvr>
                                        <p:cTn id="44" dur="400"/>
                                        <p:tgtEl>
                                          <p:spTgt spid="47"/>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48"/>
                                        </p:tgtEl>
                                        <p:attrNameLst>
                                          <p:attrName>style.visibility</p:attrName>
                                        </p:attrNameLst>
                                      </p:cBhvr>
                                      <p:to>
                                        <p:strVal val="visible"/>
                                      </p:to>
                                    </p:set>
                                    <p:animEffect transition="in" filter="fade">
                                      <p:cBhvr>
                                        <p:cTn id="47" dur="400"/>
                                        <p:tgtEl>
                                          <p:spTgt spid="4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9"/>
                                        </p:tgtEl>
                                        <p:attrNameLst>
                                          <p:attrName>style.visibility</p:attrName>
                                        </p:attrNameLst>
                                      </p:cBhvr>
                                      <p:to>
                                        <p:strVal val="visible"/>
                                      </p:to>
                                    </p:set>
                                    <p:animEffect transition="in" filter="fade">
                                      <p:cBhvr>
                                        <p:cTn id="50" dur="400"/>
                                        <p:tgtEl>
                                          <p:spTgt spid="49"/>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50"/>
                                        </p:tgtEl>
                                        <p:attrNameLst>
                                          <p:attrName>style.visibility</p:attrName>
                                        </p:attrNameLst>
                                      </p:cBhvr>
                                      <p:to>
                                        <p:strVal val="visible"/>
                                      </p:to>
                                    </p:set>
                                    <p:animEffect transition="in" filter="fade">
                                      <p:cBhvr>
                                        <p:cTn id="53" dur="400"/>
                                        <p:tgtEl>
                                          <p:spTgt spid="50"/>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51"/>
                                        </p:tgtEl>
                                        <p:attrNameLst>
                                          <p:attrName>style.visibility</p:attrName>
                                        </p:attrNameLst>
                                      </p:cBhvr>
                                      <p:to>
                                        <p:strVal val="visible"/>
                                      </p:to>
                                    </p:set>
                                    <p:animEffect transition="in" filter="fade">
                                      <p:cBhvr>
                                        <p:cTn id="56" dur="4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DEVOPS: DOCKER Y KUBERNETES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Cuando un Pod se cae</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2BA6CB"/>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Kubernetes vuelve solo al estado que declaramos.</a:t>
            </a:r>
            <a:endParaRPr lang="en-US" sz="1700" dirty="0"/>
          </a:p>
        </p:txBody>
      </p:sp>
      <p:sp>
        <p:nvSpPr>
          <p:cNvPr id="13" name="Shape 11"/>
          <p:cNvSpPr/>
          <p:nvPr/>
        </p:nvSpPr>
        <p:spPr>
          <a:xfrm>
            <a:off x="612648" y="1719072"/>
            <a:ext cx="10966399" cy="749808"/>
          </a:xfrm>
          <a:prstGeom prst="roundRect">
            <a:avLst>
              <a:gd name="adj" fmla="val 14634"/>
            </a:avLst>
          </a:prstGeom>
          <a:solidFill>
            <a:srgbClr val="F7E3E7"/>
          </a:solidFill>
          <a:ln w="15875">
            <a:solidFill>
              <a:srgbClr val="D18795"/>
            </a:solidFill>
            <a:prstDash val="solid"/>
          </a:ln>
          <a:effectLst>
            <a:outerShdw sx="100000" sy="100000" kx="0" ky="0" algn="bl" rotWithShape="0" blurRad="76200" dist="19050" dir="5400000">
              <a:srgbClr val="0B1F3A">
                <a:alpha val="14000"/>
              </a:srgbClr>
            </a:outerShdw>
          </a:effectLst>
        </p:spPr>
      </p:sp>
      <p:sp>
        <p:nvSpPr>
          <p:cNvPr id="14" name="Shape 12"/>
          <p:cNvSpPr/>
          <p:nvPr/>
        </p:nvSpPr>
        <p:spPr>
          <a:xfrm>
            <a:off x="612648" y="1828800"/>
            <a:ext cx="82296" cy="530352"/>
          </a:xfrm>
          <a:prstGeom prst="rect">
            <a:avLst/>
          </a:prstGeom>
          <a:solidFill>
            <a:srgbClr val="AB243E"/>
          </a:solidFill>
          <a:ln w="12700">
            <a:solidFill>
              <a:srgbClr val="AB243E"/>
            </a:solidFill>
            <a:prstDash val="solid"/>
          </a:ln>
        </p:spPr>
      </p:sp>
      <p:sp>
        <p:nvSpPr>
          <p:cNvPr id="15" name="Shape 13"/>
          <p:cNvSpPr/>
          <p:nvPr/>
        </p:nvSpPr>
        <p:spPr>
          <a:xfrm>
            <a:off x="886968" y="1819656"/>
            <a:ext cx="548640" cy="548640"/>
          </a:xfrm>
          <a:prstGeom prst="ellipse">
            <a:avLst/>
          </a:prstGeom>
          <a:solidFill>
            <a:srgbClr val="AB243E"/>
          </a:solidFill>
          <a:ln w="12700">
            <a:solidFill>
              <a:srgbClr val="AB243E"/>
            </a:solidFill>
            <a:prstDash val="solid"/>
          </a:ln>
        </p:spPr>
      </p:sp>
      <p:sp>
        <p:nvSpPr>
          <p:cNvPr id="16" name="Icono siren"/>
          <p:cNvSpPr/>
          <p:nvPr/>
        </p:nvSpPr>
        <p:spPr>
          <a:xfrm>
            <a:off x="1018642" y="1951330"/>
            <a:ext cx="285293" cy="285293"/>
          </a:xfrm>
          <a:custGeom>
            <a:avLst/>
            <a:gdLst/>
            <a:ahLst/>
            <a:cxnLst/>
            <a:rect l="l" t="t" r="r" b="b"/>
            <a:pathLst>
              <a:path w="285293" h="285293">
                <a:moveTo>
                  <a:pt x="83210" y="213970"/>
                </a:moveTo>
                <a:lnTo>
                  <a:pt x="83210" y="142646"/>
                </a:lnTo>
                <a:cubicBezTo>
                  <a:pt x="83210" y="109821"/>
                  <a:pt x="109821" y="83210"/>
                  <a:pt x="142646" y="83210"/>
                </a:cubicBezTo>
                <a:cubicBezTo>
                  <a:pt x="175472" y="83210"/>
                  <a:pt x="202082" y="109821"/>
                  <a:pt x="202082" y="142646"/>
                </a:cubicBezTo>
                <a:lnTo>
                  <a:pt x="202082" y="213970"/>
                </a:lnTo>
                <a:moveTo>
                  <a:pt x="59436" y="249631"/>
                </a:moveTo>
                <a:cubicBezTo>
                  <a:pt x="59436" y="256196"/>
                  <a:pt x="64758" y="261518"/>
                  <a:pt x="71323" y="261518"/>
                </a:cubicBezTo>
                <a:lnTo>
                  <a:pt x="213970" y="261518"/>
                </a:lnTo>
                <a:cubicBezTo>
                  <a:pt x="220535" y="261518"/>
                  <a:pt x="225857" y="256196"/>
                  <a:pt x="225857" y="249631"/>
                </a:cubicBezTo>
                <a:lnTo>
                  <a:pt x="225857" y="237744"/>
                </a:lnTo>
                <a:cubicBezTo>
                  <a:pt x="225857" y="224614"/>
                  <a:pt x="215213" y="213970"/>
                  <a:pt x="202082" y="213970"/>
                </a:cubicBezTo>
                <a:lnTo>
                  <a:pt x="83210" y="213970"/>
                </a:lnTo>
                <a:cubicBezTo>
                  <a:pt x="70080" y="213970"/>
                  <a:pt x="59436" y="224614"/>
                  <a:pt x="59436" y="237744"/>
                </a:cubicBezTo>
                <a:close/>
                <a:moveTo>
                  <a:pt x="249631" y="142646"/>
                </a:moveTo>
                <a:lnTo>
                  <a:pt x="261518" y="142646"/>
                </a:lnTo>
                <a:moveTo>
                  <a:pt x="219913" y="53492"/>
                </a:moveTo>
                <a:lnTo>
                  <a:pt x="213970" y="59436"/>
                </a:lnTo>
                <a:moveTo>
                  <a:pt x="23774" y="142646"/>
                </a:moveTo>
                <a:lnTo>
                  <a:pt x="35662" y="142646"/>
                </a:lnTo>
                <a:moveTo>
                  <a:pt x="142646" y="23774"/>
                </a:moveTo>
                <a:lnTo>
                  <a:pt x="142646" y="35662"/>
                </a:lnTo>
                <a:moveTo>
                  <a:pt x="58592" y="58592"/>
                </a:moveTo>
                <a:lnTo>
                  <a:pt x="66996" y="66996"/>
                </a:lnTo>
                <a:moveTo>
                  <a:pt x="142646" y="142646"/>
                </a:moveTo>
                <a:lnTo>
                  <a:pt x="142646" y="213970"/>
                </a:lnTo>
              </a:path>
            </a:pathLst>
          </a:custGeom>
          <a:noFill/>
          <a:ln w="23774" cap="rnd">
            <a:solidFill>
              <a:srgbClr val="FFFFFF"/>
            </a:solidFill>
            <a:prstDash val="solid"/>
            <a:round/>
          </a:ln>
        </p:spPr>
      </p:sp>
      <p:sp>
        <p:nvSpPr>
          <p:cNvPr id="17" name="Text 15"/>
          <p:cNvSpPr/>
          <p:nvPr/>
        </p:nvSpPr>
        <p:spPr>
          <a:xfrm>
            <a:off x="1618488" y="1810512"/>
            <a:ext cx="2194560" cy="237744"/>
          </a:xfrm>
          <a:prstGeom prst="rect">
            <a:avLst/>
          </a:prstGeom>
          <a:noFill/>
          <a:ln/>
        </p:spPr>
        <p:txBody>
          <a:bodyPr wrap="square" lIns="0" tIns="0" rIns="0" bIns="0" rtlCol="0" anchor="t">
            <a:normAutofit/>
          </a:bodyPr>
          <a:lstStyle/>
          <a:p>
            <a:pPr algn="l" indent="0" marL="0">
              <a:buNone/>
            </a:pPr>
            <a:r>
              <a:rPr lang="en-US" sz="1000" b="1" dirty="0">
                <a:solidFill>
                  <a:srgbClr val="AB243E"/>
                </a:solidFill>
                <a:latin typeface="Segoe UI" pitchFamily="34" charset="0"/>
                <a:ea typeface="Segoe UI" pitchFamily="34" charset="-122"/>
                <a:cs typeface="Segoe UI" pitchFamily="34" charset="-120"/>
              </a:rPr>
              <a:t>QUÉ FALLA</a:t>
            </a:r>
            <a:endParaRPr lang="en-US" sz="1000" dirty="0"/>
          </a:p>
        </p:txBody>
      </p:sp>
      <p:sp>
        <p:nvSpPr>
          <p:cNvPr id="18" name="Text 16"/>
          <p:cNvSpPr/>
          <p:nvPr/>
        </p:nvSpPr>
        <p:spPr>
          <a:xfrm>
            <a:off x="1618488" y="2011680"/>
            <a:ext cx="9777679" cy="384048"/>
          </a:xfrm>
          <a:prstGeom prst="rect">
            <a:avLst/>
          </a:prstGeom>
          <a:noFill/>
          <a:ln/>
        </p:spPr>
        <p:txBody>
          <a:bodyPr wrap="square" lIns="0" tIns="0" rIns="0" bIns="0" rtlCol="0" anchor="ctr">
            <a:normAutofit/>
          </a:bodyPr>
          <a:lstStyle/>
          <a:p>
            <a:pPr indent="0" marL="0">
              <a:buNone/>
            </a:pPr>
            <a:r>
              <a:rPr lang="en-US" sz="1650" b="1" dirty="0">
                <a:solidFill>
                  <a:srgbClr val="AB243E"/>
                </a:solidFill>
                <a:latin typeface="Segoe UI" pitchFamily="34" charset="0"/>
                <a:ea typeface="Segoe UI" pitchFamily="34" charset="-122"/>
                <a:cs typeface="Segoe UI" pitchFamily="34" charset="-120"/>
              </a:rPr>
              <a:t>Se cae el Pod de solicitudes</a:t>
            </a:r>
            <a:pPr indent="0" marL="0">
              <a:buNone/>
            </a:pPr>
            <a:r>
              <a:rPr lang="en-US" sz="1650" dirty="0">
                <a:solidFill>
                  <a:srgbClr val="0B1A3C"/>
                </a:solidFill>
                <a:latin typeface="Segoe UI" pitchFamily="34" charset="0"/>
                <a:ea typeface="Segoe UI" pitchFamily="34" charset="-122"/>
                <a:cs typeface="Segoe UI" pitchFamily="34" charset="-120"/>
              </a:rPr>
              <a:t>   Un error, un nodo reiniciado o un kubectl delete.</a:t>
            </a:r>
            <a:endParaRPr lang="en-US" sz="1650" dirty="0"/>
          </a:p>
        </p:txBody>
      </p:sp>
      <p:sp>
        <p:nvSpPr>
          <p:cNvPr id="19" name="[p5] Forma"/>
          <p:cNvSpPr/>
          <p:nvPr/>
        </p:nvSpPr>
        <p:spPr>
          <a:xfrm>
            <a:off x="612648" y="5605272"/>
            <a:ext cx="10966399" cy="749808"/>
          </a:xfrm>
          <a:prstGeom prst="roundRect">
            <a:avLst>
              <a:gd name="adj" fmla="val 14634"/>
            </a:avLst>
          </a:prstGeom>
          <a:solidFill>
            <a:srgbClr val="E1F1EA"/>
          </a:solidFill>
          <a:ln w="15875">
            <a:solidFill>
              <a:srgbClr val="78AB9A"/>
            </a:solidFill>
            <a:prstDash val="solid"/>
          </a:ln>
          <a:effectLst>
            <a:outerShdw sx="100000" sy="100000" kx="0" ky="0" algn="bl" rotWithShape="0" blurRad="76200" dist="19050" dir="5400000">
              <a:srgbClr val="0B1F3A">
                <a:alpha val="14000"/>
              </a:srgbClr>
            </a:outerShdw>
          </a:effectLst>
        </p:spPr>
      </p:sp>
      <p:sp>
        <p:nvSpPr>
          <p:cNvPr id="20" name="[p5] Forma"/>
          <p:cNvSpPr/>
          <p:nvPr/>
        </p:nvSpPr>
        <p:spPr>
          <a:xfrm>
            <a:off x="612648" y="5715000"/>
            <a:ext cx="82296" cy="530352"/>
          </a:xfrm>
          <a:prstGeom prst="rect">
            <a:avLst/>
          </a:prstGeom>
          <a:solidFill>
            <a:srgbClr val="0A6648"/>
          </a:solidFill>
          <a:ln w="12700">
            <a:solidFill>
              <a:srgbClr val="0A6648"/>
            </a:solidFill>
            <a:prstDash val="solid"/>
          </a:ln>
        </p:spPr>
      </p:sp>
      <p:sp>
        <p:nvSpPr>
          <p:cNvPr id="21" name="[p5] Forma"/>
          <p:cNvSpPr/>
          <p:nvPr/>
        </p:nvSpPr>
        <p:spPr>
          <a:xfrm>
            <a:off x="886968" y="5705856"/>
            <a:ext cx="548640" cy="548640"/>
          </a:xfrm>
          <a:prstGeom prst="ellipse">
            <a:avLst/>
          </a:prstGeom>
          <a:solidFill>
            <a:srgbClr val="0A6648"/>
          </a:solidFill>
          <a:ln w="12700">
            <a:solidFill>
              <a:srgbClr val="0A6648"/>
            </a:solidFill>
            <a:prstDash val="solid"/>
          </a:ln>
        </p:spPr>
      </p:sp>
      <p:sp>
        <p:nvSpPr>
          <p:cNvPr id="22" name="[p5] Icono circle-check"/>
          <p:cNvSpPr/>
          <p:nvPr/>
        </p:nvSpPr>
        <p:spPr>
          <a:xfrm>
            <a:off x="1018642" y="5837530"/>
            <a:ext cx="285293" cy="285293"/>
          </a:xfrm>
          <a:custGeom>
            <a:avLst/>
            <a:gdLst/>
            <a:ahLst/>
            <a:cxnLst/>
            <a:rect l="l" t="t" r="r" b="b"/>
            <a:pathLst>
              <a:path w="285293" h="285293">
                <a:moveTo>
                  <a:pt x="261518" y="142646"/>
                </a:moveTo>
                <a:cubicBezTo>
                  <a:pt x="261518" y="208298"/>
                  <a:pt x="208298" y="261518"/>
                  <a:pt x="142646" y="261518"/>
                </a:cubicBezTo>
                <a:cubicBezTo>
                  <a:pt x="76995" y="261518"/>
                  <a:pt x="23774" y="208298"/>
                  <a:pt x="23774" y="142646"/>
                </a:cubicBezTo>
                <a:cubicBezTo>
                  <a:pt x="23774" y="76995"/>
                  <a:pt x="76995" y="23774"/>
                  <a:pt x="142646" y="23774"/>
                </a:cubicBezTo>
                <a:cubicBezTo>
                  <a:pt x="208298" y="23774"/>
                  <a:pt x="261518" y="76995"/>
                  <a:pt x="261518" y="142646"/>
                </a:cubicBezTo>
                <a:close/>
                <a:moveTo>
                  <a:pt x="106985" y="142646"/>
                </a:moveTo>
                <a:lnTo>
                  <a:pt x="130759" y="166421"/>
                </a:lnTo>
                <a:lnTo>
                  <a:pt x="178308" y="118872"/>
                </a:lnTo>
              </a:path>
            </a:pathLst>
          </a:custGeom>
          <a:noFill/>
          <a:ln w="23774" cap="rnd">
            <a:solidFill>
              <a:srgbClr val="FFFFFF"/>
            </a:solidFill>
            <a:prstDash val="solid"/>
            <a:round/>
          </a:ln>
        </p:spPr>
      </p:sp>
      <p:sp>
        <p:nvSpPr>
          <p:cNvPr id="23" name="[p5] Forma"/>
          <p:cNvSpPr/>
          <p:nvPr/>
        </p:nvSpPr>
        <p:spPr>
          <a:xfrm>
            <a:off x="1618488" y="5696712"/>
            <a:ext cx="2194560" cy="237744"/>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RESULTADO</a:t>
            </a:r>
            <a:endParaRPr lang="en-US" sz="1000" dirty="0"/>
          </a:p>
        </p:txBody>
      </p:sp>
      <p:sp>
        <p:nvSpPr>
          <p:cNvPr id="24" name="[p5] Forma"/>
          <p:cNvSpPr/>
          <p:nvPr/>
        </p:nvSpPr>
        <p:spPr>
          <a:xfrm>
            <a:off x="1618488" y="5897880"/>
            <a:ext cx="9777679" cy="384048"/>
          </a:xfrm>
          <a:prstGeom prst="rect">
            <a:avLst/>
          </a:prstGeom>
          <a:noFill/>
          <a:ln/>
        </p:spPr>
        <p:txBody>
          <a:bodyPr wrap="square" lIns="0" tIns="0" rIns="0" bIns="0" rtlCol="0" anchor="ctr">
            <a:normAutofit/>
          </a:bodyPr>
          <a:lstStyle/>
          <a:p>
            <a:pPr indent="0" marL="0">
              <a:buNone/>
            </a:pPr>
            <a:r>
              <a:rPr lang="en-US" sz="1650" b="1" dirty="0">
                <a:solidFill>
                  <a:srgbClr val="0A6648"/>
                </a:solidFill>
                <a:latin typeface="Segoe UI" pitchFamily="34" charset="0"/>
                <a:ea typeface="Segoe UI" pitchFamily="34" charset="-122"/>
                <a:cs typeface="Segoe UI" pitchFamily="34" charset="-120"/>
              </a:rPr>
              <a:t>Sin intervención manual</a:t>
            </a:r>
            <a:pPr indent="0" marL="0">
              <a:buNone/>
            </a:pPr>
            <a:r>
              <a:rPr lang="en-US" sz="1650" dirty="0">
                <a:solidFill>
                  <a:srgbClr val="0B1A3C"/>
                </a:solidFill>
                <a:latin typeface="Segoe UI" pitchFamily="34" charset="0"/>
                <a:ea typeface="Segoe UI" pitchFamily="34" charset="-122"/>
                <a:cs typeface="Segoe UI" pitchFamily="34" charset="-120"/>
              </a:rPr>
              <a:t>   Los eventos pendientes siguen en la base y se entregan.</a:t>
            </a:r>
            <a:endParaRPr lang="en-US" sz="1650" dirty="0"/>
          </a:p>
        </p:txBody>
      </p:sp>
      <p:sp>
        <p:nvSpPr>
          <p:cNvPr id="25" name="[p5] Forma"/>
          <p:cNvSpPr/>
          <p:nvPr/>
        </p:nvSpPr>
        <p:spPr>
          <a:xfrm>
            <a:off x="10208247" y="5367528"/>
            <a:ext cx="0" cy="219456"/>
          </a:xfrm>
          <a:prstGeom prst="line">
            <a:avLst/>
          </a:prstGeom>
          <a:noFill/>
          <a:ln w="25400">
            <a:solidFill>
              <a:srgbClr val="0A6648"/>
            </a:solidFill>
            <a:prstDash val="dash"/>
            <a:tailEnd type="triangle"/>
          </a:ln>
        </p:spPr>
      </p:sp>
      <p:sp>
        <p:nvSpPr>
          <p:cNvPr id="26" name="[p1] Forma"/>
          <p:cNvSpPr/>
          <p:nvPr/>
        </p:nvSpPr>
        <p:spPr>
          <a:xfrm>
            <a:off x="2631940" y="2487168"/>
            <a:ext cx="0" cy="1005108"/>
          </a:xfrm>
          <a:prstGeom prst="line">
            <a:avLst/>
          </a:prstGeom>
          <a:noFill/>
          <a:ln w="25400">
            <a:solidFill>
              <a:srgbClr val="AB243E"/>
            </a:solidFill>
            <a:prstDash val="dash"/>
            <a:tailEnd type="triangle"/>
          </a:ln>
        </p:spPr>
      </p:sp>
      <p:sp>
        <p:nvSpPr>
          <p:cNvPr id="27" name="[p1] Forma"/>
          <p:cNvSpPr/>
          <p:nvPr/>
        </p:nvSpPr>
        <p:spPr>
          <a:xfrm>
            <a:off x="1983448" y="3602004"/>
            <a:ext cx="8224799" cy="0"/>
          </a:xfrm>
          <a:prstGeom prst="line">
            <a:avLst/>
          </a:prstGeom>
          <a:noFill/>
          <a:ln w="50800">
            <a:solidFill>
              <a:srgbClr val="6BC1DB"/>
            </a:solidFill>
            <a:prstDash val="solid"/>
          </a:ln>
        </p:spPr>
      </p:sp>
      <p:sp>
        <p:nvSpPr>
          <p:cNvPr id="28" name="[p1] Forma"/>
          <p:cNvSpPr/>
          <p:nvPr/>
        </p:nvSpPr>
        <p:spPr>
          <a:xfrm>
            <a:off x="1617688" y="2724912"/>
            <a:ext cx="73152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0 s</a:t>
            </a:r>
            <a:endParaRPr lang="en-US" sz="1100" dirty="0"/>
          </a:p>
        </p:txBody>
      </p:sp>
      <p:sp>
        <p:nvSpPr>
          <p:cNvPr id="29" name="[p1] Forma"/>
          <p:cNvSpPr/>
          <p:nvPr/>
        </p:nvSpPr>
        <p:spPr>
          <a:xfrm>
            <a:off x="1563555" y="3182112"/>
            <a:ext cx="839785" cy="839785"/>
          </a:xfrm>
          <a:prstGeom prst="ellipse">
            <a:avLst/>
          </a:prstGeom>
          <a:solidFill>
            <a:srgbClr val="FCEFD6"/>
          </a:solidFill>
          <a:ln w="31750">
            <a:solidFill>
              <a:srgbClr val="8A4B06"/>
            </a:solidFill>
            <a:prstDash val="solid"/>
          </a:ln>
          <a:effectLst>
            <a:outerShdw sx="100000" sy="100000" kx="0" ky="0" algn="bl" rotWithShape="0" blurRad="76200" dist="19050" dir="5400000">
              <a:srgbClr val="0B1F3A">
                <a:alpha val="14000"/>
              </a:srgbClr>
            </a:outerShdw>
          </a:effectLst>
        </p:spPr>
      </p:sp>
      <p:sp>
        <p:nvSpPr>
          <p:cNvPr id="30" name="[p1] Icono radar"/>
          <p:cNvSpPr/>
          <p:nvPr/>
        </p:nvSpPr>
        <p:spPr>
          <a:xfrm>
            <a:off x="1756706" y="3375263"/>
            <a:ext cx="453484" cy="453484"/>
          </a:xfrm>
          <a:custGeom>
            <a:avLst/>
            <a:gdLst/>
            <a:ahLst/>
            <a:cxnLst/>
            <a:rect l="l" t="t" r="r" b="b"/>
            <a:pathLst>
              <a:path w="453484" h="453484">
                <a:moveTo>
                  <a:pt x="360331" y="93153"/>
                </a:moveTo>
                <a:cubicBezTo>
                  <a:pt x="299835" y="32592"/>
                  <a:pt x="206183" y="20266"/>
                  <a:pt x="132077" y="63110"/>
                </a:cubicBezTo>
                <a:moveTo>
                  <a:pt x="75581" y="113371"/>
                </a:moveTo>
                <a:lnTo>
                  <a:pt x="75770" y="113371"/>
                </a:lnTo>
                <a:moveTo>
                  <a:pt x="43270" y="181771"/>
                </a:moveTo>
                <a:cubicBezTo>
                  <a:pt x="23827" y="260966"/>
                  <a:pt x="57384" y="343699"/>
                  <a:pt x="126500" y="386973"/>
                </a:cubicBezTo>
                <a:cubicBezTo>
                  <a:pt x="195616" y="430248"/>
                  <a:pt x="284697" y="424300"/>
                  <a:pt x="347446" y="372220"/>
                </a:cubicBezTo>
                <a:cubicBezTo>
                  <a:pt x="410196" y="320141"/>
                  <a:pt x="432455" y="233681"/>
                  <a:pt x="402656" y="157775"/>
                </a:cubicBezTo>
                <a:moveTo>
                  <a:pt x="306857" y="146626"/>
                </a:moveTo>
                <a:cubicBezTo>
                  <a:pt x="277231" y="116827"/>
                  <a:pt x="233552" y="105859"/>
                  <a:pt x="193362" y="118127"/>
                </a:cubicBezTo>
                <a:cubicBezTo>
                  <a:pt x="153172" y="130395"/>
                  <a:pt x="123064" y="163886"/>
                  <a:pt x="115129" y="205150"/>
                </a:cubicBezTo>
                <a:cubicBezTo>
                  <a:pt x="107194" y="246415"/>
                  <a:pt x="122733" y="288684"/>
                  <a:pt x="155507" y="314982"/>
                </a:cubicBezTo>
                <a:moveTo>
                  <a:pt x="226742" y="340113"/>
                </a:moveTo>
                <a:lnTo>
                  <a:pt x="226931" y="340113"/>
                </a:lnTo>
                <a:moveTo>
                  <a:pt x="339924" y="220318"/>
                </a:moveTo>
                <a:cubicBezTo>
                  <a:pt x="342009" y="256788"/>
                  <a:pt x="326394" y="292028"/>
                  <a:pt x="297977" y="314982"/>
                </a:cubicBezTo>
                <a:moveTo>
                  <a:pt x="264532" y="226742"/>
                </a:moveTo>
                <a:cubicBezTo>
                  <a:pt x="264532" y="247613"/>
                  <a:pt x="247613" y="264532"/>
                  <a:pt x="226742" y="264532"/>
                </a:cubicBezTo>
                <a:cubicBezTo>
                  <a:pt x="205871" y="264532"/>
                  <a:pt x="188952" y="247613"/>
                  <a:pt x="188952" y="226742"/>
                </a:cubicBezTo>
                <a:cubicBezTo>
                  <a:pt x="188952" y="205871"/>
                  <a:pt x="205871" y="188952"/>
                  <a:pt x="226742" y="188952"/>
                </a:cubicBezTo>
                <a:cubicBezTo>
                  <a:pt x="247613" y="188952"/>
                  <a:pt x="264532" y="205871"/>
                  <a:pt x="264532" y="226742"/>
                </a:cubicBezTo>
                <a:close/>
                <a:moveTo>
                  <a:pt x="253384" y="200100"/>
                </a:moveTo>
                <a:lnTo>
                  <a:pt x="360331" y="93153"/>
                </a:lnTo>
              </a:path>
            </a:pathLst>
          </a:custGeom>
          <a:noFill/>
          <a:ln w="33067" cap="rnd">
            <a:solidFill>
              <a:srgbClr val="8A4B06"/>
            </a:solidFill>
            <a:prstDash val="solid"/>
            <a:round/>
          </a:ln>
        </p:spPr>
      </p:sp>
      <p:sp>
        <p:nvSpPr>
          <p:cNvPr id="31" name="[p2] Forma"/>
          <p:cNvSpPr/>
          <p:nvPr/>
        </p:nvSpPr>
        <p:spPr>
          <a:xfrm>
            <a:off x="2476492" y="3602004"/>
            <a:ext cx="1755511" cy="0"/>
          </a:xfrm>
          <a:prstGeom prst="line">
            <a:avLst/>
          </a:prstGeom>
          <a:noFill/>
          <a:ln w="38100">
            <a:solidFill>
              <a:srgbClr val="2BA6CB"/>
            </a:solidFill>
            <a:prstDash val="solid"/>
            <a:tailEnd type="triangle"/>
          </a:ln>
        </p:spPr>
      </p:sp>
      <p:sp>
        <p:nvSpPr>
          <p:cNvPr id="32" name="[p1] Forma"/>
          <p:cNvSpPr/>
          <p:nvPr/>
        </p:nvSpPr>
        <p:spPr>
          <a:xfrm>
            <a:off x="685800"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8A4B06"/>
                </a:solidFill>
                <a:latin typeface="Segoe UI Semibold" pitchFamily="34" charset="0"/>
                <a:ea typeface="Segoe UI Semibold" pitchFamily="34" charset="-122"/>
                <a:cs typeface="Segoe UI Semibold" pitchFamily="34" charset="-120"/>
              </a:rPr>
              <a:t>Detecta</a:t>
            </a:r>
            <a:endParaRPr lang="en-US" sz="1700" dirty="0"/>
          </a:p>
        </p:txBody>
      </p:sp>
      <p:sp>
        <p:nvSpPr>
          <p:cNvPr id="33" name="[p1] Forma"/>
          <p:cNvSpPr/>
          <p:nvPr/>
        </p:nvSpPr>
        <p:spPr>
          <a:xfrm>
            <a:off x="740664"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Falta 1 de 1 copias.</a:t>
            </a:r>
            <a:endParaRPr lang="en-US" sz="1300" dirty="0"/>
          </a:p>
        </p:txBody>
      </p:sp>
      <p:sp>
        <p:nvSpPr>
          <p:cNvPr id="34" name="[p2] Forma"/>
          <p:cNvSpPr/>
          <p:nvPr/>
        </p:nvSpPr>
        <p:spPr>
          <a:xfrm>
            <a:off x="4313568" y="2724912"/>
            <a:ext cx="82296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+1 s</a:t>
            </a:r>
            <a:endParaRPr lang="en-US" sz="1100" dirty="0"/>
          </a:p>
        </p:txBody>
      </p:sp>
      <p:sp>
        <p:nvSpPr>
          <p:cNvPr id="35" name="[p2] Forma"/>
          <p:cNvSpPr/>
          <p:nvPr/>
        </p:nvSpPr>
        <p:spPr>
          <a:xfrm>
            <a:off x="4305155" y="3182112"/>
            <a:ext cx="839785" cy="839785"/>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36" name="[p2] Icono rotate-ccw"/>
          <p:cNvSpPr/>
          <p:nvPr/>
        </p:nvSpPr>
        <p:spPr>
          <a:xfrm>
            <a:off x="4498306" y="3375263"/>
            <a:ext cx="453484" cy="453484"/>
          </a:xfrm>
          <a:custGeom>
            <a:avLst/>
            <a:gdLst/>
            <a:ahLst/>
            <a:cxnLst/>
            <a:rect l="l" t="t" r="r" b="b"/>
            <a:pathLst>
              <a:path w="453484" h="453484">
                <a:moveTo>
                  <a:pt x="56685" y="226742"/>
                </a:moveTo>
                <a:cubicBezTo>
                  <a:pt x="56685" y="320662"/>
                  <a:pt x="132822" y="396798"/>
                  <a:pt x="226742" y="396798"/>
                </a:cubicBezTo>
                <a:cubicBezTo>
                  <a:pt x="320662" y="396798"/>
                  <a:pt x="396798" y="320662"/>
                  <a:pt x="396798" y="226742"/>
                </a:cubicBezTo>
                <a:cubicBezTo>
                  <a:pt x="396798" y="132822"/>
                  <a:pt x="320662" y="56685"/>
                  <a:pt x="226742" y="56685"/>
                </a:cubicBezTo>
                <a:cubicBezTo>
                  <a:pt x="179201" y="56864"/>
                  <a:pt x="133569" y="75415"/>
                  <a:pt x="99389" y="108458"/>
                </a:cubicBezTo>
                <a:lnTo>
                  <a:pt x="56685" y="151161"/>
                </a:lnTo>
                <a:moveTo>
                  <a:pt x="56685" y="56685"/>
                </a:moveTo>
                <a:lnTo>
                  <a:pt x="56685" y="151161"/>
                </a:lnTo>
                <a:lnTo>
                  <a:pt x="151161" y="151161"/>
                </a:lnTo>
              </a:path>
            </a:pathLst>
          </a:custGeom>
          <a:noFill/>
          <a:ln w="33067" cap="rnd">
            <a:solidFill>
              <a:srgbClr val="0B6E8A"/>
            </a:solidFill>
            <a:prstDash val="solid"/>
            <a:round/>
          </a:ln>
        </p:spPr>
      </p:sp>
      <p:sp>
        <p:nvSpPr>
          <p:cNvPr id="37" name="[p3] Forma"/>
          <p:cNvSpPr/>
          <p:nvPr/>
        </p:nvSpPr>
        <p:spPr>
          <a:xfrm>
            <a:off x="5218092" y="3602004"/>
            <a:ext cx="1755511" cy="0"/>
          </a:xfrm>
          <a:prstGeom prst="line">
            <a:avLst/>
          </a:prstGeom>
          <a:noFill/>
          <a:ln w="38100">
            <a:solidFill>
              <a:srgbClr val="2BA6CB"/>
            </a:solidFill>
            <a:prstDash val="solid"/>
            <a:tailEnd type="triangle"/>
          </a:ln>
        </p:spPr>
      </p:sp>
      <p:sp>
        <p:nvSpPr>
          <p:cNvPr id="38" name="[p2] Forma"/>
          <p:cNvSpPr/>
          <p:nvPr/>
        </p:nvSpPr>
        <p:spPr>
          <a:xfrm>
            <a:off x="3427400"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0B6E8A"/>
                </a:solidFill>
                <a:latin typeface="Segoe UI Semibold" pitchFamily="34" charset="0"/>
                <a:ea typeface="Segoe UI Semibold" pitchFamily="34" charset="-122"/>
                <a:cs typeface="Segoe UI Semibold" pitchFamily="34" charset="-120"/>
              </a:rPr>
              <a:t>Recrea</a:t>
            </a:r>
            <a:endParaRPr lang="en-US" sz="1700" dirty="0"/>
          </a:p>
        </p:txBody>
      </p:sp>
      <p:sp>
        <p:nvSpPr>
          <p:cNvPr id="39" name="[p2] Forma"/>
          <p:cNvSpPr/>
          <p:nvPr/>
        </p:nvSpPr>
        <p:spPr>
          <a:xfrm>
            <a:off x="3482264"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Un Pod nuevo con la misma imagen.</a:t>
            </a:r>
            <a:endParaRPr lang="en-US" sz="1300" dirty="0"/>
          </a:p>
        </p:txBody>
      </p:sp>
      <p:sp>
        <p:nvSpPr>
          <p:cNvPr id="40" name="[p3] Forma"/>
          <p:cNvSpPr/>
          <p:nvPr/>
        </p:nvSpPr>
        <p:spPr>
          <a:xfrm>
            <a:off x="6826568" y="2724912"/>
            <a:ext cx="128016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+segundos</a:t>
            </a:r>
            <a:endParaRPr lang="en-US" sz="1100" dirty="0"/>
          </a:p>
        </p:txBody>
      </p:sp>
      <p:sp>
        <p:nvSpPr>
          <p:cNvPr id="41" name="[p3] Forma"/>
          <p:cNvSpPr/>
          <p:nvPr/>
        </p:nvSpPr>
        <p:spPr>
          <a:xfrm>
            <a:off x="7046755" y="3182112"/>
            <a:ext cx="839785" cy="839785"/>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42" name="[p3] Icono hourglass"/>
          <p:cNvSpPr/>
          <p:nvPr/>
        </p:nvSpPr>
        <p:spPr>
          <a:xfrm>
            <a:off x="7239906" y="3375263"/>
            <a:ext cx="453484" cy="453484"/>
          </a:xfrm>
          <a:custGeom>
            <a:avLst/>
            <a:gdLst/>
            <a:ahLst/>
            <a:cxnLst/>
            <a:rect l="l" t="t" r="r" b="b"/>
            <a:pathLst>
              <a:path w="453484" h="453484">
                <a:moveTo>
                  <a:pt x="94476" y="415694"/>
                </a:moveTo>
                <a:lnTo>
                  <a:pt x="359008" y="415694"/>
                </a:lnTo>
                <a:moveTo>
                  <a:pt x="94476" y="37790"/>
                </a:moveTo>
                <a:lnTo>
                  <a:pt x="359008" y="37790"/>
                </a:lnTo>
                <a:moveTo>
                  <a:pt x="321218" y="415694"/>
                </a:moveTo>
                <a:lnTo>
                  <a:pt x="321218" y="336863"/>
                </a:lnTo>
                <a:cubicBezTo>
                  <a:pt x="321216" y="326841"/>
                  <a:pt x="317233" y="317231"/>
                  <a:pt x="310145" y="310145"/>
                </a:cubicBezTo>
                <a:lnTo>
                  <a:pt x="226742" y="226742"/>
                </a:lnTo>
                <a:lnTo>
                  <a:pt x="143339" y="310145"/>
                </a:lnTo>
                <a:cubicBezTo>
                  <a:pt x="136251" y="317231"/>
                  <a:pt x="132268" y="326841"/>
                  <a:pt x="132266" y="336863"/>
                </a:cubicBezTo>
                <a:lnTo>
                  <a:pt x="132266" y="415694"/>
                </a:lnTo>
                <a:moveTo>
                  <a:pt x="132266" y="37790"/>
                </a:moveTo>
                <a:lnTo>
                  <a:pt x="132266" y="116621"/>
                </a:lnTo>
                <a:cubicBezTo>
                  <a:pt x="132268" y="126643"/>
                  <a:pt x="136251" y="136253"/>
                  <a:pt x="143339" y="143339"/>
                </a:cubicBezTo>
                <a:lnTo>
                  <a:pt x="226742" y="226742"/>
                </a:lnTo>
                <a:lnTo>
                  <a:pt x="310145" y="143339"/>
                </a:lnTo>
                <a:cubicBezTo>
                  <a:pt x="317233" y="136253"/>
                  <a:pt x="321216" y="126643"/>
                  <a:pt x="321218" y="116621"/>
                </a:cubicBezTo>
                <a:lnTo>
                  <a:pt x="321218" y="37790"/>
                </a:lnTo>
              </a:path>
            </a:pathLst>
          </a:custGeom>
          <a:noFill/>
          <a:ln w="33067" cap="rnd">
            <a:solidFill>
              <a:srgbClr val="0B6E8A"/>
            </a:solidFill>
            <a:prstDash val="solid"/>
            <a:round/>
          </a:ln>
        </p:spPr>
      </p:sp>
      <p:sp>
        <p:nvSpPr>
          <p:cNvPr id="43" name="[p4] Forma"/>
          <p:cNvSpPr/>
          <p:nvPr/>
        </p:nvSpPr>
        <p:spPr>
          <a:xfrm>
            <a:off x="7959692" y="3602004"/>
            <a:ext cx="1755511" cy="0"/>
          </a:xfrm>
          <a:prstGeom prst="line">
            <a:avLst/>
          </a:prstGeom>
          <a:noFill/>
          <a:ln w="38100">
            <a:solidFill>
              <a:srgbClr val="2BA6CB"/>
            </a:solidFill>
            <a:prstDash val="solid"/>
            <a:tailEnd type="triangle"/>
          </a:ln>
        </p:spPr>
      </p:sp>
      <p:sp>
        <p:nvSpPr>
          <p:cNvPr id="44" name="[p3] Forma"/>
          <p:cNvSpPr/>
          <p:nvPr/>
        </p:nvSpPr>
        <p:spPr>
          <a:xfrm>
            <a:off x="6169000"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0B6E8A"/>
                </a:solidFill>
                <a:latin typeface="Segoe UI Semibold" pitchFamily="34" charset="0"/>
                <a:ea typeface="Segoe UI Semibold" pitchFamily="34" charset="-122"/>
                <a:cs typeface="Segoe UI Semibold" pitchFamily="34" charset="-120"/>
              </a:rPr>
              <a:t>Espera</a:t>
            </a:r>
            <a:endParaRPr lang="en-US" sz="1700" dirty="0"/>
          </a:p>
        </p:txBody>
      </p:sp>
      <p:sp>
        <p:nvSpPr>
          <p:cNvPr id="45" name="[p3] Forma"/>
          <p:cNvSpPr/>
          <p:nvPr/>
        </p:nvSpPr>
        <p:spPr>
          <a:xfrm>
            <a:off x="6223864"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initContainers: base y notificaciones.</a:t>
            </a:r>
            <a:endParaRPr lang="en-US" sz="1300" dirty="0"/>
          </a:p>
        </p:txBody>
      </p:sp>
      <p:sp>
        <p:nvSpPr>
          <p:cNvPr id="46" name="[p4] Forma"/>
          <p:cNvSpPr/>
          <p:nvPr/>
        </p:nvSpPr>
        <p:spPr>
          <a:xfrm>
            <a:off x="9751047" y="2724912"/>
            <a:ext cx="91440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Ready</a:t>
            </a:r>
            <a:endParaRPr lang="en-US" sz="1100" dirty="0"/>
          </a:p>
        </p:txBody>
      </p:sp>
      <p:sp>
        <p:nvSpPr>
          <p:cNvPr id="47" name="[p4] Forma"/>
          <p:cNvSpPr/>
          <p:nvPr/>
        </p:nvSpPr>
        <p:spPr>
          <a:xfrm>
            <a:off x="9788355" y="3182112"/>
            <a:ext cx="839785" cy="839785"/>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48" name="[p4] Icono heart-pulse"/>
          <p:cNvSpPr/>
          <p:nvPr/>
        </p:nvSpPr>
        <p:spPr>
          <a:xfrm>
            <a:off x="9981505" y="3375263"/>
            <a:ext cx="453484" cy="453484"/>
          </a:xfrm>
          <a:custGeom>
            <a:avLst/>
            <a:gdLst/>
            <a:ahLst/>
            <a:cxnLst/>
            <a:rect l="l" t="t" r="r" b="b"/>
            <a:pathLst>
              <a:path w="453484" h="453484">
                <a:moveTo>
                  <a:pt x="359008" y="264532"/>
                </a:moveTo>
                <a:cubicBezTo>
                  <a:pt x="387162" y="236945"/>
                  <a:pt x="415694" y="203879"/>
                  <a:pt x="415694" y="160609"/>
                </a:cubicBezTo>
                <a:cubicBezTo>
                  <a:pt x="415694" y="103214"/>
                  <a:pt x="369165" y="56685"/>
                  <a:pt x="311770" y="56685"/>
                </a:cubicBezTo>
                <a:cubicBezTo>
                  <a:pt x="278515" y="56685"/>
                  <a:pt x="255085" y="66133"/>
                  <a:pt x="226742" y="94476"/>
                </a:cubicBezTo>
                <a:cubicBezTo>
                  <a:pt x="198399" y="66133"/>
                  <a:pt x="174969" y="56685"/>
                  <a:pt x="141714" y="56685"/>
                </a:cubicBezTo>
                <a:cubicBezTo>
                  <a:pt x="84318" y="56685"/>
                  <a:pt x="37790" y="103214"/>
                  <a:pt x="37790" y="160609"/>
                </a:cubicBezTo>
                <a:cubicBezTo>
                  <a:pt x="37790" y="204068"/>
                  <a:pt x="66133" y="237134"/>
                  <a:pt x="94476" y="264532"/>
                </a:cubicBezTo>
                <a:lnTo>
                  <a:pt x="226742" y="396798"/>
                </a:lnTo>
                <a:close/>
                <a:moveTo>
                  <a:pt x="60842" y="226742"/>
                </a:moveTo>
                <a:lnTo>
                  <a:pt x="179504" y="226742"/>
                </a:lnTo>
                <a:lnTo>
                  <a:pt x="188952" y="207847"/>
                </a:lnTo>
                <a:lnTo>
                  <a:pt x="226742" y="292875"/>
                </a:lnTo>
                <a:lnTo>
                  <a:pt x="264532" y="160609"/>
                </a:lnTo>
                <a:lnTo>
                  <a:pt x="292875" y="226742"/>
                </a:lnTo>
                <a:lnTo>
                  <a:pt x="392453" y="226742"/>
                </a:lnTo>
              </a:path>
            </a:pathLst>
          </a:custGeom>
          <a:noFill/>
          <a:ln w="33067" cap="rnd">
            <a:solidFill>
              <a:srgbClr val="0A6648"/>
            </a:solidFill>
            <a:prstDash val="solid"/>
            <a:round/>
          </a:ln>
        </p:spPr>
      </p:sp>
      <p:sp>
        <p:nvSpPr>
          <p:cNvPr id="49" name="[p4] Forma"/>
          <p:cNvSpPr/>
          <p:nvPr/>
        </p:nvSpPr>
        <p:spPr>
          <a:xfrm>
            <a:off x="8910599"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0A6648"/>
                </a:solidFill>
                <a:latin typeface="Segoe UI Semibold" pitchFamily="34" charset="0"/>
                <a:ea typeface="Segoe UI Semibold" pitchFamily="34" charset="-122"/>
                <a:cs typeface="Segoe UI Semibold" pitchFamily="34" charset="-120"/>
              </a:rPr>
              <a:t>Listo</a:t>
            </a:r>
            <a:endParaRPr lang="en-US" sz="1700" dirty="0"/>
          </a:p>
        </p:txBody>
      </p:sp>
      <p:sp>
        <p:nvSpPr>
          <p:cNvPr id="50" name="[p4] Forma"/>
          <p:cNvSpPr/>
          <p:nvPr/>
        </p:nvSpPr>
        <p:spPr>
          <a:xfrm>
            <a:off x="8965463"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La readinessProbe responde.</a:t>
            </a:r>
            <a:endParaRPr lang="en-US" sz="1300" dirty="0"/>
          </a:p>
        </p:txBody>
      </p:sp>
      <p:sp>
        <p:nvSpPr>
          <p:cNvPr id="51" name="Text 4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DEVOPS: DOCKER Y KUBERNETES</a:t>
            </a:r>
            <a:endParaRPr lang="en-US" sz="800" dirty="0"/>
          </a:p>
        </p:txBody>
      </p:sp>
      <p:sp>
        <p:nvSpPr>
          <p:cNvPr id="52"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4" fill="hold">
                      <p:stCondLst>
                        <p:cond delay="indefinite"/>
                      </p:stCondLst>
                      <p:childTnLst>
                        <p:par>
                          <p:cTn id="25"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6"/>
                                        </p:tgtEl>
                                        <p:attrNameLst>
                                          <p:attrName>style.visibility</p:attrName>
                                        </p:attrNameLst>
                                      </p:cBhvr>
                                      <p:to>
                                        <p:strVal val="visible"/>
                                      </p:to>
                                    </p:set>
                                    <p:animEffect transition="in" filter="fade">
                                      <p:cBhvr>
                                        <p:cTn id="5" dur="400"/>
                                        <p:tgtEl>
                                          <p:spTgt spid="2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7"/>
                                        </p:tgtEl>
                                        <p:attrNameLst>
                                          <p:attrName>style.visibility</p:attrName>
                                        </p:attrNameLst>
                                      </p:cBhvr>
                                      <p:to>
                                        <p:strVal val="visible"/>
                                      </p:to>
                                    </p:set>
                                    <p:animEffect transition="in" filter="fade">
                                      <p:cBhvr>
                                        <p:cTn id="8" dur="400"/>
                                        <p:tgtEl>
                                          <p:spTgt spid="2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fade">
                                      <p:cBhvr>
                                        <p:cTn id="11" dur="400"/>
                                        <p:tgtEl>
                                          <p:spTgt spid="2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9"/>
                                        </p:tgtEl>
                                        <p:attrNameLst>
                                          <p:attrName>style.visibility</p:attrName>
                                        </p:attrNameLst>
                                      </p:cBhvr>
                                      <p:to>
                                        <p:strVal val="visible"/>
                                      </p:to>
                                    </p:set>
                                    <p:animEffect transition="in" filter="fade">
                                      <p:cBhvr>
                                        <p:cTn id="14" dur="400"/>
                                        <p:tgtEl>
                                          <p:spTgt spid="2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400"/>
                                        <p:tgtEl>
                                          <p:spTgt spid="3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2"/>
                                        </p:tgtEl>
                                        <p:attrNameLst>
                                          <p:attrName>style.visibility</p:attrName>
                                        </p:attrNameLst>
                                      </p:cBhvr>
                                      <p:to>
                                        <p:strVal val="visible"/>
                                      </p:to>
                                    </p:set>
                                    <p:animEffect transition="in" filter="fade">
                                      <p:cBhvr>
                                        <p:cTn id="20" dur="400"/>
                                        <p:tgtEl>
                                          <p:spTgt spid="32"/>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3"/>
                                        </p:tgtEl>
                                        <p:attrNameLst>
                                          <p:attrName>style.visibility</p:attrName>
                                        </p:attrNameLst>
                                      </p:cBhvr>
                                      <p:to>
                                        <p:strVal val="visible"/>
                                      </p:to>
                                    </p:set>
                                    <p:animEffect transition="in" filter="fade">
                                      <p:cBhvr>
                                        <p:cTn id="23" dur="400"/>
                                        <p:tgtEl>
                                          <p:spTgt spid="33"/>
                                        </p:tgtEl>
                                      </p:cBhvr>
                                    </p:animEffect>
                                  </p:childTnLst>
                                </p:cTn>
                              </p:par>
                            </p:childTnLst>
                          </p:cTn>
                        </p:par>
                      </p:childTnLst>
                    </p:cTn>
                  </p:par>
                  <p:par>
                    <p:cTn id="44" fill="hold">
                      <p:stCondLst>
                        <p:cond delay="indefinite"/>
                      </p:stCondLst>
                      <p:childTnLst>
                        <p:par>
                          <p:cTn id="4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1"/>
                                        </p:tgtEl>
                                        <p:attrNameLst>
                                          <p:attrName>style.visibility</p:attrName>
                                        </p:attrNameLst>
                                      </p:cBhvr>
                                      <p:to>
                                        <p:strVal val="visible"/>
                                      </p:to>
                                    </p:set>
                                    <p:animEffect transition="in" filter="fade">
                                      <p:cBhvr>
                                        <p:cTn id="28" dur="400"/>
                                        <p:tgtEl>
                                          <p:spTgt spid="3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4"/>
                                        </p:tgtEl>
                                        <p:attrNameLst>
                                          <p:attrName>style.visibility</p:attrName>
                                        </p:attrNameLst>
                                      </p:cBhvr>
                                      <p:to>
                                        <p:strVal val="visible"/>
                                      </p:to>
                                    </p:set>
                                    <p:animEffect transition="in" filter="fade">
                                      <p:cBhvr>
                                        <p:cTn id="31" dur="400"/>
                                        <p:tgtEl>
                                          <p:spTgt spid="3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5"/>
                                        </p:tgtEl>
                                        <p:attrNameLst>
                                          <p:attrName>style.visibility</p:attrName>
                                        </p:attrNameLst>
                                      </p:cBhvr>
                                      <p:to>
                                        <p:strVal val="visible"/>
                                      </p:to>
                                    </p:set>
                                    <p:animEffect transition="in" filter="fade">
                                      <p:cBhvr>
                                        <p:cTn id="34" dur="400"/>
                                        <p:tgtEl>
                                          <p:spTgt spid="3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6"/>
                                        </p:tgtEl>
                                        <p:attrNameLst>
                                          <p:attrName>style.visibility</p:attrName>
                                        </p:attrNameLst>
                                      </p:cBhvr>
                                      <p:to>
                                        <p:strVal val="visible"/>
                                      </p:to>
                                    </p:set>
                                    <p:animEffect transition="in" filter="fade">
                                      <p:cBhvr>
                                        <p:cTn id="37" dur="400"/>
                                        <p:tgtEl>
                                          <p:spTgt spid="3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8"/>
                                        </p:tgtEl>
                                        <p:attrNameLst>
                                          <p:attrName>style.visibility</p:attrName>
                                        </p:attrNameLst>
                                      </p:cBhvr>
                                      <p:to>
                                        <p:strVal val="visible"/>
                                      </p:to>
                                    </p:set>
                                    <p:animEffect transition="in" filter="fade">
                                      <p:cBhvr>
                                        <p:cTn id="40" dur="400"/>
                                        <p:tgtEl>
                                          <p:spTgt spid="3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9"/>
                                        </p:tgtEl>
                                        <p:attrNameLst>
                                          <p:attrName>style.visibility</p:attrName>
                                        </p:attrNameLst>
                                      </p:cBhvr>
                                      <p:to>
                                        <p:strVal val="visible"/>
                                      </p:to>
                                    </p:set>
                                    <p:animEffect transition="in" filter="fade">
                                      <p:cBhvr>
                                        <p:cTn id="43" dur="400"/>
                                        <p:tgtEl>
                                          <p:spTgt spid="39"/>
                                        </p:tgtEl>
                                      </p:cBhvr>
                                    </p:animEffect>
                                  </p:childTnLst>
                                </p:cTn>
                              </p:par>
                            </p:childTnLst>
                          </p:cTn>
                        </p:par>
                      </p:childTnLst>
                    </p:cTn>
                  </p:par>
                  <p:par>
                    <p:cTn id="64" fill="hold">
                      <p:stCondLst>
                        <p:cond delay="indefinite"/>
                      </p:stCondLst>
                      <p:childTnLst>
                        <p:par>
                          <p:cTn id="6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37"/>
                                        </p:tgtEl>
                                        <p:attrNameLst>
                                          <p:attrName>style.visibility</p:attrName>
                                        </p:attrNameLst>
                                      </p:cBhvr>
                                      <p:to>
                                        <p:strVal val="visible"/>
                                      </p:to>
                                    </p:set>
                                    <p:animEffect transition="in" filter="fade">
                                      <p:cBhvr>
                                        <p:cTn id="48" dur="400"/>
                                        <p:tgtEl>
                                          <p:spTgt spid="3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40"/>
                                        </p:tgtEl>
                                        <p:attrNameLst>
                                          <p:attrName>style.visibility</p:attrName>
                                        </p:attrNameLst>
                                      </p:cBhvr>
                                      <p:to>
                                        <p:strVal val="visible"/>
                                      </p:to>
                                    </p:set>
                                    <p:animEffect transition="in" filter="fade">
                                      <p:cBhvr>
                                        <p:cTn id="51" dur="400"/>
                                        <p:tgtEl>
                                          <p:spTgt spid="4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41"/>
                                        </p:tgtEl>
                                        <p:attrNameLst>
                                          <p:attrName>style.visibility</p:attrName>
                                        </p:attrNameLst>
                                      </p:cBhvr>
                                      <p:to>
                                        <p:strVal val="visible"/>
                                      </p:to>
                                    </p:set>
                                    <p:animEffect transition="in" filter="fade">
                                      <p:cBhvr>
                                        <p:cTn id="54" dur="400"/>
                                        <p:tgtEl>
                                          <p:spTgt spid="4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42"/>
                                        </p:tgtEl>
                                        <p:attrNameLst>
                                          <p:attrName>style.visibility</p:attrName>
                                        </p:attrNameLst>
                                      </p:cBhvr>
                                      <p:to>
                                        <p:strVal val="visible"/>
                                      </p:to>
                                    </p:set>
                                    <p:animEffect transition="in" filter="fade">
                                      <p:cBhvr>
                                        <p:cTn id="57" dur="400"/>
                                        <p:tgtEl>
                                          <p:spTgt spid="4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44"/>
                                        </p:tgtEl>
                                        <p:attrNameLst>
                                          <p:attrName>style.visibility</p:attrName>
                                        </p:attrNameLst>
                                      </p:cBhvr>
                                      <p:to>
                                        <p:strVal val="visible"/>
                                      </p:to>
                                    </p:set>
                                    <p:animEffect transition="in" filter="fade">
                                      <p:cBhvr>
                                        <p:cTn id="60" dur="400"/>
                                        <p:tgtEl>
                                          <p:spTgt spid="44"/>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45"/>
                                        </p:tgtEl>
                                        <p:attrNameLst>
                                          <p:attrName>style.visibility</p:attrName>
                                        </p:attrNameLst>
                                      </p:cBhvr>
                                      <p:to>
                                        <p:strVal val="visible"/>
                                      </p:to>
                                    </p:set>
                                    <p:animEffect transition="in" filter="fade">
                                      <p:cBhvr>
                                        <p:cTn id="63" dur="400"/>
                                        <p:tgtEl>
                                          <p:spTgt spid="45"/>
                                        </p:tgtEl>
                                      </p:cBhvr>
                                    </p:animEffect>
                                  </p:childTnLst>
                                </p:cTn>
                              </p:par>
                            </p:childTnLst>
                          </p:cTn>
                        </p:par>
                      </p:childTnLst>
                    </p:cTn>
                  </p:par>
                  <p:par>
                    <p:cTn id="84" fill="hold">
                      <p:stCondLst>
                        <p:cond delay="indefinite"/>
                      </p:stCondLst>
                      <p:childTnLst>
                        <p:par>
                          <p:cTn id="8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43"/>
                                        </p:tgtEl>
                                        <p:attrNameLst>
                                          <p:attrName>style.visibility</p:attrName>
                                        </p:attrNameLst>
                                      </p:cBhvr>
                                      <p:to>
                                        <p:strVal val="visible"/>
                                      </p:to>
                                    </p:set>
                                    <p:animEffect transition="in" filter="fade">
                                      <p:cBhvr>
                                        <p:cTn id="68" dur="400"/>
                                        <p:tgtEl>
                                          <p:spTgt spid="43"/>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46"/>
                                        </p:tgtEl>
                                        <p:attrNameLst>
                                          <p:attrName>style.visibility</p:attrName>
                                        </p:attrNameLst>
                                      </p:cBhvr>
                                      <p:to>
                                        <p:strVal val="visible"/>
                                      </p:to>
                                    </p:set>
                                    <p:animEffect transition="in" filter="fade">
                                      <p:cBhvr>
                                        <p:cTn id="71" dur="400"/>
                                        <p:tgtEl>
                                          <p:spTgt spid="46"/>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47"/>
                                        </p:tgtEl>
                                        <p:attrNameLst>
                                          <p:attrName>style.visibility</p:attrName>
                                        </p:attrNameLst>
                                      </p:cBhvr>
                                      <p:to>
                                        <p:strVal val="visible"/>
                                      </p:to>
                                    </p:set>
                                    <p:animEffect transition="in" filter="fade">
                                      <p:cBhvr>
                                        <p:cTn id="74" dur="400"/>
                                        <p:tgtEl>
                                          <p:spTgt spid="47"/>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8"/>
                                        </p:tgtEl>
                                        <p:attrNameLst>
                                          <p:attrName>style.visibility</p:attrName>
                                        </p:attrNameLst>
                                      </p:cBhvr>
                                      <p:to>
                                        <p:strVal val="visible"/>
                                      </p:to>
                                    </p:set>
                                    <p:animEffect transition="in" filter="fade">
                                      <p:cBhvr>
                                        <p:cTn id="77" dur="400"/>
                                        <p:tgtEl>
                                          <p:spTgt spid="48"/>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49"/>
                                        </p:tgtEl>
                                        <p:attrNameLst>
                                          <p:attrName>style.visibility</p:attrName>
                                        </p:attrNameLst>
                                      </p:cBhvr>
                                      <p:to>
                                        <p:strVal val="visible"/>
                                      </p:to>
                                    </p:set>
                                    <p:animEffect transition="in" filter="fade">
                                      <p:cBhvr>
                                        <p:cTn id="80" dur="400"/>
                                        <p:tgtEl>
                                          <p:spTgt spid="49"/>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50"/>
                                        </p:tgtEl>
                                        <p:attrNameLst>
                                          <p:attrName>style.visibility</p:attrName>
                                        </p:attrNameLst>
                                      </p:cBhvr>
                                      <p:to>
                                        <p:strVal val="visible"/>
                                      </p:to>
                                    </p:set>
                                    <p:animEffect transition="in" filter="fade">
                                      <p:cBhvr>
                                        <p:cTn id="83" dur="400"/>
                                        <p:tgtEl>
                                          <p:spTgt spid="50"/>
                                        </p:tgtEl>
                                      </p:cBhvr>
                                    </p:animEffect>
                                  </p:childTnLst>
                                </p:cTn>
                              </p:par>
                            </p:childTnLst>
                          </p:cTn>
                        </p:par>
                      </p:childTnLst>
                    </p:cTn>
                  </p:par>
                  <p:par>
                    <p:cTn id="107" fill="hold">
                      <p:stCondLst>
                        <p:cond delay="indefinite"/>
                      </p:stCondLst>
                      <p:childTnLst>
                        <p:par>
                          <p:cTn id="108" fill="hold">
                            <p:stCondLst>
                              <p:cond delay="0"/>
                            </p:stCondLst>
                            <p:childTnLst>
                              <p:par>
                                <p:cTn id="86" presetID="10" presetClass="entr" presetSubtype="0" fill="hold" grpId="0" nodeType="clickEffect">
                                  <p:stCondLst>
                                    <p:cond delay="0"/>
                                  </p:stCondLst>
                                  <p:childTnLst>
                                    <p:set>
                                      <p:cBhvr>
                                        <p:cTn id="87" dur="1" fill="hold">
                                          <p:stCondLst>
                                            <p:cond delay="0"/>
                                          </p:stCondLst>
                                        </p:cTn>
                                        <p:tgtEl>
                                          <p:spTgt spid="19"/>
                                        </p:tgtEl>
                                        <p:attrNameLst>
                                          <p:attrName>style.visibility</p:attrName>
                                        </p:attrNameLst>
                                      </p:cBhvr>
                                      <p:to>
                                        <p:strVal val="visible"/>
                                      </p:to>
                                    </p:set>
                                    <p:animEffect transition="in" filter="fade">
                                      <p:cBhvr>
                                        <p:cTn id="88" dur="400"/>
                                        <p:tgtEl>
                                          <p:spTgt spid="19"/>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20"/>
                                        </p:tgtEl>
                                        <p:attrNameLst>
                                          <p:attrName>style.visibility</p:attrName>
                                        </p:attrNameLst>
                                      </p:cBhvr>
                                      <p:to>
                                        <p:strVal val="visible"/>
                                      </p:to>
                                    </p:set>
                                    <p:animEffect transition="in" filter="fade">
                                      <p:cBhvr>
                                        <p:cTn id="91" dur="400"/>
                                        <p:tgtEl>
                                          <p:spTgt spid="20"/>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21"/>
                                        </p:tgtEl>
                                        <p:attrNameLst>
                                          <p:attrName>style.visibility</p:attrName>
                                        </p:attrNameLst>
                                      </p:cBhvr>
                                      <p:to>
                                        <p:strVal val="visible"/>
                                      </p:to>
                                    </p:set>
                                    <p:animEffect transition="in" filter="fade">
                                      <p:cBhvr>
                                        <p:cTn id="94" dur="400"/>
                                        <p:tgtEl>
                                          <p:spTgt spid="21"/>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22"/>
                                        </p:tgtEl>
                                        <p:attrNameLst>
                                          <p:attrName>style.visibility</p:attrName>
                                        </p:attrNameLst>
                                      </p:cBhvr>
                                      <p:to>
                                        <p:strVal val="visible"/>
                                      </p:to>
                                    </p:set>
                                    <p:animEffect transition="in" filter="fade">
                                      <p:cBhvr>
                                        <p:cTn id="97" dur="400"/>
                                        <p:tgtEl>
                                          <p:spTgt spid="22"/>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23"/>
                                        </p:tgtEl>
                                        <p:attrNameLst>
                                          <p:attrName>style.visibility</p:attrName>
                                        </p:attrNameLst>
                                      </p:cBhvr>
                                      <p:to>
                                        <p:strVal val="visible"/>
                                      </p:to>
                                    </p:set>
                                    <p:animEffect transition="in" filter="fade">
                                      <p:cBhvr>
                                        <p:cTn id="100" dur="400"/>
                                        <p:tgtEl>
                                          <p:spTgt spid="23"/>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24"/>
                                        </p:tgtEl>
                                        <p:attrNameLst>
                                          <p:attrName>style.visibility</p:attrName>
                                        </p:attrNameLst>
                                      </p:cBhvr>
                                      <p:to>
                                        <p:strVal val="visible"/>
                                      </p:to>
                                    </p:set>
                                    <p:animEffect transition="in" filter="fade">
                                      <p:cBhvr>
                                        <p:cTn id="103" dur="400"/>
                                        <p:tgtEl>
                                          <p:spTgt spid="24"/>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25"/>
                                        </p:tgtEl>
                                        <p:attrNameLst>
                                          <p:attrName>style.visibility</p:attrName>
                                        </p:attrNameLst>
                                      </p:cBhvr>
                                      <p:to>
                                        <p:strVal val="visible"/>
                                      </p:to>
                                    </p:set>
                                    <p:animEffect transition="in" filter="fade">
                                      <p:cBhvr>
                                        <p:cTn id="106"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2" grpId="0" animBg="1"/>
      <p:bldP spid="33" grpId="0" animBg="1"/>
      <p:bldP spid="31" grpId="0" animBg="1"/>
      <p:bldP spid="34" grpId="0" animBg="1"/>
      <p:bldP spid="35" grpId="0" animBg="1"/>
      <p:bldP spid="36" grpId="0" animBg="1"/>
      <p:bldP spid="38" grpId="0" animBg="1"/>
      <p:bldP spid="39" grpId="0" animBg="1"/>
      <p:bldP spid="37" grpId="0" animBg="1"/>
      <p:bldP spid="40" grpId="0" animBg="1"/>
      <p:bldP spid="41" grpId="0" animBg="1"/>
      <p:bldP spid="42" grpId="0" animBg="1"/>
      <p:bldP spid="44" grpId="0" animBg="1"/>
      <p:bldP spid="45" grpId="0" animBg="1"/>
      <p:bldP spid="43" grpId="0" animBg="1"/>
      <p:bldP spid="46" grpId="0" animBg="1"/>
      <p:bldP spid="47" grpId="0" animBg="1"/>
      <p:bldP spid="48" grpId="0" animBg="1"/>
      <p:bldP spid="49" grpId="0" animBg="1"/>
      <p:bldP spid="5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OBSERVABILIDAD</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Todos los logs, en un solo lugar</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A0D7E8"/>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2BA6CB"/>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Seguir un evento de un servicio a otro sin entrar a ningún contenedor.</a:t>
            </a:r>
            <a:endParaRPr lang="en-US" sz="1700" dirty="0"/>
          </a:p>
        </p:txBody>
      </p:sp>
      <p:sp>
        <p:nvSpPr>
          <p:cNvPr id="13" name="Shape 11"/>
          <p:cNvSpPr/>
          <p:nvPr/>
        </p:nvSpPr>
        <p:spPr>
          <a:xfrm>
            <a:off x="612648" y="5696712"/>
            <a:ext cx="10966399" cy="658368"/>
          </a:xfrm>
          <a:prstGeom prst="roundRect">
            <a:avLst>
              <a:gd name="adj" fmla="val 16667"/>
            </a:avLst>
          </a:prstGeom>
          <a:solidFill>
            <a:srgbClr val="E3F4FA"/>
          </a:solidFill>
          <a:ln w="12700">
            <a:solidFill>
              <a:srgbClr val="8ACEE2"/>
            </a:solidFill>
            <a:prstDash val="solid"/>
          </a:ln>
        </p:spPr>
      </p:sp>
      <p:sp>
        <p:nvSpPr>
          <p:cNvPr id="14" name="Shape 12"/>
          <p:cNvSpPr/>
          <p:nvPr/>
        </p:nvSpPr>
        <p:spPr>
          <a:xfrm>
            <a:off x="795528" y="5806440"/>
            <a:ext cx="438912" cy="438912"/>
          </a:xfrm>
          <a:prstGeom prst="ellipse">
            <a:avLst/>
          </a:prstGeom>
          <a:solidFill>
            <a:srgbClr val="FFFFFF"/>
          </a:solidFill>
          <a:ln w="12700">
            <a:solidFill>
              <a:srgbClr val="FFFFFF"/>
            </a:solidFill>
            <a:prstDash val="solid"/>
          </a:ln>
        </p:spPr>
      </p:sp>
      <p:sp>
        <p:nvSpPr>
          <p:cNvPr id="15" name="Icono plane"/>
          <p:cNvSpPr/>
          <p:nvPr/>
        </p:nvSpPr>
        <p:spPr>
          <a:xfrm>
            <a:off x="900867" y="5911779"/>
            <a:ext cx="228234" cy="228234"/>
          </a:xfrm>
          <a:custGeom>
            <a:avLst/>
            <a:gdLst/>
            <a:ahLst/>
            <a:cxnLst/>
            <a:rect l="l" t="t" r="r" b="b"/>
            <a:pathLst>
              <a:path w="228234" h="228234">
                <a:moveTo>
                  <a:pt x="169274" y="182587"/>
                </a:moveTo>
                <a:lnTo>
                  <a:pt x="152156" y="104607"/>
                </a:lnTo>
                <a:lnTo>
                  <a:pt x="185440" y="71323"/>
                </a:lnTo>
                <a:cubicBezTo>
                  <a:pt x="199705" y="57059"/>
                  <a:pt x="204460" y="38039"/>
                  <a:pt x="199705" y="28529"/>
                </a:cubicBezTo>
                <a:cubicBezTo>
                  <a:pt x="190195" y="23774"/>
                  <a:pt x="171176" y="28529"/>
                  <a:pt x="156911" y="42794"/>
                </a:cubicBezTo>
                <a:lnTo>
                  <a:pt x="123627" y="76078"/>
                </a:lnTo>
                <a:lnTo>
                  <a:pt x="45647" y="58961"/>
                </a:lnTo>
                <a:cubicBezTo>
                  <a:pt x="40892" y="58010"/>
                  <a:pt x="37088" y="59911"/>
                  <a:pt x="35186" y="63715"/>
                </a:cubicBezTo>
                <a:lnTo>
                  <a:pt x="32333" y="68470"/>
                </a:lnTo>
                <a:cubicBezTo>
                  <a:pt x="30431" y="73225"/>
                  <a:pt x="31382" y="77980"/>
                  <a:pt x="35186" y="80833"/>
                </a:cubicBezTo>
                <a:lnTo>
                  <a:pt x="85588" y="114117"/>
                </a:lnTo>
                <a:lnTo>
                  <a:pt x="66568" y="142646"/>
                </a:lnTo>
                <a:lnTo>
                  <a:pt x="38039" y="142646"/>
                </a:lnTo>
                <a:lnTo>
                  <a:pt x="28529" y="152156"/>
                </a:lnTo>
                <a:lnTo>
                  <a:pt x="57059" y="171176"/>
                </a:lnTo>
                <a:lnTo>
                  <a:pt x="76078" y="199705"/>
                </a:lnTo>
                <a:lnTo>
                  <a:pt x="85588" y="190195"/>
                </a:lnTo>
                <a:lnTo>
                  <a:pt x="85588" y="161666"/>
                </a:lnTo>
                <a:lnTo>
                  <a:pt x="114117" y="142646"/>
                </a:lnTo>
                <a:lnTo>
                  <a:pt x="147401" y="193048"/>
                </a:lnTo>
                <a:cubicBezTo>
                  <a:pt x="150254" y="196852"/>
                  <a:pt x="155009" y="197803"/>
                  <a:pt x="159764" y="195901"/>
                </a:cubicBezTo>
                <a:lnTo>
                  <a:pt x="164519" y="193999"/>
                </a:lnTo>
                <a:cubicBezTo>
                  <a:pt x="168323" y="191146"/>
                  <a:pt x="170225" y="187342"/>
                  <a:pt x="169274" y="182587"/>
                </a:cubicBezTo>
                <a:close/>
              </a:path>
            </a:pathLst>
          </a:custGeom>
          <a:noFill/>
          <a:ln w="19020" cap="rnd">
            <a:solidFill>
              <a:srgbClr val="0B6E8A"/>
            </a:solidFill>
            <a:prstDash val="solid"/>
            <a:round/>
          </a:ln>
        </p:spPr>
      </p:sp>
      <p:sp>
        <p:nvSpPr>
          <p:cNvPr id="16" name="Text 14"/>
          <p:cNvSpPr/>
          <p:nvPr/>
        </p:nvSpPr>
        <p:spPr>
          <a:xfrm>
            <a:off x="1399032" y="5769864"/>
            <a:ext cx="10024567" cy="512064"/>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la caja negra de un avión: registra lo que pasó, para revisarlo después.</a:t>
            </a:r>
            <a:endParaRPr lang="en-US" sz="1450" dirty="0"/>
          </a:p>
        </p:txBody>
      </p:sp>
      <p:sp>
        <p:nvSpPr>
          <p:cNvPr id="17" name="Shape 15"/>
          <p:cNvSpPr/>
          <p:nvPr/>
        </p:nvSpPr>
        <p:spPr>
          <a:xfrm>
            <a:off x="1251928" y="2144268"/>
            <a:ext cx="1463040" cy="146304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18" name="Icono server"/>
          <p:cNvSpPr/>
          <p:nvPr/>
        </p:nvSpPr>
        <p:spPr>
          <a:xfrm>
            <a:off x="1588427" y="2480767"/>
            <a:ext cx="790042" cy="790042"/>
          </a:xfrm>
          <a:custGeom>
            <a:avLst/>
            <a:gdLst/>
            <a:ahLst/>
            <a:cxnLst/>
            <a:rect l="l" t="t" r="r" b="b"/>
            <a:pathLst>
              <a:path w="790042" h="790042">
                <a:moveTo>
                  <a:pt x="131674" y="65837"/>
                </a:moveTo>
                <a:lnTo>
                  <a:pt x="658368" y="65837"/>
                </a:lnTo>
                <a:cubicBezTo>
                  <a:pt x="694729" y="65837"/>
                  <a:pt x="724205" y="95313"/>
                  <a:pt x="724205" y="131674"/>
                </a:cubicBezTo>
                <a:lnTo>
                  <a:pt x="724205" y="263347"/>
                </a:lnTo>
                <a:cubicBezTo>
                  <a:pt x="724205" y="299708"/>
                  <a:pt x="694729" y="329184"/>
                  <a:pt x="658368" y="329184"/>
                </a:cubicBezTo>
                <a:lnTo>
                  <a:pt x="131674" y="329184"/>
                </a:lnTo>
                <a:cubicBezTo>
                  <a:pt x="95313" y="329184"/>
                  <a:pt x="65837" y="299708"/>
                  <a:pt x="65837" y="263347"/>
                </a:cubicBezTo>
                <a:lnTo>
                  <a:pt x="65837" y="131674"/>
                </a:lnTo>
                <a:cubicBezTo>
                  <a:pt x="65837" y="95313"/>
                  <a:pt x="95313" y="65837"/>
                  <a:pt x="131674" y="65837"/>
                </a:cubicBezTo>
                <a:close/>
                <a:moveTo>
                  <a:pt x="131674" y="460858"/>
                </a:moveTo>
                <a:lnTo>
                  <a:pt x="658368" y="460858"/>
                </a:lnTo>
                <a:cubicBezTo>
                  <a:pt x="694729" y="460858"/>
                  <a:pt x="724205" y="490334"/>
                  <a:pt x="724205" y="526694"/>
                </a:cubicBezTo>
                <a:lnTo>
                  <a:pt x="724205" y="658368"/>
                </a:lnTo>
                <a:cubicBezTo>
                  <a:pt x="724205" y="694729"/>
                  <a:pt x="694729" y="724205"/>
                  <a:pt x="658368" y="724205"/>
                </a:cubicBezTo>
                <a:lnTo>
                  <a:pt x="131674" y="724205"/>
                </a:lnTo>
                <a:cubicBezTo>
                  <a:pt x="95313" y="724205"/>
                  <a:pt x="65837" y="694729"/>
                  <a:pt x="65837" y="658368"/>
                </a:cubicBezTo>
                <a:lnTo>
                  <a:pt x="65837" y="526694"/>
                </a:lnTo>
                <a:cubicBezTo>
                  <a:pt x="65837" y="490334"/>
                  <a:pt x="95313" y="460858"/>
                  <a:pt x="131674" y="460858"/>
                </a:cubicBezTo>
                <a:close/>
                <a:moveTo>
                  <a:pt x="197510" y="197510"/>
                </a:moveTo>
                <a:lnTo>
                  <a:pt x="197840" y="197510"/>
                </a:lnTo>
                <a:moveTo>
                  <a:pt x="197510" y="592531"/>
                </a:moveTo>
                <a:lnTo>
                  <a:pt x="197840" y="592531"/>
                </a:lnTo>
              </a:path>
            </a:pathLst>
          </a:custGeom>
          <a:noFill/>
          <a:ln w="57607" cap="rnd">
            <a:solidFill>
              <a:srgbClr val="0B2350"/>
            </a:solidFill>
            <a:prstDash val="solid"/>
            <a:round/>
          </a:ln>
        </p:spPr>
      </p:sp>
      <p:sp>
        <p:nvSpPr>
          <p:cNvPr id="19" name="Text 17"/>
          <p:cNvSpPr/>
          <p:nvPr/>
        </p:nvSpPr>
        <p:spPr>
          <a:xfrm>
            <a:off x="1215352" y="2107692"/>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20" name="Text 18"/>
          <p:cNvSpPr/>
          <p:nvPr/>
        </p:nvSpPr>
        <p:spPr>
          <a:xfrm>
            <a:off x="658368" y="3735324"/>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Servicios</a:t>
            </a:r>
            <a:endParaRPr lang="en-US" sz="1800" dirty="0"/>
          </a:p>
        </p:txBody>
      </p:sp>
      <p:sp>
        <p:nvSpPr>
          <p:cNvPr id="21" name="Text 19"/>
          <p:cNvSpPr/>
          <p:nvPr/>
        </p:nvSpPr>
        <p:spPr>
          <a:xfrm>
            <a:off x="722376" y="4174236"/>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Logs JSON con traceId y eventoId.</a:t>
            </a:r>
            <a:endParaRPr lang="en-US" sz="1400" dirty="0"/>
          </a:p>
        </p:txBody>
      </p:sp>
      <p:sp>
        <p:nvSpPr>
          <p:cNvPr id="22" name="[p1] Forma"/>
          <p:cNvSpPr/>
          <p:nvPr/>
        </p:nvSpPr>
        <p:spPr>
          <a:xfrm>
            <a:off x="2806408" y="2875788"/>
            <a:ext cx="1095680" cy="0"/>
          </a:xfrm>
          <a:prstGeom prst="line">
            <a:avLst/>
          </a:prstGeom>
          <a:noFill/>
          <a:ln w="38100">
            <a:solidFill>
              <a:srgbClr val="2BA6CB"/>
            </a:solidFill>
            <a:prstDash val="solid"/>
            <a:tailEnd type="triangle"/>
          </a:ln>
        </p:spPr>
      </p:sp>
      <p:sp>
        <p:nvSpPr>
          <p:cNvPr id="23" name="[p1] Forma"/>
          <p:cNvSpPr/>
          <p:nvPr/>
        </p:nvSpPr>
        <p:spPr>
          <a:xfrm>
            <a:off x="3993528" y="2144268"/>
            <a:ext cx="1463040" cy="1463040"/>
          </a:xfrm>
          <a:prstGeom prst="ellipse">
            <a:avLst/>
          </a:prstGeom>
          <a:solidFill>
            <a:srgbClr val="FCEFD6"/>
          </a:solidFill>
          <a:ln w="31750">
            <a:solidFill>
              <a:srgbClr val="8A4B06"/>
            </a:solidFill>
            <a:prstDash val="solid"/>
          </a:ln>
          <a:effectLst>
            <a:outerShdw sx="100000" sy="100000" kx="0" ky="0" algn="bl" rotWithShape="0" blurRad="76200" dist="19050" dir="5400000">
              <a:srgbClr val="0B1F3A">
                <a:alpha val="14000"/>
              </a:srgbClr>
            </a:outerShdw>
          </a:effectLst>
        </p:spPr>
      </p:sp>
      <p:sp>
        <p:nvSpPr>
          <p:cNvPr id="24" name="[p1] Icono scan-eye"/>
          <p:cNvSpPr/>
          <p:nvPr/>
        </p:nvSpPr>
        <p:spPr>
          <a:xfrm>
            <a:off x="4330027" y="2480767"/>
            <a:ext cx="790042" cy="790042"/>
          </a:xfrm>
          <a:custGeom>
            <a:avLst/>
            <a:gdLst/>
            <a:ahLst/>
            <a:cxnLst/>
            <a:rect l="l" t="t" r="r" b="b"/>
            <a:pathLst>
              <a:path w="790042" h="790042">
                <a:moveTo>
                  <a:pt x="98755" y="230429"/>
                </a:moveTo>
                <a:lnTo>
                  <a:pt x="98755" y="164592"/>
                </a:lnTo>
                <a:cubicBezTo>
                  <a:pt x="98755" y="128231"/>
                  <a:pt x="128231" y="98755"/>
                  <a:pt x="164592" y="98755"/>
                </a:cubicBezTo>
                <a:lnTo>
                  <a:pt x="230429" y="98755"/>
                </a:lnTo>
                <a:moveTo>
                  <a:pt x="559613" y="98755"/>
                </a:moveTo>
                <a:lnTo>
                  <a:pt x="625450" y="98755"/>
                </a:lnTo>
                <a:cubicBezTo>
                  <a:pt x="661810" y="98755"/>
                  <a:pt x="691286" y="128231"/>
                  <a:pt x="691286" y="164592"/>
                </a:cubicBezTo>
                <a:lnTo>
                  <a:pt x="691286" y="230429"/>
                </a:lnTo>
                <a:moveTo>
                  <a:pt x="691286" y="559613"/>
                </a:moveTo>
                <a:lnTo>
                  <a:pt x="691286" y="625450"/>
                </a:lnTo>
                <a:cubicBezTo>
                  <a:pt x="691286" y="661810"/>
                  <a:pt x="661810" y="691286"/>
                  <a:pt x="625450" y="691286"/>
                </a:cubicBezTo>
                <a:lnTo>
                  <a:pt x="559613" y="691286"/>
                </a:lnTo>
                <a:moveTo>
                  <a:pt x="230429" y="691286"/>
                </a:moveTo>
                <a:lnTo>
                  <a:pt x="164592" y="691286"/>
                </a:lnTo>
                <a:cubicBezTo>
                  <a:pt x="128231" y="691286"/>
                  <a:pt x="98755" y="661810"/>
                  <a:pt x="98755" y="625450"/>
                </a:cubicBezTo>
                <a:lnTo>
                  <a:pt x="98755" y="559613"/>
                </a:lnTo>
                <a:moveTo>
                  <a:pt x="427939" y="395021"/>
                </a:moveTo>
                <a:cubicBezTo>
                  <a:pt x="427939" y="413201"/>
                  <a:pt x="413201" y="427939"/>
                  <a:pt x="395021" y="427939"/>
                </a:cubicBezTo>
                <a:cubicBezTo>
                  <a:pt x="376840" y="427939"/>
                  <a:pt x="362102" y="413201"/>
                  <a:pt x="362102" y="395021"/>
                </a:cubicBezTo>
                <a:cubicBezTo>
                  <a:pt x="362102" y="376840"/>
                  <a:pt x="376840" y="362102"/>
                  <a:pt x="395021" y="362102"/>
                </a:cubicBezTo>
                <a:cubicBezTo>
                  <a:pt x="413201" y="362102"/>
                  <a:pt x="427939" y="376840"/>
                  <a:pt x="427939" y="395021"/>
                </a:cubicBezTo>
                <a:close/>
                <a:moveTo>
                  <a:pt x="623606" y="405884"/>
                </a:moveTo>
                <a:cubicBezTo>
                  <a:pt x="626065" y="398851"/>
                  <a:pt x="626065" y="391191"/>
                  <a:pt x="623606" y="384158"/>
                </a:cubicBezTo>
                <a:cubicBezTo>
                  <a:pt x="585698" y="291269"/>
                  <a:pt x="495347" y="230556"/>
                  <a:pt x="395021" y="230556"/>
                </a:cubicBezTo>
                <a:cubicBezTo>
                  <a:pt x="294694" y="230556"/>
                  <a:pt x="204344" y="291269"/>
                  <a:pt x="166435" y="384158"/>
                </a:cubicBezTo>
                <a:cubicBezTo>
                  <a:pt x="163977" y="391191"/>
                  <a:pt x="163977" y="398851"/>
                  <a:pt x="166435" y="405884"/>
                </a:cubicBezTo>
                <a:cubicBezTo>
                  <a:pt x="204344" y="498773"/>
                  <a:pt x="294694" y="559485"/>
                  <a:pt x="395021" y="559485"/>
                </a:cubicBezTo>
                <a:cubicBezTo>
                  <a:pt x="495347" y="559485"/>
                  <a:pt x="585698" y="498773"/>
                  <a:pt x="623606" y="405884"/>
                </a:cubicBezTo>
              </a:path>
            </a:pathLst>
          </a:custGeom>
          <a:noFill/>
          <a:ln w="57607" cap="rnd">
            <a:solidFill>
              <a:srgbClr val="8A4B06"/>
            </a:solidFill>
            <a:prstDash val="solid"/>
            <a:round/>
          </a:ln>
        </p:spPr>
      </p:sp>
      <p:sp>
        <p:nvSpPr>
          <p:cNvPr id="25" name="[p1] Forma"/>
          <p:cNvSpPr/>
          <p:nvPr/>
        </p:nvSpPr>
        <p:spPr>
          <a:xfrm>
            <a:off x="3956952" y="2107692"/>
            <a:ext cx="347472" cy="347472"/>
          </a:xfrm>
          <a:prstGeom prst="ellipse">
            <a:avLst/>
          </a:prstGeom>
          <a:solidFill>
            <a:srgbClr val="8A4B06"/>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26" name="[p1] Forma"/>
          <p:cNvSpPr/>
          <p:nvPr/>
        </p:nvSpPr>
        <p:spPr>
          <a:xfrm>
            <a:off x="3399968" y="3735324"/>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Promtail</a:t>
            </a:r>
            <a:endParaRPr lang="en-US" sz="1800" dirty="0"/>
          </a:p>
        </p:txBody>
      </p:sp>
      <p:sp>
        <p:nvSpPr>
          <p:cNvPr id="27" name="[p1] Forma"/>
          <p:cNvSpPr/>
          <p:nvPr/>
        </p:nvSpPr>
        <p:spPr>
          <a:xfrm>
            <a:off x="3463976" y="4174236"/>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Los recoge de cada contenedor.</a:t>
            </a:r>
            <a:endParaRPr lang="en-US" sz="1400" dirty="0"/>
          </a:p>
        </p:txBody>
      </p:sp>
      <p:sp>
        <p:nvSpPr>
          <p:cNvPr id="28" name="[p2] Forma"/>
          <p:cNvSpPr/>
          <p:nvPr/>
        </p:nvSpPr>
        <p:spPr>
          <a:xfrm>
            <a:off x="5548008" y="2875788"/>
            <a:ext cx="1095680" cy="0"/>
          </a:xfrm>
          <a:prstGeom prst="line">
            <a:avLst/>
          </a:prstGeom>
          <a:noFill/>
          <a:ln w="38100">
            <a:solidFill>
              <a:srgbClr val="2BA6CB"/>
            </a:solidFill>
            <a:prstDash val="solid"/>
            <a:tailEnd type="triangle"/>
          </a:ln>
        </p:spPr>
      </p:sp>
      <p:sp>
        <p:nvSpPr>
          <p:cNvPr id="29" name="[p2] Forma"/>
          <p:cNvSpPr/>
          <p:nvPr/>
        </p:nvSpPr>
        <p:spPr>
          <a:xfrm>
            <a:off x="6735128" y="2144268"/>
            <a:ext cx="1463040" cy="1463040"/>
          </a:xfrm>
          <a:prstGeom prst="ellipse">
            <a:avLst/>
          </a:prstGeom>
          <a:solidFill>
            <a:srgbClr val="FCEFD6"/>
          </a:solidFill>
          <a:ln w="31750">
            <a:solidFill>
              <a:srgbClr val="8A4B06"/>
            </a:solidFill>
            <a:prstDash val="solid"/>
          </a:ln>
          <a:effectLst>
            <a:outerShdw sx="100000" sy="100000" kx="0" ky="0" algn="bl" rotWithShape="0" blurRad="76200" dist="19050" dir="5400000">
              <a:srgbClr val="0B1F3A">
                <a:alpha val="14000"/>
              </a:srgbClr>
            </a:outerShdw>
          </a:effectLst>
        </p:spPr>
      </p:sp>
      <p:sp>
        <p:nvSpPr>
          <p:cNvPr id="30" name="[p2] Icono archive"/>
          <p:cNvSpPr/>
          <p:nvPr/>
        </p:nvSpPr>
        <p:spPr>
          <a:xfrm>
            <a:off x="7071627" y="2480767"/>
            <a:ext cx="790042" cy="790042"/>
          </a:xfrm>
          <a:custGeom>
            <a:avLst/>
            <a:gdLst/>
            <a:ahLst/>
            <a:cxnLst/>
            <a:rect l="l" t="t" r="r" b="b"/>
            <a:pathLst>
              <a:path w="790042" h="790042">
                <a:moveTo>
                  <a:pt x="98755" y="98755"/>
                </a:moveTo>
                <a:lnTo>
                  <a:pt x="691286" y="98755"/>
                </a:lnTo>
                <a:cubicBezTo>
                  <a:pt x="709467" y="98755"/>
                  <a:pt x="724205" y="113493"/>
                  <a:pt x="724205" y="131674"/>
                </a:cubicBezTo>
                <a:lnTo>
                  <a:pt x="724205" y="230429"/>
                </a:lnTo>
                <a:cubicBezTo>
                  <a:pt x="724205" y="248609"/>
                  <a:pt x="709467" y="263347"/>
                  <a:pt x="691286" y="263347"/>
                </a:cubicBezTo>
                <a:lnTo>
                  <a:pt x="98755" y="263347"/>
                </a:lnTo>
                <a:cubicBezTo>
                  <a:pt x="80575" y="263347"/>
                  <a:pt x="65837" y="248609"/>
                  <a:pt x="65837" y="230429"/>
                </a:cubicBezTo>
                <a:lnTo>
                  <a:pt x="65837" y="131674"/>
                </a:lnTo>
                <a:cubicBezTo>
                  <a:pt x="65837" y="113493"/>
                  <a:pt x="80575" y="98755"/>
                  <a:pt x="98755" y="98755"/>
                </a:cubicBezTo>
                <a:close/>
                <a:moveTo>
                  <a:pt x="131674" y="263347"/>
                </a:moveTo>
                <a:lnTo>
                  <a:pt x="131674" y="625450"/>
                </a:lnTo>
                <a:cubicBezTo>
                  <a:pt x="131674" y="661810"/>
                  <a:pt x="161150" y="691286"/>
                  <a:pt x="197510" y="691286"/>
                </a:cubicBezTo>
                <a:lnTo>
                  <a:pt x="592531" y="691286"/>
                </a:lnTo>
                <a:cubicBezTo>
                  <a:pt x="628892" y="691286"/>
                  <a:pt x="658368" y="661810"/>
                  <a:pt x="658368" y="625450"/>
                </a:cubicBezTo>
                <a:lnTo>
                  <a:pt x="658368" y="263347"/>
                </a:lnTo>
                <a:moveTo>
                  <a:pt x="329184" y="395021"/>
                </a:moveTo>
                <a:lnTo>
                  <a:pt x="460858" y="395021"/>
                </a:lnTo>
              </a:path>
            </a:pathLst>
          </a:custGeom>
          <a:noFill/>
          <a:ln w="57607" cap="rnd">
            <a:solidFill>
              <a:srgbClr val="8A4B06"/>
            </a:solidFill>
            <a:prstDash val="solid"/>
            <a:round/>
          </a:ln>
        </p:spPr>
      </p:sp>
      <p:sp>
        <p:nvSpPr>
          <p:cNvPr id="31" name="[p2] Forma"/>
          <p:cNvSpPr/>
          <p:nvPr/>
        </p:nvSpPr>
        <p:spPr>
          <a:xfrm>
            <a:off x="6698552" y="2107692"/>
            <a:ext cx="347472" cy="347472"/>
          </a:xfrm>
          <a:prstGeom prst="ellipse">
            <a:avLst/>
          </a:prstGeom>
          <a:solidFill>
            <a:srgbClr val="8A4B06"/>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32" name="[p2] Forma"/>
          <p:cNvSpPr/>
          <p:nvPr/>
        </p:nvSpPr>
        <p:spPr>
          <a:xfrm>
            <a:off x="6141568" y="3735324"/>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Loki</a:t>
            </a:r>
            <a:endParaRPr lang="en-US" sz="1800" dirty="0"/>
          </a:p>
        </p:txBody>
      </p:sp>
      <p:sp>
        <p:nvSpPr>
          <p:cNvPr id="33" name="[p2] Forma"/>
          <p:cNvSpPr/>
          <p:nvPr/>
        </p:nvSpPr>
        <p:spPr>
          <a:xfrm>
            <a:off x="6205576" y="4174236"/>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Los guarda, etiquetados por servicio.</a:t>
            </a:r>
            <a:endParaRPr lang="en-US" sz="1400" dirty="0"/>
          </a:p>
        </p:txBody>
      </p:sp>
      <p:sp>
        <p:nvSpPr>
          <p:cNvPr id="34" name="[p3] Forma"/>
          <p:cNvSpPr/>
          <p:nvPr/>
        </p:nvSpPr>
        <p:spPr>
          <a:xfrm>
            <a:off x="8289608" y="2875788"/>
            <a:ext cx="1095680" cy="0"/>
          </a:xfrm>
          <a:prstGeom prst="line">
            <a:avLst/>
          </a:prstGeom>
          <a:noFill/>
          <a:ln w="38100">
            <a:solidFill>
              <a:srgbClr val="2BA6CB"/>
            </a:solidFill>
            <a:prstDash val="solid"/>
            <a:tailEnd type="triangle"/>
          </a:ln>
        </p:spPr>
      </p:sp>
      <p:sp>
        <p:nvSpPr>
          <p:cNvPr id="35" name="[p3] Forma"/>
          <p:cNvSpPr/>
          <p:nvPr/>
        </p:nvSpPr>
        <p:spPr>
          <a:xfrm>
            <a:off x="9476727" y="2144268"/>
            <a:ext cx="1463040" cy="1463040"/>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36" name="[p3] Icono chart-line"/>
          <p:cNvSpPr/>
          <p:nvPr/>
        </p:nvSpPr>
        <p:spPr>
          <a:xfrm>
            <a:off x="9813226" y="2480767"/>
            <a:ext cx="790042" cy="790042"/>
          </a:xfrm>
          <a:custGeom>
            <a:avLst/>
            <a:gdLst/>
            <a:ahLst/>
            <a:cxnLst/>
            <a:rect l="l" t="t" r="r" b="b"/>
            <a:pathLst>
              <a:path w="790042" h="790042">
                <a:moveTo>
                  <a:pt x="98755" y="98755"/>
                </a:moveTo>
                <a:lnTo>
                  <a:pt x="98755" y="625450"/>
                </a:lnTo>
                <a:cubicBezTo>
                  <a:pt x="98755" y="661810"/>
                  <a:pt x="128231" y="691286"/>
                  <a:pt x="164592" y="691286"/>
                </a:cubicBezTo>
                <a:lnTo>
                  <a:pt x="691286" y="691286"/>
                </a:lnTo>
                <a:moveTo>
                  <a:pt x="625450" y="296266"/>
                </a:moveTo>
                <a:lnTo>
                  <a:pt x="460858" y="460858"/>
                </a:lnTo>
                <a:lnTo>
                  <a:pt x="329184" y="329184"/>
                </a:lnTo>
                <a:lnTo>
                  <a:pt x="230429" y="427939"/>
                </a:lnTo>
              </a:path>
            </a:pathLst>
          </a:custGeom>
          <a:noFill/>
          <a:ln w="57607" cap="rnd">
            <a:solidFill>
              <a:srgbClr val="0A6648"/>
            </a:solidFill>
            <a:prstDash val="solid"/>
            <a:round/>
          </a:ln>
        </p:spPr>
      </p:sp>
      <p:sp>
        <p:nvSpPr>
          <p:cNvPr id="37" name="[p3] Forma"/>
          <p:cNvSpPr/>
          <p:nvPr/>
        </p:nvSpPr>
        <p:spPr>
          <a:xfrm>
            <a:off x="9440151" y="2107692"/>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8" name="[p3] Forma"/>
          <p:cNvSpPr/>
          <p:nvPr/>
        </p:nvSpPr>
        <p:spPr>
          <a:xfrm>
            <a:off x="8883167" y="3735324"/>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Grafana</a:t>
            </a:r>
            <a:endParaRPr lang="en-US" sz="1800" dirty="0"/>
          </a:p>
        </p:txBody>
      </p:sp>
      <p:sp>
        <p:nvSpPr>
          <p:cNvPr id="39" name="[p3] Forma"/>
          <p:cNvSpPr/>
          <p:nvPr/>
        </p:nvSpPr>
        <p:spPr>
          <a:xfrm>
            <a:off x="8947175" y="4174236"/>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Una búsqueda para todo el sistema.</a:t>
            </a:r>
            <a:endParaRPr lang="en-US" sz="1400" dirty="0"/>
          </a:p>
        </p:txBody>
      </p:sp>
      <p:sp>
        <p:nvSpPr>
          <p:cNvPr id="40" name="Text 38"/>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OBSERVABILIDAD</a:t>
            </a:r>
            <a:endParaRPr lang="en-US" sz="800" dirty="0"/>
          </a:p>
        </p:txBody>
      </p:sp>
      <p:sp>
        <p:nvSpPr>
          <p:cNvPr id="41"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2"/>
                                        </p:tgtEl>
                                        <p:attrNameLst>
                                          <p:attrName>style.visibility</p:attrName>
                                        </p:attrNameLst>
                                      </p:cBhvr>
                                      <p:to>
                                        <p:strVal val="visible"/>
                                      </p:to>
                                    </p:set>
                                    <p:animEffect transition="in" filter="fade">
                                      <p:cBhvr>
                                        <p:cTn id="5" dur="400"/>
                                        <p:tgtEl>
                                          <p:spTgt spid="2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3"/>
                                        </p:tgtEl>
                                        <p:attrNameLst>
                                          <p:attrName>style.visibility</p:attrName>
                                        </p:attrNameLst>
                                      </p:cBhvr>
                                      <p:to>
                                        <p:strVal val="visible"/>
                                      </p:to>
                                    </p:set>
                                    <p:animEffect transition="in" filter="fade">
                                      <p:cBhvr>
                                        <p:cTn id="8" dur="400"/>
                                        <p:tgtEl>
                                          <p:spTgt spid="2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fade">
                                      <p:cBhvr>
                                        <p:cTn id="11" dur="400"/>
                                        <p:tgtEl>
                                          <p:spTgt spid="2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5"/>
                                        </p:tgtEl>
                                        <p:attrNameLst>
                                          <p:attrName>style.visibility</p:attrName>
                                        </p:attrNameLst>
                                      </p:cBhvr>
                                      <p:to>
                                        <p:strVal val="visible"/>
                                      </p:to>
                                    </p:set>
                                    <p:animEffect transition="in" filter="fade">
                                      <p:cBhvr>
                                        <p:cTn id="14" dur="400"/>
                                        <p:tgtEl>
                                          <p:spTgt spid="2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fade">
                                      <p:cBhvr>
                                        <p:cTn id="17" dur="400"/>
                                        <p:tgtEl>
                                          <p:spTgt spid="2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7"/>
                                        </p:tgtEl>
                                        <p:attrNameLst>
                                          <p:attrName>style.visibility</p:attrName>
                                        </p:attrNameLst>
                                      </p:cBhvr>
                                      <p:to>
                                        <p:strVal val="visible"/>
                                      </p:to>
                                    </p:set>
                                    <p:animEffect transition="in" filter="fade">
                                      <p:cBhvr>
                                        <p:cTn id="20" dur="400"/>
                                        <p:tgtEl>
                                          <p:spTgt spid="27"/>
                                        </p:tgtEl>
                                      </p:cBhvr>
                                    </p:animEffect>
                                  </p:childTnLst>
                                </p:cTn>
                              </p:par>
                            </p:childTnLst>
                          </p:cTn>
                        </p:par>
                      </p:childTnLst>
                    </p:cTn>
                  </p:par>
                  <p:par>
                    <p:cTn id="41" fill="hold">
                      <p:stCondLst>
                        <p:cond delay="indefinite"/>
                      </p:stCondLst>
                      <p:childTnLst>
                        <p:par>
                          <p:cTn id="4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400"/>
                                        <p:tgtEl>
                                          <p:spTgt spid="2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400"/>
                                        <p:tgtEl>
                                          <p:spTgt spid="2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400"/>
                                        <p:tgtEl>
                                          <p:spTgt spid="3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400"/>
                                        <p:tgtEl>
                                          <p:spTgt spid="3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400"/>
                                        <p:tgtEl>
                                          <p:spTgt spid="3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fade">
                                      <p:cBhvr>
                                        <p:cTn id="40" dur="400"/>
                                        <p:tgtEl>
                                          <p:spTgt spid="33"/>
                                        </p:tgtEl>
                                      </p:cBhvr>
                                    </p:animEffect>
                                  </p:childTnLst>
                                </p:cTn>
                              </p:par>
                            </p:childTnLst>
                          </p:cTn>
                        </p:par>
                      </p:childTnLst>
                    </p:cTn>
                  </p:par>
                  <p:par>
                    <p:cTn id="61" fill="hold">
                      <p:stCondLst>
                        <p:cond delay="indefinite"/>
                      </p:stCondLst>
                      <p:childTnLst>
                        <p:par>
                          <p:cTn id="6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animEffect transition="in" filter="fade">
                                      <p:cBhvr>
                                        <p:cTn id="45" dur="400"/>
                                        <p:tgtEl>
                                          <p:spTgt spid="34"/>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5"/>
                                        </p:tgtEl>
                                        <p:attrNameLst>
                                          <p:attrName>style.visibility</p:attrName>
                                        </p:attrNameLst>
                                      </p:cBhvr>
                                      <p:to>
                                        <p:strVal val="visible"/>
                                      </p:to>
                                    </p:set>
                                    <p:animEffect transition="in" filter="fade">
                                      <p:cBhvr>
                                        <p:cTn id="48" dur="400"/>
                                        <p:tgtEl>
                                          <p:spTgt spid="35"/>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6"/>
                                        </p:tgtEl>
                                        <p:attrNameLst>
                                          <p:attrName>style.visibility</p:attrName>
                                        </p:attrNameLst>
                                      </p:cBhvr>
                                      <p:to>
                                        <p:strVal val="visible"/>
                                      </p:to>
                                    </p:set>
                                    <p:animEffect transition="in" filter="fade">
                                      <p:cBhvr>
                                        <p:cTn id="51" dur="400"/>
                                        <p:tgtEl>
                                          <p:spTgt spid="36"/>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7"/>
                                        </p:tgtEl>
                                        <p:attrNameLst>
                                          <p:attrName>style.visibility</p:attrName>
                                        </p:attrNameLst>
                                      </p:cBhvr>
                                      <p:to>
                                        <p:strVal val="visible"/>
                                      </p:to>
                                    </p:set>
                                    <p:animEffect transition="in" filter="fade">
                                      <p:cBhvr>
                                        <p:cTn id="54" dur="400"/>
                                        <p:tgtEl>
                                          <p:spTgt spid="37"/>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8"/>
                                        </p:tgtEl>
                                        <p:attrNameLst>
                                          <p:attrName>style.visibility</p:attrName>
                                        </p:attrNameLst>
                                      </p:cBhvr>
                                      <p:to>
                                        <p:strVal val="visible"/>
                                      </p:to>
                                    </p:set>
                                    <p:animEffect transition="in" filter="fade">
                                      <p:cBhvr>
                                        <p:cTn id="57" dur="400"/>
                                        <p:tgtEl>
                                          <p:spTgt spid="38"/>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9"/>
                                        </p:tgtEl>
                                        <p:attrNameLst>
                                          <p:attrName>style.visibility</p:attrName>
                                        </p:attrNameLst>
                                      </p:cBhvr>
                                      <p:to>
                                        <p:strVal val="visible"/>
                                      </p:to>
                                    </p:set>
                                    <p:animEffect transition="in" filter="fade">
                                      <p:cBhvr>
                                        <p:cTn id="60" dur="4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7 · DEMOSTRACIÓN CON LA UI</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En vivo: si notificaciones se cae</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A0D7E8"/>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A0D7E8"/>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2BA6CB"/>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La persona no se entera; el aviso llega cuando el servicio vuelve, una sola vez.</a:t>
            </a:r>
            <a:endParaRPr lang="en-US" sz="1700" dirty="0"/>
          </a:p>
        </p:txBody>
      </p:sp>
      <p:sp>
        <p:nvSpPr>
          <p:cNvPr id="13" name="Shape 11"/>
          <p:cNvSpPr/>
          <p:nvPr/>
        </p:nvSpPr>
        <p:spPr>
          <a:xfrm>
            <a:off x="612648" y="1719072"/>
            <a:ext cx="10966399" cy="749808"/>
          </a:xfrm>
          <a:prstGeom prst="roundRect">
            <a:avLst>
              <a:gd name="adj" fmla="val 14634"/>
            </a:avLst>
          </a:prstGeom>
          <a:solidFill>
            <a:srgbClr val="F7E3E7"/>
          </a:solidFill>
          <a:ln w="15875">
            <a:solidFill>
              <a:srgbClr val="D18795"/>
            </a:solidFill>
            <a:prstDash val="solid"/>
          </a:ln>
          <a:effectLst>
            <a:outerShdw sx="100000" sy="100000" kx="0" ky="0" algn="bl" rotWithShape="0" blurRad="76200" dist="19050" dir="5400000">
              <a:srgbClr val="0B1F3A">
                <a:alpha val="14000"/>
              </a:srgbClr>
            </a:outerShdw>
          </a:effectLst>
        </p:spPr>
      </p:sp>
      <p:sp>
        <p:nvSpPr>
          <p:cNvPr id="14" name="Shape 12"/>
          <p:cNvSpPr/>
          <p:nvPr/>
        </p:nvSpPr>
        <p:spPr>
          <a:xfrm>
            <a:off x="612648" y="1828800"/>
            <a:ext cx="82296" cy="530352"/>
          </a:xfrm>
          <a:prstGeom prst="rect">
            <a:avLst/>
          </a:prstGeom>
          <a:solidFill>
            <a:srgbClr val="AB243E"/>
          </a:solidFill>
          <a:ln w="12700">
            <a:solidFill>
              <a:srgbClr val="AB243E"/>
            </a:solidFill>
            <a:prstDash val="solid"/>
          </a:ln>
        </p:spPr>
      </p:sp>
      <p:sp>
        <p:nvSpPr>
          <p:cNvPr id="15" name="Shape 13"/>
          <p:cNvSpPr/>
          <p:nvPr/>
        </p:nvSpPr>
        <p:spPr>
          <a:xfrm>
            <a:off x="886968" y="1819656"/>
            <a:ext cx="548640" cy="548640"/>
          </a:xfrm>
          <a:prstGeom prst="ellipse">
            <a:avLst/>
          </a:prstGeom>
          <a:solidFill>
            <a:srgbClr val="AB243E"/>
          </a:solidFill>
          <a:ln w="12700">
            <a:solidFill>
              <a:srgbClr val="AB243E"/>
            </a:solidFill>
            <a:prstDash val="solid"/>
          </a:ln>
        </p:spPr>
      </p:sp>
      <p:sp>
        <p:nvSpPr>
          <p:cNvPr id="16" name="Icono siren"/>
          <p:cNvSpPr/>
          <p:nvPr/>
        </p:nvSpPr>
        <p:spPr>
          <a:xfrm>
            <a:off x="1018642" y="1951330"/>
            <a:ext cx="285293" cy="285293"/>
          </a:xfrm>
          <a:custGeom>
            <a:avLst/>
            <a:gdLst/>
            <a:ahLst/>
            <a:cxnLst/>
            <a:rect l="l" t="t" r="r" b="b"/>
            <a:pathLst>
              <a:path w="285293" h="285293">
                <a:moveTo>
                  <a:pt x="83210" y="213970"/>
                </a:moveTo>
                <a:lnTo>
                  <a:pt x="83210" y="142646"/>
                </a:lnTo>
                <a:cubicBezTo>
                  <a:pt x="83210" y="109821"/>
                  <a:pt x="109821" y="83210"/>
                  <a:pt x="142646" y="83210"/>
                </a:cubicBezTo>
                <a:cubicBezTo>
                  <a:pt x="175472" y="83210"/>
                  <a:pt x="202082" y="109821"/>
                  <a:pt x="202082" y="142646"/>
                </a:cubicBezTo>
                <a:lnTo>
                  <a:pt x="202082" y="213970"/>
                </a:lnTo>
                <a:moveTo>
                  <a:pt x="59436" y="249631"/>
                </a:moveTo>
                <a:cubicBezTo>
                  <a:pt x="59436" y="256196"/>
                  <a:pt x="64758" y="261518"/>
                  <a:pt x="71323" y="261518"/>
                </a:cubicBezTo>
                <a:lnTo>
                  <a:pt x="213970" y="261518"/>
                </a:lnTo>
                <a:cubicBezTo>
                  <a:pt x="220535" y="261518"/>
                  <a:pt x="225857" y="256196"/>
                  <a:pt x="225857" y="249631"/>
                </a:cubicBezTo>
                <a:lnTo>
                  <a:pt x="225857" y="237744"/>
                </a:lnTo>
                <a:cubicBezTo>
                  <a:pt x="225857" y="224614"/>
                  <a:pt x="215213" y="213970"/>
                  <a:pt x="202082" y="213970"/>
                </a:cubicBezTo>
                <a:lnTo>
                  <a:pt x="83210" y="213970"/>
                </a:lnTo>
                <a:cubicBezTo>
                  <a:pt x="70080" y="213970"/>
                  <a:pt x="59436" y="224614"/>
                  <a:pt x="59436" y="237744"/>
                </a:cubicBezTo>
                <a:close/>
                <a:moveTo>
                  <a:pt x="249631" y="142646"/>
                </a:moveTo>
                <a:lnTo>
                  <a:pt x="261518" y="142646"/>
                </a:lnTo>
                <a:moveTo>
                  <a:pt x="219913" y="53492"/>
                </a:moveTo>
                <a:lnTo>
                  <a:pt x="213970" y="59436"/>
                </a:lnTo>
                <a:moveTo>
                  <a:pt x="23774" y="142646"/>
                </a:moveTo>
                <a:lnTo>
                  <a:pt x="35662" y="142646"/>
                </a:lnTo>
                <a:moveTo>
                  <a:pt x="142646" y="23774"/>
                </a:moveTo>
                <a:lnTo>
                  <a:pt x="142646" y="35662"/>
                </a:lnTo>
                <a:moveTo>
                  <a:pt x="58592" y="58592"/>
                </a:moveTo>
                <a:lnTo>
                  <a:pt x="66996" y="66996"/>
                </a:lnTo>
                <a:moveTo>
                  <a:pt x="142646" y="142646"/>
                </a:moveTo>
                <a:lnTo>
                  <a:pt x="142646" y="213970"/>
                </a:lnTo>
              </a:path>
            </a:pathLst>
          </a:custGeom>
          <a:noFill/>
          <a:ln w="23774" cap="rnd">
            <a:solidFill>
              <a:srgbClr val="FFFFFF"/>
            </a:solidFill>
            <a:prstDash val="solid"/>
            <a:round/>
          </a:ln>
        </p:spPr>
      </p:sp>
      <p:sp>
        <p:nvSpPr>
          <p:cNvPr id="17" name="Text 15"/>
          <p:cNvSpPr/>
          <p:nvPr/>
        </p:nvSpPr>
        <p:spPr>
          <a:xfrm>
            <a:off x="1618488" y="1810512"/>
            <a:ext cx="2194560" cy="237744"/>
          </a:xfrm>
          <a:prstGeom prst="rect">
            <a:avLst/>
          </a:prstGeom>
          <a:noFill/>
          <a:ln/>
        </p:spPr>
        <p:txBody>
          <a:bodyPr wrap="square" lIns="0" tIns="0" rIns="0" bIns="0" rtlCol="0" anchor="t">
            <a:normAutofit/>
          </a:bodyPr>
          <a:lstStyle/>
          <a:p>
            <a:pPr algn="l" indent="0" marL="0">
              <a:buNone/>
            </a:pPr>
            <a:r>
              <a:rPr lang="en-US" sz="1000" b="1" dirty="0">
                <a:solidFill>
                  <a:srgbClr val="AB243E"/>
                </a:solidFill>
                <a:latin typeface="Segoe UI" pitchFamily="34" charset="0"/>
                <a:ea typeface="Segoe UI" pitchFamily="34" charset="-122"/>
                <a:cs typeface="Segoe UI" pitchFamily="34" charset="-120"/>
              </a:rPr>
              <a:t>QUÉ FALLA</a:t>
            </a:r>
            <a:endParaRPr lang="en-US" sz="1000" dirty="0"/>
          </a:p>
        </p:txBody>
      </p:sp>
      <p:sp>
        <p:nvSpPr>
          <p:cNvPr id="18" name="Text 16"/>
          <p:cNvSpPr/>
          <p:nvPr/>
        </p:nvSpPr>
        <p:spPr>
          <a:xfrm>
            <a:off x="1618488" y="2011680"/>
            <a:ext cx="9777679" cy="384048"/>
          </a:xfrm>
          <a:prstGeom prst="rect">
            <a:avLst/>
          </a:prstGeom>
          <a:noFill/>
          <a:ln/>
        </p:spPr>
        <p:txBody>
          <a:bodyPr wrap="square" lIns="0" tIns="0" rIns="0" bIns="0" rtlCol="0" anchor="ctr">
            <a:normAutofit/>
          </a:bodyPr>
          <a:lstStyle/>
          <a:p>
            <a:pPr indent="0" marL="0">
              <a:buNone/>
            </a:pPr>
            <a:r>
              <a:rPr lang="en-US" sz="1700" b="1" dirty="0">
                <a:solidFill>
                  <a:srgbClr val="AB243E"/>
                </a:solidFill>
                <a:latin typeface="Segoe UI" pitchFamily="34" charset="0"/>
                <a:ea typeface="Segoe UI" pitchFamily="34" charset="-122"/>
                <a:cs typeface="Segoe UI" pitchFamily="34" charset="-120"/>
              </a:rPr>
              <a:t>notificaciones está caído</a:t>
            </a:r>
            <a:pPr indent="0" marL="0">
              <a:buNone/>
            </a:pPr>
            <a:r>
              <a:rPr lang="en-US" sz="1700" dirty="0">
                <a:solidFill>
                  <a:srgbClr val="0B1A3C"/>
                </a:solidFill>
                <a:latin typeface="Segoe UI" pitchFamily="34" charset="0"/>
                <a:ea typeface="Segoe UI" pitchFamily="34" charset="-122"/>
                <a:cs typeface="Segoe UI" pitchFamily="34" charset="-120"/>
              </a:rPr>
              <a:t>   docker compose stop servicio-notificaciones</a:t>
            </a:r>
            <a:endParaRPr lang="en-US" sz="1700" dirty="0"/>
          </a:p>
        </p:txBody>
      </p:sp>
      <p:sp>
        <p:nvSpPr>
          <p:cNvPr id="19" name="[p5] Forma"/>
          <p:cNvSpPr/>
          <p:nvPr/>
        </p:nvSpPr>
        <p:spPr>
          <a:xfrm>
            <a:off x="612648" y="5605272"/>
            <a:ext cx="10966399" cy="749808"/>
          </a:xfrm>
          <a:prstGeom prst="roundRect">
            <a:avLst>
              <a:gd name="adj" fmla="val 14634"/>
            </a:avLst>
          </a:prstGeom>
          <a:solidFill>
            <a:srgbClr val="E1F1EA"/>
          </a:solidFill>
          <a:ln w="15875">
            <a:solidFill>
              <a:srgbClr val="78AB9A"/>
            </a:solidFill>
            <a:prstDash val="solid"/>
          </a:ln>
          <a:effectLst>
            <a:outerShdw sx="100000" sy="100000" kx="0" ky="0" algn="bl" rotWithShape="0" blurRad="76200" dist="19050" dir="5400000">
              <a:srgbClr val="0B1F3A">
                <a:alpha val="14000"/>
              </a:srgbClr>
            </a:outerShdw>
          </a:effectLst>
        </p:spPr>
      </p:sp>
      <p:sp>
        <p:nvSpPr>
          <p:cNvPr id="20" name="[p5] Forma"/>
          <p:cNvSpPr/>
          <p:nvPr/>
        </p:nvSpPr>
        <p:spPr>
          <a:xfrm>
            <a:off x="612648" y="5715000"/>
            <a:ext cx="82296" cy="530352"/>
          </a:xfrm>
          <a:prstGeom prst="rect">
            <a:avLst/>
          </a:prstGeom>
          <a:solidFill>
            <a:srgbClr val="0A6648"/>
          </a:solidFill>
          <a:ln w="12700">
            <a:solidFill>
              <a:srgbClr val="0A6648"/>
            </a:solidFill>
            <a:prstDash val="solid"/>
          </a:ln>
        </p:spPr>
      </p:sp>
      <p:sp>
        <p:nvSpPr>
          <p:cNvPr id="21" name="[p5] Forma"/>
          <p:cNvSpPr/>
          <p:nvPr/>
        </p:nvSpPr>
        <p:spPr>
          <a:xfrm>
            <a:off x="886968" y="5705856"/>
            <a:ext cx="548640" cy="548640"/>
          </a:xfrm>
          <a:prstGeom prst="ellipse">
            <a:avLst/>
          </a:prstGeom>
          <a:solidFill>
            <a:srgbClr val="0A6648"/>
          </a:solidFill>
          <a:ln w="12700">
            <a:solidFill>
              <a:srgbClr val="0A6648"/>
            </a:solidFill>
            <a:prstDash val="solid"/>
          </a:ln>
        </p:spPr>
      </p:sp>
      <p:sp>
        <p:nvSpPr>
          <p:cNvPr id="22" name="[p5] Icono circle-check"/>
          <p:cNvSpPr/>
          <p:nvPr/>
        </p:nvSpPr>
        <p:spPr>
          <a:xfrm>
            <a:off x="1018642" y="5837530"/>
            <a:ext cx="285293" cy="285293"/>
          </a:xfrm>
          <a:custGeom>
            <a:avLst/>
            <a:gdLst/>
            <a:ahLst/>
            <a:cxnLst/>
            <a:rect l="l" t="t" r="r" b="b"/>
            <a:pathLst>
              <a:path w="285293" h="285293">
                <a:moveTo>
                  <a:pt x="261518" y="142646"/>
                </a:moveTo>
                <a:cubicBezTo>
                  <a:pt x="261518" y="208298"/>
                  <a:pt x="208298" y="261518"/>
                  <a:pt x="142646" y="261518"/>
                </a:cubicBezTo>
                <a:cubicBezTo>
                  <a:pt x="76995" y="261518"/>
                  <a:pt x="23774" y="208298"/>
                  <a:pt x="23774" y="142646"/>
                </a:cubicBezTo>
                <a:cubicBezTo>
                  <a:pt x="23774" y="76995"/>
                  <a:pt x="76995" y="23774"/>
                  <a:pt x="142646" y="23774"/>
                </a:cubicBezTo>
                <a:cubicBezTo>
                  <a:pt x="208298" y="23774"/>
                  <a:pt x="261518" y="76995"/>
                  <a:pt x="261518" y="142646"/>
                </a:cubicBezTo>
                <a:close/>
                <a:moveTo>
                  <a:pt x="106985" y="142646"/>
                </a:moveTo>
                <a:lnTo>
                  <a:pt x="130759" y="166421"/>
                </a:lnTo>
                <a:lnTo>
                  <a:pt x="178308" y="118872"/>
                </a:lnTo>
              </a:path>
            </a:pathLst>
          </a:custGeom>
          <a:noFill/>
          <a:ln w="23774" cap="rnd">
            <a:solidFill>
              <a:srgbClr val="FFFFFF"/>
            </a:solidFill>
            <a:prstDash val="solid"/>
            <a:round/>
          </a:ln>
        </p:spPr>
      </p:sp>
      <p:sp>
        <p:nvSpPr>
          <p:cNvPr id="23" name="[p5] Forma"/>
          <p:cNvSpPr/>
          <p:nvPr/>
        </p:nvSpPr>
        <p:spPr>
          <a:xfrm>
            <a:off x="1618488" y="5696712"/>
            <a:ext cx="2194560" cy="237744"/>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RESULTADO</a:t>
            </a:r>
            <a:endParaRPr lang="en-US" sz="1000" dirty="0"/>
          </a:p>
        </p:txBody>
      </p:sp>
      <p:sp>
        <p:nvSpPr>
          <p:cNvPr id="24" name="[p5] Forma"/>
          <p:cNvSpPr/>
          <p:nvPr/>
        </p:nvSpPr>
        <p:spPr>
          <a:xfrm>
            <a:off x="1618488" y="5897880"/>
            <a:ext cx="9777679" cy="384048"/>
          </a:xfrm>
          <a:prstGeom prst="rect">
            <a:avLst/>
          </a:prstGeom>
          <a:noFill/>
          <a:ln/>
        </p:spPr>
        <p:txBody>
          <a:bodyPr wrap="square" lIns="0" tIns="0" rIns="0" bIns="0" rtlCol="0" anchor="ctr">
            <a:normAutofit/>
          </a:bodyPr>
          <a:lstStyle/>
          <a:p>
            <a:pPr indent="0" marL="0">
              <a:buNone/>
            </a:pPr>
            <a:r>
              <a:rPr lang="en-US" sz="1700" b="1" dirty="0">
                <a:solidFill>
                  <a:srgbClr val="0A6648"/>
                </a:solidFill>
                <a:latin typeface="Segoe UI" pitchFamily="34" charset="0"/>
                <a:ea typeface="Segoe UI" pitchFamily="34" charset="-122"/>
                <a:cs typeface="Segoe UI" pitchFamily="34" charset="-120"/>
              </a:rPr>
              <a:t>1 aviso, 0 perdidos</a:t>
            </a:r>
            <a:pPr indent="0" marL="0">
              <a:buNone/>
            </a:pPr>
            <a:r>
              <a:rPr lang="en-US" sz="1700" dirty="0">
                <a:solidFill>
                  <a:srgbClr val="0B1A3C"/>
                </a:solidFill>
                <a:latin typeface="Segoe UI" pitchFamily="34" charset="0"/>
                <a:ea typeface="Segoe UI" pitchFamily="34" charset="-122"/>
                <a:cs typeface="Segoe UI" pitchFamily="34" charset="-120"/>
              </a:rPr>
              <a:t>   Sin intervención y, al reentregar, sin duplicados.</a:t>
            </a:r>
            <a:endParaRPr lang="en-US" sz="1700" dirty="0"/>
          </a:p>
        </p:txBody>
      </p:sp>
      <p:sp>
        <p:nvSpPr>
          <p:cNvPr id="25" name="[p5] Forma"/>
          <p:cNvSpPr/>
          <p:nvPr/>
        </p:nvSpPr>
        <p:spPr>
          <a:xfrm>
            <a:off x="10208247" y="5367528"/>
            <a:ext cx="0" cy="219456"/>
          </a:xfrm>
          <a:prstGeom prst="line">
            <a:avLst/>
          </a:prstGeom>
          <a:noFill/>
          <a:ln w="25400">
            <a:solidFill>
              <a:srgbClr val="0A6648"/>
            </a:solidFill>
            <a:prstDash val="dash"/>
            <a:tailEnd type="triangle"/>
          </a:ln>
        </p:spPr>
      </p:sp>
      <p:sp>
        <p:nvSpPr>
          <p:cNvPr id="26" name="[p1] Forma"/>
          <p:cNvSpPr/>
          <p:nvPr/>
        </p:nvSpPr>
        <p:spPr>
          <a:xfrm>
            <a:off x="2631940" y="2487168"/>
            <a:ext cx="0" cy="1005108"/>
          </a:xfrm>
          <a:prstGeom prst="line">
            <a:avLst/>
          </a:prstGeom>
          <a:noFill/>
          <a:ln w="25400">
            <a:solidFill>
              <a:srgbClr val="AB243E"/>
            </a:solidFill>
            <a:prstDash val="dash"/>
            <a:tailEnd type="triangle"/>
          </a:ln>
        </p:spPr>
      </p:sp>
      <p:sp>
        <p:nvSpPr>
          <p:cNvPr id="27" name="[p1] Forma"/>
          <p:cNvSpPr/>
          <p:nvPr/>
        </p:nvSpPr>
        <p:spPr>
          <a:xfrm>
            <a:off x="1983448" y="3602004"/>
            <a:ext cx="8224799" cy="0"/>
          </a:xfrm>
          <a:prstGeom prst="line">
            <a:avLst/>
          </a:prstGeom>
          <a:noFill/>
          <a:ln w="50800">
            <a:solidFill>
              <a:srgbClr val="6BC1DB"/>
            </a:solidFill>
            <a:prstDash val="solid"/>
          </a:ln>
        </p:spPr>
      </p:sp>
      <p:sp>
        <p:nvSpPr>
          <p:cNvPr id="28" name="[p1] Forma"/>
          <p:cNvSpPr/>
          <p:nvPr/>
        </p:nvSpPr>
        <p:spPr>
          <a:xfrm>
            <a:off x="1617688" y="2724912"/>
            <a:ext cx="73152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0 s</a:t>
            </a:r>
            <a:endParaRPr lang="en-US" sz="1100" dirty="0"/>
          </a:p>
        </p:txBody>
      </p:sp>
      <p:sp>
        <p:nvSpPr>
          <p:cNvPr id="29" name="[p1] Forma"/>
          <p:cNvSpPr/>
          <p:nvPr/>
        </p:nvSpPr>
        <p:spPr>
          <a:xfrm>
            <a:off x="1563555" y="3182112"/>
            <a:ext cx="839785" cy="839785"/>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30" name="[p1] Icono send"/>
          <p:cNvSpPr/>
          <p:nvPr/>
        </p:nvSpPr>
        <p:spPr>
          <a:xfrm>
            <a:off x="1756706" y="3375263"/>
            <a:ext cx="453484" cy="453484"/>
          </a:xfrm>
          <a:custGeom>
            <a:avLst/>
            <a:gdLst/>
            <a:ahLst/>
            <a:cxnLst/>
            <a:rect l="l" t="t" r="r" b="b"/>
            <a:pathLst>
              <a:path w="453484" h="453484">
                <a:moveTo>
                  <a:pt x="274660" y="409760"/>
                </a:moveTo>
                <a:cubicBezTo>
                  <a:pt x="276130" y="413424"/>
                  <a:pt x="279724" y="415788"/>
                  <a:pt x="283670" y="415687"/>
                </a:cubicBezTo>
                <a:cubicBezTo>
                  <a:pt x="287617" y="415586"/>
                  <a:pt x="291084" y="413041"/>
                  <a:pt x="292365" y="409307"/>
                </a:cubicBezTo>
                <a:lnTo>
                  <a:pt x="415183" y="50299"/>
                </a:lnTo>
                <a:cubicBezTo>
                  <a:pt x="416418" y="46881"/>
                  <a:pt x="415565" y="43058"/>
                  <a:pt x="412996" y="40488"/>
                </a:cubicBezTo>
                <a:cubicBezTo>
                  <a:pt x="410426" y="37919"/>
                  <a:pt x="406603" y="37066"/>
                  <a:pt x="403185" y="38300"/>
                </a:cubicBezTo>
                <a:lnTo>
                  <a:pt x="44177" y="161119"/>
                </a:lnTo>
                <a:cubicBezTo>
                  <a:pt x="40443" y="162400"/>
                  <a:pt x="37898" y="165867"/>
                  <a:pt x="37797" y="169814"/>
                </a:cubicBezTo>
                <a:cubicBezTo>
                  <a:pt x="37696" y="173760"/>
                  <a:pt x="40060" y="177354"/>
                  <a:pt x="43723" y="178824"/>
                </a:cubicBezTo>
                <a:lnTo>
                  <a:pt x="193562" y="238910"/>
                </a:lnTo>
                <a:cubicBezTo>
                  <a:pt x="203134" y="242743"/>
                  <a:pt x="210724" y="250319"/>
                  <a:pt x="214573" y="259884"/>
                </a:cubicBezTo>
                <a:close/>
                <a:moveTo>
                  <a:pt x="412935" y="40568"/>
                </a:moveTo>
                <a:lnTo>
                  <a:pt x="206222" y="247262"/>
                </a:lnTo>
              </a:path>
            </a:pathLst>
          </a:custGeom>
          <a:noFill/>
          <a:ln w="33067" cap="rnd">
            <a:solidFill>
              <a:srgbClr val="0B2350"/>
            </a:solidFill>
            <a:prstDash val="solid"/>
            <a:round/>
          </a:ln>
        </p:spPr>
      </p:sp>
      <p:sp>
        <p:nvSpPr>
          <p:cNvPr id="31" name="[p2] Forma"/>
          <p:cNvSpPr/>
          <p:nvPr/>
        </p:nvSpPr>
        <p:spPr>
          <a:xfrm>
            <a:off x="2476492" y="3602004"/>
            <a:ext cx="1755511" cy="0"/>
          </a:xfrm>
          <a:prstGeom prst="line">
            <a:avLst/>
          </a:prstGeom>
          <a:noFill/>
          <a:ln w="38100">
            <a:solidFill>
              <a:srgbClr val="2BA6CB"/>
            </a:solidFill>
            <a:prstDash val="solid"/>
            <a:tailEnd type="triangle"/>
          </a:ln>
        </p:spPr>
      </p:sp>
      <p:sp>
        <p:nvSpPr>
          <p:cNvPr id="32" name="[p1] Forma"/>
          <p:cNvSpPr/>
          <p:nvPr/>
        </p:nvSpPr>
        <p:spPr>
          <a:xfrm>
            <a:off x="685800"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0B2350"/>
                </a:solidFill>
                <a:latin typeface="Segoe UI Semibold" pitchFamily="34" charset="0"/>
                <a:ea typeface="Segoe UI Semibold" pitchFamily="34" charset="-122"/>
                <a:cs typeface="Segoe UI Semibold" pitchFamily="34" charset="-120"/>
              </a:rPr>
              <a:t>Enviar</a:t>
            </a:r>
            <a:endParaRPr lang="en-US" sz="1700" dirty="0"/>
          </a:p>
        </p:txBody>
      </p:sp>
      <p:sp>
        <p:nvSpPr>
          <p:cNvPr id="33" name="[p1] Forma"/>
          <p:cNvSpPr/>
          <p:nvPr/>
        </p:nvSpPr>
        <p:spPr>
          <a:xfrm>
            <a:off x="740664"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Responde bien: solicitud ENVIADA y evento guardado.</a:t>
            </a:r>
            <a:endParaRPr lang="en-US" sz="1300" dirty="0"/>
          </a:p>
        </p:txBody>
      </p:sp>
      <p:sp>
        <p:nvSpPr>
          <p:cNvPr id="34" name="[p2] Forma"/>
          <p:cNvSpPr/>
          <p:nvPr/>
        </p:nvSpPr>
        <p:spPr>
          <a:xfrm>
            <a:off x="4130688" y="2724912"/>
            <a:ext cx="118872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cada 5 s</a:t>
            </a:r>
            <a:endParaRPr lang="en-US" sz="1100" dirty="0"/>
          </a:p>
        </p:txBody>
      </p:sp>
      <p:sp>
        <p:nvSpPr>
          <p:cNvPr id="35" name="[p2] Forma"/>
          <p:cNvSpPr/>
          <p:nvPr/>
        </p:nvSpPr>
        <p:spPr>
          <a:xfrm>
            <a:off x="4305155" y="3182112"/>
            <a:ext cx="839785" cy="839785"/>
          </a:xfrm>
          <a:prstGeom prst="ellipse">
            <a:avLst/>
          </a:prstGeom>
          <a:solidFill>
            <a:srgbClr val="FCEFD6"/>
          </a:solidFill>
          <a:ln w="31750">
            <a:solidFill>
              <a:srgbClr val="8A4B06"/>
            </a:solidFill>
            <a:prstDash val="solid"/>
          </a:ln>
          <a:effectLst>
            <a:outerShdw sx="100000" sy="100000" kx="0" ky="0" algn="bl" rotWithShape="0" blurRad="76200" dist="19050" dir="5400000">
              <a:srgbClr val="0B1F3A">
                <a:alpha val="14000"/>
              </a:srgbClr>
            </a:outerShdw>
          </a:effectLst>
        </p:spPr>
      </p:sp>
      <p:sp>
        <p:nvSpPr>
          <p:cNvPr id="36" name="[p2] Icono refresh-cw"/>
          <p:cNvSpPr/>
          <p:nvPr/>
        </p:nvSpPr>
        <p:spPr>
          <a:xfrm>
            <a:off x="4498306" y="3375263"/>
            <a:ext cx="453484" cy="453484"/>
          </a:xfrm>
          <a:custGeom>
            <a:avLst/>
            <a:gdLst/>
            <a:ahLst/>
            <a:cxnLst/>
            <a:rect l="l" t="t" r="r" b="b"/>
            <a:pathLst>
              <a:path w="453484" h="453484">
                <a:moveTo>
                  <a:pt x="56685" y="226742"/>
                </a:moveTo>
                <a:cubicBezTo>
                  <a:pt x="56685" y="132822"/>
                  <a:pt x="132822" y="56685"/>
                  <a:pt x="226742" y="56685"/>
                </a:cubicBezTo>
                <a:cubicBezTo>
                  <a:pt x="274283" y="56864"/>
                  <a:pt x="319915" y="75415"/>
                  <a:pt x="354095" y="108458"/>
                </a:cubicBezTo>
                <a:lnTo>
                  <a:pt x="396798" y="151161"/>
                </a:lnTo>
                <a:moveTo>
                  <a:pt x="396798" y="56685"/>
                </a:moveTo>
                <a:lnTo>
                  <a:pt x="396798" y="151161"/>
                </a:lnTo>
                <a:lnTo>
                  <a:pt x="302323" y="151161"/>
                </a:lnTo>
                <a:moveTo>
                  <a:pt x="396798" y="226742"/>
                </a:moveTo>
                <a:cubicBezTo>
                  <a:pt x="396798" y="320662"/>
                  <a:pt x="320662" y="396798"/>
                  <a:pt x="226742" y="396798"/>
                </a:cubicBezTo>
                <a:cubicBezTo>
                  <a:pt x="179201" y="396620"/>
                  <a:pt x="133569" y="378069"/>
                  <a:pt x="99389" y="345026"/>
                </a:cubicBezTo>
                <a:lnTo>
                  <a:pt x="56685" y="302323"/>
                </a:lnTo>
                <a:moveTo>
                  <a:pt x="151161" y="302323"/>
                </a:moveTo>
                <a:lnTo>
                  <a:pt x="56685" y="302323"/>
                </a:lnTo>
                <a:lnTo>
                  <a:pt x="56685" y="396798"/>
                </a:lnTo>
              </a:path>
            </a:pathLst>
          </a:custGeom>
          <a:noFill/>
          <a:ln w="33067" cap="rnd">
            <a:solidFill>
              <a:srgbClr val="8A4B06"/>
            </a:solidFill>
            <a:prstDash val="solid"/>
            <a:round/>
          </a:ln>
        </p:spPr>
      </p:sp>
      <p:sp>
        <p:nvSpPr>
          <p:cNvPr id="37" name="[p3] Forma"/>
          <p:cNvSpPr/>
          <p:nvPr/>
        </p:nvSpPr>
        <p:spPr>
          <a:xfrm>
            <a:off x="5218092" y="3602004"/>
            <a:ext cx="1755511" cy="0"/>
          </a:xfrm>
          <a:prstGeom prst="line">
            <a:avLst/>
          </a:prstGeom>
          <a:noFill/>
          <a:ln w="38100">
            <a:solidFill>
              <a:srgbClr val="2BA6CB"/>
            </a:solidFill>
            <a:prstDash val="solid"/>
            <a:tailEnd type="triangle"/>
          </a:ln>
        </p:spPr>
      </p:sp>
      <p:sp>
        <p:nvSpPr>
          <p:cNvPr id="38" name="[p2] Forma"/>
          <p:cNvSpPr/>
          <p:nvPr/>
        </p:nvSpPr>
        <p:spPr>
          <a:xfrm>
            <a:off x="3427400"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8A4B06"/>
                </a:solidFill>
                <a:latin typeface="Segoe UI Semibold" pitchFamily="34" charset="0"/>
                <a:ea typeface="Segoe UI Semibold" pitchFamily="34" charset="-122"/>
                <a:cs typeface="Segoe UI Semibold" pitchFamily="34" charset="-120"/>
              </a:rPr>
              <a:t>Reintenta</a:t>
            </a:r>
            <a:endParaRPr lang="en-US" sz="1700" dirty="0"/>
          </a:p>
        </p:txBody>
      </p:sp>
      <p:sp>
        <p:nvSpPr>
          <p:cNvPr id="39" name="[p2] Forma"/>
          <p:cNvSpPr/>
          <p:nvPr/>
        </p:nvSpPr>
        <p:spPr>
          <a:xfrm>
            <a:off x="3482264"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3 intentos por ciclo; el evento sigue pendiente.</a:t>
            </a:r>
            <a:endParaRPr lang="en-US" sz="1300" dirty="0"/>
          </a:p>
        </p:txBody>
      </p:sp>
      <p:sp>
        <p:nvSpPr>
          <p:cNvPr id="40" name="[p3] Forma"/>
          <p:cNvSpPr/>
          <p:nvPr/>
        </p:nvSpPr>
        <p:spPr>
          <a:xfrm>
            <a:off x="6872288" y="2724912"/>
            <a:ext cx="118872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en la UI</a:t>
            </a:r>
            <a:endParaRPr lang="en-US" sz="1100" dirty="0"/>
          </a:p>
        </p:txBody>
      </p:sp>
      <p:sp>
        <p:nvSpPr>
          <p:cNvPr id="41" name="[p3] Forma"/>
          <p:cNvSpPr/>
          <p:nvPr/>
        </p:nvSpPr>
        <p:spPr>
          <a:xfrm>
            <a:off x="7046755" y="3182112"/>
            <a:ext cx="839785" cy="839785"/>
          </a:xfrm>
          <a:prstGeom prst="ellipse">
            <a:avLst/>
          </a:prstGeom>
          <a:solidFill>
            <a:srgbClr val="FCEFD6"/>
          </a:solidFill>
          <a:ln w="31750">
            <a:solidFill>
              <a:srgbClr val="8A4B06"/>
            </a:solidFill>
            <a:prstDash val="solid"/>
          </a:ln>
          <a:effectLst>
            <a:outerShdw sx="100000" sy="100000" kx="0" ky="0" algn="bl" rotWithShape="0" blurRad="76200" dist="19050" dir="5400000">
              <a:srgbClr val="0B1F3A">
                <a:alpha val="14000"/>
              </a:srgbClr>
            </a:outerShdw>
          </a:effectLst>
        </p:spPr>
      </p:sp>
      <p:sp>
        <p:nvSpPr>
          <p:cNvPr id="42" name="[p3] Icono eye"/>
          <p:cNvSpPr/>
          <p:nvPr/>
        </p:nvSpPr>
        <p:spPr>
          <a:xfrm>
            <a:off x="7239906" y="3375263"/>
            <a:ext cx="453484" cy="453484"/>
          </a:xfrm>
          <a:custGeom>
            <a:avLst/>
            <a:gdLst/>
            <a:ahLst/>
            <a:cxnLst/>
            <a:rect l="l" t="t" r="r" b="b"/>
            <a:pathLst>
              <a:path w="453484" h="453484">
                <a:moveTo>
                  <a:pt x="38962" y="233317"/>
                </a:moveTo>
                <a:cubicBezTo>
                  <a:pt x="37387" y="229075"/>
                  <a:pt x="37387" y="224409"/>
                  <a:pt x="38962" y="220166"/>
                </a:cubicBezTo>
                <a:cubicBezTo>
                  <a:pt x="70328" y="144112"/>
                  <a:pt x="144473" y="94487"/>
                  <a:pt x="226742" y="94487"/>
                </a:cubicBezTo>
                <a:cubicBezTo>
                  <a:pt x="309011" y="94487"/>
                  <a:pt x="383156" y="144112"/>
                  <a:pt x="414522" y="220166"/>
                </a:cubicBezTo>
                <a:cubicBezTo>
                  <a:pt x="416097" y="224409"/>
                  <a:pt x="416097" y="229075"/>
                  <a:pt x="414522" y="233317"/>
                </a:cubicBezTo>
                <a:cubicBezTo>
                  <a:pt x="383156" y="309372"/>
                  <a:pt x="309011" y="358996"/>
                  <a:pt x="226742" y="358996"/>
                </a:cubicBezTo>
                <a:cubicBezTo>
                  <a:pt x="144473" y="358996"/>
                  <a:pt x="70328" y="309372"/>
                  <a:pt x="38962" y="233317"/>
                </a:cubicBezTo>
                <a:moveTo>
                  <a:pt x="283427" y="226742"/>
                </a:moveTo>
                <a:cubicBezTo>
                  <a:pt x="283427" y="258048"/>
                  <a:pt x="258048" y="283427"/>
                  <a:pt x="226742" y="283427"/>
                </a:cubicBezTo>
                <a:cubicBezTo>
                  <a:pt x="195435" y="283427"/>
                  <a:pt x="170056" y="258048"/>
                  <a:pt x="170056" y="226742"/>
                </a:cubicBezTo>
                <a:cubicBezTo>
                  <a:pt x="170056" y="195435"/>
                  <a:pt x="195435" y="170056"/>
                  <a:pt x="226742" y="170056"/>
                </a:cubicBezTo>
                <a:cubicBezTo>
                  <a:pt x="258048" y="170056"/>
                  <a:pt x="283427" y="195435"/>
                  <a:pt x="283427" y="226742"/>
                </a:cubicBezTo>
                <a:close/>
              </a:path>
            </a:pathLst>
          </a:custGeom>
          <a:noFill/>
          <a:ln w="33067" cap="rnd">
            <a:solidFill>
              <a:srgbClr val="8A4B06"/>
            </a:solidFill>
            <a:prstDash val="solid"/>
            <a:round/>
          </a:ln>
        </p:spPr>
      </p:sp>
      <p:sp>
        <p:nvSpPr>
          <p:cNvPr id="43" name="[p4] Forma"/>
          <p:cNvSpPr/>
          <p:nvPr/>
        </p:nvSpPr>
        <p:spPr>
          <a:xfrm>
            <a:off x="7959692" y="3602004"/>
            <a:ext cx="1755511" cy="0"/>
          </a:xfrm>
          <a:prstGeom prst="line">
            <a:avLst/>
          </a:prstGeom>
          <a:noFill/>
          <a:ln w="38100">
            <a:solidFill>
              <a:srgbClr val="2BA6CB"/>
            </a:solidFill>
            <a:prstDash val="solid"/>
            <a:tailEnd type="triangle"/>
          </a:ln>
        </p:spPr>
      </p:sp>
      <p:sp>
        <p:nvSpPr>
          <p:cNvPr id="44" name="[p3] Forma"/>
          <p:cNvSpPr/>
          <p:nvPr/>
        </p:nvSpPr>
        <p:spPr>
          <a:xfrm>
            <a:off x="6169000"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8A4B06"/>
                </a:solidFill>
                <a:latin typeface="Segoe UI Semibold" pitchFamily="34" charset="0"/>
                <a:ea typeface="Segoe UI Semibold" pitchFamily="34" charset="-122"/>
                <a:cs typeface="Segoe UI Semibold" pitchFamily="34" charset="-120"/>
              </a:rPr>
              <a:t>Se ve</a:t>
            </a:r>
            <a:endParaRPr lang="en-US" sz="1700" dirty="0"/>
          </a:p>
        </p:txBody>
      </p:sp>
      <p:sp>
        <p:nvSpPr>
          <p:cNvPr id="45" name="[p3] Forma"/>
          <p:cNvSpPr/>
          <p:nvPr/>
        </p:nvSpPr>
        <p:spPr>
          <a:xfrm>
            <a:off x="6223864"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“Notificaciones no responde” y 1 en camino.</a:t>
            </a:r>
            <a:endParaRPr lang="en-US" sz="1300" dirty="0"/>
          </a:p>
        </p:txBody>
      </p:sp>
      <p:sp>
        <p:nvSpPr>
          <p:cNvPr id="46" name="[p4] Forma"/>
          <p:cNvSpPr/>
          <p:nvPr/>
        </p:nvSpPr>
        <p:spPr>
          <a:xfrm>
            <a:off x="9568167" y="2724912"/>
            <a:ext cx="128016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al volver</a:t>
            </a:r>
            <a:endParaRPr lang="en-US" sz="1100" dirty="0"/>
          </a:p>
        </p:txBody>
      </p:sp>
      <p:sp>
        <p:nvSpPr>
          <p:cNvPr id="47" name="[p4] Forma"/>
          <p:cNvSpPr/>
          <p:nvPr/>
        </p:nvSpPr>
        <p:spPr>
          <a:xfrm>
            <a:off x="9788355" y="3182112"/>
            <a:ext cx="839785" cy="839785"/>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48" name="[p4] Icono bell"/>
          <p:cNvSpPr/>
          <p:nvPr/>
        </p:nvSpPr>
        <p:spPr>
          <a:xfrm>
            <a:off x="9981505" y="3375263"/>
            <a:ext cx="453484" cy="453484"/>
          </a:xfrm>
          <a:custGeom>
            <a:avLst/>
            <a:gdLst/>
            <a:ahLst/>
            <a:cxnLst/>
            <a:rect l="l" t="t" r="r" b="b"/>
            <a:pathLst>
              <a:path w="453484" h="453484">
                <a:moveTo>
                  <a:pt x="194016" y="396798"/>
                </a:moveTo>
                <a:cubicBezTo>
                  <a:pt x="200766" y="408490"/>
                  <a:pt x="213241" y="415692"/>
                  <a:pt x="226742" y="415692"/>
                </a:cubicBezTo>
                <a:cubicBezTo>
                  <a:pt x="240242" y="415692"/>
                  <a:pt x="252718" y="408490"/>
                  <a:pt x="259468" y="396798"/>
                </a:cubicBezTo>
                <a:moveTo>
                  <a:pt x="61636" y="289587"/>
                </a:moveTo>
                <a:cubicBezTo>
                  <a:pt x="56593" y="295115"/>
                  <a:pt x="55286" y="303098"/>
                  <a:pt x="58305" y="309945"/>
                </a:cubicBezTo>
                <a:cubicBezTo>
                  <a:pt x="61323" y="316792"/>
                  <a:pt x="68098" y="321212"/>
                  <a:pt x="75581" y="321218"/>
                </a:cubicBezTo>
                <a:lnTo>
                  <a:pt x="377903" y="321218"/>
                </a:lnTo>
                <a:cubicBezTo>
                  <a:pt x="385385" y="321220"/>
                  <a:pt x="392164" y="316808"/>
                  <a:pt x="395190" y="309966"/>
                </a:cubicBezTo>
                <a:cubicBezTo>
                  <a:pt x="398217" y="303124"/>
                  <a:pt x="396921" y="295140"/>
                  <a:pt x="391886" y="289606"/>
                </a:cubicBezTo>
                <a:cubicBezTo>
                  <a:pt x="366755" y="263701"/>
                  <a:pt x="340113" y="236171"/>
                  <a:pt x="340113" y="151161"/>
                </a:cubicBezTo>
                <a:cubicBezTo>
                  <a:pt x="340113" y="88548"/>
                  <a:pt x="289355" y="37790"/>
                  <a:pt x="226742" y="37790"/>
                </a:cubicBezTo>
                <a:cubicBezTo>
                  <a:pt x="164129" y="37790"/>
                  <a:pt x="113371" y="88548"/>
                  <a:pt x="113371" y="151161"/>
                </a:cubicBezTo>
                <a:cubicBezTo>
                  <a:pt x="113371" y="236171"/>
                  <a:pt x="86710" y="263701"/>
                  <a:pt x="61636" y="289587"/>
                </a:cubicBezTo>
              </a:path>
            </a:pathLst>
          </a:custGeom>
          <a:noFill/>
          <a:ln w="33067" cap="rnd">
            <a:solidFill>
              <a:srgbClr val="0A6648"/>
            </a:solidFill>
            <a:prstDash val="solid"/>
            <a:round/>
          </a:ln>
        </p:spPr>
      </p:sp>
      <p:sp>
        <p:nvSpPr>
          <p:cNvPr id="49" name="[p4] Forma"/>
          <p:cNvSpPr/>
          <p:nvPr/>
        </p:nvSpPr>
        <p:spPr>
          <a:xfrm>
            <a:off x="8910599"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0A6648"/>
                </a:solidFill>
                <a:latin typeface="Segoe UI Semibold" pitchFamily="34" charset="0"/>
                <a:ea typeface="Segoe UI Semibold" pitchFamily="34" charset="-122"/>
                <a:cs typeface="Segoe UI Semibold" pitchFamily="34" charset="-120"/>
              </a:rPr>
              <a:t>Entrega</a:t>
            </a:r>
            <a:endParaRPr lang="en-US" sz="1700" dirty="0"/>
          </a:p>
        </p:txBody>
      </p:sp>
      <p:sp>
        <p:nvSpPr>
          <p:cNvPr id="50" name="[p4] Forma"/>
          <p:cNvSpPr/>
          <p:nvPr/>
        </p:nvSpPr>
        <p:spPr>
          <a:xfrm>
            <a:off x="8965463"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Mismo eventoId: se crea el aviso.</a:t>
            </a:r>
            <a:endParaRPr lang="en-US" sz="1300" dirty="0"/>
          </a:p>
        </p:txBody>
      </p:sp>
      <p:sp>
        <p:nvSpPr>
          <p:cNvPr id="51" name="Text 4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7 · DEMOSTRACIÓN CON LA UI</a:t>
            </a:r>
            <a:endParaRPr lang="en-US" sz="800" dirty="0"/>
          </a:p>
        </p:txBody>
      </p:sp>
      <p:sp>
        <p:nvSpPr>
          <p:cNvPr id="52"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4" fill="hold">
                      <p:stCondLst>
                        <p:cond delay="indefinite"/>
                      </p:stCondLst>
                      <p:childTnLst>
                        <p:par>
                          <p:cTn id="25"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6"/>
                                        </p:tgtEl>
                                        <p:attrNameLst>
                                          <p:attrName>style.visibility</p:attrName>
                                        </p:attrNameLst>
                                      </p:cBhvr>
                                      <p:to>
                                        <p:strVal val="visible"/>
                                      </p:to>
                                    </p:set>
                                    <p:animEffect transition="in" filter="fade">
                                      <p:cBhvr>
                                        <p:cTn id="5" dur="400"/>
                                        <p:tgtEl>
                                          <p:spTgt spid="2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7"/>
                                        </p:tgtEl>
                                        <p:attrNameLst>
                                          <p:attrName>style.visibility</p:attrName>
                                        </p:attrNameLst>
                                      </p:cBhvr>
                                      <p:to>
                                        <p:strVal val="visible"/>
                                      </p:to>
                                    </p:set>
                                    <p:animEffect transition="in" filter="fade">
                                      <p:cBhvr>
                                        <p:cTn id="8" dur="400"/>
                                        <p:tgtEl>
                                          <p:spTgt spid="2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fade">
                                      <p:cBhvr>
                                        <p:cTn id="11" dur="400"/>
                                        <p:tgtEl>
                                          <p:spTgt spid="2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9"/>
                                        </p:tgtEl>
                                        <p:attrNameLst>
                                          <p:attrName>style.visibility</p:attrName>
                                        </p:attrNameLst>
                                      </p:cBhvr>
                                      <p:to>
                                        <p:strVal val="visible"/>
                                      </p:to>
                                    </p:set>
                                    <p:animEffect transition="in" filter="fade">
                                      <p:cBhvr>
                                        <p:cTn id="14" dur="400"/>
                                        <p:tgtEl>
                                          <p:spTgt spid="2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400"/>
                                        <p:tgtEl>
                                          <p:spTgt spid="3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2"/>
                                        </p:tgtEl>
                                        <p:attrNameLst>
                                          <p:attrName>style.visibility</p:attrName>
                                        </p:attrNameLst>
                                      </p:cBhvr>
                                      <p:to>
                                        <p:strVal val="visible"/>
                                      </p:to>
                                    </p:set>
                                    <p:animEffect transition="in" filter="fade">
                                      <p:cBhvr>
                                        <p:cTn id="20" dur="400"/>
                                        <p:tgtEl>
                                          <p:spTgt spid="32"/>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3"/>
                                        </p:tgtEl>
                                        <p:attrNameLst>
                                          <p:attrName>style.visibility</p:attrName>
                                        </p:attrNameLst>
                                      </p:cBhvr>
                                      <p:to>
                                        <p:strVal val="visible"/>
                                      </p:to>
                                    </p:set>
                                    <p:animEffect transition="in" filter="fade">
                                      <p:cBhvr>
                                        <p:cTn id="23" dur="400"/>
                                        <p:tgtEl>
                                          <p:spTgt spid="33"/>
                                        </p:tgtEl>
                                      </p:cBhvr>
                                    </p:animEffect>
                                  </p:childTnLst>
                                </p:cTn>
                              </p:par>
                            </p:childTnLst>
                          </p:cTn>
                        </p:par>
                      </p:childTnLst>
                    </p:cTn>
                  </p:par>
                  <p:par>
                    <p:cTn id="44" fill="hold">
                      <p:stCondLst>
                        <p:cond delay="indefinite"/>
                      </p:stCondLst>
                      <p:childTnLst>
                        <p:par>
                          <p:cTn id="4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1"/>
                                        </p:tgtEl>
                                        <p:attrNameLst>
                                          <p:attrName>style.visibility</p:attrName>
                                        </p:attrNameLst>
                                      </p:cBhvr>
                                      <p:to>
                                        <p:strVal val="visible"/>
                                      </p:to>
                                    </p:set>
                                    <p:animEffect transition="in" filter="fade">
                                      <p:cBhvr>
                                        <p:cTn id="28" dur="400"/>
                                        <p:tgtEl>
                                          <p:spTgt spid="3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4"/>
                                        </p:tgtEl>
                                        <p:attrNameLst>
                                          <p:attrName>style.visibility</p:attrName>
                                        </p:attrNameLst>
                                      </p:cBhvr>
                                      <p:to>
                                        <p:strVal val="visible"/>
                                      </p:to>
                                    </p:set>
                                    <p:animEffect transition="in" filter="fade">
                                      <p:cBhvr>
                                        <p:cTn id="31" dur="400"/>
                                        <p:tgtEl>
                                          <p:spTgt spid="3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5"/>
                                        </p:tgtEl>
                                        <p:attrNameLst>
                                          <p:attrName>style.visibility</p:attrName>
                                        </p:attrNameLst>
                                      </p:cBhvr>
                                      <p:to>
                                        <p:strVal val="visible"/>
                                      </p:to>
                                    </p:set>
                                    <p:animEffect transition="in" filter="fade">
                                      <p:cBhvr>
                                        <p:cTn id="34" dur="400"/>
                                        <p:tgtEl>
                                          <p:spTgt spid="3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6"/>
                                        </p:tgtEl>
                                        <p:attrNameLst>
                                          <p:attrName>style.visibility</p:attrName>
                                        </p:attrNameLst>
                                      </p:cBhvr>
                                      <p:to>
                                        <p:strVal val="visible"/>
                                      </p:to>
                                    </p:set>
                                    <p:animEffect transition="in" filter="fade">
                                      <p:cBhvr>
                                        <p:cTn id="37" dur="400"/>
                                        <p:tgtEl>
                                          <p:spTgt spid="3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8"/>
                                        </p:tgtEl>
                                        <p:attrNameLst>
                                          <p:attrName>style.visibility</p:attrName>
                                        </p:attrNameLst>
                                      </p:cBhvr>
                                      <p:to>
                                        <p:strVal val="visible"/>
                                      </p:to>
                                    </p:set>
                                    <p:animEffect transition="in" filter="fade">
                                      <p:cBhvr>
                                        <p:cTn id="40" dur="400"/>
                                        <p:tgtEl>
                                          <p:spTgt spid="3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9"/>
                                        </p:tgtEl>
                                        <p:attrNameLst>
                                          <p:attrName>style.visibility</p:attrName>
                                        </p:attrNameLst>
                                      </p:cBhvr>
                                      <p:to>
                                        <p:strVal val="visible"/>
                                      </p:to>
                                    </p:set>
                                    <p:animEffect transition="in" filter="fade">
                                      <p:cBhvr>
                                        <p:cTn id="43" dur="400"/>
                                        <p:tgtEl>
                                          <p:spTgt spid="39"/>
                                        </p:tgtEl>
                                      </p:cBhvr>
                                    </p:animEffect>
                                  </p:childTnLst>
                                </p:cTn>
                              </p:par>
                            </p:childTnLst>
                          </p:cTn>
                        </p:par>
                      </p:childTnLst>
                    </p:cTn>
                  </p:par>
                  <p:par>
                    <p:cTn id="64" fill="hold">
                      <p:stCondLst>
                        <p:cond delay="indefinite"/>
                      </p:stCondLst>
                      <p:childTnLst>
                        <p:par>
                          <p:cTn id="6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37"/>
                                        </p:tgtEl>
                                        <p:attrNameLst>
                                          <p:attrName>style.visibility</p:attrName>
                                        </p:attrNameLst>
                                      </p:cBhvr>
                                      <p:to>
                                        <p:strVal val="visible"/>
                                      </p:to>
                                    </p:set>
                                    <p:animEffect transition="in" filter="fade">
                                      <p:cBhvr>
                                        <p:cTn id="48" dur="400"/>
                                        <p:tgtEl>
                                          <p:spTgt spid="3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40"/>
                                        </p:tgtEl>
                                        <p:attrNameLst>
                                          <p:attrName>style.visibility</p:attrName>
                                        </p:attrNameLst>
                                      </p:cBhvr>
                                      <p:to>
                                        <p:strVal val="visible"/>
                                      </p:to>
                                    </p:set>
                                    <p:animEffect transition="in" filter="fade">
                                      <p:cBhvr>
                                        <p:cTn id="51" dur="400"/>
                                        <p:tgtEl>
                                          <p:spTgt spid="4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41"/>
                                        </p:tgtEl>
                                        <p:attrNameLst>
                                          <p:attrName>style.visibility</p:attrName>
                                        </p:attrNameLst>
                                      </p:cBhvr>
                                      <p:to>
                                        <p:strVal val="visible"/>
                                      </p:to>
                                    </p:set>
                                    <p:animEffect transition="in" filter="fade">
                                      <p:cBhvr>
                                        <p:cTn id="54" dur="400"/>
                                        <p:tgtEl>
                                          <p:spTgt spid="4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42"/>
                                        </p:tgtEl>
                                        <p:attrNameLst>
                                          <p:attrName>style.visibility</p:attrName>
                                        </p:attrNameLst>
                                      </p:cBhvr>
                                      <p:to>
                                        <p:strVal val="visible"/>
                                      </p:to>
                                    </p:set>
                                    <p:animEffect transition="in" filter="fade">
                                      <p:cBhvr>
                                        <p:cTn id="57" dur="400"/>
                                        <p:tgtEl>
                                          <p:spTgt spid="4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44"/>
                                        </p:tgtEl>
                                        <p:attrNameLst>
                                          <p:attrName>style.visibility</p:attrName>
                                        </p:attrNameLst>
                                      </p:cBhvr>
                                      <p:to>
                                        <p:strVal val="visible"/>
                                      </p:to>
                                    </p:set>
                                    <p:animEffect transition="in" filter="fade">
                                      <p:cBhvr>
                                        <p:cTn id="60" dur="400"/>
                                        <p:tgtEl>
                                          <p:spTgt spid="44"/>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45"/>
                                        </p:tgtEl>
                                        <p:attrNameLst>
                                          <p:attrName>style.visibility</p:attrName>
                                        </p:attrNameLst>
                                      </p:cBhvr>
                                      <p:to>
                                        <p:strVal val="visible"/>
                                      </p:to>
                                    </p:set>
                                    <p:animEffect transition="in" filter="fade">
                                      <p:cBhvr>
                                        <p:cTn id="63" dur="400"/>
                                        <p:tgtEl>
                                          <p:spTgt spid="45"/>
                                        </p:tgtEl>
                                      </p:cBhvr>
                                    </p:animEffect>
                                  </p:childTnLst>
                                </p:cTn>
                              </p:par>
                            </p:childTnLst>
                          </p:cTn>
                        </p:par>
                      </p:childTnLst>
                    </p:cTn>
                  </p:par>
                  <p:par>
                    <p:cTn id="84" fill="hold">
                      <p:stCondLst>
                        <p:cond delay="indefinite"/>
                      </p:stCondLst>
                      <p:childTnLst>
                        <p:par>
                          <p:cTn id="8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43"/>
                                        </p:tgtEl>
                                        <p:attrNameLst>
                                          <p:attrName>style.visibility</p:attrName>
                                        </p:attrNameLst>
                                      </p:cBhvr>
                                      <p:to>
                                        <p:strVal val="visible"/>
                                      </p:to>
                                    </p:set>
                                    <p:animEffect transition="in" filter="fade">
                                      <p:cBhvr>
                                        <p:cTn id="68" dur="400"/>
                                        <p:tgtEl>
                                          <p:spTgt spid="43"/>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46"/>
                                        </p:tgtEl>
                                        <p:attrNameLst>
                                          <p:attrName>style.visibility</p:attrName>
                                        </p:attrNameLst>
                                      </p:cBhvr>
                                      <p:to>
                                        <p:strVal val="visible"/>
                                      </p:to>
                                    </p:set>
                                    <p:animEffect transition="in" filter="fade">
                                      <p:cBhvr>
                                        <p:cTn id="71" dur="400"/>
                                        <p:tgtEl>
                                          <p:spTgt spid="46"/>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47"/>
                                        </p:tgtEl>
                                        <p:attrNameLst>
                                          <p:attrName>style.visibility</p:attrName>
                                        </p:attrNameLst>
                                      </p:cBhvr>
                                      <p:to>
                                        <p:strVal val="visible"/>
                                      </p:to>
                                    </p:set>
                                    <p:animEffect transition="in" filter="fade">
                                      <p:cBhvr>
                                        <p:cTn id="74" dur="400"/>
                                        <p:tgtEl>
                                          <p:spTgt spid="47"/>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8"/>
                                        </p:tgtEl>
                                        <p:attrNameLst>
                                          <p:attrName>style.visibility</p:attrName>
                                        </p:attrNameLst>
                                      </p:cBhvr>
                                      <p:to>
                                        <p:strVal val="visible"/>
                                      </p:to>
                                    </p:set>
                                    <p:animEffect transition="in" filter="fade">
                                      <p:cBhvr>
                                        <p:cTn id="77" dur="400"/>
                                        <p:tgtEl>
                                          <p:spTgt spid="48"/>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49"/>
                                        </p:tgtEl>
                                        <p:attrNameLst>
                                          <p:attrName>style.visibility</p:attrName>
                                        </p:attrNameLst>
                                      </p:cBhvr>
                                      <p:to>
                                        <p:strVal val="visible"/>
                                      </p:to>
                                    </p:set>
                                    <p:animEffect transition="in" filter="fade">
                                      <p:cBhvr>
                                        <p:cTn id="80" dur="400"/>
                                        <p:tgtEl>
                                          <p:spTgt spid="49"/>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50"/>
                                        </p:tgtEl>
                                        <p:attrNameLst>
                                          <p:attrName>style.visibility</p:attrName>
                                        </p:attrNameLst>
                                      </p:cBhvr>
                                      <p:to>
                                        <p:strVal val="visible"/>
                                      </p:to>
                                    </p:set>
                                    <p:animEffect transition="in" filter="fade">
                                      <p:cBhvr>
                                        <p:cTn id="83" dur="400"/>
                                        <p:tgtEl>
                                          <p:spTgt spid="50"/>
                                        </p:tgtEl>
                                      </p:cBhvr>
                                    </p:animEffect>
                                  </p:childTnLst>
                                </p:cTn>
                              </p:par>
                            </p:childTnLst>
                          </p:cTn>
                        </p:par>
                      </p:childTnLst>
                    </p:cTn>
                  </p:par>
                  <p:par>
                    <p:cTn id="107" fill="hold">
                      <p:stCondLst>
                        <p:cond delay="indefinite"/>
                      </p:stCondLst>
                      <p:childTnLst>
                        <p:par>
                          <p:cTn id="108" fill="hold">
                            <p:stCondLst>
                              <p:cond delay="0"/>
                            </p:stCondLst>
                            <p:childTnLst>
                              <p:par>
                                <p:cTn id="86" presetID="10" presetClass="entr" presetSubtype="0" fill="hold" grpId="0" nodeType="clickEffect">
                                  <p:stCondLst>
                                    <p:cond delay="0"/>
                                  </p:stCondLst>
                                  <p:childTnLst>
                                    <p:set>
                                      <p:cBhvr>
                                        <p:cTn id="87" dur="1" fill="hold">
                                          <p:stCondLst>
                                            <p:cond delay="0"/>
                                          </p:stCondLst>
                                        </p:cTn>
                                        <p:tgtEl>
                                          <p:spTgt spid="19"/>
                                        </p:tgtEl>
                                        <p:attrNameLst>
                                          <p:attrName>style.visibility</p:attrName>
                                        </p:attrNameLst>
                                      </p:cBhvr>
                                      <p:to>
                                        <p:strVal val="visible"/>
                                      </p:to>
                                    </p:set>
                                    <p:animEffect transition="in" filter="fade">
                                      <p:cBhvr>
                                        <p:cTn id="88" dur="400"/>
                                        <p:tgtEl>
                                          <p:spTgt spid="19"/>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20"/>
                                        </p:tgtEl>
                                        <p:attrNameLst>
                                          <p:attrName>style.visibility</p:attrName>
                                        </p:attrNameLst>
                                      </p:cBhvr>
                                      <p:to>
                                        <p:strVal val="visible"/>
                                      </p:to>
                                    </p:set>
                                    <p:animEffect transition="in" filter="fade">
                                      <p:cBhvr>
                                        <p:cTn id="91" dur="400"/>
                                        <p:tgtEl>
                                          <p:spTgt spid="20"/>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21"/>
                                        </p:tgtEl>
                                        <p:attrNameLst>
                                          <p:attrName>style.visibility</p:attrName>
                                        </p:attrNameLst>
                                      </p:cBhvr>
                                      <p:to>
                                        <p:strVal val="visible"/>
                                      </p:to>
                                    </p:set>
                                    <p:animEffect transition="in" filter="fade">
                                      <p:cBhvr>
                                        <p:cTn id="94" dur="400"/>
                                        <p:tgtEl>
                                          <p:spTgt spid="21"/>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22"/>
                                        </p:tgtEl>
                                        <p:attrNameLst>
                                          <p:attrName>style.visibility</p:attrName>
                                        </p:attrNameLst>
                                      </p:cBhvr>
                                      <p:to>
                                        <p:strVal val="visible"/>
                                      </p:to>
                                    </p:set>
                                    <p:animEffect transition="in" filter="fade">
                                      <p:cBhvr>
                                        <p:cTn id="97" dur="400"/>
                                        <p:tgtEl>
                                          <p:spTgt spid="22"/>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23"/>
                                        </p:tgtEl>
                                        <p:attrNameLst>
                                          <p:attrName>style.visibility</p:attrName>
                                        </p:attrNameLst>
                                      </p:cBhvr>
                                      <p:to>
                                        <p:strVal val="visible"/>
                                      </p:to>
                                    </p:set>
                                    <p:animEffect transition="in" filter="fade">
                                      <p:cBhvr>
                                        <p:cTn id="100" dur="400"/>
                                        <p:tgtEl>
                                          <p:spTgt spid="23"/>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24"/>
                                        </p:tgtEl>
                                        <p:attrNameLst>
                                          <p:attrName>style.visibility</p:attrName>
                                        </p:attrNameLst>
                                      </p:cBhvr>
                                      <p:to>
                                        <p:strVal val="visible"/>
                                      </p:to>
                                    </p:set>
                                    <p:animEffect transition="in" filter="fade">
                                      <p:cBhvr>
                                        <p:cTn id="103" dur="400"/>
                                        <p:tgtEl>
                                          <p:spTgt spid="24"/>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25"/>
                                        </p:tgtEl>
                                        <p:attrNameLst>
                                          <p:attrName>style.visibility</p:attrName>
                                        </p:attrNameLst>
                                      </p:cBhvr>
                                      <p:to>
                                        <p:strVal val="visible"/>
                                      </p:to>
                                    </p:set>
                                    <p:animEffect transition="in" filter="fade">
                                      <p:cBhvr>
                                        <p:cTn id="106"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2" grpId="0" animBg="1"/>
      <p:bldP spid="33" grpId="0" animBg="1"/>
      <p:bldP spid="31" grpId="0" animBg="1"/>
      <p:bldP spid="34" grpId="0" animBg="1"/>
      <p:bldP spid="35" grpId="0" animBg="1"/>
      <p:bldP spid="36" grpId="0" animBg="1"/>
      <p:bldP spid="38" grpId="0" animBg="1"/>
      <p:bldP spid="39" grpId="0" animBg="1"/>
      <p:bldP spid="37" grpId="0" animBg="1"/>
      <p:bldP spid="40" grpId="0" animBg="1"/>
      <p:bldP spid="41" grpId="0" animBg="1"/>
      <p:bldP spid="42" grpId="0" animBg="1"/>
      <p:bldP spid="44" grpId="0" animBg="1"/>
      <p:bldP spid="45" grpId="0" animBg="1"/>
      <p:bldP spid="43" grpId="0" animBg="1"/>
      <p:bldP spid="46" grpId="0" animBg="1"/>
      <p:bldP spid="47" grpId="0" animBg="1"/>
      <p:bldP spid="48" grpId="0" animBg="1"/>
      <p:bldP spid="49" grpId="0" animBg="1"/>
      <p:bldP spid="5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VALOR Y CIERRE</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El valor agregado</a:t>
            </a:r>
            <a:endParaRPr lang="en-US" sz="2800" dirty="0"/>
          </a:p>
        </p:txBody>
      </p:sp>
      <p:sp>
        <p:nvSpPr>
          <p:cNvPr id="5" name="Text 3"/>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Prácticas que un equipo de tecnología puede reutilizar, en cualquier lenguaje.</a:t>
            </a:r>
            <a:endParaRPr lang="en-US" sz="1700" dirty="0"/>
          </a:p>
        </p:txBody>
      </p:sp>
      <p:sp>
        <p:nvSpPr>
          <p:cNvPr id="6" name="Shape 4"/>
          <p:cNvSpPr/>
          <p:nvPr/>
        </p:nvSpPr>
        <p:spPr>
          <a:xfrm>
            <a:off x="612648" y="1719072"/>
            <a:ext cx="10966399" cy="420624"/>
          </a:xfrm>
          <a:prstGeom prst="roundRect">
            <a:avLst>
              <a:gd name="adj" fmla="val 21739"/>
            </a:avLst>
          </a:prstGeom>
          <a:solidFill>
            <a:srgbClr val="0B2350"/>
          </a:solidFill>
          <a:ln w="12700">
            <a:solidFill>
              <a:srgbClr val="0B2350"/>
            </a:solidFill>
            <a:prstDash val="solid"/>
          </a:ln>
        </p:spPr>
      </p:sp>
      <p:sp>
        <p:nvSpPr>
          <p:cNvPr id="7" name="Text 5"/>
          <p:cNvSpPr/>
          <p:nvPr/>
        </p:nvSpPr>
        <p:spPr>
          <a:xfrm>
            <a:off x="1499616" y="1719072"/>
            <a:ext cx="2531617"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PILAR</a:t>
            </a:r>
            <a:endParaRPr lang="en-US" sz="1150" dirty="0"/>
          </a:p>
        </p:txBody>
      </p:sp>
      <p:sp>
        <p:nvSpPr>
          <p:cNvPr id="8" name="Text 6"/>
          <p:cNvSpPr/>
          <p:nvPr/>
        </p:nvSpPr>
        <p:spPr>
          <a:xfrm>
            <a:off x="4250689" y="1719072"/>
            <a:ext cx="3754316"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QUÉ CONSTRUIMOS</a:t>
            </a:r>
            <a:endParaRPr lang="en-US" sz="1150" dirty="0"/>
          </a:p>
        </p:txBody>
      </p:sp>
      <p:sp>
        <p:nvSpPr>
          <p:cNvPr id="9" name="Text 7"/>
          <p:cNvSpPr/>
          <p:nvPr/>
        </p:nvSpPr>
        <p:spPr>
          <a:xfrm>
            <a:off x="8224461" y="1719072"/>
            <a:ext cx="3244858"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VALOR PARA EL EQUIPO</a:t>
            </a:r>
            <a:endParaRPr lang="en-US" sz="1150" dirty="0"/>
          </a:p>
        </p:txBody>
      </p:sp>
      <p:sp>
        <p:nvSpPr>
          <p:cNvPr id="10" name="Shape 8"/>
          <p:cNvSpPr/>
          <p:nvPr/>
        </p:nvSpPr>
        <p:spPr>
          <a:xfrm>
            <a:off x="612648" y="2267712"/>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1" name="Shape 9"/>
          <p:cNvSpPr/>
          <p:nvPr/>
        </p:nvSpPr>
        <p:spPr>
          <a:xfrm>
            <a:off x="612648" y="2359152"/>
            <a:ext cx="64008" cy="546811"/>
          </a:xfrm>
          <a:prstGeom prst="rect">
            <a:avLst/>
          </a:prstGeom>
          <a:solidFill>
            <a:srgbClr val="0A6648"/>
          </a:solidFill>
          <a:ln w="12700">
            <a:solidFill>
              <a:srgbClr val="0A6648"/>
            </a:solidFill>
            <a:prstDash val="solid"/>
          </a:ln>
        </p:spPr>
      </p:sp>
      <p:sp>
        <p:nvSpPr>
          <p:cNvPr id="12" name="Shape 10"/>
          <p:cNvSpPr/>
          <p:nvPr/>
        </p:nvSpPr>
        <p:spPr>
          <a:xfrm>
            <a:off x="772668" y="2376526"/>
            <a:ext cx="512064" cy="512064"/>
          </a:xfrm>
          <a:prstGeom prst="ellipse">
            <a:avLst/>
          </a:prstGeom>
          <a:solidFill>
            <a:srgbClr val="E1F1EA"/>
          </a:solidFill>
          <a:ln w="12700">
            <a:solidFill>
              <a:srgbClr val="E1F1EA"/>
            </a:solidFill>
            <a:prstDash val="solid"/>
          </a:ln>
        </p:spPr>
      </p:sp>
      <p:sp>
        <p:nvSpPr>
          <p:cNvPr id="13" name="Icono shield-check"/>
          <p:cNvSpPr/>
          <p:nvPr/>
        </p:nvSpPr>
        <p:spPr>
          <a:xfrm>
            <a:off x="895563" y="2499421"/>
            <a:ext cx="266273" cy="266273"/>
          </a:xfrm>
          <a:custGeom>
            <a:avLst/>
            <a:gdLst/>
            <a:ahLst/>
            <a:cxnLst/>
            <a:rect l="l" t="t" r="r" b="b"/>
            <a:pathLst>
              <a:path w="266273" h="266273">
                <a:moveTo>
                  <a:pt x="221894" y="144231"/>
                </a:moveTo>
                <a:cubicBezTo>
                  <a:pt x="221894" y="199705"/>
                  <a:pt x="183063" y="227442"/>
                  <a:pt x="136909" y="243529"/>
                </a:cubicBezTo>
                <a:cubicBezTo>
                  <a:pt x="134492" y="244348"/>
                  <a:pt x="131867" y="244309"/>
                  <a:pt x="129475" y="243418"/>
                </a:cubicBezTo>
                <a:cubicBezTo>
                  <a:pt x="83210" y="227442"/>
                  <a:pt x="44379" y="199705"/>
                  <a:pt x="44379" y="144231"/>
                </a:cubicBezTo>
                <a:lnTo>
                  <a:pt x="44379" y="66568"/>
                </a:lnTo>
                <a:cubicBezTo>
                  <a:pt x="44379" y="60441"/>
                  <a:pt x="49346" y="55474"/>
                  <a:pt x="55474" y="55474"/>
                </a:cubicBezTo>
                <a:cubicBezTo>
                  <a:pt x="77663" y="55474"/>
                  <a:pt x="105400" y="42160"/>
                  <a:pt x="124705" y="25296"/>
                </a:cubicBezTo>
                <a:cubicBezTo>
                  <a:pt x="129561" y="21147"/>
                  <a:pt x="136713" y="21147"/>
                  <a:pt x="141569" y="25296"/>
                </a:cubicBezTo>
                <a:cubicBezTo>
                  <a:pt x="160984" y="42271"/>
                  <a:pt x="188610" y="55474"/>
                  <a:pt x="210800" y="55474"/>
                </a:cubicBezTo>
                <a:cubicBezTo>
                  <a:pt x="216927" y="55474"/>
                  <a:pt x="221894" y="60441"/>
                  <a:pt x="221894" y="66568"/>
                </a:cubicBezTo>
                <a:close/>
                <a:moveTo>
                  <a:pt x="99852" y="133137"/>
                </a:moveTo>
                <a:lnTo>
                  <a:pt x="122042" y="155326"/>
                </a:lnTo>
                <a:lnTo>
                  <a:pt x="166421" y="110947"/>
                </a:lnTo>
              </a:path>
            </a:pathLst>
          </a:custGeom>
          <a:noFill/>
          <a:ln w="22189" cap="rnd">
            <a:solidFill>
              <a:srgbClr val="0A6648"/>
            </a:solidFill>
            <a:prstDash val="solid"/>
            <a:round/>
          </a:ln>
        </p:spPr>
      </p:sp>
      <p:sp>
        <p:nvSpPr>
          <p:cNvPr id="14" name="Text 12"/>
          <p:cNvSpPr/>
          <p:nvPr/>
        </p:nvSpPr>
        <p:spPr>
          <a:xfrm>
            <a:off x="1517904" y="2322576"/>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0A6648"/>
                </a:solidFill>
                <a:latin typeface="Segoe UI Semibold" pitchFamily="34" charset="0"/>
                <a:ea typeface="Segoe UI Semibold" pitchFamily="34" charset="-122"/>
                <a:cs typeface="Segoe UI Semibold" pitchFamily="34" charset="-120"/>
              </a:rPr>
              <a:t>Datos consistentes</a:t>
            </a:r>
            <a:endParaRPr lang="en-US" sz="1500" dirty="0"/>
          </a:p>
        </p:txBody>
      </p:sp>
      <p:sp>
        <p:nvSpPr>
          <p:cNvPr id="15" name="Shape 13"/>
          <p:cNvSpPr/>
          <p:nvPr/>
        </p:nvSpPr>
        <p:spPr>
          <a:xfrm>
            <a:off x="4140961" y="2395728"/>
            <a:ext cx="0" cy="473659"/>
          </a:xfrm>
          <a:prstGeom prst="line">
            <a:avLst/>
          </a:prstGeom>
          <a:noFill/>
          <a:ln w="9525">
            <a:solidFill>
              <a:srgbClr val="DFE6F0"/>
            </a:solidFill>
            <a:prstDash val="solid"/>
          </a:ln>
        </p:spPr>
      </p:sp>
      <p:sp>
        <p:nvSpPr>
          <p:cNvPr id="16" name="Text 14"/>
          <p:cNvSpPr/>
          <p:nvPr/>
        </p:nvSpPr>
        <p:spPr>
          <a:xfrm>
            <a:off x="4268977" y="2322576"/>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Transacción local, Outbox e idempotencia</a:t>
            </a:r>
            <a:endParaRPr lang="en-US" sz="1400" dirty="0"/>
          </a:p>
        </p:txBody>
      </p:sp>
      <p:sp>
        <p:nvSpPr>
          <p:cNvPr id="17" name="Shape 15"/>
          <p:cNvSpPr/>
          <p:nvPr/>
        </p:nvSpPr>
        <p:spPr>
          <a:xfrm>
            <a:off x="8114733" y="2395728"/>
            <a:ext cx="0" cy="473659"/>
          </a:xfrm>
          <a:prstGeom prst="line">
            <a:avLst/>
          </a:prstGeom>
          <a:noFill/>
          <a:ln w="9525">
            <a:solidFill>
              <a:srgbClr val="DFE6F0"/>
            </a:solidFill>
            <a:prstDash val="solid"/>
          </a:ln>
        </p:spPr>
      </p:sp>
      <p:sp>
        <p:nvSpPr>
          <p:cNvPr id="18" name="Text 16"/>
          <p:cNvSpPr/>
          <p:nvPr/>
        </p:nvSpPr>
        <p:spPr>
          <a:xfrm>
            <a:off x="8242749" y="2322576"/>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0 avisos perdidos o duplicados ante caídas</a:t>
            </a:r>
            <a:endParaRPr lang="en-US" sz="1400" dirty="0"/>
          </a:p>
        </p:txBody>
      </p:sp>
      <p:sp>
        <p:nvSpPr>
          <p:cNvPr id="19" name="[p1] Forma"/>
          <p:cNvSpPr/>
          <p:nvPr/>
        </p:nvSpPr>
        <p:spPr>
          <a:xfrm>
            <a:off x="612648" y="3107131"/>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0" name="[p1] Forma"/>
          <p:cNvSpPr/>
          <p:nvPr/>
        </p:nvSpPr>
        <p:spPr>
          <a:xfrm>
            <a:off x="612648" y="3198571"/>
            <a:ext cx="64008" cy="546811"/>
          </a:xfrm>
          <a:prstGeom prst="rect">
            <a:avLst/>
          </a:prstGeom>
          <a:solidFill>
            <a:srgbClr val="8A4B06"/>
          </a:solidFill>
          <a:ln w="12700">
            <a:solidFill>
              <a:srgbClr val="8A4B06"/>
            </a:solidFill>
            <a:prstDash val="solid"/>
          </a:ln>
        </p:spPr>
      </p:sp>
      <p:sp>
        <p:nvSpPr>
          <p:cNvPr id="21" name="[p1] Forma"/>
          <p:cNvSpPr/>
          <p:nvPr/>
        </p:nvSpPr>
        <p:spPr>
          <a:xfrm>
            <a:off x="772668" y="3215945"/>
            <a:ext cx="512064" cy="512064"/>
          </a:xfrm>
          <a:prstGeom prst="ellipse">
            <a:avLst/>
          </a:prstGeom>
          <a:solidFill>
            <a:srgbClr val="FCEFD6"/>
          </a:solidFill>
          <a:ln w="12700">
            <a:solidFill>
              <a:srgbClr val="FCEFD6"/>
            </a:solidFill>
            <a:prstDash val="solid"/>
          </a:ln>
        </p:spPr>
      </p:sp>
      <p:sp>
        <p:nvSpPr>
          <p:cNvPr id="22" name="[p1] Icono key-round"/>
          <p:cNvSpPr/>
          <p:nvPr/>
        </p:nvSpPr>
        <p:spPr>
          <a:xfrm>
            <a:off x="895563" y="3338840"/>
            <a:ext cx="266273" cy="266273"/>
          </a:xfrm>
          <a:custGeom>
            <a:avLst/>
            <a:gdLst/>
            <a:ahLst/>
            <a:cxnLst/>
            <a:rect l="l" t="t" r="r" b="b"/>
            <a:pathLst>
              <a:path w="266273" h="266273">
                <a:moveTo>
                  <a:pt x="28691" y="193203"/>
                </a:moveTo>
                <a:cubicBezTo>
                  <a:pt x="24529" y="197364"/>
                  <a:pt x="22191" y="203007"/>
                  <a:pt x="22189" y="208891"/>
                </a:cubicBezTo>
                <a:lnTo>
                  <a:pt x="22189" y="232989"/>
                </a:lnTo>
                <a:cubicBezTo>
                  <a:pt x="22189" y="239117"/>
                  <a:pt x="27157" y="244084"/>
                  <a:pt x="33284" y="244084"/>
                </a:cubicBezTo>
                <a:lnTo>
                  <a:pt x="66568" y="244084"/>
                </a:lnTo>
                <a:cubicBezTo>
                  <a:pt x="72696" y="244084"/>
                  <a:pt x="77663" y="239117"/>
                  <a:pt x="77663" y="232989"/>
                </a:cubicBezTo>
                <a:lnTo>
                  <a:pt x="77663" y="221894"/>
                </a:lnTo>
                <a:cubicBezTo>
                  <a:pt x="77663" y="215767"/>
                  <a:pt x="82630" y="210800"/>
                  <a:pt x="88758" y="210800"/>
                </a:cubicBezTo>
                <a:lnTo>
                  <a:pt x="99852" y="210800"/>
                </a:lnTo>
                <a:cubicBezTo>
                  <a:pt x="105980" y="210800"/>
                  <a:pt x="110947" y="205832"/>
                  <a:pt x="110947" y="199705"/>
                </a:cubicBezTo>
                <a:lnTo>
                  <a:pt x="110947" y="188610"/>
                </a:lnTo>
                <a:cubicBezTo>
                  <a:pt x="110947" y="182483"/>
                  <a:pt x="115914" y="177516"/>
                  <a:pt x="122042" y="177516"/>
                </a:cubicBezTo>
                <a:lnTo>
                  <a:pt x="123950" y="177516"/>
                </a:lnTo>
                <a:cubicBezTo>
                  <a:pt x="129835" y="177514"/>
                  <a:pt x="135478" y="175176"/>
                  <a:pt x="139638" y="171014"/>
                </a:cubicBezTo>
                <a:lnTo>
                  <a:pt x="148669" y="161983"/>
                </a:lnTo>
                <a:cubicBezTo>
                  <a:pt x="180425" y="173045"/>
                  <a:pt x="215611" y="160691"/>
                  <a:pt x="233481" y="132206"/>
                </a:cubicBezTo>
                <a:cubicBezTo>
                  <a:pt x="251352" y="103721"/>
                  <a:pt x="247164" y="66665"/>
                  <a:pt x="223386" y="42887"/>
                </a:cubicBezTo>
                <a:cubicBezTo>
                  <a:pt x="199608" y="19110"/>
                  <a:pt x="162552" y="14921"/>
                  <a:pt x="134067" y="32792"/>
                </a:cubicBezTo>
                <a:cubicBezTo>
                  <a:pt x="105582" y="50663"/>
                  <a:pt x="93228" y="85849"/>
                  <a:pt x="104290" y="117604"/>
                </a:cubicBezTo>
                <a:close/>
                <a:moveTo>
                  <a:pt x="188610" y="83210"/>
                </a:moveTo>
                <a:cubicBezTo>
                  <a:pt x="188610" y="86274"/>
                  <a:pt x="186127" y="88758"/>
                  <a:pt x="183063" y="88758"/>
                </a:cubicBezTo>
                <a:cubicBezTo>
                  <a:pt x="179999" y="88758"/>
                  <a:pt x="177516" y="86274"/>
                  <a:pt x="177516" y="83210"/>
                </a:cubicBezTo>
                <a:cubicBezTo>
                  <a:pt x="177516" y="80147"/>
                  <a:pt x="179999" y="77663"/>
                  <a:pt x="183063" y="77663"/>
                </a:cubicBezTo>
                <a:cubicBezTo>
                  <a:pt x="186127" y="77663"/>
                  <a:pt x="188610" y="80147"/>
                  <a:pt x="188610" y="83210"/>
                </a:cubicBezTo>
                <a:close/>
              </a:path>
            </a:pathLst>
          </a:custGeom>
          <a:noFill/>
          <a:ln w="22189" cap="rnd">
            <a:solidFill>
              <a:srgbClr val="8A4B06"/>
            </a:solidFill>
            <a:prstDash val="solid"/>
            <a:round/>
          </a:ln>
        </p:spPr>
      </p:sp>
      <p:sp>
        <p:nvSpPr>
          <p:cNvPr id="23" name="[p1] Forma"/>
          <p:cNvSpPr/>
          <p:nvPr/>
        </p:nvSpPr>
        <p:spPr>
          <a:xfrm>
            <a:off x="1517904" y="3161995"/>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8A4B06"/>
                </a:solidFill>
                <a:latin typeface="Segoe UI Semibold" pitchFamily="34" charset="0"/>
                <a:ea typeface="Segoe UI Semibold" pitchFamily="34" charset="-122"/>
                <a:cs typeface="Segoe UI Semibold" pitchFamily="34" charset="-120"/>
              </a:rPr>
              <a:t>Conexión segura</a:t>
            </a:r>
            <a:endParaRPr lang="en-US" sz="1500" dirty="0"/>
          </a:p>
        </p:txBody>
      </p:sp>
      <p:sp>
        <p:nvSpPr>
          <p:cNvPr id="24" name="[p1] Forma"/>
          <p:cNvSpPr/>
          <p:nvPr/>
        </p:nvSpPr>
        <p:spPr>
          <a:xfrm>
            <a:off x="4140961" y="3235147"/>
            <a:ext cx="0" cy="473659"/>
          </a:xfrm>
          <a:prstGeom prst="line">
            <a:avLst/>
          </a:prstGeom>
          <a:noFill/>
          <a:ln w="9525">
            <a:solidFill>
              <a:srgbClr val="DFE6F0"/>
            </a:solidFill>
            <a:prstDash val="solid"/>
          </a:ln>
        </p:spPr>
      </p:sp>
      <p:sp>
        <p:nvSpPr>
          <p:cNvPr id="25" name="[p1] Forma"/>
          <p:cNvSpPr/>
          <p:nvPr/>
        </p:nvSpPr>
        <p:spPr>
          <a:xfrm>
            <a:off x="4268977" y="3161995"/>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Cadena de conexión y claves fuera del código</a:t>
            </a:r>
            <a:endParaRPr lang="en-US" sz="1400" dirty="0"/>
          </a:p>
        </p:txBody>
      </p:sp>
      <p:sp>
        <p:nvSpPr>
          <p:cNvPr id="26" name="[p1] Forma"/>
          <p:cNvSpPr/>
          <p:nvPr/>
        </p:nvSpPr>
        <p:spPr>
          <a:xfrm>
            <a:off x="8114733" y="3235147"/>
            <a:ext cx="0" cy="473659"/>
          </a:xfrm>
          <a:prstGeom prst="line">
            <a:avLst/>
          </a:prstGeom>
          <a:noFill/>
          <a:ln w="9525">
            <a:solidFill>
              <a:srgbClr val="DFE6F0"/>
            </a:solidFill>
            <a:prstDash val="solid"/>
          </a:ln>
        </p:spPr>
      </p:sp>
      <p:sp>
        <p:nvSpPr>
          <p:cNvPr id="27" name="[p1] Forma"/>
          <p:cNvSpPr/>
          <p:nvPr/>
        </p:nvSpPr>
        <p:spPr>
          <a:xfrm>
            <a:off x="8242749" y="3161995"/>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Cambiar de servidor o de clave sin recompilar</a:t>
            </a:r>
            <a:endParaRPr lang="en-US" sz="1400" dirty="0"/>
          </a:p>
        </p:txBody>
      </p:sp>
      <p:sp>
        <p:nvSpPr>
          <p:cNvPr id="28" name="[p2] Forma"/>
          <p:cNvSpPr/>
          <p:nvPr/>
        </p:nvSpPr>
        <p:spPr>
          <a:xfrm>
            <a:off x="612648" y="3946550"/>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9" name="[p2] Forma"/>
          <p:cNvSpPr/>
          <p:nvPr/>
        </p:nvSpPr>
        <p:spPr>
          <a:xfrm>
            <a:off x="612648" y="4037990"/>
            <a:ext cx="64008" cy="546811"/>
          </a:xfrm>
          <a:prstGeom prst="rect">
            <a:avLst/>
          </a:prstGeom>
          <a:solidFill>
            <a:srgbClr val="0B6E8A"/>
          </a:solidFill>
          <a:ln w="12700">
            <a:solidFill>
              <a:srgbClr val="0B6E8A"/>
            </a:solidFill>
            <a:prstDash val="solid"/>
          </a:ln>
        </p:spPr>
      </p:sp>
      <p:sp>
        <p:nvSpPr>
          <p:cNvPr id="30" name="[p2] Forma"/>
          <p:cNvSpPr/>
          <p:nvPr/>
        </p:nvSpPr>
        <p:spPr>
          <a:xfrm>
            <a:off x="772668" y="4055364"/>
            <a:ext cx="512064" cy="512064"/>
          </a:xfrm>
          <a:prstGeom prst="ellipse">
            <a:avLst/>
          </a:prstGeom>
          <a:solidFill>
            <a:srgbClr val="E3F4FA"/>
          </a:solidFill>
          <a:ln w="12700">
            <a:solidFill>
              <a:srgbClr val="E3F4FA"/>
            </a:solidFill>
            <a:prstDash val="solid"/>
          </a:ln>
        </p:spPr>
      </p:sp>
      <p:sp>
        <p:nvSpPr>
          <p:cNvPr id="31" name="[p2] Icono container"/>
          <p:cNvSpPr/>
          <p:nvPr/>
        </p:nvSpPr>
        <p:spPr>
          <a:xfrm>
            <a:off x="895563" y="4178259"/>
            <a:ext cx="266273" cy="266273"/>
          </a:xfrm>
          <a:custGeom>
            <a:avLst/>
            <a:gdLst/>
            <a:ahLst/>
            <a:cxnLst/>
            <a:rect l="l" t="t" r="r" b="b"/>
            <a:pathLst>
              <a:path w="266273" h="266273">
                <a:moveTo>
                  <a:pt x="244084" y="85429"/>
                </a:moveTo>
                <a:cubicBezTo>
                  <a:pt x="244084" y="78773"/>
                  <a:pt x="239646" y="72116"/>
                  <a:pt x="235208" y="68787"/>
                </a:cubicBezTo>
                <a:lnTo>
                  <a:pt x="165311" y="25518"/>
                </a:lnTo>
                <a:cubicBezTo>
                  <a:pt x="159464" y="22194"/>
                  <a:pt x="152298" y="22194"/>
                  <a:pt x="146450" y="25518"/>
                </a:cubicBezTo>
                <a:lnTo>
                  <a:pt x="32175" y="92086"/>
                </a:lnTo>
                <a:cubicBezTo>
                  <a:pt x="26627" y="94305"/>
                  <a:pt x="22189" y="100962"/>
                  <a:pt x="22189" y="107619"/>
                </a:cubicBezTo>
                <a:lnTo>
                  <a:pt x="22189" y="180844"/>
                </a:lnTo>
                <a:cubicBezTo>
                  <a:pt x="22189" y="186391"/>
                  <a:pt x="26627" y="194158"/>
                  <a:pt x="31065" y="197486"/>
                </a:cubicBezTo>
                <a:lnTo>
                  <a:pt x="100962" y="240755"/>
                </a:lnTo>
                <a:cubicBezTo>
                  <a:pt x="106810" y="244080"/>
                  <a:pt x="113975" y="244080"/>
                  <a:pt x="119823" y="240755"/>
                </a:cubicBezTo>
                <a:lnTo>
                  <a:pt x="234099" y="174187"/>
                </a:lnTo>
                <a:cubicBezTo>
                  <a:pt x="239646" y="170859"/>
                  <a:pt x="244084" y="163092"/>
                  <a:pt x="244084" y="157545"/>
                </a:cubicBezTo>
                <a:close/>
                <a:moveTo>
                  <a:pt x="110947" y="242974"/>
                </a:moveTo>
                <a:lnTo>
                  <a:pt x="110947" y="155326"/>
                </a:lnTo>
                <a:lnTo>
                  <a:pt x="23299" y="100962"/>
                </a:lnTo>
                <a:moveTo>
                  <a:pt x="110947" y="155326"/>
                </a:moveTo>
                <a:lnTo>
                  <a:pt x="242974" y="78773"/>
                </a:lnTo>
                <a:moveTo>
                  <a:pt x="155326" y="219675"/>
                </a:moveTo>
                <a:lnTo>
                  <a:pt x="155326" y="129808"/>
                </a:lnTo>
                <a:moveTo>
                  <a:pt x="199705" y="194158"/>
                </a:moveTo>
                <a:lnTo>
                  <a:pt x="199705" y="104290"/>
                </a:lnTo>
              </a:path>
            </a:pathLst>
          </a:custGeom>
          <a:noFill/>
          <a:ln w="22189" cap="rnd">
            <a:solidFill>
              <a:srgbClr val="0B6E8A"/>
            </a:solidFill>
            <a:prstDash val="solid"/>
            <a:round/>
          </a:ln>
        </p:spPr>
      </p:sp>
      <p:sp>
        <p:nvSpPr>
          <p:cNvPr id="32" name="[p2] Forma"/>
          <p:cNvSpPr/>
          <p:nvPr/>
        </p:nvSpPr>
        <p:spPr>
          <a:xfrm>
            <a:off x="1517904" y="4001414"/>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0B6E8A"/>
                </a:solidFill>
                <a:latin typeface="Segoe UI Semibold" pitchFamily="34" charset="0"/>
                <a:ea typeface="Segoe UI Semibold" pitchFamily="34" charset="-122"/>
                <a:cs typeface="Segoe UI Semibold" pitchFamily="34" charset="-120"/>
              </a:rPr>
              <a:t>Reproducibilidad</a:t>
            </a:r>
            <a:endParaRPr lang="en-US" sz="1500" dirty="0"/>
          </a:p>
        </p:txBody>
      </p:sp>
      <p:sp>
        <p:nvSpPr>
          <p:cNvPr id="33" name="[p2] Forma"/>
          <p:cNvSpPr/>
          <p:nvPr/>
        </p:nvSpPr>
        <p:spPr>
          <a:xfrm>
            <a:off x="4140961" y="4074566"/>
            <a:ext cx="0" cy="473659"/>
          </a:xfrm>
          <a:prstGeom prst="line">
            <a:avLst/>
          </a:prstGeom>
          <a:noFill/>
          <a:ln w="9525">
            <a:solidFill>
              <a:srgbClr val="DFE6F0"/>
            </a:solidFill>
            <a:prstDash val="solid"/>
          </a:ln>
        </p:spPr>
      </p:sp>
      <p:sp>
        <p:nvSpPr>
          <p:cNvPr id="34" name="[p2] Forma"/>
          <p:cNvSpPr/>
          <p:nvPr/>
        </p:nvSpPr>
        <p:spPr>
          <a:xfrm>
            <a:off x="4268977" y="4001414"/>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Docker, Compose y Kubernetes</a:t>
            </a:r>
            <a:endParaRPr lang="en-US" sz="1400" dirty="0"/>
          </a:p>
        </p:txBody>
      </p:sp>
      <p:sp>
        <p:nvSpPr>
          <p:cNvPr id="35" name="[p2] Forma"/>
          <p:cNvSpPr/>
          <p:nvPr/>
        </p:nvSpPr>
        <p:spPr>
          <a:xfrm>
            <a:off x="8114733" y="4074566"/>
            <a:ext cx="0" cy="473659"/>
          </a:xfrm>
          <a:prstGeom prst="line">
            <a:avLst/>
          </a:prstGeom>
          <a:noFill/>
          <a:ln w="9525">
            <a:solidFill>
              <a:srgbClr val="DFE6F0"/>
            </a:solidFill>
            <a:prstDash val="solid"/>
          </a:ln>
        </p:spPr>
      </p:sp>
      <p:sp>
        <p:nvSpPr>
          <p:cNvPr id="36" name="[p2] Forma"/>
          <p:cNvSpPr/>
          <p:nvPr/>
        </p:nvSpPr>
        <p:spPr>
          <a:xfrm>
            <a:off x="8242749" y="4001414"/>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1 comando y la misma imagen en todo ambiente</a:t>
            </a:r>
            <a:endParaRPr lang="en-US" sz="1400" dirty="0"/>
          </a:p>
        </p:txBody>
      </p:sp>
      <p:sp>
        <p:nvSpPr>
          <p:cNvPr id="37" name="[p3] Forma"/>
          <p:cNvSpPr/>
          <p:nvPr/>
        </p:nvSpPr>
        <p:spPr>
          <a:xfrm>
            <a:off x="612648" y="4785970"/>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8" name="[p3] Forma"/>
          <p:cNvSpPr/>
          <p:nvPr/>
        </p:nvSpPr>
        <p:spPr>
          <a:xfrm>
            <a:off x="612648" y="4877410"/>
            <a:ext cx="64008" cy="546811"/>
          </a:xfrm>
          <a:prstGeom prst="rect">
            <a:avLst/>
          </a:prstGeom>
          <a:solidFill>
            <a:srgbClr val="0B2350"/>
          </a:solidFill>
          <a:ln w="12700">
            <a:solidFill>
              <a:srgbClr val="0B2350"/>
            </a:solidFill>
            <a:prstDash val="solid"/>
          </a:ln>
        </p:spPr>
      </p:sp>
      <p:sp>
        <p:nvSpPr>
          <p:cNvPr id="39" name="[p3] Forma"/>
          <p:cNvSpPr/>
          <p:nvPr/>
        </p:nvSpPr>
        <p:spPr>
          <a:xfrm>
            <a:off x="772668" y="4894783"/>
            <a:ext cx="512064" cy="512064"/>
          </a:xfrm>
          <a:prstGeom prst="ellipse">
            <a:avLst/>
          </a:prstGeom>
          <a:solidFill>
            <a:srgbClr val="E8EEF8"/>
          </a:solidFill>
          <a:ln w="12700">
            <a:solidFill>
              <a:srgbClr val="E8EEF8"/>
            </a:solidFill>
            <a:prstDash val="solid"/>
          </a:ln>
        </p:spPr>
      </p:sp>
      <p:sp>
        <p:nvSpPr>
          <p:cNvPr id="40" name="[p3] Icono flask-conical"/>
          <p:cNvSpPr/>
          <p:nvPr/>
        </p:nvSpPr>
        <p:spPr>
          <a:xfrm>
            <a:off x="895563" y="5017679"/>
            <a:ext cx="266273" cy="266273"/>
          </a:xfrm>
          <a:custGeom>
            <a:avLst/>
            <a:gdLst/>
            <a:ahLst/>
            <a:cxnLst/>
            <a:rect l="l" t="t" r="r" b="b"/>
            <a:pathLst>
              <a:path w="266273" h="266273">
                <a:moveTo>
                  <a:pt x="155326" y="22189"/>
                </a:moveTo>
                <a:lnTo>
                  <a:pt x="155326" y="88758"/>
                </a:lnTo>
                <a:cubicBezTo>
                  <a:pt x="155325" y="92480"/>
                  <a:pt x="156259" y="96143"/>
                  <a:pt x="158044" y="99409"/>
                </a:cubicBezTo>
                <a:lnTo>
                  <a:pt x="219176" y="211243"/>
                </a:lnTo>
                <a:cubicBezTo>
                  <a:pt x="222938" y="218119"/>
                  <a:pt x="222794" y="226469"/>
                  <a:pt x="218797" y="233211"/>
                </a:cubicBezTo>
                <a:cubicBezTo>
                  <a:pt x="214800" y="239953"/>
                  <a:pt x="207543" y="244086"/>
                  <a:pt x="199705" y="244084"/>
                </a:cubicBezTo>
                <a:lnTo>
                  <a:pt x="66568" y="244084"/>
                </a:lnTo>
                <a:cubicBezTo>
                  <a:pt x="58731" y="244086"/>
                  <a:pt x="51474" y="239953"/>
                  <a:pt x="47476" y="233211"/>
                </a:cubicBezTo>
                <a:cubicBezTo>
                  <a:pt x="43479" y="226469"/>
                  <a:pt x="43335" y="218119"/>
                  <a:pt x="47097" y="211243"/>
                </a:cubicBezTo>
                <a:lnTo>
                  <a:pt x="108229" y="99409"/>
                </a:lnTo>
                <a:cubicBezTo>
                  <a:pt x="110014" y="96143"/>
                  <a:pt x="110949" y="92480"/>
                  <a:pt x="110947" y="88758"/>
                </a:cubicBezTo>
                <a:lnTo>
                  <a:pt x="110947" y="22189"/>
                </a:lnTo>
                <a:moveTo>
                  <a:pt x="71594" y="166421"/>
                </a:moveTo>
                <a:lnTo>
                  <a:pt x="194679" y="166421"/>
                </a:lnTo>
                <a:moveTo>
                  <a:pt x="94305" y="22189"/>
                </a:moveTo>
                <a:lnTo>
                  <a:pt x="171968" y="22189"/>
                </a:lnTo>
              </a:path>
            </a:pathLst>
          </a:custGeom>
          <a:noFill/>
          <a:ln w="22189" cap="rnd">
            <a:solidFill>
              <a:srgbClr val="0B2350"/>
            </a:solidFill>
            <a:prstDash val="solid"/>
            <a:round/>
          </a:ln>
        </p:spPr>
      </p:sp>
      <p:sp>
        <p:nvSpPr>
          <p:cNvPr id="41" name="[p3] Forma"/>
          <p:cNvSpPr/>
          <p:nvPr/>
        </p:nvSpPr>
        <p:spPr>
          <a:xfrm>
            <a:off x="1517904" y="4840834"/>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Calidad</a:t>
            </a:r>
            <a:endParaRPr lang="en-US" sz="1500" dirty="0"/>
          </a:p>
        </p:txBody>
      </p:sp>
      <p:sp>
        <p:nvSpPr>
          <p:cNvPr id="42" name="[p3] Forma"/>
          <p:cNvSpPr/>
          <p:nvPr/>
        </p:nvSpPr>
        <p:spPr>
          <a:xfrm>
            <a:off x="4140961" y="4913986"/>
            <a:ext cx="0" cy="473659"/>
          </a:xfrm>
          <a:prstGeom prst="line">
            <a:avLst/>
          </a:prstGeom>
          <a:noFill/>
          <a:ln w="9525">
            <a:solidFill>
              <a:srgbClr val="DFE6F0"/>
            </a:solidFill>
            <a:prstDash val="solid"/>
          </a:ln>
        </p:spPr>
      </p:sp>
      <p:sp>
        <p:nvSpPr>
          <p:cNvPr id="43" name="[p3] Forma"/>
          <p:cNvSpPr/>
          <p:nvPr/>
        </p:nvSpPr>
        <p:spPr>
          <a:xfrm>
            <a:off x="4268977" y="4840834"/>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Pruebas automáticas y pipeline en cada cambio</a:t>
            </a:r>
            <a:endParaRPr lang="en-US" sz="1400" dirty="0"/>
          </a:p>
        </p:txBody>
      </p:sp>
      <p:sp>
        <p:nvSpPr>
          <p:cNvPr id="44" name="[p3] Forma"/>
          <p:cNvSpPr/>
          <p:nvPr/>
        </p:nvSpPr>
        <p:spPr>
          <a:xfrm>
            <a:off x="8114733" y="4913986"/>
            <a:ext cx="0" cy="473659"/>
          </a:xfrm>
          <a:prstGeom prst="line">
            <a:avLst/>
          </a:prstGeom>
          <a:noFill/>
          <a:ln w="9525">
            <a:solidFill>
              <a:srgbClr val="DFE6F0"/>
            </a:solidFill>
            <a:prstDash val="solid"/>
          </a:ln>
        </p:spPr>
      </p:sp>
      <p:sp>
        <p:nvSpPr>
          <p:cNvPr id="45" name="[p3] Forma"/>
          <p:cNvSpPr/>
          <p:nvPr/>
        </p:nvSpPr>
        <p:spPr>
          <a:xfrm>
            <a:off x="8242749" y="4840834"/>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Errores detectados en minutos, antes de integrar</a:t>
            </a:r>
            <a:endParaRPr lang="en-US" sz="1400" dirty="0"/>
          </a:p>
        </p:txBody>
      </p:sp>
      <p:sp>
        <p:nvSpPr>
          <p:cNvPr id="46" name="[p4] Forma"/>
          <p:cNvSpPr/>
          <p:nvPr/>
        </p:nvSpPr>
        <p:spPr>
          <a:xfrm>
            <a:off x="612648" y="5625389"/>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7" name="[p4] Forma"/>
          <p:cNvSpPr/>
          <p:nvPr/>
        </p:nvSpPr>
        <p:spPr>
          <a:xfrm>
            <a:off x="612648" y="5716829"/>
            <a:ext cx="64008" cy="546811"/>
          </a:xfrm>
          <a:prstGeom prst="rect">
            <a:avLst/>
          </a:prstGeom>
          <a:solidFill>
            <a:srgbClr val="5B3FC4"/>
          </a:solidFill>
          <a:ln w="12700">
            <a:solidFill>
              <a:srgbClr val="5B3FC4"/>
            </a:solidFill>
            <a:prstDash val="solid"/>
          </a:ln>
        </p:spPr>
      </p:sp>
      <p:sp>
        <p:nvSpPr>
          <p:cNvPr id="48" name="[p4] Forma"/>
          <p:cNvSpPr/>
          <p:nvPr/>
        </p:nvSpPr>
        <p:spPr>
          <a:xfrm>
            <a:off x="772668" y="5734202"/>
            <a:ext cx="512064" cy="512064"/>
          </a:xfrm>
          <a:prstGeom prst="ellipse">
            <a:avLst/>
          </a:prstGeom>
          <a:solidFill>
            <a:srgbClr val="F1EEFD"/>
          </a:solidFill>
          <a:ln w="12700">
            <a:solidFill>
              <a:srgbClr val="F1EEFD"/>
            </a:solidFill>
            <a:prstDash val="solid"/>
          </a:ln>
        </p:spPr>
      </p:sp>
      <p:sp>
        <p:nvSpPr>
          <p:cNvPr id="49" name="[p4] Icono waypoints"/>
          <p:cNvSpPr/>
          <p:nvPr/>
        </p:nvSpPr>
        <p:spPr>
          <a:xfrm>
            <a:off x="895563" y="5857098"/>
            <a:ext cx="266273" cy="266273"/>
          </a:xfrm>
          <a:custGeom>
            <a:avLst/>
            <a:gdLst/>
            <a:ahLst/>
            <a:cxnLst/>
            <a:rect l="l" t="t" r="r" b="b"/>
            <a:pathLst>
              <a:path w="266273" h="266273">
                <a:moveTo>
                  <a:pt x="160873" y="49926"/>
                </a:moveTo>
                <a:cubicBezTo>
                  <a:pt x="160873" y="65245"/>
                  <a:pt x="148455" y="77663"/>
                  <a:pt x="133137" y="77663"/>
                </a:cubicBezTo>
                <a:cubicBezTo>
                  <a:pt x="117818" y="77663"/>
                  <a:pt x="105400" y="65245"/>
                  <a:pt x="105400" y="49926"/>
                </a:cubicBezTo>
                <a:cubicBezTo>
                  <a:pt x="105400" y="34608"/>
                  <a:pt x="117818" y="22189"/>
                  <a:pt x="133137" y="22189"/>
                </a:cubicBezTo>
                <a:cubicBezTo>
                  <a:pt x="148455" y="22189"/>
                  <a:pt x="160873" y="34608"/>
                  <a:pt x="160873" y="49926"/>
                </a:cubicBezTo>
                <a:close/>
                <a:moveTo>
                  <a:pt x="113166" y="69897"/>
                </a:moveTo>
                <a:lnTo>
                  <a:pt x="69897" y="113166"/>
                </a:lnTo>
                <a:moveTo>
                  <a:pt x="77663" y="133137"/>
                </a:moveTo>
                <a:cubicBezTo>
                  <a:pt x="77663" y="148455"/>
                  <a:pt x="65245" y="160873"/>
                  <a:pt x="49926" y="160873"/>
                </a:cubicBezTo>
                <a:cubicBezTo>
                  <a:pt x="34608" y="160873"/>
                  <a:pt x="22189" y="148455"/>
                  <a:pt x="22189" y="133137"/>
                </a:cubicBezTo>
                <a:cubicBezTo>
                  <a:pt x="22189" y="117818"/>
                  <a:pt x="34608" y="105400"/>
                  <a:pt x="49926" y="105400"/>
                </a:cubicBezTo>
                <a:cubicBezTo>
                  <a:pt x="65245" y="105400"/>
                  <a:pt x="77663" y="117818"/>
                  <a:pt x="77663" y="133137"/>
                </a:cubicBezTo>
                <a:close/>
                <a:moveTo>
                  <a:pt x="77663" y="133137"/>
                </a:moveTo>
                <a:lnTo>
                  <a:pt x="188610" y="133137"/>
                </a:lnTo>
                <a:moveTo>
                  <a:pt x="244084" y="133137"/>
                </a:moveTo>
                <a:cubicBezTo>
                  <a:pt x="244084" y="148455"/>
                  <a:pt x="231666" y="160873"/>
                  <a:pt x="216347" y="160873"/>
                </a:cubicBezTo>
                <a:cubicBezTo>
                  <a:pt x="201028" y="160873"/>
                  <a:pt x="188610" y="148455"/>
                  <a:pt x="188610" y="133137"/>
                </a:cubicBezTo>
                <a:cubicBezTo>
                  <a:pt x="188610" y="117818"/>
                  <a:pt x="201028" y="105400"/>
                  <a:pt x="216347" y="105400"/>
                </a:cubicBezTo>
                <a:cubicBezTo>
                  <a:pt x="231666" y="105400"/>
                  <a:pt x="244084" y="117818"/>
                  <a:pt x="244084" y="133137"/>
                </a:cubicBezTo>
                <a:close/>
                <a:moveTo>
                  <a:pt x="153107" y="196377"/>
                </a:moveTo>
                <a:lnTo>
                  <a:pt x="196377" y="153107"/>
                </a:lnTo>
                <a:moveTo>
                  <a:pt x="160873" y="216347"/>
                </a:moveTo>
                <a:cubicBezTo>
                  <a:pt x="160873" y="231666"/>
                  <a:pt x="148455" y="244084"/>
                  <a:pt x="133137" y="244084"/>
                </a:cubicBezTo>
                <a:cubicBezTo>
                  <a:pt x="117818" y="244084"/>
                  <a:pt x="105400" y="231666"/>
                  <a:pt x="105400" y="216347"/>
                </a:cubicBezTo>
                <a:cubicBezTo>
                  <a:pt x="105400" y="201028"/>
                  <a:pt x="117818" y="188610"/>
                  <a:pt x="133137" y="188610"/>
                </a:cubicBezTo>
                <a:cubicBezTo>
                  <a:pt x="148455" y="188610"/>
                  <a:pt x="160873" y="201028"/>
                  <a:pt x="160873" y="216347"/>
                </a:cubicBezTo>
                <a:close/>
              </a:path>
            </a:pathLst>
          </a:custGeom>
          <a:noFill/>
          <a:ln w="22189" cap="rnd">
            <a:solidFill>
              <a:srgbClr val="5B3FC4"/>
            </a:solidFill>
            <a:prstDash val="solid"/>
            <a:round/>
          </a:ln>
        </p:spPr>
      </p:sp>
      <p:sp>
        <p:nvSpPr>
          <p:cNvPr id="50" name="[p4] Forma"/>
          <p:cNvSpPr/>
          <p:nvPr/>
        </p:nvSpPr>
        <p:spPr>
          <a:xfrm>
            <a:off x="1517904" y="5680253"/>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5B3FC4"/>
                </a:solidFill>
                <a:latin typeface="Segoe UI Semibold" pitchFamily="34" charset="0"/>
                <a:ea typeface="Segoe UI Semibold" pitchFamily="34" charset="-122"/>
                <a:cs typeface="Segoe UI Semibold" pitchFamily="34" charset="-120"/>
              </a:rPr>
              <a:t>Trazabilidad</a:t>
            </a:r>
            <a:endParaRPr lang="en-US" sz="1500" dirty="0"/>
          </a:p>
        </p:txBody>
      </p:sp>
      <p:sp>
        <p:nvSpPr>
          <p:cNvPr id="51" name="[p4] Forma"/>
          <p:cNvSpPr/>
          <p:nvPr/>
        </p:nvSpPr>
        <p:spPr>
          <a:xfrm>
            <a:off x="4140961" y="5753405"/>
            <a:ext cx="0" cy="473659"/>
          </a:xfrm>
          <a:prstGeom prst="line">
            <a:avLst/>
          </a:prstGeom>
          <a:noFill/>
          <a:ln w="9525">
            <a:solidFill>
              <a:srgbClr val="DFE6F0"/>
            </a:solidFill>
            <a:prstDash val="solid"/>
          </a:ln>
        </p:spPr>
      </p:sp>
      <p:sp>
        <p:nvSpPr>
          <p:cNvPr id="52" name="[p4] Forma"/>
          <p:cNvSpPr/>
          <p:nvPr/>
        </p:nvSpPr>
        <p:spPr>
          <a:xfrm>
            <a:off x="4268977" y="5680253"/>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Logs centralizados, traceId e imagen por commit</a:t>
            </a:r>
            <a:endParaRPr lang="en-US" sz="1400" dirty="0"/>
          </a:p>
        </p:txBody>
      </p:sp>
      <p:sp>
        <p:nvSpPr>
          <p:cNvPr id="53" name="[p4] Forma"/>
          <p:cNvSpPr/>
          <p:nvPr/>
        </p:nvSpPr>
        <p:spPr>
          <a:xfrm>
            <a:off x="8114733" y="5753405"/>
            <a:ext cx="0" cy="473659"/>
          </a:xfrm>
          <a:prstGeom prst="line">
            <a:avLst/>
          </a:prstGeom>
          <a:noFill/>
          <a:ln w="9525">
            <a:solidFill>
              <a:srgbClr val="DFE6F0"/>
            </a:solidFill>
            <a:prstDash val="solid"/>
          </a:ln>
        </p:spPr>
      </p:sp>
      <p:sp>
        <p:nvSpPr>
          <p:cNvPr id="54" name="[p4] Forma"/>
          <p:cNvSpPr/>
          <p:nvPr/>
        </p:nvSpPr>
        <p:spPr>
          <a:xfrm>
            <a:off x="8242749" y="5680253"/>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Diagnóstico en minutos y versiones rastreables</a:t>
            </a:r>
            <a:endParaRPr lang="en-US" sz="1400" dirty="0"/>
          </a:p>
        </p:txBody>
      </p:sp>
      <p:sp>
        <p:nvSpPr>
          <p:cNvPr id="55" name="Text 53"/>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VALOR Y CIERRE</a:t>
            </a:r>
            <a:endParaRPr lang="en-US" sz="800" dirty="0"/>
          </a:p>
        </p:txBody>
      </p:sp>
      <p:sp>
        <p:nvSpPr>
          <p:cNvPr id="56"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9"/>
                                        </p:tgtEl>
                                        <p:attrNameLst>
                                          <p:attrName>style.visibility</p:attrName>
                                        </p:attrNameLst>
                                      </p:cBhvr>
                                      <p:to>
                                        <p:strVal val="visible"/>
                                      </p:to>
                                    </p:set>
                                    <p:animEffect transition="in" filter="fade">
                                      <p:cBhvr>
                                        <p:cTn id="5" dur="400"/>
                                        <p:tgtEl>
                                          <p:spTgt spid="1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0"/>
                                        </p:tgtEl>
                                        <p:attrNameLst>
                                          <p:attrName>style.visibility</p:attrName>
                                        </p:attrNameLst>
                                      </p:cBhvr>
                                      <p:to>
                                        <p:strVal val="visible"/>
                                      </p:to>
                                    </p:set>
                                    <p:animEffect transition="in" filter="fade">
                                      <p:cBhvr>
                                        <p:cTn id="8" dur="400"/>
                                        <p:tgtEl>
                                          <p:spTgt spid="2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fade">
                                      <p:cBhvr>
                                        <p:cTn id="11" dur="400"/>
                                        <p:tgtEl>
                                          <p:spTgt spid="21"/>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400"/>
                                        <p:tgtEl>
                                          <p:spTgt spid="2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400"/>
                                        <p:tgtEl>
                                          <p:spTgt spid="23"/>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fade">
                                      <p:cBhvr>
                                        <p:cTn id="20" dur="400"/>
                                        <p:tgtEl>
                                          <p:spTgt spid="24"/>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fade">
                                      <p:cBhvr>
                                        <p:cTn id="23" dur="400"/>
                                        <p:tgtEl>
                                          <p:spTgt spid="2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fade">
                                      <p:cBhvr>
                                        <p:cTn id="26" dur="400"/>
                                        <p:tgtEl>
                                          <p:spTgt spid="26"/>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7"/>
                                        </p:tgtEl>
                                        <p:attrNameLst>
                                          <p:attrName>style.visibility</p:attrName>
                                        </p:attrNameLst>
                                      </p:cBhvr>
                                      <p:to>
                                        <p:strVal val="visible"/>
                                      </p:to>
                                    </p:set>
                                    <p:animEffect transition="in" filter="fade">
                                      <p:cBhvr>
                                        <p:cTn id="29" dur="400"/>
                                        <p:tgtEl>
                                          <p:spTgt spid="27"/>
                                        </p:tgtEl>
                                      </p:cBhvr>
                                    </p:animEffect>
                                  </p:childTnLst>
                                </p:cTn>
                              </p:par>
                            </p:childTnLst>
                          </p:cTn>
                        </p:par>
                      </p:childTnLst>
                    </p:cTn>
                  </p:par>
                  <p:par>
                    <p:cTn id="59" fill="hold">
                      <p:stCondLst>
                        <p:cond delay="indefinite"/>
                      </p:stCondLst>
                      <p:childTnLst>
                        <p:par>
                          <p:cTn id="60"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400"/>
                                        <p:tgtEl>
                                          <p:spTgt spid="2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400"/>
                                        <p:tgtEl>
                                          <p:spTgt spid="2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0"/>
                                        </p:tgtEl>
                                        <p:attrNameLst>
                                          <p:attrName>style.visibility</p:attrName>
                                        </p:attrNameLst>
                                      </p:cBhvr>
                                      <p:to>
                                        <p:strVal val="visible"/>
                                      </p:to>
                                    </p:set>
                                    <p:animEffect transition="in" filter="fade">
                                      <p:cBhvr>
                                        <p:cTn id="40" dur="400"/>
                                        <p:tgtEl>
                                          <p:spTgt spid="30"/>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animEffect transition="in" filter="fade">
                                      <p:cBhvr>
                                        <p:cTn id="43" dur="400"/>
                                        <p:tgtEl>
                                          <p:spTgt spid="31"/>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2"/>
                                        </p:tgtEl>
                                        <p:attrNameLst>
                                          <p:attrName>style.visibility</p:attrName>
                                        </p:attrNameLst>
                                      </p:cBhvr>
                                      <p:to>
                                        <p:strVal val="visible"/>
                                      </p:to>
                                    </p:set>
                                    <p:animEffect transition="in" filter="fade">
                                      <p:cBhvr>
                                        <p:cTn id="46" dur="400"/>
                                        <p:tgtEl>
                                          <p:spTgt spid="32"/>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3"/>
                                        </p:tgtEl>
                                        <p:attrNameLst>
                                          <p:attrName>style.visibility</p:attrName>
                                        </p:attrNameLst>
                                      </p:cBhvr>
                                      <p:to>
                                        <p:strVal val="visible"/>
                                      </p:to>
                                    </p:set>
                                    <p:animEffect transition="in" filter="fade">
                                      <p:cBhvr>
                                        <p:cTn id="49" dur="400"/>
                                        <p:tgtEl>
                                          <p:spTgt spid="33"/>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4"/>
                                        </p:tgtEl>
                                        <p:attrNameLst>
                                          <p:attrName>style.visibility</p:attrName>
                                        </p:attrNameLst>
                                      </p:cBhvr>
                                      <p:to>
                                        <p:strVal val="visible"/>
                                      </p:to>
                                    </p:set>
                                    <p:animEffect transition="in" filter="fade">
                                      <p:cBhvr>
                                        <p:cTn id="52" dur="400"/>
                                        <p:tgtEl>
                                          <p:spTgt spid="34"/>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5"/>
                                        </p:tgtEl>
                                        <p:attrNameLst>
                                          <p:attrName>style.visibility</p:attrName>
                                        </p:attrNameLst>
                                      </p:cBhvr>
                                      <p:to>
                                        <p:strVal val="visible"/>
                                      </p:to>
                                    </p:set>
                                    <p:animEffect transition="in" filter="fade">
                                      <p:cBhvr>
                                        <p:cTn id="55" dur="400"/>
                                        <p:tgtEl>
                                          <p:spTgt spid="35"/>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6"/>
                                        </p:tgtEl>
                                        <p:attrNameLst>
                                          <p:attrName>style.visibility</p:attrName>
                                        </p:attrNameLst>
                                      </p:cBhvr>
                                      <p:to>
                                        <p:strVal val="visible"/>
                                      </p:to>
                                    </p:set>
                                    <p:animEffect transition="in" filter="fade">
                                      <p:cBhvr>
                                        <p:cTn id="58" dur="400"/>
                                        <p:tgtEl>
                                          <p:spTgt spid="36"/>
                                        </p:tgtEl>
                                      </p:cBhvr>
                                    </p:animEffect>
                                  </p:childTnLst>
                                </p:cTn>
                              </p:par>
                            </p:childTnLst>
                          </p:cTn>
                        </p:par>
                      </p:childTnLst>
                    </p:cTn>
                  </p:par>
                  <p:par>
                    <p:cTn id="88" fill="hold">
                      <p:stCondLst>
                        <p:cond delay="indefinite"/>
                      </p:stCondLst>
                      <p:childTnLst>
                        <p:par>
                          <p:cTn id="89"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37"/>
                                        </p:tgtEl>
                                        <p:attrNameLst>
                                          <p:attrName>style.visibility</p:attrName>
                                        </p:attrNameLst>
                                      </p:cBhvr>
                                      <p:to>
                                        <p:strVal val="visible"/>
                                      </p:to>
                                    </p:set>
                                    <p:animEffect transition="in" filter="fade">
                                      <p:cBhvr>
                                        <p:cTn id="63" dur="400"/>
                                        <p:tgtEl>
                                          <p:spTgt spid="37"/>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8"/>
                                        </p:tgtEl>
                                        <p:attrNameLst>
                                          <p:attrName>style.visibility</p:attrName>
                                        </p:attrNameLst>
                                      </p:cBhvr>
                                      <p:to>
                                        <p:strVal val="visible"/>
                                      </p:to>
                                    </p:set>
                                    <p:animEffect transition="in" filter="fade">
                                      <p:cBhvr>
                                        <p:cTn id="66" dur="400"/>
                                        <p:tgtEl>
                                          <p:spTgt spid="38"/>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39"/>
                                        </p:tgtEl>
                                        <p:attrNameLst>
                                          <p:attrName>style.visibility</p:attrName>
                                        </p:attrNameLst>
                                      </p:cBhvr>
                                      <p:to>
                                        <p:strVal val="visible"/>
                                      </p:to>
                                    </p:set>
                                    <p:animEffect transition="in" filter="fade">
                                      <p:cBhvr>
                                        <p:cTn id="69" dur="400"/>
                                        <p:tgtEl>
                                          <p:spTgt spid="39"/>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0"/>
                                        </p:tgtEl>
                                        <p:attrNameLst>
                                          <p:attrName>style.visibility</p:attrName>
                                        </p:attrNameLst>
                                      </p:cBhvr>
                                      <p:to>
                                        <p:strVal val="visible"/>
                                      </p:to>
                                    </p:set>
                                    <p:animEffect transition="in" filter="fade">
                                      <p:cBhvr>
                                        <p:cTn id="72" dur="400"/>
                                        <p:tgtEl>
                                          <p:spTgt spid="40"/>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1"/>
                                        </p:tgtEl>
                                        <p:attrNameLst>
                                          <p:attrName>style.visibility</p:attrName>
                                        </p:attrNameLst>
                                      </p:cBhvr>
                                      <p:to>
                                        <p:strVal val="visible"/>
                                      </p:to>
                                    </p:set>
                                    <p:animEffect transition="in" filter="fade">
                                      <p:cBhvr>
                                        <p:cTn id="75" dur="400"/>
                                        <p:tgtEl>
                                          <p:spTgt spid="41"/>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2"/>
                                        </p:tgtEl>
                                        <p:attrNameLst>
                                          <p:attrName>style.visibility</p:attrName>
                                        </p:attrNameLst>
                                      </p:cBhvr>
                                      <p:to>
                                        <p:strVal val="visible"/>
                                      </p:to>
                                    </p:set>
                                    <p:animEffect transition="in" filter="fade">
                                      <p:cBhvr>
                                        <p:cTn id="78" dur="400"/>
                                        <p:tgtEl>
                                          <p:spTgt spid="42"/>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43"/>
                                        </p:tgtEl>
                                        <p:attrNameLst>
                                          <p:attrName>style.visibility</p:attrName>
                                        </p:attrNameLst>
                                      </p:cBhvr>
                                      <p:to>
                                        <p:strVal val="visible"/>
                                      </p:to>
                                    </p:set>
                                    <p:animEffect transition="in" filter="fade">
                                      <p:cBhvr>
                                        <p:cTn id="81" dur="400"/>
                                        <p:tgtEl>
                                          <p:spTgt spid="43"/>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4"/>
                                        </p:tgtEl>
                                        <p:attrNameLst>
                                          <p:attrName>style.visibility</p:attrName>
                                        </p:attrNameLst>
                                      </p:cBhvr>
                                      <p:to>
                                        <p:strVal val="visible"/>
                                      </p:to>
                                    </p:set>
                                    <p:animEffect transition="in" filter="fade">
                                      <p:cBhvr>
                                        <p:cTn id="84" dur="400"/>
                                        <p:tgtEl>
                                          <p:spTgt spid="44"/>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45"/>
                                        </p:tgtEl>
                                        <p:attrNameLst>
                                          <p:attrName>style.visibility</p:attrName>
                                        </p:attrNameLst>
                                      </p:cBhvr>
                                      <p:to>
                                        <p:strVal val="visible"/>
                                      </p:to>
                                    </p:set>
                                    <p:animEffect transition="in" filter="fade">
                                      <p:cBhvr>
                                        <p:cTn id="87" dur="400"/>
                                        <p:tgtEl>
                                          <p:spTgt spid="45"/>
                                        </p:tgtEl>
                                      </p:cBhvr>
                                    </p:animEffect>
                                  </p:childTnLst>
                                </p:cTn>
                              </p:par>
                            </p:childTnLst>
                          </p:cTn>
                        </p:par>
                      </p:childTnLst>
                    </p:cTn>
                  </p:par>
                  <p:par>
                    <p:cTn id="117" fill="hold">
                      <p:stCondLst>
                        <p:cond delay="indefinite"/>
                      </p:stCondLst>
                      <p:childTnLst>
                        <p:par>
                          <p:cTn id="118"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46"/>
                                        </p:tgtEl>
                                        <p:attrNameLst>
                                          <p:attrName>style.visibility</p:attrName>
                                        </p:attrNameLst>
                                      </p:cBhvr>
                                      <p:to>
                                        <p:strVal val="visible"/>
                                      </p:to>
                                    </p:set>
                                    <p:animEffect transition="in" filter="fade">
                                      <p:cBhvr>
                                        <p:cTn id="92" dur="400"/>
                                        <p:tgtEl>
                                          <p:spTgt spid="46"/>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47"/>
                                        </p:tgtEl>
                                        <p:attrNameLst>
                                          <p:attrName>style.visibility</p:attrName>
                                        </p:attrNameLst>
                                      </p:cBhvr>
                                      <p:to>
                                        <p:strVal val="visible"/>
                                      </p:to>
                                    </p:set>
                                    <p:animEffect transition="in" filter="fade">
                                      <p:cBhvr>
                                        <p:cTn id="95" dur="400"/>
                                        <p:tgtEl>
                                          <p:spTgt spid="47"/>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48"/>
                                        </p:tgtEl>
                                        <p:attrNameLst>
                                          <p:attrName>style.visibility</p:attrName>
                                        </p:attrNameLst>
                                      </p:cBhvr>
                                      <p:to>
                                        <p:strVal val="visible"/>
                                      </p:to>
                                    </p:set>
                                    <p:animEffect transition="in" filter="fade">
                                      <p:cBhvr>
                                        <p:cTn id="98" dur="400"/>
                                        <p:tgtEl>
                                          <p:spTgt spid="48"/>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49"/>
                                        </p:tgtEl>
                                        <p:attrNameLst>
                                          <p:attrName>style.visibility</p:attrName>
                                        </p:attrNameLst>
                                      </p:cBhvr>
                                      <p:to>
                                        <p:strVal val="visible"/>
                                      </p:to>
                                    </p:set>
                                    <p:animEffect transition="in" filter="fade">
                                      <p:cBhvr>
                                        <p:cTn id="101" dur="400"/>
                                        <p:tgtEl>
                                          <p:spTgt spid="49"/>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50"/>
                                        </p:tgtEl>
                                        <p:attrNameLst>
                                          <p:attrName>style.visibility</p:attrName>
                                        </p:attrNameLst>
                                      </p:cBhvr>
                                      <p:to>
                                        <p:strVal val="visible"/>
                                      </p:to>
                                    </p:set>
                                    <p:animEffect transition="in" filter="fade">
                                      <p:cBhvr>
                                        <p:cTn id="104" dur="400"/>
                                        <p:tgtEl>
                                          <p:spTgt spid="50"/>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51"/>
                                        </p:tgtEl>
                                        <p:attrNameLst>
                                          <p:attrName>style.visibility</p:attrName>
                                        </p:attrNameLst>
                                      </p:cBhvr>
                                      <p:to>
                                        <p:strVal val="visible"/>
                                      </p:to>
                                    </p:set>
                                    <p:animEffect transition="in" filter="fade">
                                      <p:cBhvr>
                                        <p:cTn id="107" dur="400"/>
                                        <p:tgtEl>
                                          <p:spTgt spid="51"/>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52"/>
                                        </p:tgtEl>
                                        <p:attrNameLst>
                                          <p:attrName>style.visibility</p:attrName>
                                        </p:attrNameLst>
                                      </p:cBhvr>
                                      <p:to>
                                        <p:strVal val="visible"/>
                                      </p:to>
                                    </p:set>
                                    <p:animEffect transition="in" filter="fade">
                                      <p:cBhvr>
                                        <p:cTn id="110" dur="400"/>
                                        <p:tgtEl>
                                          <p:spTgt spid="52"/>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53"/>
                                        </p:tgtEl>
                                        <p:attrNameLst>
                                          <p:attrName>style.visibility</p:attrName>
                                        </p:attrNameLst>
                                      </p:cBhvr>
                                      <p:to>
                                        <p:strVal val="visible"/>
                                      </p:to>
                                    </p:set>
                                    <p:animEffect transition="in" filter="fade">
                                      <p:cBhvr>
                                        <p:cTn id="113" dur="400"/>
                                        <p:tgtEl>
                                          <p:spTgt spid="53"/>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54"/>
                                        </p:tgtEl>
                                        <p:attrNameLst>
                                          <p:attrName>style.visibility</p:attrName>
                                        </p:attrNameLst>
                                      </p:cBhvr>
                                      <p:to>
                                        <p:strVal val="visible"/>
                                      </p:to>
                                    </p:set>
                                    <p:animEffect transition="in" filter="fade">
                                      <p:cBhvr>
                                        <p:cTn id="116" dur="4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VALOR Y CIERRE</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Lo que pueden aplicar desde mañana</a:t>
            </a:r>
            <a:endParaRPr lang="en-US" sz="2800" dirty="0"/>
          </a:p>
        </p:txBody>
      </p:sp>
      <p:sp>
        <p:nvSpPr>
          <p:cNvPr id="5" name="Text 3"/>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No hace falta reescribir nada: estas prácticas funcionan también con procedimientos almacenados.</a:t>
            </a:r>
            <a:endParaRPr lang="en-US" sz="1700" dirty="0"/>
          </a:p>
        </p:txBody>
      </p:sp>
      <p:sp>
        <p:nvSpPr>
          <p:cNvPr id="6" name="Shape 4"/>
          <p:cNvSpPr/>
          <p:nvPr/>
        </p:nvSpPr>
        <p:spPr>
          <a:xfrm>
            <a:off x="612648" y="1719072"/>
            <a:ext cx="10966399" cy="420624"/>
          </a:xfrm>
          <a:prstGeom prst="roundRect">
            <a:avLst>
              <a:gd name="adj" fmla="val 21739"/>
            </a:avLst>
          </a:prstGeom>
          <a:solidFill>
            <a:srgbClr val="0B2350"/>
          </a:solidFill>
          <a:ln w="12700">
            <a:solidFill>
              <a:srgbClr val="0B2350"/>
            </a:solidFill>
            <a:prstDash val="solid"/>
          </a:ln>
        </p:spPr>
      </p:sp>
      <p:sp>
        <p:nvSpPr>
          <p:cNvPr id="7" name="Text 5"/>
          <p:cNvSpPr/>
          <p:nvPr/>
        </p:nvSpPr>
        <p:spPr>
          <a:xfrm>
            <a:off x="1499616" y="1719072"/>
            <a:ext cx="2531617"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PRÁCTICA</a:t>
            </a:r>
            <a:endParaRPr lang="en-US" sz="1150" dirty="0"/>
          </a:p>
        </p:txBody>
      </p:sp>
      <p:sp>
        <p:nvSpPr>
          <p:cNvPr id="8" name="Text 6"/>
          <p:cNvSpPr/>
          <p:nvPr/>
        </p:nvSpPr>
        <p:spPr>
          <a:xfrm>
            <a:off x="4250689" y="1719072"/>
            <a:ext cx="3754316"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CÓMO SE VE EN SUS SISTEMAS DE HOY</a:t>
            </a:r>
            <a:endParaRPr lang="en-US" sz="1150" dirty="0"/>
          </a:p>
        </p:txBody>
      </p:sp>
      <p:sp>
        <p:nvSpPr>
          <p:cNvPr id="9" name="Text 7"/>
          <p:cNvSpPr/>
          <p:nvPr/>
        </p:nvSpPr>
        <p:spPr>
          <a:xfrm>
            <a:off x="8224461" y="1719072"/>
            <a:ext cx="3244858"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QUÉ EVITA</a:t>
            </a:r>
            <a:endParaRPr lang="en-US" sz="1150" dirty="0"/>
          </a:p>
        </p:txBody>
      </p:sp>
      <p:sp>
        <p:nvSpPr>
          <p:cNvPr id="10" name="Shape 8"/>
          <p:cNvSpPr/>
          <p:nvPr/>
        </p:nvSpPr>
        <p:spPr>
          <a:xfrm>
            <a:off x="612648" y="2267712"/>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1" name="Shape 9"/>
          <p:cNvSpPr/>
          <p:nvPr/>
        </p:nvSpPr>
        <p:spPr>
          <a:xfrm>
            <a:off x="612648" y="2359152"/>
            <a:ext cx="64008" cy="546811"/>
          </a:xfrm>
          <a:prstGeom prst="rect">
            <a:avLst/>
          </a:prstGeom>
          <a:solidFill>
            <a:srgbClr val="8A4B06"/>
          </a:solidFill>
          <a:ln w="12700">
            <a:solidFill>
              <a:srgbClr val="8A4B06"/>
            </a:solidFill>
            <a:prstDash val="solid"/>
          </a:ln>
        </p:spPr>
      </p:sp>
      <p:sp>
        <p:nvSpPr>
          <p:cNvPr id="12" name="Shape 10"/>
          <p:cNvSpPr/>
          <p:nvPr/>
        </p:nvSpPr>
        <p:spPr>
          <a:xfrm>
            <a:off x="772668" y="2376526"/>
            <a:ext cx="512064" cy="512064"/>
          </a:xfrm>
          <a:prstGeom prst="ellipse">
            <a:avLst/>
          </a:prstGeom>
          <a:solidFill>
            <a:srgbClr val="FCEFD6"/>
          </a:solidFill>
          <a:ln w="12700">
            <a:solidFill>
              <a:srgbClr val="FCEFD6"/>
            </a:solidFill>
            <a:prstDash val="solid"/>
          </a:ln>
        </p:spPr>
      </p:sp>
      <p:sp>
        <p:nvSpPr>
          <p:cNvPr id="13" name="Icono key-round"/>
          <p:cNvSpPr/>
          <p:nvPr/>
        </p:nvSpPr>
        <p:spPr>
          <a:xfrm>
            <a:off x="895563" y="2499421"/>
            <a:ext cx="266273" cy="266273"/>
          </a:xfrm>
          <a:custGeom>
            <a:avLst/>
            <a:gdLst/>
            <a:ahLst/>
            <a:cxnLst/>
            <a:rect l="l" t="t" r="r" b="b"/>
            <a:pathLst>
              <a:path w="266273" h="266273">
                <a:moveTo>
                  <a:pt x="28691" y="193203"/>
                </a:moveTo>
                <a:cubicBezTo>
                  <a:pt x="24529" y="197364"/>
                  <a:pt x="22191" y="203007"/>
                  <a:pt x="22189" y="208891"/>
                </a:cubicBezTo>
                <a:lnTo>
                  <a:pt x="22189" y="232989"/>
                </a:lnTo>
                <a:cubicBezTo>
                  <a:pt x="22189" y="239117"/>
                  <a:pt x="27157" y="244084"/>
                  <a:pt x="33284" y="244084"/>
                </a:cubicBezTo>
                <a:lnTo>
                  <a:pt x="66568" y="244084"/>
                </a:lnTo>
                <a:cubicBezTo>
                  <a:pt x="72696" y="244084"/>
                  <a:pt x="77663" y="239117"/>
                  <a:pt x="77663" y="232989"/>
                </a:cubicBezTo>
                <a:lnTo>
                  <a:pt x="77663" y="221894"/>
                </a:lnTo>
                <a:cubicBezTo>
                  <a:pt x="77663" y="215767"/>
                  <a:pt x="82630" y="210800"/>
                  <a:pt x="88758" y="210800"/>
                </a:cubicBezTo>
                <a:lnTo>
                  <a:pt x="99852" y="210800"/>
                </a:lnTo>
                <a:cubicBezTo>
                  <a:pt x="105980" y="210800"/>
                  <a:pt x="110947" y="205832"/>
                  <a:pt x="110947" y="199705"/>
                </a:cubicBezTo>
                <a:lnTo>
                  <a:pt x="110947" y="188610"/>
                </a:lnTo>
                <a:cubicBezTo>
                  <a:pt x="110947" y="182483"/>
                  <a:pt x="115914" y="177516"/>
                  <a:pt x="122042" y="177516"/>
                </a:cubicBezTo>
                <a:lnTo>
                  <a:pt x="123950" y="177516"/>
                </a:lnTo>
                <a:cubicBezTo>
                  <a:pt x="129835" y="177514"/>
                  <a:pt x="135478" y="175176"/>
                  <a:pt x="139638" y="171014"/>
                </a:cubicBezTo>
                <a:lnTo>
                  <a:pt x="148669" y="161983"/>
                </a:lnTo>
                <a:cubicBezTo>
                  <a:pt x="180425" y="173045"/>
                  <a:pt x="215611" y="160691"/>
                  <a:pt x="233481" y="132206"/>
                </a:cubicBezTo>
                <a:cubicBezTo>
                  <a:pt x="251352" y="103721"/>
                  <a:pt x="247164" y="66665"/>
                  <a:pt x="223386" y="42887"/>
                </a:cubicBezTo>
                <a:cubicBezTo>
                  <a:pt x="199608" y="19110"/>
                  <a:pt x="162552" y="14921"/>
                  <a:pt x="134067" y="32792"/>
                </a:cubicBezTo>
                <a:cubicBezTo>
                  <a:pt x="105582" y="50663"/>
                  <a:pt x="93228" y="85849"/>
                  <a:pt x="104290" y="117604"/>
                </a:cubicBezTo>
                <a:close/>
                <a:moveTo>
                  <a:pt x="188610" y="83210"/>
                </a:moveTo>
                <a:cubicBezTo>
                  <a:pt x="188610" y="86274"/>
                  <a:pt x="186127" y="88758"/>
                  <a:pt x="183063" y="88758"/>
                </a:cubicBezTo>
                <a:cubicBezTo>
                  <a:pt x="179999" y="88758"/>
                  <a:pt x="177516" y="86274"/>
                  <a:pt x="177516" y="83210"/>
                </a:cubicBezTo>
                <a:cubicBezTo>
                  <a:pt x="177516" y="80147"/>
                  <a:pt x="179999" y="77663"/>
                  <a:pt x="183063" y="77663"/>
                </a:cubicBezTo>
                <a:cubicBezTo>
                  <a:pt x="186127" y="77663"/>
                  <a:pt x="188610" y="80147"/>
                  <a:pt x="188610" y="83210"/>
                </a:cubicBezTo>
                <a:close/>
              </a:path>
            </a:pathLst>
          </a:custGeom>
          <a:noFill/>
          <a:ln w="22189" cap="rnd">
            <a:solidFill>
              <a:srgbClr val="8A4B06"/>
            </a:solidFill>
            <a:prstDash val="solid"/>
            <a:round/>
          </a:ln>
        </p:spPr>
      </p:sp>
      <p:sp>
        <p:nvSpPr>
          <p:cNvPr id="14" name="Text 12"/>
          <p:cNvSpPr/>
          <p:nvPr/>
        </p:nvSpPr>
        <p:spPr>
          <a:xfrm>
            <a:off x="1517904" y="2322576"/>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8A4B06"/>
                </a:solidFill>
                <a:latin typeface="Segoe UI Semibold" pitchFamily="34" charset="0"/>
                <a:ea typeface="Segoe UI Semibold" pitchFamily="34" charset="-122"/>
                <a:cs typeface="Segoe UI Semibold" pitchFamily="34" charset="-120"/>
              </a:rPr>
              <a:t>Cadena de conexión fuera del código</a:t>
            </a:r>
            <a:endParaRPr lang="en-US" sz="1500" dirty="0"/>
          </a:p>
        </p:txBody>
      </p:sp>
      <p:sp>
        <p:nvSpPr>
          <p:cNvPr id="15" name="Shape 13"/>
          <p:cNvSpPr/>
          <p:nvPr/>
        </p:nvSpPr>
        <p:spPr>
          <a:xfrm>
            <a:off x="4140961" y="2395728"/>
            <a:ext cx="0" cy="473659"/>
          </a:xfrm>
          <a:prstGeom prst="line">
            <a:avLst/>
          </a:prstGeom>
          <a:noFill/>
          <a:ln w="9525">
            <a:solidFill>
              <a:srgbClr val="DFE6F0"/>
            </a:solidFill>
            <a:prstDash val="solid"/>
          </a:ln>
        </p:spPr>
      </p:sp>
      <p:sp>
        <p:nvSpPr>
          <p:cNvPr id="16" name="Text 14"/>
          <p:cNvSpPr/>
          <p:nvPr/>
        </p:nvSpPr>
        <p:spPr>
          <a:xfrm>
            <a:off x="4268977" y="2322576"/>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Variables de entorno o un gestor de secretos en el servidor</a:t>
            </a:r>
            <a:endParaRPr lang="en-US" sz="1400" dirty="0"/>
          </a:p>
        </p:txBody>
      </p:sp>
      <p:sp>
        <p:nvSpPr>
          <p:cNvPr id="17" name="Shape 15"/>
          <p:cNvSpPr/>
          <p:nvPr/>
        </p:nvSpPr>
        <p:spPr>
          <a:xfrm>
            <a:off x="8114733" y="2395728"/>
            <a:ext cx="0" cy="473659"/>
          </a:xfrm>
          <a:prstGeom prst="line">
            <a:avLst/>
          </a:prstGeom>
          <a:noFill/>
          <a:ln w="9525">
            <a:solidFill>
              <a:srgbClr val="DFE6F0"/>
            </a:solidFill>
            <a:prstDash val="solid"/>
          </a:ln>
        </p:spPr>
      </p:sp>
      <p:sp>
        <p:nvSpPr>
          <p:cNvPr id="18" name="Text 16"/>
          <p:cNvSpPr/>
          <p:nvPr/>
        </p:nvSpPr>
        <p:spPr>
          <a:xfrm>
            <a:off x="8242749" y="2322576"/>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Claves en el repositorio y recompilar por cambiar de servidor</a:t>
            </a:r>
            <a:endParaRPr lang="en-US" sz="1400" dirty="0"/>
          </a:p>
        </p:txBody>
      </p:sp>
      <p:sp>
        <p:nvSpPr>
          <p:cNvPr id="19" name="[p1] Forma"/>
          <p:cNvSpPr/>
          <p:nvPr/>
        </p:nvSpPr>
        <p:spPr>
          <a:xfrm>
            <a:off x="612648" y="3107131"/>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0" name="[p1] Forma"/>
          <p:cNvSpPr/>
          <p:nvPr/>
        </p:nvSpPr>
        <p:spPr>
          <a:xfrm>
            <a:off x="612648" y="3198571"/>
            <a:ext cx="64008" cy="546811"/>
          </a:xfrm>
          <a:prstGeom prst="rect">
            <a:avLst/>
          </a:prstGeom>
          <a:solidFill>
            <a:srgbClr val="0B2350"/>
          </a:solidFill>
          <a:ln w="12700">
            <a:solidFill>
              <a:srgbClr val="0B2350"/>
            </a:solidFill>
            <a:prstDash val="solid"/>
          </a:ln>
        </p:spPr>
      </p:sp>
      <p:sp>
        <p:nvSpPr>
          <p:cNvPr id="21" name="[p1] Forma"/>
          <p:cNvSpPr/>
          <p:nvPr/>
        </p:nvSpPr>
        <p:spPr>
          <a:xfrm>
            <a:off x="772668" y="3215945"/>
            <a:ext cx="512064" cy="512064"/>
          </a:xfrm>
          <a:prstGeom prst="ellipse">
            <a:avLst/>
          </a:prstGeom>
          <a:solidFill>
            <a:srgbClr val="E8EEF8"/>
          </a:solidFill>
          <a:ln w="12700">
            <a:solidFill>
              <a:srgbClr val="E8EEF8"/>
            </a:solidFill>
            <a:prstDash val="solid"/>
          </a:ln>
        </p:spPr>
      </p:sp>
      <p:sp>
        <p:nvSpPr>
          <p:cNvPr id="22" name="[p1] Icono inbox"/>
          <p:cNvSpPr/>
          <p:nvPr/>
        </p:nvSpPr>
        <p:spPr>
          <a:xfrm>
            <a:off x="895563" y="3338840"/>
            <a:ext cx="266273" cy="266273"/>
          </a:xfrm>
          <a:custGeom>
            <a:avLst/>
            <a:gdLst/>
            <a:ahLst/>
            <a:cxnLst/>
            <a:rect l="l" t="t" r="r" b="b"/>
            <a:pathLst>
              <a:path w="266273" h="266273">
                <a:moveTo>
                  <a:pt x="244084" y="133137"/>
                </a:moveTo>
                <a:lnTo>
                  <a:pt x="177516" y="133137"/>
                </a:lnTo>
                <a:lnTo>
                  <a:pt x="155326" y="166421"/>
                </a:lnTo>
                <a:lnTo>
                  <a:pt x="110947" y="166421"/>
                </a:lnTo>
                <a:lnTo>
                  <a:pt x="88758" y="133137"/>
                </a:lnTo>
                <a:lnTo>
                  <a:pt x="22189" y="133137"/>
                </a:lnTo>
                <a:moveTo>
                  <a:pt x="60466" y="56694"/>
                </a:moveTo>
                <a:lnTo>
                  <a:pt x="22189" y="133137"/>
                </a:lnTo>
                <a:lnTo>
                  <a:pt x="22189" y="199705"/>
                </a:lnTo>
                <a:cubicBezTo>
                  <a:pt x="22189" y="211960"/>
                  <a:pt x="32124" y="221894"/>
                  <a:pt x="44379" y="221894"/>
                </a:cubicBezTo>
                <a:lnTo>
                  <a:pt x="221894" y="221894"/>
                </a:lnTo>
                <a:cubicBezTo>
                  <a:pt x="234149" y="221894"/>
                  <a:pt x="244084" y="211960"/>
                  <a:pt x="244084" y="199705"/>
                </a:cubicBezTo>
                <a:lnTo>
                  <a:pt x="244084" y="133137"/>
                </a:lnTo>
                <a:lnTo>
                  <a:pt x="205807" y="56694"/>
                </a:lnTo>
                <a:cubicBezTo>
                  <a:pt x="202060" y="49153"/>
                  <a:pt x="194368" y="44383"/>
                  <a:pt x="185948" y="44379"/>
                </a:cubicBezTo>
                <a:lnTo>
                  <a:pt x="80326" y="44379"/>
                </a:lnTo>
                <a:cubicBezTo>
                  <a:pt x="71906" y="44383"/>
                  <a:pt x="64213" y="49153"/>
                  <a:pt x="60466" y="56694"/>
                </a:cubicBezTo>
                <a:close/>
              </a:path>
            </a:pathLst>
          </a:custGeom>
          <a:noFill/>
          <a:ln w="22189" cap="rnd">
            <a:solidFill>
              <a:srgbClr val="0B2350"/>
            </a:solidFill>
            <a:prstDash val="solid"/>
            <a:round/>
          </a:ln>
        </p:spPr>
      </p:sp>
      <p:sp>
        <p:nvSpPr>
          <p:cNvPr id="23" name="[p1] Forma"/>
          <p:cNvSpPr/>
          <p:nvPr/>
        </p:nvSpPr>
        <p:spPr>
          <a:xfrm>
            <a:off x="1517904" y="3161995"/>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Guardar y avisar en la misma transacción</a:t>
            </a:r>
            <a:endParaRPr lang="en-US" sz="1500" dirty="0"/>
          </a:p>
        </p:txBody>
      </p:sp>
      <p:sp>
        <p:nvSpPr>
          <p:cNvPr id="24" name="[p1] Forma"/>
          <p:cNvSpPr/>
          <p:nvPr/>
        </p:nvSpPr>
        <p:spPr>
          <a:xfrm>
            <a:off x="4140961" y="3235147"/>
            <a:ext cx="0" cy="473659"/>
          </a:xfrm>
          <a:prstGeom prst="line">
            <a:avLst/>
          </a:prstGeom>
          <a:noFill/>
          <a:ln w="9525">
            <a:solidFill>
              <a:srgbClr val="DFE6F0"/>
            </a:solidFill>
            <a:prstDash val="solid"/>
          </a:ln>
        </p:spPr>
      </p:sp>
      <p:sp>
        <p:nvSpPr>
          <p:cNvPr id="25" name="[p1] Forma"/>
          <p:cNvSpPr/>
          <p:nvPr/>
        </p:nvSpPr>
        <p:spPr>
          <a:xfrm>
            <a:off x="4268977" y="3161995"/>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Una tabla de pendientes que llena el procedimiento y un job que la entrega</a:t>
            </a:r>
            <a:endParaRPr lang="en-US" sz="1400" dirty="0"/>
          </a:p>
        </p:txBody>
      </p:sp>
      <p:sp>
        <p:nvSpPr>
          <p:cNvPr id="26" name="[p1] Forma"/>
          <p:cNvSpPr/>
          <p:nvPr/>
        </p:nvSpPr>
        <p:spPr>
          <a:xfrm>
            <a:off x="8114733" y="3235147"/>
            <a:ext cx="0" cy="473659"/>
          </a:xfrm>
          <a:prstGeom prst="line">
            <a:avLst/>
          </a:prstGeom>
          <a:noFill/>
          <a:ln w="9525">
            <a:solidFill>
              <a:srgbClr val="DFE6F0"/>
            </a:solidFill>
            <a:prstDash val="solid"/>
          </a:ln>
        </p:spPr>
      </p:sp>
      <p:sp>
        <p:nvSpPr>
          <p:cNvPr id="27" name="[p1] Forma"/>
          <p:cNvSpPr/>
          <p:nvPr/>
        </p:nvSpPr>
        <p:spPr>
          <a:xfrm>
            <a:off x="8242749" y="3161995"/>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Avisos perdidos cuando el otro sistema está caído</a:t>
            </a:r>
            <a:endParaRPr lang="en-US" sz="1400" dirty="0"/>
          </a:p>
        </p:txBody>
      </p:sp>
      <p:sp>
        <p:nvSpPr>
          <p:cNvPr id="28" name="[p2] Forma"/>
          <p:cNvSpPr/>
          <p:nvPr/>
        </p:nvSpPr>
        <p:spPr>
          <a:xfrm>
            <a:off x="612648" y="3946550"/>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9" name="[p2] Forma"/>
          <p:cNvSpPr/>
          <p:nvPr/>
        </p:nvSpPr>
        <p:spPr>
          <a:xfrm>
            <a:off x="612648" y="4037990"/>
            <a:ext cx="64008" cy="546811"/>
          </a:xfrm>
          <a:prstGeom prst="rect">
            <a:avLst/>
          </a:prstGeom>
          <a:solidFill>
            <a:srgbClr val="0B6E8A"/>
          </a:solidFill>
          <a:ln w="12700">
            <a:solidFill>
              <a:srgbClr val="0B6E8A"/>
            </a:solidFill>
            <a:prstDash val="solid"/>
          </a:ln>
        </p:spPr>
      </p:sp>
      <p:sp>
        <p:nvSpPr>
          <p:cNvPr id="30" name="[p2] Forma"/>
          <p:cNvSpPr/>
          <p:nvPr/>
        </p:nvSpPr>
        <p:spPr>
          <a:xfrm>
            <a:off x="772668" y="4055364"/>
            <a:ext cx="512064" cy="512064"/>
          </a:xfrm>
          <a:prstGeom prst="ellipse">
            <a:avLst/>
          </a:prstGeom>
          <a:solidFill>
            <a:srgbClr val="E3F4FA"/>
          </a:solidFill>
          <a:ln w="12700">
            <a:solidFill>
              <a:srgbClr val="E3F4FA"/>
            </a:solidFill>
            <a:prstDash val="solid"/>
          </a:ln>
        </p:spPr>
      </p:sp>
      <p:sp>
        <p:nvSpPr>
          <p:cNvPr id="31" name="[p2] Icono fingerprint"/>
          <p:cNvSpPr/>
          <p:nvPr/>
        </p:nvSpPr>
        <p:spPr>
          <a:xfrm>
            <a:off x="895563" y="4178259"/>
            <a:ext cx="266273" cy="266273"/>
          </a:xfrm>
          <a:custGeom>
            <a:avLst/>
            <a:gdLst/>
            <a:ahLst/>
            <a:cxnLst/>
            <a:rect l="l" t="t" r="r" b="b"/>
            <a:pathLst>
              <a:path w="266273" h="266273">
                <a:moveTo>
                  <a:pt x="133137" y="110947"/>
                </a:moveTo>
                <a:cubicBezTo>
                  <a:pt x="120882" y="110947"/>
                  <a:pt x="110947" y="120882"/>
                  <a:pt x="110947" y="133137"/>
                </a:cubicBezTo>
                <a:cubicBezTo>
                  <a:pt x="110947" y="144453"/>
                  <a:pt x="109838" y="160984"/>
                  <a:pt x="108063" y="177516"/>
                </a:cubicBezTo>
                <a:moveTo>
                  <a:pt x="155326" y="145563"/>
                </a:moveTo>
                <a:cubicBezTo>
                  <a:pt x="155326" y="171968"/>
                  <a:pt x="155326" y="216347"/>
                  <a:pt x="144231" y="244084"/>
                </a:cubicBezTo>
                <a:moveTo>
                  <a:pt x="191828" y="233211"/>
                </a:moveTo>
                <a:cubicBezTo>
                  <a:pt x="193159" y="226554"/>
                  <a:pt x="196598" y="207693"/>
                  <a:pt x="197375" y="199705"/>
                </a:cubicBezTo>
                <a:moveTo>
                  <a:pt x="22189" y="133137"/>
                </a:moveTo>
                <a:cubicBezTo>
                  <a:pt x="22189" y="85382"/>
                  <a:pt x="52748" y="42984"/>
                  <a:pt x="98052" y="27883"/>
                </a:cubicBezTo>
                <a:cubicBezTo>
                  <a:pt x="143356" y="12781"/>
                  <a:pt x="193241" y="28364"/>
                  <a:pt x="221894" y="66568"/>
                </a:cubicBezTo>
                <a:moveTo>
                  <a:pt x="22189" y="177516"/>
                </a:moveTo>
                <a:lnTo>
                  <a:pt x="22300" y="177516"/>
                </a:lnTo>
                <a:moveTo>
                  <a:pt x="241865" y="177516"/>
                </a:moveTo>
                <a:cubicBezTo>
                  <a:pt x="244084" y="155326"/>
                  <a:pt x="243318" y="118114"/>
                  <a:pt x="241865" y="110947"/>
                </a:cubicBezTo>
                <a:moveTo>
                  <a:pt x="55474" y="216347"/>
                </a:moveTo>
                <a:cubicBezTo>
                  <a:pt x="61021" y="199705"/>
                  <a:pt x="66568" y="166421"/>
                  <a:pt x="66568" y="133137"/>
                </a:cubicBezTo>
                <a:cubicBezTo>
                  <a:pt x="66557" y="125580"/>
                  <a:pt x="67833" y="118076"/>
                  <a:pt x="70341" y="110947"/>
                </a:cubicBezTo>
                <a:moveTo>
                  <a:pt x="95969" y="244084"/>
                </a:moveTo>
                <a:cubicBezTo>
                  <a:pt x="98299" y="236761"/>
                  <a:pt x="100962" y="229439"/>
                  <a:pt x="102293" y="221894"/>
                </a:cubicBezTo>
                <a:moveTo>
                  <a:pt x="99852" y="75444"/>
                </a:moveTo>
                <a:cubicBezTo>
                  <a:pt x="120455" y="63549"/>
                  <a:pt x="145840" y="63553"/>
                  <a:pt x="166439" y="75455"/>
                </a:cubicBezTo>
                <a:cubicBezTo>
                  <a:pt x="187038" y="87356"/>
                  <a:pt x="199720" y="109346"/>
                  <a:pt x="199705" y="133137"/>
                </a:cubicBezTo>
                <a:lnTo>
                  <a:pt x="199705" y="155326"/>
                </a:lnTo>
              </a:path>
            </a:pathLst>
          </a:custGeom>
          <a:noFill/>
          <a:ln w="22189" cap="rnd">
            <a:solidFill>
              <a:srgbClr val="0B6E8A"/>
            </a:solidFill>
            <a:prstDash val="solid"/>
            <a:round/>
          </a:ln>
        </p:spPr>
      </p:sp>
      <p:sp>
        <p:nvSpPr>
          <p:cNvPr id="32" name="[p2] Forma"/>
          <p:cNvSpPr/>
          <p:nvPr/>
        </p:nvSpPr>
        <p:spPr>
          <a:xfrm>
            <a:off x="1517904" y="4001414"/>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0B6E8A"/>
                </a:solidFill>
                <a:latin typeface="Segoe UI Semibold" pitchFamily="34" charset="0"/>
                <a:ea typeface="Segoe UI Semibold" pitchFamily="34" charset="-122"/>
                <a:cs typeface="Segoe UI Semibold" pitchFamily="34" charset="-120"/>
              </a:rPr>
              <a:t>Idempotencia en lo que se reintenta</a:t>
            </a:r>
            <a:endParaRPr lang="en-US" sz="1500" dirty="0"/>
          </a:p>
        </p:txBody>
      </p:sp>
      <p:sp>
        <p:nvSpPr>
          <p:cNvPr id="33" name="[p2] Forma"/>
          <p:cNvSpPr/>
          <p:nvPr/>
        </p:nvSpPr>
        <p:spPr>
          <a:xfrm>
            <a:off x="4140961" y="4074566"/>
            <a:ext cx="0" cy="473659"/>
          </a:xfrm>
          <a:prstGeom prst="line">
            <a:avLst/>
          </a:prstGeom>
          <a:noFill/>
          <a:ln w="9525">
            <a:solidFill>
              <a:srgbClr val="DFE6F0"/>
            </a:solidFill>
            <a:prstDash val="solid"/>
          </a:ln>
        </p:spPr>
      </p:sp>
      <p:sp>
        <p:nvSpPr>
          <p:cNvPr id="34" name="[p2] Forma"/>
          <p:cNvSpPr/>
          <p:nvPr/>
        </p:nvSpPr>
        <p:spPr>
          <a:xfrm>
            <a:off x="4268977" y="4001414"/>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Una tabla de procesados con llave única por número de operación</a:t>
            </a:r>
            <a:endParaRPr lang="en-US" sz="1400" dirty="0"/>
          </a:p>
        </p:txBody>
      </p:sp>
      <p:sp>
        <p:nvSpPr>
          <p:cNvPr id="35" name="[p2] Forma"/>
          <p:cNvSpPr/>
          <p:nvPr/>
        </p:nvSpPr>
        <p:spPr>
          <a:xfrm>
            <a:off x="8114733" y="4074566"/>
            <a:ext cx="0" cy="473659"/>
          </a:xfrm>
          <a:prstGeom prst="line">
            <a:avLst/>
          </a:prstGeom>
          <a:noFill/>
          <a:ln w="9525">
            <a:solidFill>
              <a:srgbClr val="DFE6F0"/>
            </a:solidFill>
            <a:prstDash val="solid"/>
          </a:ln>
        </p:spPr>
      </p:sp>
      <p:sp>
        <p:nvSpPr>
          <p:cNvPr id="36" name="[p2] Forma"/>
          <p:cNvSpPr/>
          <p:nvPr/>
        </p:nvSpPr>
        <p:spPr>
          <a:xfrm>
            <a:off x="8242749" y="4001414"/>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Pagos, correos o registros duplicados</a:t>
            </a:r>
            <a:endParaRPr lang="en-US" sz="1400" dirty="0"/>
          </a:p>
        </p:txBody>
      </p:sp>
      <p:sp>
        <p:nvSpPr>
          <p:cNvPr id="37" name="[p3] Forma"/>
          <p:cNvSpPr/>
          <p:nvPr/>
        </p:nvSpPr>
        <p:spPr>
          <a:xfrm>
            <a:off x="612648" y="4785970"/>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8" name="[p3] Forma"/>
          <p:cNvSpPr/>
          <p:nvPr/>
        </p:nvSpPr>
        <p:spPr>
          <a:xfrm>
            <a:off x="612648" y="4877410"/>
            <a:ext cx="64008" cy="546811"/>
          </a:xfrm>
          <a:prstGeom prst="rect">
            <a:avLst/>
          </a:prstGeom>
          <a:solidFill>
            <a:srgbClr val="5B3FC4"/>
          </a:solidFill>
          <a:ln w="12700">
            <a:solidFill>
              <a:srgbClr val="5B3FC4"/>
            </a:solidFill>
            <a:prstDash val="solid"/>
          </a:ln>
        </p:spPr>
      </p:sp>
      <p:sp>
        <p:nvSpPr>
          <p:cNvPr id="39" name="[p3] Forma"/>
          <p:cNvSpPr/>
          <p:nvPr/>
        </p:nvSpPr>
        <p:spPr>
          <a:xfrm>
            <a:off x="772668" y="4894783"/>
            <a:ext cx="512064" cy="512064"/>
          </a:xfrm>
          <a:prstGeom prst="ellipse">
            <a:avLst/>
          </a:prstGeom>
          <a:solidFill>
            <a:srgbClr val="F1EEFD"/>
          </a:solidFill>
          <a:ln w="12700">
            <a:solidFill>
              <a:srgbClr val="F1EEFD"/>
            </a:solidFill>
            <a:prstDash val="solid"/>
          </a:ln>
        </p:spPr>
      </p:sp>
      <p:sp>
        <p:nvSpPr>
          <p:cNvPr id="40" name="[p3] Icono waypoints"/>
          <p:cNvSpPr/>
          <p:nvPr/>
        </p:nvSpPr>
        <p:spPr>
          <a:xfrm>
            <a:off x="895563" y="5017679"/>
            <a:ext cx="266273" cy="266273"/>
          </a:xfrm>
          <a:custGeom>
            <a:avLst/>
            <a:gdLst/>
            <a:ahLst/>
            <a:cxnLst/>
            <a:rect l="l" t="t" r="r" b="b"/>
            <a:pathLst>
              <a:path w="266273" h="266273">
                <a:moveTo>
                  <a:pt x="160873" y="49926"/>
                </a:moveTo>
                <a:cubicBezTo>
                  <a:pt x="160873" y="65245"/>
                  <a:pt x="148455" y="77663"/>
                  <a:pt x="133137" y="77663"/>
                </a:cubicBezTo>
                <a:cubicBezTo>
                  <a:pt x="117818" y="77663"/>
                  <a:pt x="105400" y="65245"/>
                  <a:pt x="105400" y="49926"/>
                </a:cubicBezTo>
                <a:cubicBezTo>
                  <a:pt x="105400" y="34608"/>
                  <a:pt x="117818" y="22189"/>
                  <a:pt x="133137" y="22189"/>
                </a:cubicBezTo>
                <a:cubicBezTo>
                  <a:pt x="148455" y="22189"/>
                  <a:pt x="160873" y="34608"/>
                  <a:pt x="160873" y="49926"/>
                </a:cubicBezTo>
                <a:close/>
                <a:moveTo>
                  <a:pt x="113166" y="69897"/>
                </a:moveTo>
                <a:lnTo>
                  <a:pt x="69897" y="113166"/>
                </a:lnTo>
                <a:moveTo>
                  <a:pt x="77663" y="133137"/>
                </a:moveTo>
                <a:cubicBezTo>
                  <a:pt x="77663" y="148455"/>
                  <a:pt x="65245" y="160873"/>
                  <a:pt x="49926" y="160873"/>
                </a:cubicBezTo>
                <a:cubicBezTo>
                  <a:pt x="34608" y="160873"/>
                  <a:pt x="22189" y="148455"/>
                  <a:pt x="22189" y="133137"/>
                </a:cubicBezTo>
                <a:cubicBezTo>
                  <a:pt x="22189" y="117818"/>
                  <a:pt x="34608" y="105400"/>
                  <a:pt x="49926" y="105400"/>
                </a:cubicBezTo>
                <a:cubicBezTo>
                  <a:pt x="65245" y="105400"/>
                  <a:pt x="77663" y="117818"/>
                  <a:pt x="77663" y="133137"/>
                </a:cubicBezTo>
                <a:close/>
                <a:moveTo>
                  <a:pt x="77663" y="133137"/>
                </a:moveTo>
                <a:lnTo>
                  <a:pt x="188610" y="133137"/>
                </a:lnTo>
                <a:moveTo>
                  <a:pt x="244084" y="133137"/>
                </a:moveTo>
                <a:cubicBezTo>
                  <a:pt x="244084" y="148455"/>
                  <a:pt x="231666" y="160873"/>
                  <a:pt x="216347" y="160873"/>
                </a:cubicBezTo>
                <a:cubicBezTo>
                  <a:pt x="201028" y="160873"/>
                  <a:pt x="188610" y="148455"/>
                  <a:pt x="188610" y="133137"/>
                </a:cubicBezTo>
                <a:cubicBezTo>
                  <a:pt x="188610" y="117818"/>
                  <a:pt x="201028" y="105400"/>
                  <a:pt x="216347" y="105400"/>
                </a:cubicBezTo>
                <a:cubicBezTo>
                  <a:pt x="231666" y="105400"/>
                  <a:pt x="244084" y="117818"/>
                  <a:pt x="244084" y="133137"/>
                </a:cubicBezTo>
                <a:close/>
                <a:moveTo>
                  <a:pt x="153107" y="196377"/>
                </a:moveTo>
                <a:lnTo>
                  <a:pt x="196377" y="153107"/>
                </a:lnTo>
                <a:moveTo>
                  <a:pt x="160873" y="216347"/>
                </a:moveTo>
                <a:cubicBezTo>
                  <a:pt x="160873" y="231666"/>
                  <a:pt x="148455" y="244084"/>
                  <a:pt x="133137" y="244084"/>
                </a:cubicBezTo>
                <a:cubicBezTo>
                  <a:pt x="117818" y="244084"/>
                  <a:pt x="105400" y="231666"/>
                  <a:pt x="105400" y="216347"/>
                </a:cubicBezTo>
                <a:cubicBezTo>
                  <a:pt x="105400" y="201028"/>
                  <a:pt x="117818" y="188610"/>
                  <a:pt x="133137" y="188610"/>
                </a:cubicBezTo>
                <a:cubicBezTo>
                  <a:pt x="148455" y="188610"/>
                  <a:pt x="160873" y="201028"/>
                  <a:pt x="160873" y="216347"/>
                </a:cubicBezTo>
                <a:close/>
              </a:path>
            </a:pathLst>
          </a:custGeom>
          <a:noFill/>
          <a:ln w="22189" cap="rnd">
            <a:solidFill>
              <a:srgbClr val="5B3FC4"/>
            </a:solidFill>
            <a:prstDash val="solid"/>
            <a:round/>
          </a:ln>
        </p:spPr>
      </p:sp>
      <p:sp>
        <p:nvSpPr>
          <p:cNvPr id="41" name="[p3] Forma"/>
          <p:cNvSpPr/>
          <p:nvPr/>
        </p:nvSpPr>
        <p:spPr>
          <a:xfrm>
            <a:off x="1517904" y="4840834"/>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5B3FC4"/>
                </a:solidFill>
                <a:latin typeface="Segoe UI Semibold" pitchFamily="34" charset="0"/>
                <a:ea typeface="Segoe UI Semibold" pitchFamily="34" charset="-122"/>
                <a:cs typeface="Segoe UI Semibold" pitchFamily="34" charset="-120"/>
              </a:rPr>
              <a:t>Un identificador que cruce sistemas</a:t>
            </a:r>
            <a:endParaRPr lang="en-US" sz="1500" dirty="0"/>
          </a:p>
        </p:txBody>
      </p:sp>
      <p:sp>
        <p:nvSpPr>
          <p:cNvPr id="42" name="[p3] Forma"/>
          <p:cNvSpPr/>
          <p:nvPr/>
        </p:nvSpPr>
        <p:spPr>
          <a:xfrm>
            <a:off x="4140961" y="4913986"/>
            <a:ext cx="0" cy="473659"/>
          </a:xfrm>
          <a:prstGeom prst="line">
            <a:avLst/>
          </a:prstGeom>
          <a:noFill/>
          <a:ln w="9525">
            <a:solidFill>
              <a:srgbClr val="DFE6F0"/>
            </a:solidFill>
            <a:prstDash val="solid"/>
          </a:ln>
        </p:spPr>
      </p:sp>
      <p:sp>
        <p:nvSpPr>
          <p:cNvPr id="43" name="[p3] Forma"/>
          <p:cNvSpPr/>
          <p:nvPr/>
        </p:nvSpPr>
        <p:spPr>
          <a:xfrm>
            <a:off x="4268977" y="4840834"/>
            <a:ext cx="3717740" cy="619963"/>
          </a:xfrm>
          <a:prstGeom prst="rect">
            <a:avLst/>
          </a:prstGeom>
          <a:noFill/>
          <a:ln/>
        </p:spPr>
        <p:txBody>
          <a:bodyPr wrap="square" lIns="0" tIns="0" rIns="0" bIns="0" rtlCol="0" anchor="ctr">
            <a:normAutofit/>
          </a:bodyPr>
          <a:lstStyle/>
          <a:p>
            <a:pPr algn="l" indent="0" marL="0">
              <a:buNone/>
            </a:pPr>
            <a:r>
              <a:rPr lang="en-US" sz="1300" dirty="0">
                <a:solidFill>
                  <a:srgbClr val="0B1A3C"/>
                </a:solidFill>
                <a:latin typeface="Segoe UI" pitchFamily="34" charset="0"/>
                <a:ea typeface="Segoe UI" pitchFamily="34" charset="-122"/>
                <a:cs typeface="Segoe UI" pitchFamily="34" charset="-120"/>
              </a:rPr>
              <a:t>El mismo número en el log de la aplicación, del procedimiento y del otro sistema</a:t>
            </a:r>
            <a:endParaRPr lang="en-US" sz="1300" dirty="0"/>
          </a:p>
        </p:txBody>
      </p:sp>
      <p:sp>
        <p:nvSpPr>
          <p:cNvPr id="44" name="[p3] Forma"/>
          <p:cNvSpPr/>
          <p:nvPr/>
        </p:nvSpPr>
        <p:spPr>
          <a:xfrm>
            <a:off x="8114733" y="4913986"/>
            <a:ext cx="0" cy="473659"/>
          </a:xfrm>
          <a:prstGeom prst="line">
            <a:avLst/>
          </a:prstGeom>
          <a:noFill/>
          <a:ln w="9525">
            <a:solidFill>
              <a:srgbClr val="DFE6F0"/>
            </a:solidFill>
            <a:prstDash val="solid"/>
          </a:ln>
        </p:spPr>
      </p:sp>
      <p:sp>
        <p:nvSpPr>
          <p:cNvPr id="45" name="[p3] Forma"/>
          <p:cNvSpPr/>
          <p:nvPr/>
        </p:nvSpPr>
        <p:spPr>
          <a:xfrm>
            <a:off x="8242749" y="4840834"/>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Horas buscando un error entre sistemas</a:t>
            </a:r>
            <a:endParaRPr lang="en-US" sz="1400" dirty="0"/>
          </a:p>
        </p:txBody>
      </p:sp>
      <p:sp>
        <p:nvSpPr>
          <p:cNvPr id="46" name="[p4] Forma"/>
          <p:cNvSpPr/>
          <p:nvPr/>
        </p:nvSpPr>
        <p:spPr>
          <a:xfrm>
            <a:off x="612648" y="5625389"/>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7" name="[p4] Forma"/>
          <p:cNvSpPr/>
          <p:nvPr/>
        </p:nvSpPr>
        <p:spPr>
          <a:xfrm>
            <a:off x="612648" y="5716829"/>
            <a:ext cx="64008" cy="546811"/>
          </a:xfrm>
          <a:prstGeom prst="rect">
            <a:avLst/>
          </a:prstGeom>
          <a:solidFill>
            <a:srgbClr val="0A6648"/>
          </a:solidFill>
          <a:ln w="12700">
            <a:solidFill>
              <a:srgbClr val="0A6648"/>
            </a:solidFill>
            <a:prstDash val="solid"/>
          </a:ln>
        </p:spPr>
      </p:sp>
      <p:sp>
        <p:nvSpPr>
          <p:cNvPr id="48" name="[p4] Forma"/>
          <p:cNvSpPr/>
          <p:nvPr/>
        </p:nvSpPr>
        <p:spPr>
          <a:xfrm>
            <a:off x="772668" y="5734202"/>
            <a:ext cx="512064" cy="512064"/>
          </a:xfrm>
          <a:prstGeom prst="ellipse">
            <a:avLst/>
          </a:prstGeom>
          <a:solidFill>
            <a:srgbClr val="E1F1EA"/>
          </a:solidFill>
          <a:ln w="12700">
            <a:solidFill>
              <a:srgbClr val="E1F1EA"/>
            </a:solidFill>
            <a:prstDash val="solid"/>
          </a:ln>
        </p:spPr>
      </p:sp>
      <p:sp>
        <p:nvSpPr>
          <p:cNvPr id="49" name="[p4] Icono container"/>
          <p:cNvSpPr/>
          <p:nvPr/>
        </p:nvSpPr>
        <p:spPr>
          <a:xfrm>
            <a:off x="895563" y="5857098"/>
            <a:ext cx="266273" cy="266273"/>
          </a:xfrm>
          <a:custGeom>
            <a:avLst/>
            <a:gdLst/>
            <a:ahLst/>
            <a:cxnLst/>
            <a:rect l="l" t="t" r="r" b="b"/>
            <a:pathLst>
              <a:path w="266273" h="266273">
                <a:moveTo>
                  <a:pt x="244084" y="85429"/>
                </a:moveTo>
                <a:cubicBezTo>
                  <a:pt x="244084" y="78773"/>
                  <a:pt x="239646" y="72116"/>
                  <a:pt x="235208" y="68787"/>
                </a:cubicBezTo>
                <a:lnTo>
                  <a:pt x="165311" y="25518"/>
                </a:lnTo>
                <a:cubicBezTo>
                  <a:pt x="159464" y="22194"/>
                  <a:pt x="152298" y="22194"/>
                  <a:pt x="146450" y="25518"/>
                </a:cubicBezTo>
                <a:lnTo>
                  <a:pt x="32175" y="92086"/>
                </a:lnTo>
                <a:cubicBezTo>
                  <a:pt x="26627" y="94305"/>
                  <a:pt x="22189" y="100962"/>
                  <a:pt x="22189" y="107619"/>
                </a:cubicBezTo>
                <a:lnTo>
                  <a:pt x="22189" y="180844"/>
                </a:lnTo>
                <a:cubicBezTo>
                  <a:pt x="22189" y="186391"/>
                  <a:pt x="26627" y="194158"/>
                  <a:pt x="31065" y="197486"/>
                </a:cubicBezTo>
                <a:lnTo>
                  <a:pt x="100962" y="240755"/>
                </a:lnTo>
                <a:cubicBezTo>
                  <a:pt x="106810" y="244080"/>
                  <a:pt x="113975" y="244080"/>
                  <a:pt x="119823" y="240755"/>
                </a:cubicBezTo>
                <a:lnTo>
                  <a:pt x="234099" y="174187"/>
                </a:lnTo>
                <a:cubicBezTo>
                  <a:pt x="239646" y="170859"/>
                  <a:pt x="244084" y="163092"/>
                  <a:pt x="244084" y="157545"/>
                </a:cubicBezTo>
                <a:close/>
                <a:moveTo>
                  <a:pt x="110947" y="242974"/>
                </a:moveTo>
                <a:lnTo>
                  <a:pt x="110947" y="155326"/>
                </a:lnTo>
                <a:lnTo>
                  <a:pt x="23299" y="100962"/>
                </a:lnTo>
                <a:moveTo>
                  <a:pt x="110947" y="155326"/>
                </a:moveTo>
                <a:lnTo>
                  <a:pt x="242974" y="78773"/>
                </a:lnTo>
                <a:moveTo>
                  <a:pt x="155326" y="219675"/>
                </a:moveTo>
                <a:lnTo>
                  <a:pt x="155326" y="129808"/>
                </a:lnTo>
                <a:moveTo>
                  <a:pt x="199705" y="194158"/>
                </a:moveTo>
                <a:lnTo>
                  <a:pt x="199705" y="104290"/>
                </a:lnTo>
              </a:path>
            </a:pathLst>
          </a:custGeom>
          <a:noFill/>
          <a:ln w="22189" cap="rnd">
            <a:solidFill>
              <a:srgbClr val="0A6648"/>
            </a:solidFill>
            <a:prstDash val="solid"/>
            <a:round/>
          </a:ln>
        </p:spPr>
      </p:sp>
      <p:sp>
        <p:nvSpPr>
          <p:cNvPr id="50" name="[p4] Forma"/>
          <p:cNvSpPr/>
          <p:nvPr/>
        </p:nvSpPr>
        <p:spPr>
          <a:xfrm>
            <a:off x="1517904" y="5680253"/>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0A6648"/>
                </a:solidFill>
                <a:latin typeface="Segoe UI Semibold" pitchFamily="34" charset="0"/>
                <a:ea typeface="Segoe UI Semibold" pitchFamily="34" charset="-122"/>
                <a:cs typeface="Segoe UI Semibold" pitchFamily="34" charset="-120"/>
              </a:rPr>
              <a:t>El mismo paquete en todos los ambientes</a:t>
            </a:r>
            <a:endParaRPr lang="en-US" sz="1500" dirty="0"/>
          </a:p>
        </p:txBody>
      </p:sp>
      <p:sp>
        <p:nvSpPr>
          <p:cNvPr id="51" name="[p4] Forma"/>
          <p:cNvSpPr/>
          <p:nvPr/>
        </p:nvSpPr>
        <p:spPr>
          <a:xfrm>
            <a:off x="4140961" y="5753405"/>
            <a:ext cx="0" cy="473659"/>
          </a:xfrm>
          <a:prstGeom prst="line">
            <a:avLst/>
          </a:prstGeom>
          <a:noFill/>
          <a:ln w="9525">
            <a:solidFill>
              <a:srgbClr val="DFE6F0"/>
            </a:solidFill>
            <a:prstDash val="solid"/>
          </a:ln>
        </p:spPr>
      </p:sp>
      <p:sp>
        <p:nvSpPr>
          <p:cNvPr id="52" name="[p4] Forma"/>
          <p:cNvSpPr/>
          <p:nvPr/>
        </p:nvSpPr>
        <p:spPr>
          <a:xfrm>
            <a:off x="4268977" y="5680253"/>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Contenedores para aplicaciones y bases de prueba</a:t>
            </a:r>
            <a:endParaRPr lang="en-US" sz="1400" dirty="0"/>
          </a:p>
        </p:txBody>
      </p:sp>
      <p:sp>
        <p:nvSpPr>
          <p:cNvPr id="53" name="[p4] Forma"/>
          <p:cNvSpPr/>
          <p:nvPr/>
        </p:nvSpPr>
        <p:spPr>
          <a:xfrm>
            <a:off x="8114733" y="5753405"/>
            <a:ext cx="0" cy="473659"/>
          </a:xfrm>
          <a:prstGeom prst="line">
            <a:avLst/>
          </a:prstGeom>
          <a:noFill/>
          <a:ln w="9525">
            <a:solidFill>
              <a:srgbClr val="DFE6F0"/>
            </a:solidFill>
            <a:prstDash val="solid"/>
          </a:ln>
        </p:spPr>
      </p:sp>
      <p:sp>
        <p:nvSpPr>
          <p:cNvPr id="54" name="[p4] Forma"/>
          <p:cNvSpPr/>
          <p:nvPr/>
        </p:nvSpPr>
        <p:spPr>
          <a:xfrm>
            <a:off x="8242749" y="5680253"/>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El clásico “en mi máquina funciona”</a:t>
            </a:r>
            <a:endParaRPr lang="en-US" sz="1400" dirty="0"/>
          </a:p>
        </p:txBody>
      </p:sp>
      <p:sp>
        <p:nvSpPr>
          <p:cNvPr id="55" name="Text 53"/>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VALOR Y CIERRE</a:t>
            </a:r>
            <a:endParaRPr lang="en-US" sz="800" dirty="0"/>
          </a:p>
        </p:txBody>
      </p:sp>
      <p:sp>
        <p:nvSpPr>
          <p:cNvPr id="56"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9"/>
                                        </p:tgtEl>
                                        <p:attrNameLst>
                                          <p:attrName>style.visibility</p:attrName>
                                        </p:attrNameLst>
                                      </p:cBhvr>
                                      <p:to>
                                        <p:strVal val="visible"/>
                                      </p:to>
                                    </p:set>
                                    <p:animEffect transition="in" filter="fade">
                                      <p:cBhvr>
                                        <p:cTn id="5" dur="400"/>
                                        <p:tgtEl>
                                          <p:spTgt spid="1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0"/>
                                        </p:tgtEl>
                                        <p:attrNameLst>
                                          <p:attrName>style.visibility</p:attrName>
                                        </p:attrNameLst>
                                      </p:cBhvr>
                                      <p:to>
                                        <p:strVal val="visible"/>
                                      </p:to>
                                    </p:set>
                                    <p:animEffect transition="in" filter="fade">
                                      <p:cBhvr>
                                        <p:cTn id="8" dur="400"/>
                                        <p:tgtEl>
                                          <p:spTgt spid="2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fade">
                                      <p:cBhvr>
                                        <p:cTn id="11" dur="400"/>
                                        <p:tgtEl>
                                          <p:spTgt spid="21"/>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400"/>
                                        <p:tgtEl>
                                          <p:spTgt spid="2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400"/>
                                        <p:tgtEl>
                                          <p:spTgt spid="23"/>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fade">
                                      <p:cBhvr>
                                        <p:cTn id="20" dur="400"/>
                                        <p:tgtEl>
                                          <p:spTgt spid="24"/>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fade">
                                      <p:cBhvr>
                                        <p:cTn id="23" dur="400"/>
                                        <p:tgtEl>
                                          <p:spTgt spid="2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fade">
                                      <p:cBhvr>
                                        <p:cTn id="26" dur="400"/>
                                        <p:tgtEl>
                                          <p:spTgt spid="26"/>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7"/>
                                        </p:tgtEl>
                                        <p:attrNameLst>
                                          <p:attrName>style.visibility</p:attrName>
                                        </p:attrNameLst>
                                      </p:cBhvr>
                                      <p:to>
                                        <p:strVal val="visible"/>
                                      </p:to>
                                    </p:set>
                                    <p:animEffect transition="in" filter="fade">
                                      <p:cBhvr>
                                        <p:cTn id="29" dur="400"/>
                                        <p:tgtEl>
                                          <p:spTgt spid="27"/>
                                        </p:tgtEl>
                                      </p:cBhvr>
                                    </p:animEffect>
                                  </p:childTnLst>
                                </p:cTn>
                              </p:par>
                            </p:childTnLst>
                          </p:cTn>
                        </p:par>
                      </p:childTnLst>
                    </p:cTn>
                  </p:par>
                  <p:par>
                    <p:cTn id="59" fill="hold">
                      <p:stCondLst>
                        <p:cond delay="indefinite"/>
                      </p:stCondLst>
                      <p:childTnLst>
                        <p:par>
                          <p:cTn id="60"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400"/>
                                        <p:tgtEl>
                                          <p:spTgt spid="2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400"/>
                                        <p:tgtEl>
                                          <p:spTgt spid="2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0"/>
                                        </p:tgtEl>
                                        <p:attrNameLst>
                                          <p:attrName>style.visibility</p:attrName>
                                        </p:attrNameLst>
                                      </p:cBhvr>
                                      <p:to>
                                        <p:strVal val="visible"/>
                                      </p:to>
                                    </p:set>
                                    <p:animEffect transition="in" filter="fade">
                                      <p:cBhvr>
                                        <p:cTn id="40" dur="400"/>
                                        <p:tgtEl>
                                          <p:spTgt spid="30"/>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animEffect transition="in" filter="fade">
                                      <p:cBhvr>
                                        <p:cTn id="43" dur="400"/>
                                        <p:tgtEl>
                                          <p:spTgt spid="31"/>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2"/>
                                        </p:tgtEl>
                                        <p:attrNameLst>
                                          <p:attrName>style.visibility</p:attrName>
                                        </p:attrNameLst>
                                      </p:cBhvr>
                                      <p:to>
                                        <p:strVal val="visible"/>
                                      </p:to>
                                    </p:set>
                                    <p:animEffect transition="in" filter="fade">
                                      <p:cBhvr>
                                        <p:cTn id="46" dur="400"/>
                                        <p:tgtEl>
                                          <p:spTgt spid="32"/>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3"/>
                                        </p:tgtEl>
                                        <p:attrNameLst>
                                          <p:attrName>style.visibility</p:attrName>
                                        </p:attrNameLst>
                                      </p:cBhvr>
                                      <p:to>
                                        <p:strVal val="visible"/>
                                      </p:to>
                                    </p:set>
                                    <p:animEffect transition="in" filter="fade">
                                      <p:cBhvr>
                                        <p:cTn id="49" dur="400"/>
                                        <p:tgtEl>
                                          <p:spTgt spid="33"/>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4"/>
                                        </p:tgtEl>
                                        <p:attrNameLst>
                                          <p:attrName>style.visibility</p:attrName>
                                        </p:attrNameLst>
                                      </p:cBhvr>
                                      <p:to>
                                        <p:strVal val="visible"/>
                                      </p:to>
                                    </p:set>
                                    <p:animEffect transition="in" filter="fade">
                                      <p:cBhvr>
                                        <p:cTn id="52" dur="400"/>
                                        <p:tgtEl>
                                          <p:spTgt spid="34"/>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5"/>
                                        </p:tgtEl>
                                        <p:attrNameLst>
                                          <p:attrName>style.visibility</p:attrName>
                                        </p:attrNameLst>
                                      </p:cBhvr>
                                      <p:to>
                                        <p:strVal val="visible"/>
                                      </p:to>
                                    </p:set>
                                    <p:animEffect transition="in" filter="fade">
                                      <p:cBhvr>
                                        <p:cTn id="55" dur="400"/>
                                        <p:tgtEl>
                                          <p:spTgt spid="35"/>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6"/>
                                        </p:tgtEl>
                                        <p:attrNameLst>
                                          <p:attrName>style.visibility</p:attrName>
                                        </p:attrNameLst>
                                      </p:cBhvr>
                                      <p:to>
                                        <p:strVal val="visible"/>
                                      </p:to>
                                    </p:set>
                                    <p:animEffect transition="in" filter="fade">
                                      <p:cBhvr>
                                        <p:cTn id="58" dur="400"/>
                                        <p:tgtEl>
                                          <p:spTgt spid="36"/>
                                        </p:tgtEl>
                                      </p:cBhvr>
                                    </p:animEffect>
                                  </p:childTnLst>
                                </p:cTn>
                              </p:par>
                            </p:childTnLst>
                          </p:cTn>
                        </p:par>
                      </p:childTnLst>
                    </p:cTn>
                  </p:par>
                  <p:par>
                    <p:cTn id="88" fill="hold">
                      <p:stCondLst>
                        <p:cond delay="indefinite"/>
                      </p:stCondLst>
                      <p:childTnLst>
                        <p:par>
                          <p:cTn id="89"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37"/>
                                        </p:tgtEl>
                                        <p:attrNameLst>
                                          <p:attrName>style.visibility</p:attrName>
                                        </p:attrNameLst>
                                      </p:cBhvr>
                                      <p:to>
                                        <p:strVal val="visible"/>
                                      </p:to>
                                    </p:set>
                                    <p:animEffect transition="in" filter="fade">
                                      <p:cBhvr>
                                        <p:cTn id="63" dur="400"/>
                                        <p:tgtEl>
                                          <p:spTgt spid="37"/>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8"/>
                                        </p:tgtEl>
                                        <p:attrNameLst>
                                          <p:attrName>style.visibility</p:attrName>
                                        </p:attrNameLst>
                                      </p:cBhvr>
                                      <p:to>
                                        <p:strVal val="visible"/>
                                      </p:to>
                                    </p:set>
                                    <p:animEffect transition="in" filter="fade">
                                      <p:cBhvr>
                                        <p:cTn id="66" dur="400"/>
                                        <p:tgtEl>
                                          <p:spTgt spid="38"/>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39"/>
                                        </p:tgtEl>
                                        <p:attrNameLst>
                                          <p:attrName>style.visibility</p:attrName>
                                        </p:attrNameLst>
                                      </p:cBhvr>
                                      <p:to>
                                        <p:strVal val="visible"/>
                                      </p:to>
                                    </p:set>
                                    <p:animEffect transition="in" filter="fade">
                                      <p:cBhvr>
                                        <p:cTn id="69" dur="400"/>
                                        <p:tgtEl>
                                          <p:spTgt spid="39"/>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0"/>
                                        </p:tgtEl>
                                        <p:attrNameLst>
                                          <p:attrName>style.visibility</p:attrName>
                                        </p:attrNameLst>
                                      </p:cBhvr>
                                      <p:to>
                                        <p:strVal val="visible"/>
                                      </p:to>
                                    </p:set>
                                    <p:animEffect transition="in" filter="fade">
                                      <p:cBhvr>
                                        <p:cTn id="72" dur="400"/>
                                        <p:tgtEl>
                                          <p:spTgt spid="40"/>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1"/>
                                        </p:tgtEl>
                                        <p:attrNameLst>
                                          <p:attrName>style.visibility</p:attrName>
                                        </p:attrNameLst>
                                      </p:cBhvr>
                                      <p:to>
                                        <p:strVal val="visible"/>
                                      </p:to>
                                    </p:set>
                                    <p:animEffect transition="in" filter="fade">
                                      <p:cBhvr>
                                        <p:cTn id="75" dur="400"/>
                                        <p:tgtEl>
                                          <p:spTgt spid="41"/>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2"/>
                                        </p:tgtEl>
                                        <p:attrNameLst>
                                          <p:attrName>style.visibility</p:attrName>
                                        </p:attrNameLst>
                                      </p:cBhvr>
                                      <p:to>
                                        <p:strVal val="visible"/>
                                      </p:to>
                                    </p:set>
                                    <p:animEffect transition="in" filter="fade">
                                      <p:cBhvr>
                                        <p:cTn id="78" dur="400"/>
                                        <p:tgtEl>
                                          <p:spTgt spid="42"/>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43"/>
                                        </p:tgtEl>
                                        <p:attrNameLst>
                                          <p:attrName>style.visibility</p:attrName>
                                        </p:attrNameLst>
                                      </p:cBhvr>
                                      <p:to>
                                        <p:strVal val="visible"/>
                                      </p:to>
                                    </p:set>
                                    <p:animEffect transition="in" filter="fade">
                                      <p:cBhvr>
                                        <p:cTn id="81" dur="400"/>
                                        <p:tgtEl>
                                          <p:spTgt spid="43"/>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4"/>
                                        </p:tgtEl>
                                        <p:attrNameLst>
                                          <p:attrName>style.visibility</p:attrName>
                                        </p:attrNameLst>
                                      </p:cBhvr>
                                      <p:to>
                                        <p:strVal val="visible"/>
                                      </p:to>
                                    </p:set>
                                    <p:animEffect transition="in" filter="fade">
                                      <p:cBhvr>
                                        <p:cTn id="84" dur="400"/>
                                        <p:tgtEl>
                                          <p:spTgt spid="44"/>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45"/>
                                        </p:tgtEl>
                                        <p:attrNameLst>
                                          <p:attrName>style.visibility</p:attrName>
                                        </p:attrNameLst>
                                      </p:cBhvr>
                                      <p:to>
                                        <p:strVal val="visible"/>
                                      </p:to>
                                    </p:set>
                                    <p:animEffect transition="in" filter="fade">
                                      <p:cBhvr>
                                        <p:cTn id="87" dur="400"/>
                                        <p:tgtEl>
                                          <p:spTgt spid="45"/>
                                        </p:tgtEl>
                                      </p:cBhvr>
                                    </p:animEffect>
                                  </p:childTnLst>
                                </p:cTn>
                              </p:par>
                            </p:childTnLst>
                          </p:cTn>
                        </p:par>
                      </p:childTnLst>
                    </p:cTn>
                  </p:par>
                  <p:par>
                    <p:cTn id="117" fill="hold">
                      <p:stCondLst>
                        <p:cond delay="indefinite"/>
                      </p:stCondLst>
                      <p:childTnLst>
                        <p:par>
                          <p:cTn id="118"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46"/>
                                        </p:tgtEl>
                                        <p:attrNameLst>
                                          <p:attrName>style.visibility</p:attrName>
                                        </p:attrNameLst>
                                      </p:cBhvr>
                                      <p:to>
                                        <p:strVal val="visible"/>
                                      </p:to>
                                    </p:set>
                                    <p:animEffect transition="in" filter="fade">
                                      <p:cBhvr>
                                        <p:cTn id="92" dur="400"/>
                                        <p:tgtEl>
                                          <p:spTgt spid="46"/>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47"/>
                                        </p:tgtEl>
                                        <p:attrNameLst>
                                          <p:attrName>style.visibility</p:attrName>
                                        </p:attrNameLst>
                                      </p:cBhvr>
                                      <p:to>
                                        <p:strVal val="visible"/>
                                      </p:to>
                                    </p:set>
                                    <p:animEffect transition="in" filter="fade">
                                      <p:cBhvr>
                                        <p:cTn id="95" dur="400"/>
                                        <p:tgtEl>
                                          <p:spTgt spid="47"/>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48"/>
                                        </p:tgtEl>
                                        <p:attrNameLst>
                                          <p:attrName>style.visibility</p:attrName>
                                        </p:attrNameLst>
                                      </p:cBhvr>
                                      <p:to>
                                        <p:strVal val="visible"/>
                                      </p:to>
                                    </p:set>
                                    <p:animEffect transition="in" filter="fade">
                                      <p:cBhvr>
                                        <p:cTn id="98" dur="400"/>
                                        <p:tgtEl>
                                          <p:spTgt spid="48"/>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49"/>
                                        </p:tgtEl>
                                        <p:attrNameLst>
                                          <p:attrName>style.visibility</p:attrName>
                                        </p:attrNameLst>
                                      </p:cBhvr>
                                      <p:to>
                                        <p:strVal val="visible"/>
                                      </p:to>
                                    </p:set>
                                    <p:animEffect transition="in" filter="fade">
                                      <p:cBhvr>
                                        <p:cTn id="101" dur="400"/>
                                        <p:tgtEl>
                                          <p:spTgt spid="49"/>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50"/>
                                        </p:tgtEl>
                                        <p:attrNameLst>
                                          <p:attrName>style.visibility</p:attrName>
                                        </p:attrNameLst>
                                      </p:cBhvr>
                                      <p:to>
                                        <p:strVal val="visible"/>
                                      </p:to>
                                    </p:set>
                                    <p:animEffect transition="in" filter="fade">
                                      <p:cBhvr>
                                        <p:cTn id="104" dur="400"/>
                                        <p:tgtEl>
                                          <p:spTgt spid="50"/>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51"/>
                                        </p:tgtEl>
                                        <p:attrNameLst>
                                          <p:attrName>style.visibility</p:attrName>
                                        </p:attrNameLst>
                                      </p:cBhvr>
                                      <p:to>
                                        <p:strVal val="visible"/>
                                      </p:to>
                                    </p:set>
                                    <p:animEffect transition="in" filter="fade">
                                      <p:cBhvr>
                                        <p:cTn id="107" dur="400"/>
                                        <p:tgtEl>
                                          <p:spTgt spid="51"/>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52"/>
                                        </p:tgtEl>
                                        <p:attrNameLst>
                                          <p:attrName>style.visibility</p:attrName>
                                        </p:attrNameLst>
                                      </p:cBhvr>
                                      <p:to>
                                        <p:strVal val="visible"/>
                                      </p:to>
                                    </p:set>
                                    <p:animEffect transition="in" filter="fade">
                                      <p:cBhvr>
                                        <p:cTn id="110" dur="400"/>
                                        <p:tgtEl>
                                          <p:spTgt spid="52"/>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53"/>
                                        </p:tgtEl>
                                        <p:attrNameLst>
                                          <p:attrName>style.visibility</p:attrName>
                                        </p:attrNameLst>
                                      </p:cBhvr>
                                      <p:to>
                                        <p:strVal val="visible"/>
                                      </p:to>
                                    </p:set>
                                    <p:animEffect transition="in" filter="fade">
                                      <p:cBhvr>
                                        <p:cTn id="113" dur="400"/>
                                        <p:tgtEl>
                                          <p:spTgt spid="53"/>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54"/>
                                        </p:tgtEl>
                                        <p:attrNameLst>
                                          <p:attrName>style.visibility</p:attrName>
                                        </p:attrNameLst>
                                      </p:cBhvr>
                                      <p:to>
                                        <p:strVal val="visible"/>
                                      </p:to>
                                    </p:set>
                                    <p:animEffect transition="in" filter="fade">
                                      <p:cBhvr>
                                        <p:cTn id="116" dur="4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VALOR Y CIERRE</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Lo que nos llevamos</a:t>
            </a:r>
            <a:endParaRPr lang="en-US" sz="2800" dirty="0"/>
          </a:p>
        </p:txBody>
      </p:sp>
      <p:sp>
        <p:nvSpPr>
          <p:cNvPr id="5" name="Shape 3"/>
          <p:cNvSpPr/>
          <p:nvPr/>
        </p:nvSpPr>
        <p:spPr>
          <a:xfrm>
            <a:off x="612648" y="1371600"/>
            <a:ext cx="2971800" cy="4983480"/>
          </a:xfrm>
          <a:prstGeom prst="roundRect">
            <a:avLst>
              <a:gd name="adj" fmla="val 4923"/>
            </a:avLst>
          </a:prstGeom>
          <a:solidFill>
            <a:srgbClr val="0B1F3A"/>
          </a:solidFill>
          <a:ln w="12700">
            <a:solidFill>
              <a:srgbClr val="0B1F3A"/>
            </a:solidFill>
            <a:prstDash val="solid"/>
          </a:ln>
          <a:effectLst>
            <a:outerShdw sx="100000" sy="100000" kx="0" ky="0" algn="bl" rotWithShape="0" blurRad="76200" dist="19050" dir="5400000">
              <a:srgbClr val="0B1F3A">
                <a:alpha val="14000"/>
              </a:srgbClr>
            </a:outerShdw>
          </a:effectLst>
        </p:spPr>
      </p:sp>
      <p:sp>
        <p:nvSpPr>
          <p:cNvPr id="6" name="Shape 4"/>
          <p:cNvSpPr/>
          <p:nvPr/>
        </p:nvSpPr>
        <p:spPr>
          <a:xfrm>
            <a:off x="886968" y="1645920"/>
            <a:ext cx="713232" cy="713232"/>
          </a:xfrm>
          <a:prstGeom prst="ellipse">
            <a:avLst/>
          </a:prstGeom>
          <a:solidFill>
            <a:srgbClr val="2BA6CB"/>
          </a:solidFill>
          <a:ln w="12700">
            <a:solidFill>
              <a:srgbClr val="2BA6CB"/>
            </a:solidFill>
            <a:prstDash val="solid"/>
          </a:ln>
        </p:spPr>
      </p:sp>
      <p:sp>
        <p:nvSpPr>
          <p:cNvPr id="7" name="Icono graduation-cap"/>
          <p:cNvSpPr/>
          <p:nvPr/>
        </p:nvSpPr>
        <p:spPr>
          <a:xfrm>
            <a:off x="1058144" y="1817096"/>
            <a:ext cx="370881" cy="370881"/>
          </a:xfrm>
          <a:custGeom>
            <a:avLst/>
            <a:gdLst/>
            <a:ahLst/>
            <a:cxnLst/>
            <a:rect l="l" t="t" r="r" b="b"/>
            <a:pathLst>
              <a:path w="370881" h="370881">
                <a:moveTo>
                  <a:pt x="331011" y="168782"/>
                </a:moveTo>
                <a:cubicBezTo>
                  <a:pt x="336666" y="166287"/>
                  <a:pt x="340290" y="160663"/>
                  <a:pt x="340226" y="154483"/>
                </a:cubicBezTo>
                <a:cubicBezTo>
                  <a:pt x="340162" y="148303"/>
                  <a:pt x="336422" y="142755"/>
                  <a:pt x="330717" y="140378"/>
                </a:cubicBezTo>
                <a:lnTo>
                  <a:pt x="198267" y="80048"/>
                </a:lnTo>
                <a:cubicBezTo>
                  <a:pt x="190120" y="76332"/>
                  <a:pt x="180761" y="76332"/>
                  <a:pt x="172614" y="80048"/>
                </a:cubicBezTo>
                <a:lnTo>
                  <a:pt x="40179" y="140317"/>
                </a:lnTo>
                <a:cubicBezTo>
                  <a:pt x="34557" y="142779"/>
                  <a:pt x="30925" y="148334"/>
                  <a:pt x="30925" y="154472"/>
                </a:cubicBezTo>
                <a:cubicBezTo>
                  <a:pt x="30925" y="160609"/>
                  <a:pt x="34557" y="166165"/>
                  <a:pt x="40179" y="168627"/>
                </a:cubicBezTo>
                <a:lnTo>
                  <a:pt x="172614" y="229019"/>
                </a:lnTo>
                <a:cubicBezTo>
                  <a:pt x="180761" y="232735"/>
                  <a:pt x="190120" y="232735"/>
                  <a:pt x="198267" y="229019"/>
                </a:cubicBezTo>
                <a:close/>
                <a:moveTo>
                  <a:pt x="339974" y="154534"/>
                </a:moveTo>
                <a:lnTo>
                  <a:pt x="339974" y="247254"/>
                </a:lnTo>
                <a:moveTo>
                  <a:pt x="92720" y="193167"/>
                </a:moveTo>
                <a:lnTo>
                  <a:pt x="92720" y="247254"/>
                </a:lnTo>
                <a:cubicBezTo>
                  <a:pt x="92720" y="272858"/>
                  <a:pt x="134232" y="293614"/>
                  <a:pt x="185440" y="293614"/>
                </a:cubicBezTo>
                <a:cubicBezTo>
                  <a:pt x="236648" y="293614"/>
                  <a:pt x="278160" y="272858"/>
                  <a:pt x="278160" y="247254"/>
                </a:cubicBezTo>
                <a:lnTo>
                  <a:pt x="278160" y="193167"/>
                </a:lnTo>
              </a:path>
            </a:pathLst>
          </a:custGeom>
          <a:noFill/>
          <a:ln w="30907" cap="rnd">
            <a:solidFill>
              <a:srgbClr val="0B1F3A"/>
            </a:solidFill>
            <a:prstDash val="solid"/>
            <a:round/>
          </a:ln>
        </p:spPr>
      </p:sp>
      <p:sp>
        <p:nvSpPr>
          <p:cNvPr id="8" name="Text 6"/>
          <p:cNvSpPr/>
          <p:nvPr/>
        </p:nvSpPr>
        <p:spPr>
          <a:xfrm>
            <a:off x="886968" y="2487168"/>
            <a:ext cx="2514600" cy="274320"/>
          </a:xfrm>
          <a:prstGeom prst="rect">
            <a:avLst/>
          </a:prstGeom>
          <a:noFill/>
          <a:ln/>
        </p:spPr>
        <p:txBody>
          <a:bodyPr wrap="square" lIns="0" tIns="0" rIns="0" bIns="0" rtlCol="0" anchor="t">
            <a:normAutofit/>
          </a:bodyPr>
          <a:lstStyle/>
          <a:p>
            <a:pPr algn="l" indent="0" marL="0">
              <a:buNone/>
            </a:pPr>
            <a:r>
              <a:rPr lang="en-US" sz="1100" b="1" dirty="0">
                <a:solidFill>
                  <a:srgbClr val="2BA6CB"/>
                </a:solidFill>
                <a:latin typeface="Segoe UI" pitchFamily="34" charset="0"/>
                <a:ea typeface="Segoe UI" pitchFamily="34" charset="-122"/>
                <a:cs typeface="Segoe UI" pitchFamily="34" charset="-120"/>
              </a:rPr>
              <a:t>LO QUE APRENDIMOS</a:t>
            </a:r>
            <a:endParaRPr lang="en-US" sz="1100" dirty="0"/>
          </a:p>
        </p:txBody>
      </p:sp>
      <p:sp>
        <p:nvSpPr>
          <p:cNvPr id="9" name="Text 7"/>
          <p:cNvSpPr/>
          <p:nvPr/>
        </p:nvSpPr>
        <p:spPr>
          <a:xfrm>
            <a:off x="886968" y="287121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0</a:t>
            </a:r>
            <a:endParaRPr lang="en-US" sz="4700" dirty="0"/>
          </a:p>
        </p:txBody>
      </p:sp>
      <p:sp>
        <p:nvSpPr>
          <p:cNvPr id="10" name="Text 8"/>
          <p:cNvSpPr/>
          <p:nvPr/>
        </p:nvSpPr>
        <p:spPr>
          <a:xfrm>
            <a:off x="886968" y="362305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avisos perdidos o duplicados</a:t>
            </a:r>
            <a:endParaRPr lang="en-US" sz="1300" dirty="0"/>
          </a:p>
        </p:txBody>
      </p:sp>
      <p:sp>
        <p:nvSpPr>
          <p:cNvPr id="11" name="Shape 9"/>
          <p:cNvSpPr/>
          <p:nvPr/>
        </p:nvSpPr>
        <p:spPr>
          <a:xfrm>
            <a:off x="886968" y="4489704"/>
            <a:ext cx="2423160" cy="0"/>
          </a:xfrm>
          <a:prstGeom prst="line">
            <a:avLst/>
          </a:prstGeom>
          <a:noFill/>
          <a:ln w="9525">
            <a:solidFill>
              <a:srgbClr val="3C4C61"/>
            </a:solidFill>
            <a:prstDash val="solid"/>
          </a:ln>
        </p:spPr>
      </p:sp>
      <p:sp>
        <p:nvSpPr>
          <p:cNvPr id="12" name="Text 10"/>
          <p:cNvSpPr/>
          <p:nvPr/>
        </p:nvSpPr>
        <p:spPr>
          <a:xfrm>
            <a:off x="886968" y="456285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1</a:t>
            </a:r>
            <a:endParaRPr lang="en-US" sz="4700" dirty="0"/>
          </a:p>
        </p:txBody>
      </p:sp>
      <p:sp>
        <p:nvSpPr>
          <p:cNvPr id="13" name="Text 11"/>
          <p:cNvSpPr/>
          <p:nvPr/>
        </p:nvSpPr>
        <p:spPr>
          <a:xfrm>
            <a:off x="886968" y="531469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comando para levantar todo</a:t>
            </a:r>
            <a:endParaRPr lang="en-US" sz="1300" dirty="0"/>
          </a:p>
        </p:txBody>
      </p:sp>
      <p:sp>
        <p:nvSpPr>
          <p:cNvPr id="14" name="[p1] Forma"/>
          <p:cNvSpPr/>
          <p:nvPr/>
        </p:nvSpPr>
        <p:spPr>
          <a:xfrm>
            <a:off x="3858768" y="137160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5" name="[p1] Forma"/>
          <p:cNvSpPr/>
          <p:nvPr/>
        </p:nvSpPr>
        <p:spPr>
          <a:xfrm>
            <a:off x="4087368" y="1784604"/>
            <a:ext cx="713232" cy="713232"/>
          </a:xfrm>
          <a:prstGeom prst="ellipse">
            <a:avLst/>
          </a:prstGeom>
          <a:solidFill>
            <a:srgbClr val="E8EEF8"/>
          </a:solidFill>
          <a:ln w="12700">
            <a:solidFill>
              <a:srgbClr val="E8EEF8"/>
            </a:solidFill>
            <a:prstDash val="solid"/>
          </a:ln>
        </p:spPr>
      </p:sp>
      <p:sp>
        <p:nvSpPr>
          <p:cNvPr id="16" name="[p1] Icono siren"/>
          <p:cNvSpPr/>
          <p:nvPr/>
        </p:nvSpPr>
        <p:spPr>
          <a:xfrm>
            <a:off x="4258544" y="1955780"/>
            <a:ext cx="370881" cy="370881"/>
          </a:xfrm>
          <a:custGeom>
            <a:avLst/>
            <a:gdLst/>
            <a:ahLst/>
            <a:cxnLst/>
            <a:rect l="l" t="t" r="r" b="b"/>
            <a:pathLst>
              <a:path w="370881" h="370881">
                <a:moveTo>
                  <a:pt x="108174" y="278160"/>
                </a:moveTo>
                <a:lnTo>
                  <a:pt x="108174" y="185440"/>
                </a:lnTo>
                <a:cubicBezTo>
                  <a:pt x="108174" y="142767"/>
                  <a:pt x="142767" y="108174"/>
                  <a:pt x="185440" y="108174"/>
                </a:cubicBezTo>
                <a:cubicBezTo>
                  <a:pt x="228114" y="108174"/>
                  <a:pt x="262707" y="142767"/>
                  <a:pt x="262707" y="185440"/>
                </a:cubicBezTo>
                <a:lnTo>
                  <a:pt x="262707" y="278160"/>
                </a:lnTo>
                <a:moveTo>
                  <a:pt x="77267" y="324521"/>
                </a:moveTo>
                <a:cubicBezTo>
                  <a:pt x="77267" y="333055"/>
                  <a:pt x="84186" y="339974"/>
                  <a:pt x="92720" y="339974"/>
                </a:cubicBezTo>
                <a:lnTo>
                  <a:pt x="278160" y="339974"/>
                </a:lnTo>
                <a:cubicBezTo>
                  <a:pt x="286695" y="339974"/>
                  <a:pt x="293614" y="333055"/>
                  <a:pt x="293614" y="324521"/>
                </a:cubicBezTo>
                <a:lnTo>
                  <a:pt x="293614" y="309067"/>
                </a:lnTo>
                <a:cubicBezTo>
                  <a:pt x="293614" y="291998"/>
                  <a:pt x="279776" y="278160"/>
                  <a:pt x="262707" y="278160"/>
                </a:cubicBezTo>
                <a:lnTo>
                  <a:pt x="108174" y="278160"/>
                </a:lnTo>
                <a:cubicBezTo>
                  <a:pt x="91104" y="278160"/>
                  <a:pt x="77267" y="291998"/>
                  <a:pt x="77267" y="309067"/>
                </a:cubicBezTo>
                <a:close/>
                <a:moveTo>
                  <a:pt x="324521" y="185440"/>
                </a:moveTo>
                <a:lnTo>
                  <a:pt x="339974" y="185440"/>
                </a:lnTo>
                <a:moveTo>
                  <a:pt x="285887" y="69540"/>
                </a:moveTo>
                <a:lnTo>
                  <a:pt x="278160" y="77267"/>
                </a:lnTo>
                <a:moveTo>
                  <a:pt x="30907" y="185440"/>
                </a:moveTo>
                <a:lnTo>
                  <a:pt x="46360" y="185440"/>
                </a:lnTo>
                <a:moveTo>
                  <a:pt x="185440" y="30907"/>
                </a:moveTo>
                <a:lnTo>
                  <a:pt x="185440" y="46360"/>
                </a:lnTo>
                <a:moveTo>
                  <a:pt x="76170" y="76170"/>
                </a:moveTo>
                <a:lnTo>
                  <a:pt x="87095" y="87095"/>
                </a:lnTo>
                <a:moveTo>
                  <a:pt x="185440" y="185440"/>
                </a:moveTo>
                <a:lnTo>
                  <a:pt x="185440" y="278160"/>
                </a:lnTo>
              </a:path>
            </a:pathLst>
          </a:custGeom>
          <a:noFill/>
          <a:ln w="30907" cap="rnd">
            <a:solidFill>
              <a:srgbClr val="0B2350"/>
            </a:solidFill>
            <a:prstDash val="solid"/>
            <a:round/>
          </a:ln>
        </p:spPr>
      </p:sp>
      <p:sp>
        <p:nvSpPr>
          <p:cNvPr id="17" name="[p1] Forma"/>
          <p:cNvSpPr/>
          <p:nvPr/>
        </p:nvSpPr>
        <p:spPr>
          <a:xfrm>
            <a:off x="5029200" y="149961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Diseñar para la falla</a:t>
            </a:r>
            <a:endParaRPr lang="en-US" sz="1700" dirty="0"/>
          </a:p>
        </p:txBody>
      </p:sp>
      <p:sp>
        <p:nvSpPr>
          <p:cNvPr id="18" name="[p1] Forma"/>
          <p:cNvSpPr/>
          <p:nvPr/>
        </p:nvSpPr>
        <p:spPr>
          <a:xfrm>
            <a:off x="5029200" y="218267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Guardar primero, reintentar e ignorar duplicados.</a:t>
            </a:r>
            <a:endParaRPr lang="en-US" sz="1300" dirty="0"/>
          </a:p>
        </p:txBody>
      </p:sp>
      <p:sp>
        <p:nvSpPr>
          <p:cNvPr id="19" name="[p1] Forma"/>
          <p:cNvSpPr/>
          <p:nvPr/>
        </p:nvSpPr>
        <p:spPr>
          <a:xfrm>
            <a:off x="8490936" y="1481328"/>
            <a:ext cx="2978384" cy="1319784"/>
          </a:xfrm>
          <a:prstGeom prst="roundRect">
            <a:avLst>
              <a:gd name="adj" fmla="val 6928"/>
            </a:avLst>
          </a:prstGeom>
          <a:solidFill>
            <a:srgbClr val="E1F1EA"/>
          </a:solidFill>
          <a:ln w="12700">
            <a:solidFill>
              <a:srgbClr val="E1F1EA"/>
            </a:solidFill>
            <a:prstDash val="solid"/>
          </a:ln>
        </p:spPr>
      </p:sp>
      <p:sp>
        <p:nvSpPr>
          <p:cNvPr id="20" name="[p1] Icono target"/>
          <p:cNvSpPr/>
          <p:nvPr/>
        </p:nvSpPr>
        <p:spPr>
          <a:xfrm>
            <a:off x="8637240" y="159105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21" name="[p1] Forma"/>
          <p:cNvSpPr/>
          <p:nvPr/>
        </p:nvSpPr>
        <p:spPr>
          <a:xfrm>
            <a:off x="8948136" y="157276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22" name="[p1] Forma"/>
          <p:cNvSpPr/>
          <p:nvPr/>
        </p:nvSpPr>
        <p:spPr>
          <a:xfrm>
            <a:off x="8637240" y="186537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Sistemas que se recuperan solos.</a:t>
            </a:r>
            <a:endParaRPr lang="en-US" sz="1350" dirty="0"/>
          </a:p>
        </p:txBody>
      </p:sp>
      <p:sp>
        <p:nvSpPr>
          <p:cNvPr id="23" name="[p2] Forma"/>
          <p:cNvSpPr/>
          <p:nvPr/>
        </p:nvSpPr>
        <p:spPr>
          <a:xfrm>
            <a:off x="3858768" y="309372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4" name="[p2] Forma"/>
          <p:cNvSpPr/>
          <p:nvPr/>
        </p:nvSpPr>
        <p:spPr>
          <a:xfrm>
            <a:off x="4087368" y="3506724"/>
            <a:ext cx="713232" cy="713232"/>
          </a:xfrm>
          <a:prstGeom prst="ellipse">
            <a:avLst/>
          </a:prstGeom>
          <a:solidFill>
            <a:srgbClr val="E8EEF8"/>
          </a:solidFill>
          <a:ln w="12700">
            <a:solidFill>
              <a:srgbClr val="E8EEF8"/>
            </a:solidFill>
            <a:prstDash val="solid"/>
          </a:ln>
        </p:spPr>
      </p:sp>
      <p:sp>
        <p:nvSpPr>
          <p:cNvPr id="25" name="[p2] Icono workflow"/>
          <p:cNvSpPr/>
          <p:nvPr/>
        </p:nvSpPr>
        <p:spPr>
          <a:xfrm>
            <a:off x="4258544" y="3677900"/>
            <a:ext cx="370881" cy="370881"/>
          </a:xfrm>
          <a:custGeom>
            <a:avLst/>
            <a:gdLst/>
            <a:ahLst/>
            <a:cxnLst/>
            <a:rect l="l" t="t" r="r" b="b"/>
            <a:pathLst>
              <a:path w="370881" h="370881">
                <a:moveTo>
                  <a:pt x="77267" y="46360"/>
                </a:moveTo>
                <a:lnTo>
                  <a:pt x="139080" y="46360"/>
                </a:lnTo>
                <a:cubicBezTo>
                  <a:pt x="156150" y="46360"/>
                  <a:pt x="169987" y="60197"/>
                  <a:pt x="169987" y="77267"/>
                </a:cubicBezTo>
                <a:lnTo>
                  <a:pt x="169987" y="139080"/>
                </a:lnTo>
                <a:cubicBezTo>
                  <a:pt x="169987" y="156150"/>
                  <a:pt x="156150" y="169987"/>
                  <a:pt x="139080" y="169987"/>
                </a:cubicBezTo>
                <a:lnTo>
                  <a:pt x="77267" y="169987"/>
                </a:lnTo>
                <a:cubicBezTo>
                  <a:pt x="60197" y="169987"/>
                  <a:pt x="46360" y="156150"/>
                  <a:pt x="46360" y="139080"/>
                </a:cubicBezTo>
                <a:lnTo>
                  <a:pt x="46360" y="77267"/>
                </a:lnTo>
                <a:cubicBezTo>
                  <a:pt x="46360" y="60197"/>
                  <a:pt x="60197" y="46360"/>
                  <a:pt x="77267" y="46360"/>
                </a:cubicBezTo>
                <a:close/>
                <a:moveTo>
                  <a:pt x="108174" y="169987"/>
                </a:moveTo>
                <a:lnTo>
                  <a:pt x="108174" y="231800"/>
                </a:lnTo>
                <a:cubicBezTo>
                  <a:pt x="108174" y="248870"/>
                  <a:pt x="122011" y="262707"/>
                  <a:pt x="139080" y="262707"/>
                </a:cubicBezTo>
                <a:lnTo>
                  <a:pt x="200894" y="262707"/>
                </a:lnTo>
                <a:moveTo>
                  <a:pt x="231800" y="200894"/>
                </a:moveTo>
                <a:lnTo>
                  <a:pt x="293614" y="200894"/>
                </a:lnTo>
                <a:cubicBezTo>
                  <a:pt x="310683" y="200894"/>
                  <a:pt x="324521" y="214731"/>
                  <a:pt x="324521" y="231800"/>
                </a:cubicBezTo>
                <a:lnTo>
                  <a:pt x="324521" y="293614"/>
                </a:lnTo>
                <a:cubicBezTo>
                  <a:pt x="324521" y="310683"/>
                  <a:pt x="310683" y="324521"/>
                  <a:pt x="293614" y="324521"/>
                </a:cubicBezTo>
                <a:lnTo>
                  <a:pt x="231800" y="324521"/>
                </a:lnTo>
                <a:cubicBezTo>
                  <a:pt x="214731" y="324521"/>
                  <a:pt x="200894" y="310683"/>
                  <a:pt x="200894" y="293614"/>
                </a:cubicBezTo>
                <a:lnTo>
                  <a:pt x="200894" y="231800"/>
                </a:lnTo>
                <a:cubicBezTo>
                  <a:pt x="200894" y="214731"/>
                  <a:pt x="214731" y="200894"/>
                  <a:pt x="231800" y="200894"/>
                </a:cubicBezTo>
                <a:close/>
              </a:path>
            </a:pathLst>
          </a:custGeom>
          <a:noFill/>
          <a:ln w="30907" cap="rnd">
            <a:solidFill>
              <a:srgbClr val="0B2350"/>
            </a:solidFill>
            <a:prstDash val="solid"/>
            <a:round/>
          </a:ln>
        </p:spPr>
      </p:sp>
      <p:sp>
        <p:nvSpPr>
          <p:cNvPr id="26" name="[p2] Forma"/>
          <p:cNvSpPr/>
          <p:nvPr/>
        </p:nvSpPr>
        <p:spPr>
          <a:xfrm>
            <a:off x="5029200" y="322173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Automatizar la confianza</a:t>
            </a:r>
            <a:endParaRPr lang="en-US" sz="1700" dirty="0"/>
          </a:p>
        </p:txBody>
      </p:sp>
      <p:sp>
        <p:nvSpPr>
          <p:cNvPr id="27" name="[p2] Forma"/>
          <p:cNvSpPr/>
          <p:nvPr/>
        </p:nvSpPr>
        <p:spPr>
          <a:xfrm>
            <a:off x="5029200" y="390479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Pruebas, pipeline, imágenes y estado declarado.</a:t>
            </a:r>
            <a:endParaRPr lang="en-US" sz="1300" dirty="0"/>
          </a:p>
        </p:txBody>
      </p:sp>
      <p:sp>
        <p:nvSpPr>
          <p:cNvPr id="28" name="[p2] Forma"/>
          <p:cNvSpPr/>
          <p:nvPr/>
        </p:nvSpPr>
        <p:spPr>
          <a:xfrm>
            <a:off x="8490936" y="3203448"/>
            <a:ext cx="2978384" cy="1319784"/>
          </a:xfrm>
          <a:prstGeom prst="roundRect">
            <a:avLst>
              <a:gd name="adj" fmla="val 6928"/>
            </a:avLst>
          </a:prstGeom>
          <a:solidFill>
            <a:srgbClr val="E1F1EA"/>
          </a:solidFill>
          <a:ln w="12700">
            <a:solidFill>
              <a:srgbClr val="E1F1EA"/>
            </a:solidFill>
            <a:prstDash val="solid"/>
          </a:ln>
        </p:spPr>
      </p:sp>
      <p:sp>
        <p:nvSpPr>
          <p:cNvPr id="29" name="[p2] Icono target"/>
          <p:cNvSpPr/>
          <p:nvPr/>
        </p:nvSpPr>
        <p:spPr>
          <a:xfrm>
            <a:off x="8637240" y="331317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0" name="[p2] Forma"/>
          <p:cNvSpPr/>
          <p:nvPr/>
        </p:nvSpPr>
        <p:spPr>
          <a:xfrm>
            <a:off x="8948136" y="329488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1" name="[p2] Forma"/>
          <p:cNvSpPr/>
          <p:nvPr/>
        </p:nvSpPr>
        <p:spPr>
          <a:xfrm>
            <a:off x="8637240" y="358749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Cambiar rápido sin miedo a romper.</a:t>
            </a:r>
            <a:endParaRPr lang="en-US" sz="1350" dirty="0"/>
          </a:p>
        </p:txBody>
      </p:sp>
      <p:sp>
        <p:nvSpPr>
          <p:cNvPr id="32" name="[p3] Forma"/>
          <p:cNvSpPr/>
          <p:nvPr/>
        </p:nvSpPr>
        <p:spPr>
          <a:xfrm>
            <a:off x="3858768" y="481584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3" name="[p3] Forma"/>
          <p:cNvSpPr/>
          <p:nvPr/>
        </p:nvSpPr>
        <p:spPr>
          <a:xfrm>
            <a:off x="4087368" y="5228844"/>
            <a:ext cx="713232" cy="713232"/>
          </a:xfrm>
          <a:prstGeom prst="ellipse">
            <a:avLst/>
          </a:prstGeom>
          <a:solidFill>
            <a:srgbClr val="E8EEF8"/>
          </a:solidFill>
          <a:ln w="12700">
            <a:solidFill>
              <a:srgbClr val="E8EEF8"/>
            </a:solidFill>
            <a:prstDash val="solid"/>
          </a:ln>
        </p:spPr>
      </p:sp>
      <p:sp>
        <p:nvSpPr>
          <p:cNvPr id="34" name="[p3] Icono eye"/>
          <p:cNvSpPr/>
          <p:nvPr/>
        </p:nvSpPr>
        <p:spPr>
          <a:xfrm>
            <a:off x="4258544" y="5400020"/>
            <a:ext cx="370881" cy="370881"/>
          </a:xfrm>
          <a:custGeom>
            <a:avLst/>
            <a:gdLst/>
            <a:ahLst/>
            <a:cxnLst/>
            <a:rect l="l" t="t" r="r" b="b"/>
            <a:pathLst>
              <a:path w="370881" h="370881">
                <a:moveTo>
                  <a:pt x="31865" y="190818"/>
                </a:moveTo>
                <a:cubicBezTo>
                  <a:pt x="30577" y="187349"/>
                  <a:pt x="30577" y="183532"/>
                  <a:pt x="31865" y="180063"/>
                </a:cubicBezTo>
                <a:cubicBezTo>
                  <a:pt x="57518" y="117861"/>
                  <a:pt x="118157" y="77276"/>
                  <a:pt x="185440" y="77276"/>
                </a:cubicBezTo>
                <a:cubicBezTo>
                  <a:pt x="252724" y="77276"/>
                  <a:pt x="313363" y="117861"/>
                  <a:pt x="339016" y="180063"/>
                </a:cubicBezTo>
                <a:cubicBezTo>
                  <a:pt x="340304" y="183532"/>
                  <a:pt x="340304" y="187349"/>
                  <a:pt x="339016" y="190818"/>
                </a:cubicBezTo>
                <a:cubicBezTo>
                  <a:pt x="313363" y="253019"/>
                  <a:pt x="252724" y="293604"/>
                  <a:pt x="185440" y="293604"/>
                </a:cubicBezTo>
                <a:cubicBezTo>
                  <a:pt x="118157" y="293604"/>
                  <a:pt x="57518" y="253019"/>
                  <a:pt x="31865" y="190818"/>
                </a:cubicBezTo>
                <a:moveTo>
                  <a:pt x="231800" y="185440"/>
                </a:moveTo>
                <a:cubicBezTo>
                  <a:pt x="231800" y="211044"/>
                  <a:pt x="211044" y="231800"/>
                  <a:pt x="185440" y="231800"/>
                </a:cubicBezTo>
                <a:cubicBezTo>
                  <a:pt x="159836" y="231800"/>
                  <a:pt x="139080" y="211044"/>
                  <a:pt x="139080" y="185440"/>
                </a:cubicBezTo>
                <a:cubicBezTo>
                  <a:pt x="139080" y="159836"/>
                  <a:pt x="159836" y="139080"/>
                  <a:pt x="185440" y="139080"/>
                </a:cubicBezTo>
                <a:cubicBezTo>
                  <a:pt x="211044" y="139080"/>
                  <a:pt x="231800" y="159836"/>
                  <a:pt x="231800" y="185440"/>
                </a:cubicBezTo>
                <a:close/>
              </a:path>
            </a:pathLst>
          </a:custGeom>
          <a:noFill/>
          <a:ln w="30907" cap="rnd">
            <a:solidFill>
              <a:srgbClr val="0B2350"/>
            </a:solidFill>
            <a:prstDash val="solid"/>
            <a:round/>
          </a:ln>
        </p:spPr>
      </p:sp>
      <p:sp>
        <p:nvSpPr>
          <p:cNvPr id="35" name="[p3] Forma"/>
          <p:cNvSpPr/>
          <p:nvPr/>
        </p:nvSpPr>
        <p:spPr>
          <a:xfrm>
            <a:off x="5029200" y="494385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Hacer visible el sistema</a:t>
            </a:r>
            <a:endParaRPr lang="en-US" sz="1700" dirty="0"/>
          </a:p>
        </p:txBody>
      </p:sp>
      <p:sp>
        <p:nvSpPr>
          <p:cNvPr id="36" name="[p3] Forma"/>
          <p:cNvSpPr/>
          <p:nvPr/>
        </p:nvSpPr>
        <p:spPr>
          <a:xfrm>
            <a:off x="5029200" y="562691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Logs, trazas, salud, Swagger y la UI.</a:t>
            </a:r>
            <a:endParaRPr lang="en-US" sz="1300" dirty="0"/>
          </a:p>
        </p:txBody>
      </p:sp>
      <p:sp>
        <p:nvSpPr>
          <p:cNvPr id="37" name="[p3] Forma"/>
          <p:cNvSpPr/>
          <p:nvPr/>
        </p:nvSpPr>
        <p:spPr>
          <a:xfrm>
            <a:off x="8490936" y="4925568"/>
            <a:ext cx="2978384" cy="1319784"/>
          </a:xfrm>
          <a:prstGeom prst="roundRect">
            <a:avLst>
              <a:gd name="adj" fmla="val 6928"/>
            </a:avLst>
          </a:prstGeom>
          <a:solidFill>
            <a:srgbClr val="E1F1EA"/>
          </a:solidFill>
          <a:ln w="12700">
            <a:solidFill>
              <a:srgbClr val="E1F1EA"/>
            </a:solidFill>
            <a:prstDash val="solid"/>
          </a:ln>
        </p:spPr>
      </p:sp>
      <p:sp>
        <p:nvSpPr>
          <p:cNvPr id="38" name="[p3] Icono target"/>
          <p:cNvSpPr/>
          <p:nvPr/>
        </p:nvSpPr>
        <p:spPr>
          <a:xfrm>
            <a:off x="8637240" y="503529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9" name="[p3] Forma"/>
          <p:cNvSpPr/>
          <p:nvPr/>
        </p:nvSpPr>
        <p:spPr>
          <a:xfrm>
            <a:off x="8948136" y="501700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40" name="[p3] Forma"/>
          <p:cNvSpPr/>
          <p:nvPr/>
        </p:nvSpPr>
        <p:spPr>
          <a:xfrm>
            <a:off x="8637240" y="530961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Diagnosticar y explicar en minutos.</a:t>
            </a:r>
            <a:endParaRPr lang="en-US" sz="1350" dirty="0"/>
          </a:p>
        </p:txBody>
      </p:sp>
      <p:sp>
        <p:nvSpPr>
          <p:cNvPr id="41" name="Text 3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VALOR Y CIERRE</a:t>
            </a:r>
            <a:endParaRPr lang="en-US" sz="800" dirty="0"/>
          </a:p>
        </p:txBody>
      </p:sp>
      <p:sp>
        <p:nvSpPr>
          <p:cNvPr id="42"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4"/>
                                        </p:tgtEl>
                                        <p:attrNameLst>
                                          <p:attrName>style.visibility</p:attrName>
                                        </p:attrNameLst>
                                      </p:cBhvr>
                                      <p:to>
                                        <p:strVal val="visible"/>
                                      </p:to>
                                    </p:set>
                                    <p:animEffect transition="in" filter="fade">
                                      <p:cBhvr>
                                        <p:cTn id="5" dur="400"/>
                                        <p:tgtEl>
                                          <p:spTgt spid="1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5"/>
                                        </p:tgtEl>
                                        <p:attrNameLst>
                                          <p:attrName>style.visibility</p:attrName>
                                        </p:attrNameLst>
                                      </p:cBhvr>
                                      <p:to>
                                        <p:strVal val="visible"/>
                                      </p:to>
                                    </p:set>
                                    <p:animEffect transition="in" filter="fade">
                                      <p:cBhvr>
                                        <p:cTn id="8" dur="400"/>
                                        <p:tgtEl>
                                          <p:spTgt spid="15"/>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400"/>
                                        <p:tgtEl>
                                          <p:spTgt spid="1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400"/>
                                        <p:tgtEl>
                                          <p:spTgt spid="1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400"/>
                                        <p:tgtEl>
                                          <p:spTgt spid="1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400"/>
                                        <p:tgtEl>
                                          <p:spTgt spid="2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400"/>
                                        <p:tgtEl>
                                          <p:spTgt spid="2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2"/>
                                        </p:tgtEl>
                                        <p:attrNameLst>
                                          <p:attrName>style.visibility</p:attrName>
                                        </p:attrNameLst>
                                      </p:cBhvr>
                                      <p:to>
                                        <p:strVal val="visible"/>
                                      </p:to>
                                    </p:set>
                                    <p:animEffect transition="in" filter="fade">
                                      <p:cBhvr>
                                        <p:cTn id="29" dur="400"/>
                                        <p:tgtEl>
                                          <p:spTgt spid="22"/>
                                        </p:tgtEl>
                                      </p:cBhvr>
                                    </p:animEffect>
                                  </p:childTnLst>
                                </p:cTn>
                              </p:par>
                            </p:childTnLst>
                          </p:cTn>
                        </p:par>
                      </p:childTnLst>
                    </p:cTn>
                  </p:par>
                  <p:par>
                    <p:cTn id="59" fill="hold">
                      <p:stCondLst>
                        <p:cond delay="indefinite"/>
                      </p:stCondLst>
                      <p:childTnLst>
                        <p:par>
                          <p:cTn id="60"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400"/>
                                        <p:tgtEl>
                                          <p:spTgt spid="2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400"/>
                                        <p:tgtEl>
                                          <p:spTgt spid="2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400"/>
                                        <p:tgtEl>
                                          <p:spTgt spid="2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fade">
                                      <p:cBhvr>
                                        <p:cTn id="43" dur="400"/>
                                        <p:tgtEl>
                                          <p:spTgt spid="2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7"/>
                                        </p:tgtEl>
                                        <p:attrNameLst>
                                          <p:attrName>style.visibility</p:attrName>
                                        </p:attrNameLst>
                                      </p:cBhvr>
                                      <p:to>
                                        <p:strVal val="visible"/>
                                      </p:to>
                                    </p:set>
                                    <p:animEffect transition="in" filter="fade">
                                      <p:cBhvr>
                                        <p:cTn id="46" dur="400"/>
                                        <p:tgtEl>
                                          <p:spTgt spid="27"/>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8"/>
                                        </p:tgtEl>
                                        <p:attrNameLst>
                                          <p:attrName>style.visibility</p:attrName>
                                        </p:attrNameLst>
                                      </p:cBhvr>
                                      <p:to>
                                        <p:strVal val="visible"/>
                                      </p:to>
                                    </p:set>
                                    <p:animEffect transition="in" filter="fade">
                                      <p:cBhvr>
                                        <p:cTn id="49" dur="400"/>
                                        <p:tgtEl>
                                          <p:spTgt spid="2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9"/>
                                        </p:tgtEl>
                                        <p:attrNameLst>
                                          <p:attrName>style.visibility</p:attrName>
                                        </p:attrNameLst>
                                      </p:cBhvr>
                                      <p:to>
                                        <p:strVal val="visible"/>
                                      </p:to>
                                    </p:set>
                                    <p:animEffect transition="in" filter="fade">
                                      <p:cBhvr>
                                        <p:cTn id="52" dur="400"/>
                                        <p:tgtEl>
                                          <p:spTgt spid="2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0"/>
                                        </p:tgtEl>
                                        <p:attrNameLst>
                                          <p:attrName>style.visibility</p:attrName>
                                        </p:attrNameLst>
                                      </p:cBhvr>
                                      <p:to>
                                        <p:strVal val="visible"/>
                                      </p:to>
                                    </p:set>
                                    <p:animEffect transition="in" filter="fade">
                                      <p:cBhvr>
                                        <p:cTn id="55" dur="400"/>
                                        <p:tgtEl>
                                          <p:spTgt spid="30"/>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1"/>
                                        </p:tgtEl>
                                        <p:attrNameLst>
                                          <p:attrName>style.visibility</p:attrName>
                                        </p:attrNameLst>
                                      </p:cBhvr>
                                      <p:to>
                                        <p:strVal val="visible"/>
                                      </p:to>
                                    </p:set>
                                    <p:animEffect transition="in" filter="fade">
                                      <p:cBhvr>
                                        <p:cTn id="58" dur="400"/>
                                        <p:tgtEl>
                                          <p:spTgt spid="31"/>
                                        </p:tgtEl>
                                      </p:cBhvr>
                                    </p:animEffect>
                                  </p:childTnLst>
                                </p:cTn>
                              </p:par>
                            </p:childTnLst>
                          </p:cTn>
                        </p:par>
                      </p:childTnLst>
                    </p:cTn>
                  </p:par>
                  <p:par>
                    <p:cTn id="88" fill="hold">
                      <p:stCondLst>
                        <p:cond delay="indefinite"/>
                      </p:stCondLst>
                      <p:childTnLst>
                        <p:par>
                          <p:cTn id="89"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32"/>
                                        </p:tgtEl>
                                        <p:attrNameLst>
                                          <p:attrName>style.visibility</p:attrName>
                                        </p:attrNameLst>
                                      </p:cBhvr>
                                      <p:to>
                                        <p:strVal val="visible"/>
                                      </p:to>
                                    </p:set>
                                    <p:animEffect transition="in" filter="fade">
                                      <p:cBhvr>
                                        <p:cTn id="63" dur="400"/>
                                        <p:tgtEl>
                                          <p:spTgt spid="3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3"/>
                                        </p:tgtEl>
                                        <p:attrNameLst>
                                          <p:attrName>style.visibility</p:attrName>
                                        </p:attrNameLst>
                                      </p:cBhvr>
                                      <p:to>
                                        <p:strVal val="visible"/>
                                      </p:to>
                                    </p:set>
                                    <p:animEffect transition="in" filter="fade">
                                      <p:cBhvr>
                                        <p:cTn id="66" dur="400"/>
                                        <p:tgtEl>
                                          <p:spTgt spid="33"/>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34"/>
                                        </p:tgtEl>
                                        <p:attrNameLst>
                                          <p:attrName>style.visibility</p:attrName>
                                        </p:attrNameLst>
                                      </p:cBhvr>
                                      <p:to>
                                        <p:strVal val="visible"/>
                                      </p:to>
                                    </p:set>
                                    <p:animEffect transition="in" filter="fade">
                                      <p:cBhvr>
                                        <p:cTn id="69" dur="400"/>
                                        <p:tgtEl>
                                          <p:spTgt spid="34"/>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5"/>
                                        </p:tgtEl>
                                        <p:attrNameLst>
                                          <p:attrName>style.visibility</p:attrName>
                                        </p:attrNameLst>
                                      </p:cBhvr>
                                      <p:to>
                                        <p:strVal val="visible"/>
                                      </p:to>
                                    </p:set>
                                    <p:animEffect transition="in" filter="fade">
                                      <p:cBhvr>
                                        <p:cTn id="72" dur="400"/>
                                        <p:tgtEl>
                                          <p:spTgt spid="35"/>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36"/>
                                        </p:tgtEl>
                                        <p:attrNameLst>
                                          <p:attrName>style.visibility</p:attrName>
                                        </p:attrNameLst>
                                      </p:cBhvr>
                                      <p:to>
                                        <p:strVal val="visible"/>
                                      </p:to>
                                    </p:set>
                                    <p:animEffect transition="in" filter="fade">
                                      <p:cBhvr>
                                        <p:cTn id="75" dur="400"/>
                                        <p:tgtEl>
                                          <p:spTgt spid="36"/>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7"/>
                                        </p:tgtEl>
                                        <p:attrNameLst>
                                          <p:attrName>style.visibility</p:attrName>
                                        </p:attrNameLst>
                                      </p:cBhvr>
                                      <p:to>
                                        <p:strVal val="visible"/>
                                      </p:to>
                                    </p:set>
                                    <p:animEffect transition="in" filter="fade">
                                      <p:cBhvr>
                                        <p:cTn id="78" dur="400"/>
                                        <p:tgtEl>
                                          <p:spTgt spid="37"/>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38"/>
                                        </p:tgtEl>
                                        <p:attrNameLst>
                                          <p:attrName>style.visibility</p:attrName>
                                        </p:attrNameLst>
                                      </p:cBhvr>
                                      <p:to>
                                        <p:strVal val="visible"/>
                                      </p:to>
                                    </p:set>
                                    <p:animEffect transition="in" filter="fade">
                                      <p:cBhvr>
                                        <p:cTn id="81" dur="400"/>
                                        <p:tgtEl>
                                          <p:spTgt spid="38"/>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9"/>
                                        </p:tgtEl>
                                        <p:attrNameLst>
                                          <p:attrName>style.visibility</p:attrName>
                                        </p:attrNameLst>
                                      </p:cBhvr>
                                      <p:to>
                                        <p:strVal val="visible"/>
                                      </p:to>
                                    </p:set>
                                    <p:animEffect transition="in" filter="fade">
                                      <p:cBhvr>
                                        <p:cTn id="84" dur="400"/>
                                        <p:tgtEl>
                                          <p:spTgt spid="39"/>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40"/>
                                        </p:tgtEl>
                                        <p:attrNameLst>
                                          <p:attrName>style.visibility</p:attrName>
                                        </p:attrNameLst>
                                      </p:cBhvr>
                                      <p:to>
                                        <p:strVal val="visible"/>
                                      </p:to>
                                    </p:set>
                                    <p:animEffect transition="in" filter="fade">
                                      <p:cBhvr>
                                        <p:cTn id="87"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BA6CB"/>
          </a:solidFill>
          <a:ln w="12700">
            <a:solidFill>
              <a:srgbClr val="2BA6CB"/>
            </a:solidFill>
            <a:prstDash val="solid"/>
          </a:ln>
        </p:spPr>
      </p:sp>
      <p:sp>
        <p:nvSpPr>
          <p:cNvPr id="3" name="Shape 1"/>
          <p:cNvSpPr/>
          <p:nvPr/>
        </p:nvSpPr>
        <p:spPr>
          <a:xfrm>
            <a:off x="6080760" y="749808"/>
            <a:ext cx="5303520" cy="5303520"/>
          </a:xfrm>
          <a:prstGeom prst="ellipse">
            <a:avLst/>
          </a:prstGeom>
          <a:solidFill>
            <a:srgbClr val="0B1F3A">
              <a:alpha val="0"/>
            </a:srgbClr>
          </a:solidFill>
          <a:ln w="9525">
            <a:solidFill>
              <a:srgbClr val="2BA6CB">
                <a:alpha val="18000"/>
              </a:srgbClr>
            </a:solidFill>
            <a:prstDash val="solid"/>
          </a:ln>
        </p:spPr>
      </p:sp>
      <p:sp>
        <p:nvSpPr>
          <p:cNvPr id="4" name="Shape 2"/>
          <p:cNvSpPr/>
          <p:nvPr/>
        </p:nvSpPr>
        <p:spPr>
          <a:xfrm>
            <a:off x="6766560" y="1435608"/>
            <a:ext cx="3931920" cy="3931920"/>
          </a:xfrm>
          <a:prstGeom prst="ellipse">
            <a:avLst/>
          </a:prstGeom>
          <a:solidFill>
            <a:srgbClr val="0B1F3A">
              <a:alpha val="0"/>
            </a:srgbClr>
          </a:solidFill>
          <a:ln w="15875">
            <a:solidFill>
              <a:srgbClr val="2BA6CB">
                <a:alpha val="50000"/>
              </a:srgbClr>
            </a:solidFill>
            <a:prstDash val="dash"/>
          </a:ln>
        </p:spPr>
      </p:sp>
      <p:sp>
        <p:nvSpPr>
          <p:cNvPr id="5" name="Shape 3"/>
          <p:cNvSpPr/>
          <p:nvPr/>
        </p:nvSpPr>
        <p:spPr>
          <a:xfrm>
            <a:off x="7543800" y="2212848"/>
            <a:ext cx="2377440" cy="2377440"/>
          </a:xfrm>
          <a:prstGeom prst="ellipse">
            <a:avLst/>
          </a:prstGeom>
          <a:solidFill>
            <a:srgbClr val="0B1F3A">
              <a:alpha val="0"/>
            </a:srgbClr>
          </a:solidFill>
          <a:ln w="9525">
            <a:solidFill>
              <a:srgbClr val="2BA6CB">
                <a:alpha val="25000"/>
              </a:srgbClr>
            </a:solidFill>
            <a:prstDash val="solid"/>
          </a:ln>
        </p:spPr>
      </p:sp>
      <p:sp>
        <p:nvSpPr>
          <p:cNvPr id="6" name="Shape 4"/>
          <p:cNvSpPr/>
          <p:nvPr/>
        </p:nvSpPr>
        <p:spPr>
          <a:xfrm flipV="1">
            <a:off x="9121328" y="1926884"/>
            <a:ext cx="321362" cy="667315"/>
          </a:xfrm>
          <a:prstGeom prst="line">
            <a:avLst/>
          </a:prstGeom>
          <a:noFill/>
          <a:ln w="12700">
            <a:solidFill>
              <a:srgbClr val="2BA6CB">
                <a:alpha val="40000"/>
              </a:srgbClr>
            </a:solidFill>
            <a:prstDash val="solid"/>
          </a:ln>
        </p:spPr>
      </p:sp>
      <p:sp>
        <p:nvSpPr>
          <p:cNvPr id="7" name="Shape 5"/>
          <p:cNvSpPr/>
          <p:nvPr/>
        </p:nvSpPr>
        <p:spPr>
          <a:xfrm flipV="1">
            <a:off x="9606165" y="3037351"/>
            <a:ext cx="722094" cy="164813"/>
          </a:xfrm>
          <a:prstGeom prst="line">
            <a:avLst/>
          </a:prstGeom>
          <a:noFill/>
          <a:ln w="12700">
            <a:solidFill>
              <a:srgbClr val="2BA6CB">
                <a:alpha val="40000"/>
              </a:srgbClr>
            </a:solidFill>
            <a:prstDash val="solid"/>
          </a:ln>
        </p:spPr>
      </p:sp>
      <p:sp>
        <p:nvSpPr>
          <p:cNvPr id="8" name="Shape 6"/>
          <p:cNvSpPr/>
          <p:nvPr/>
        </p:nvSpPr>
        <p:spPr>
          <a:xfrm>
            <a:off x="9433129" y="3960285"/>
            <a:ext cx="579074" cy="461796"/>
          </a:xfrm>
          <a:prstGeom prst="line">
            <a:avLst/>
          </a:prstGeom>
          <a:noFill/>
          <a:ln w="12700">
            <a:solidFill>
              <a:srgbClr val="2BA6CB">
                <a:alpha val="40000"/>
              </a:srgbClr>
            </a:solidFill>
            <a:prstDash val="solid"/>
          </a:ln>
        </p:spPr>
      </p:sp>
      <p:sp>
        <p:nvSpPr>
          <p:cNvPr id="9" name="Shape 7"/>
          <p:cNvSpPr/>
          <p:nvPr/>
        </p:nvSpPr>
        <p:spPr>
          <a:xfrm>
            <a:off x="8732520" y="4297680"/>
            <a:ext cx="0" cy="740664"/>
          </a:xfrm>
          <a:prstGeom prst="line">
            <a:avLst/>
          </a:prstGeom>
          <a:noFill/>
          <a:ln w="12700">
            <a:solidFill>
              <a:srgbClr val="2BA6CB">
                <a:alpha val="40000"/>
              </a:srgbClr>
            </a:solidFill>
            <a:prstDash val="solid"/>
          </a:ln>
        </p:spPr>
      </p:sp>
      <p:sp>
        <p:nvSpPr>
          <p:cNvPr id="10" name="Shape 8"/>
          <p:cNvSpPr/>
          <p:nvPr/>
        </p:nvSpPr>
        <p:spPr>
          <a:xfrm flipH="1">
            <a:off x="7452837" y="3960285"/>
            <a:ext cx="579074" cy="461796"/>
          </a:xfrm>
          <a:prstGeom prst="line">
            <a:avLst/>
          </a:prstGeom>
          <a:noFill/>
          <a:ln w="12700">
            <a:solidFill>
              <a:srgbClr val="2BA6CB">
                <a:alpha val="40000"/>
              </a:srgbClr>
            </a:solidFill>
            <a:prstDash val="solid"/>
          </a:ln>
        </p:spPr>
      </p:sp>
      <p:sp>
        <p:nvSpPr>
          <p:cNvPr id="11" name="Shape 9"/>
          <p:cNvSpPr/>
          <p:nvPr/>
        </p:nvSpPr>
        <p:spPr>
          <a:xfrm flipH="1" flipV="1">
            <a:off x="7136781" y="3037351"/>
            <a:ext cx="722094" cy="164813"/>
          </a:xfrm>
          <a:prstGeom prst="line">
            <a:avLst/>
          </a:prstGeom>
          <a:noFill/>
          <a:ln w="12700">
            <a:solidFill>
              <a:srgbClr val="2BA6CB">
                <a:alpha val="40000"/>
              </a:srgbClr>
            </a:solidFill>
            <a:prstDash val="solid"/>
          </a:ln>
        </p:spPr>
      </p:sp>
      <p:sp>
        <p:nvSpPr>
          <p:cNvPr id="12" name="Shape 10"/>
          <p:cNvSpPr/>
          <p:nvPr/>
        </p:nvSpPr>
        <p:spPr>
          <a:xfrm flipH="1" flipV="1">
            <a:off x="8022350" y="1926884"/>
            <a:ext cx="321362" cy="667315"/>
          </a:xfrm>
          <a:prstGeom prst="line">
            <a:avLst/>
          </a:prstGeom>
          <a:noFill/>
          <a:ln w="12700">
            <a:solidFill>
              <a:srgbClr val="2BA6CB">
                <a:alpha val="40000"/>
              </a:srgbClr>
            </a:solidFill>
            <a:prstDash val="solid"/>
          </a:ln>
        </p:spPr>
      </p:sp>
      <p:sp>
        <p:nvSpPr>
          <p:cNvPr id="13" name="Shape 11"/>
          <p:cNvSpPr/>
          <p:nvPr/>
        </p:nvSpPr>
        <p:spPr>
          <a:xfrm>
            <a:off x="7744968" y="2414016"/>
            <a:ext cx="1975104" cy="1975104"/>
          </a:xfrm>
          <a:prstGeom prst="ellipse">
            <a:avLst/>
          </a:prstGeom>
          <a:solidFill>
            <a:srgbClr val="2BA6CB">
              <a:alpha val="15000"/>
            </a:srgbClr>
          </a:solidFill>
          <a:ln w="9525">
            <a:solidFill>
              <a:srgbClr val="2BA6CB">
                <a:alpha val="40000"/>
              </a:srgbClr>
            </a:solidFill>
            <a:prstDash val="solid"/>
          </a:ln>
        </p:spPr>
      </p:sp>
      <p:sp>
        <p:nvSpPr>
          <p:cNvPr id="14" name="Shape 12"/>
          <p:cNvSpPr/>
          <p:nvPr/>
        </p:nvSpPr>
        <p:spPr>
          <a:xfrm>
            <a:off x="7909560" y="2578608"/>
            <a:ext cx="1645920" cy="1645920"/>
          </a:xfrm>
          <a:prstGeom prst="ellipse">
            <a:avLst/>
          </a:prstGeom>
          <a:solidFill>
            <a:srgbClr val="0B2350"/>
          </a:solidFill>
          <a:ln w="25400">
            <a:solidFill>
              <a:srgbClr val="2BA6CB"/>
            </a:solidFill>
            <a:prstDash val="solid"/>
          </a:ln>
          <a:effectLst>
            <a:outerShdw sx="100000" sy="100000" kx="0" ky="0" algn="bl" rotWithShape="0" blurRad="114300" dist="50800" dir="16200000">
              <a:srgbClr val="2BA6CB">
                <a:alpha val="60000"/>
              </a:srgbClr>
            </a:outerShdw>
          </a:effectLst>
        </p:spPr>
      </p:sp>
      <p:sp>
        <p:nvSpPr>
          <p:cNvPr id="15" name="Icono sparkles"/>
          <p:cNvSpPr/>
          <p:nvPr/>
        </p:nvSpPr>
        <p:spPr>
          <a:xfrm>
            <a:off x="8430768" y="2871216"/>
            <a:ext cx="603504" cy="603504"/>
          </a:xfrm>
          <a:custGeom>
            <a:avLst/>
            <a:gdLst/>
            <a:ahLst/>
            <a:cxnLst/>
            <a:rect l="l" t="t" r="r" b="b"/>
            <a:pathLst>
              <a:path w="603504" h="603504">
                <a:moveTo>
                  <a:pt x="249876" y="389763"/>
                </a:moveTo>
                <a:cubicBezTo>
                  <a:pt x="245304" y="372040"/>
                  <a:pt x="231464" y="358200"/>
                  <a:pt x="213741" y="353628"/>
                </a:cubicBezTo>
                <a:lnTo>
                  <a:pt x="59470" y="313847"/>
                </a:lnTo>
                <a:cubicBezTo>
                  <a:pt x="54062" y="312312"/>
                  <a:pt x="50330" y="307374"/>
                  <a:pt x="50330" y="301752"/>
                </a:cubicBezTo>
                <a:cubicBezTo>
                  <a:pt x="50330" y="296130"/>
                  <a:pt x="54062" y="291192"/>
                  <a:pt x="59470" y="289657"/>
                </a:cubicBezTo>
                <a:lnTo>
                  <a:pt x="213741" y="249851"/>
                </a:lnTo>
                <a:cubicBezTo>
                  <a:pt x="231457" y="245283"/>
                  <a:pt x="245296" y="231454"/>
                  <a:pt x="249876" y="213741"/>
                </a:cubicBezTo>
                <a:lnTo>
                  <a:pt x="289657" y="59470"/>
                </a:lnTo>
                <a:cubicBezTo>
                  <a:pt x="291176" y="54040"/>
                  <a:pt x="296126" y="50286"/>
                  <a:pt x="301765" y="50286"/>
                </a:cubicBezTo>
                <a:cubicBezTo>
                  <a:pt x="307403" y="50286"/>
                  <a:pt x="312353" y="54040"/>
                  <a:pt x="313872" y="59470"/>
                </a:cubicBezTo>
                <a:lnTo>
                  <a:pt x="353628" y="213741"/>
                </a:lnTo>
                <a:cubicBezTo>
                  <a:pt x="358200" y="231464"/>
                  <a:pt x="372040" y="245304"/>
                  <a:pt x="389763" y="249876"/>
                </a:cubicBezTo>
                <a:lnTo>
                  <a:pt x="544034" y="289632"/>
                </a:lnTo>
                <a:cubicBezTo>
                  <a:pt x="549486" y="291136"/>
                  <a:pt x="553264" y="296096"/>
                  <a:pt x="553264" y="301752"/>
                </a:cubicBezTo>
                <a:cubicBezTo>
                  <a:pt x="553264" y="307408"/>
                  <a:pt x="549486" y="312368"/>
                  <a:pt x="544034" y="313872"/>
                </a:cubicBezTo>
                <a:lnTo>
                  <a:pt x="389763" y="353628"/>
                </a:lnTo>
                <a:cubicBezTo>
                  <a:pt x="372040" y="358200"/>
                  <a:pt x="358200" y="372040"/>
                  <a:pt x="353628" y="389763"/>
                </a:cubicBezTo>
                <a:lnTo>
                  <a:pt x="313847" y="544034"/>
                </a:lnTo>
                <a:cubicBezTo>
                  <a:pt x="312328" y="549464"/>
                  <a:pt x="307378" y="553218"/>
                  <a:pt x="301739" y="553218"/>
                </a:cubicBezTo>
                <a:cubicBezTo>
                  <a:pt x="296101" y="553218"/>
                  <a:pt x="291151" y="549464"/>
                  <a:pt x="289632" y="544034"/>
                </a:cubicBezTo>
                <a:close/>
                <a:moveTo>
                  <a:pt x="502920" y="75438"/>
                </a:moveTo>
                <a:lnTo>
                  <a:pt x="502920" y="176022"/>
                </a:lnTo>
                <a:moveTo>
                  <a:pt x="553212" y="125730"/>
                </a:moveTo>
                <a:lnTo>
                  <a:pt x="452628" y="125730"/>
                </a:lnTo>
                <a:moveTo>
                  <a:pt x="100584" y="427482"/>
                </a:moveTo>
                <a:lnTo>
                  <a:pt x="100584" y="477774"/>
                </a:lnTo>
                <a:moveTo>
                  <a:pt x="125730" y="452628"/>
                </a:moveTo>
                <a:lnTo>
                  <a:pt x="75438" y="452628"/>
                </a:lnTo>
              </a:path>
            </a:pathLst>
          </a:custGeom>
          <a:noFill/>
          <a:ln w="37719" cap="rnd">
            <a:solidFill>
              <a:srgbClr val="2BA6CB"/>
            </a:solidFill>
            <a:prstDash val="solid"/>
            <a:round/>
          </a:ln>
        </p:spPr>
      </p:sp>
      <p:sp>
        <p:nvSpPr>
          <p:cNvPr id="16" name="Text 14"/>
          <p:cNvSpPr/>
          <p:nvPr/>
        </p:nvSpPr>
        <p:spPr>
          <a:xfrm>
            <a:off x="8001000" y="3547872"/>
            <a:ext cx="1463040"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Segoe UI Semibold" pitchFamily="34" charset="0"/>
                <a:ea typeface="Segoe UI Semibold" pitchFamily="34" charset="-122"/>
                <a:cs typeface="Segoe UI Semibold" pitchFamily="34" charset="-120"/>
              </a:rPr>
              <a:t>¿Preguntas?</a:t>
            </a:r>
            <a:endParaRPr lang="en-US" sz="1500" dirty="0"/>
          </a:p>
        </p:txBody>
      </p:sp>
      <p:sp>
        <p:nvSpPr>
          <p:cNvPr id="17" name="Shape 15"/>
          <p:cNvSpPr/>
          <p:nvPr/>
        </p:nvSpPr>
        <p:spPr>
          <a:xfrm>
            <a:off x="9283766" y="1328547"/>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18" name="Icono code"/>
          <p:cNvSpPr/>
          <p:nvPr/>
        </p:nvSpPr>
        <p:spPr>
          <a:xfrm>
            <a:off x="9430070" y="1474851"/>
            <a:ext cx="310896" cy="310896"/>
          </a:xfrm>
          <a:custGeom>
            <a:avLst/>
            <a:gdLst/>
            <a:ahLst/>
            <a:cxnLst/>
            <a:rect l="l" t="t" r="r" b="b"/>
            <a:pathLst>
              <a:path w="310896" h="310896">
                <a:moveTo>
                  <a:pt x="207264" y="233172"/>
                </a:moveTo>
                <a:lnTo>
                  <a:pt x="284988" y="155448"/>
                </a:lnTo>
                <a:lnTo>
                  <a:pt x="207264" y="77724"/>
                </a:lnTo>
                <a:moveTo>
                  <a:pt x="103632" y="77724"/>
                </a:moveTo>
                <a:lnTo>
                  <a:pt x="25908" y="155448"/>
                </a:lnTo>
                <a:lnTo>
                  <a:pt x="103632" y="233172"/>
                </a:lnTo>
              </a:path>
            </a:pathLst>
          </a:custGeom>
          <a:noFill/>
          <a:ln w="25908" cap="rnd">
            <a:solidFill>
              <a:srgbClr val="2BA6CB"/>
            </a:solidFill>
            <a:prstDash val="solid"/>
            <a:round/>
          </a:ln>
        </p:spPr>
      </p:sp>
      <p:sp>
        <p:nvSpPr>
          <p:cNvPr id="19" name="Text 17"/>
          <p:cNvSpPr/>
          <p:nvPr/>
        </p:nvSpPr>
        <p:spPr>
          <a:xfrm>
            <a:off x="9704390" y="1255395"/>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1</a:t>
            </a:r>
            <a:endParaRPr lang="en-US" sz="900" dirty="0"/>
          </a:p>
        </p:txBody>
      </p:sp>
      <p:sp>
        <p:nvSpPr>
          <p:cNvPr id="20" name="Text 18"/>
          <p:cNvSpPr/>
          <p:nvPr/>
        </p:nvSpPr>
        <p:spPr>
          <a:xfrm>
            <a:off x="9978710" y="1483995"/>
            <a:ext cx="1143000" cy="292608"/>
          </a:xfrm>
          <a:prstGeom prst="rect">
            <a:avLst/>
          </a:prstGeom>
          <a:noFill/>
          <a:ln/>
        </p:spPr>
        <p:txBody>
          <a:bodyPr wrap="square" lIns="0" tIns="0" rIns="0" bIns="0" rtlCol="0" anchor="ctr"/>
          <a:lstStyle/>
          <a:p>
            <a:pPr algn="l" indent="0" marL="0">
              <a:buNone/>
            </a:pPr>
            <a:r>
              <a:rPr lang="en-US" sz="1050" b="1" dirty="0">
                <a:solidFill>
                  <a:srgbClr val="E8EDF8"/>
                </a:solidFill>
                <a:latin typeface="Segoe UI" pitchFamily="34" charset="0"/>
                <a:ea typeface="Segoe UI" pitchFamily="34" charset="-122"/>
                <a:cs typeface="Segoe UI" pitchFamily="34" charset="-120"/>
              </a:rPr>
              <a:t>Fundamentos</a:t>
            </a:r>
            <a:endParaRPr lang="en-US" sz="1050" dirty="0"/>
          </a:p>
        </p:txBody>
      </p:sp>
      <p:sp>
        <p:nvSpPr>
          <p:cNvPr id="21" name="Shape 19"/>
          <p:cNvSpPr/>
          <p:nvPr/>
        </p:nvSpPr>
        <p:spPr>
          <a:xfrm>
            <a:off x="10347437" y="2662349"/>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22" name="Icono network"/>
          <p:cNvSpPr/>
          <p:nvPr/>
        </p:nvSpPr>
        <p:spPr>
          <a:xfrm>
            <a:off x="10493741" y="2808653"/>
            <a:ext cx="310896" cy="310896"/>
          </a:xfrm>
          <a:custGeom>
            <a:avLst/>
            <a:gdLst/>
            <a:ahLst/>
            <a:cxnLst/>
            <a:rect l="l" t="t" r="r" b="b"/>
            <a:pathLst>
              <a:path w="310896" h="310896">
                <a:moveTo>
                  <a:pt x="220218" y="207264"/>
                </a:moveTo>
                <a:lnTo>
                  <a:pt x="272034" y="207264"/>
                </a:lnTo>
                <a:cubicBezTo>
                  <a:pt x="279188" y="207264"/>
                  <a:pt x="284988" y="213064"/>
                  <a:pt x="284988" y="220218"/>
                </a:cubicBezTo>
                <a:lnTo>
                  <a:pt x="284988" y="272034"/>
                </a:lnTo>
                <a:cubicBezTo>
                  <a:pt x="284988" y="279188"/>
                  <a:pt x="279188" y="284988"/>
                  <a:pt x="272034" y="284988"/>
                </a:cubicBezTo>
                <a:lnTo>
                  <a:pt x="220218" y="284988"/>
                </a:lnTo>
                <a:cubicBezTo>
                  <a:pt x="213064" y="284988"/>
                  <a:pt x="207264" y="279188"/>
                  <a:pt x="207264" y="272034"/>
                </a:cubicBezTo>
                <a:lnTo>
                  <a:pt x="207264" y="220218"/>
                </a:lnTo>
                <a:cubicBezTo>
                  <a:pt x="207264" y="213064"/>
                  <a:pt x="213064" y="207264"/>
                  <a:pt x="220218" y="207264"/>
                </a:cubicBezTo>
                <a:close/>
                <a:moveTo>
                  <a:pt x="38862" y="207264"/>
                </a:moveTo>
                <a:lnTo>
                  <a:pt x="90678" y="207264"/>
                </a:lnTo>
                <a:cubicBezTo>
                  <a:pt x="97832" y="207264"/>
                  <a:pt x="103632" y="213064"/>
                  <a:pt x="103632" y="220218"/>
                </a:cubicBezTo>
                <a:lnTo>
                  <a:pt x="103632" y="272034"/>
                </a:lnTo>
                <a:cubicBezTo>
                  <a:pt x="103632" y="279188"/>
                  <a:pt x="97832" y="284988"/>
                  <a:pt x="90678" y="284988"/>
                </a:cubicBezTo>
                <a:lnTo>
                  <a:pt x="38862" y="284988"/>
                </a:lnTo>
                <a:cubicBezTo>
                  <a:pt x="31708" y="284988"/>
                  <a:pt x="25908" y="279188"/>
                  <a:pt x="25908" y="272034"/>
                </a:cubicBezTo>
                <a:lnTo>
                  <a:pt x="25908" y="220218"/>
                </a:lnTo>
                <a:cubicBezTo>
                  <a:pt x="25908" y="213064"/>
                  <a:pt x="31708" y="207264"/>
                  <a:pt x="38862" y="207264"/>
                </a:cubicBezTo>
                <a:close/>
                <a:moveTo>
                  <a:pt x="129540" y="25908"/>
                </a:moveTo>
                <a:lnTo>
                  <a:pt x="181356" y="25908"/>
                </a:lnTo>
                <a:cubicBezTo>
                  <a:pt x="188510" y="25908"/>
                  <a:pt x="194310" y="31708"/>
                  <a:pt x="194310" y="38862"/>
                </a:cubicBezTo>
                <a:lnTo>
                  <a:pt x="194310" y="90678"/>
                </a:lnTo>
                <a:cubicBezTo>
                  <a:pt x="194310" y="97832"/>
                  <a:pt x="188510" y="103632"/>
                  <a:pt x="181356" y="103632"/>
                </a:cubicBezTo>
                <a:lnTo>
                  <a:pt x="129540" y="103632"/>
                </a:lnTo>
                <a:cubicBezTo>
                  <a:pt x="122386" y="103632"/>
                  <a:pt x="116586" y="97832"/>
                  <a:pt x="116586" y="90678"/>
                </a:cubicBezTo>
                <a:lnTo>
                  <a:pt x="116586" y="38862"/>
                </a:lnTo>
                <a:cubicBezTo>
                  <a:pt x="116586" y="31708"/>
                  <a:pt x="122386" y="25908"/>
                  <a:pt x="129540" y="25908"/>
                </a:cubicBezTo>
                <a:close/>
                <a:moveTo>
                  <a:pt x="64770" y="207264"/>
                </a:moveTo>
                <a:lnTo>
                  <a:pt x="64770" y="168402"/>
                </a:lnTo>
                <a:cubicBezTo>
                  <a:pt x="64770" y="161248"/>
                  <a:pt x="70570" y="155448"/>
                  <a:pt x="77724" y="155448"/>
                </a:cubicBezTo>
                <a:lnTo>
                  <a:pt x="233172" y="155448"/>
                </a:lnTo>
                <a:cubicBezTo>
                  <a:pt x="240326" y="155448"/>
                  <a:pt x="246126" y="161248"/>
                  <a:pt x="246126" y="168402"/>
                </a:cubicBezTo>
                <a:lnTo>
                  <a:pt x="246126" y="207264"/>
                </a:lnTo>
                <a:moveTo>
                  <a:pt x="155448" y="155448"/>
                </a:moveTo>
                <a:lnTo>
                  <a:pt x="155448" y="103632"/>
                </a:lnTo>
              </a:path>
            </a:pathLst>
          </a:custGeom>
          <a:noFill/>
          <a:ln w="25908" cap="rnd">
            <a:solidFill>
              <a:srgbClr val="2BA6CB"/>
            </a:solidFill>
            <a:prstDash val="solid"/>
            <a:round/>
          </a:ln>
        </p:spPr>
      </p:sp>
      <p:sp>
        <p:nvSpPr>
          <p:cNvPr id="23" name="Text 21"/>
          <p:cNvSpPr/>
          <p:nvPr/>
        </p:nvSpPr>
        <p:spPr>
          <a:xfrm>
            <a:off x="10768061" y="2589197"/>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2</a:t>
            </a:r>
            <a:endParaRPr lang="en-US" sz="900" dirty="0"/>
          </a:p>
        </p:txBody>
      </p:sp>
      <p:sp>
        <p:nvSpPr>
          <p:cNvPr id="24" name="Text 22"/>
          <p:cNvSpPr/>
          <p:nvPr/>
        </p:nvSpPr>
        <p:spPr>
          <a:xfrm>
            <a:off x="10077689" y="3302429"/>
            <a:ext cx="1143000" cy="292608"/>
          </a:xfrm>
          <a:prstGeom prst="rect">
            <a:avLst/>
          </a:prstGeom>
          <a:noFill/>
          <a:ln/>
        </p:spPr>
        <p:txBody>
          <a:bodyPr wrap="square" lIns="0" tIns="0" rIns="0" bIns="0" rtlCol="0" anchor="ctr"/>
          <a:lstStyle/>
          <a:p>
            <a:pPr algn="ctr" indent="0" marL="0">
              <a:buNone/>
            </a:pPr>
            <a:r>
              <a:rPr lang="en-US" sz="1050" b="1" dirty="0">
                <a:solidFill>
                  <a:srgbClr val="E8EDF8"/>
                </a:solidFill>
                <a:latin typeface="Segoe UI" pitchFamily="34" charset="0"/>
                <a:ea typeface="Segoe UI" pitchFamily="34" charset="-122"/>
                <a:cs typeface="Segoe UI" pitchFamily="34" charset="-120"/>
              </a:rPr>
              <a:t>Arquitectura</a:t>
            </a:r>
            <a:endParaRPr lang="en-US" sz="1050" dirty="0"/>
          </a:p>
        </p:txBody>
      </p:sp>
      <p:sp>
        <p:nvSpPr>
          <p:cNvPr id="25" name="Shape 23"/>
          <p:cNvSpPr/>
          <p:nvPr/>
        </p:nvSpPr>
        <p:spPr>
          <a:xfrm>
            <a:off x="9967817" y="4325572"/>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26" name="Icono database"/>
          <p:cNvSpPr/>
          <p:nvPr/>
        </p:nvSpPr>
        <p:spPr>
          <a:xfrm>
            <a:off x="10114121" y="4471876"/>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2BA6CB"/>
            </a:solidFill>
            <a:prstDash val="solid"/>
            <a:round/>
          </a:ln>
        </p:spPr>
      </p:sp>
      <p:sp>
        <p:nvSpPr>
          <p:cNvPr id="27" name="Text 25"/>
          <p:cNvSpPr/>
          <p:nvPr/>
        </p:nvSpPr>
        <p:spPr>
          <a:xfrm>
            <a:off x="10388441" y="4252420"/>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3</a:t>
            </a:r>
            <a:endParaRPr lang="en-US" sz="900" dirty="0"/>
          </a:p>
        </p:txBody>
      </p:sp>
      <p:sp>
        <p:nvSpPr>
          <p:cNvPr id="28" name="Text 26"/>
          <p:cNvSpPr/>
          <p:nvPr/>
        </p:nvSpPr>
        <p:spPr>
          <a:xfrm>
            <a:off x="10662761" y="4481020"/>
            <a:ext cx="1143000" cy="292608"/>
          </a:xfrm>
          <a:prstGeom prst="rect">
            <a:avLst/>
          </a:prstGeom>
          <a:noFill/>
          <a:ln/>
        </p:spPr>
        <p:txBody>
          <a:bodyPr wrap="square" lIns="0" tIns="0" rIns="0" bIns="0" rtlCol="0" anchor="ctr"/>
          <a:lstStyle/>
          <a:p>
            <a:pPr algn="l" indent="0" marL="0">
              <a:buNone/>
            </a:pPr>
            <a:r>
              <a:rPr lang="en-US" sz="1050" b="1" dirty="0">
                <a:solidFill>
                  <a:srgbClr val="E8EDF8"/>
                </a:solidFill>
                <a:latin typeface="Segoe UI" pitchFamily="34" charset="0"/>
                <a:ea typeface="Segoe UI" pitchFamily="34" charset="-122"/>
                <a:cs typeface="Segoe UI" pitchFamily="34" charset="-120"/>
              </a:rPr>
              <a:t>Base de datos</a:t>
            </a:r>
            <a:endParaRPr lang="en-US" sz="1050" dirty="0"/>
          </a:p>
        </p:txBody>
      </p:sp>
      <p:sp>
        <p:nvSpPr>
          <p:cNvPr id="29" name="Shape 27"/>
          <p:cNvSpPr/>
          <p:nvPr/>
        </p:nvSpPr>
        <p:spPr>
          <a:xfrm>
            <a:off x="8430768" y="5065776"/>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30" name="Icono waypoints"/>
          <p:cNvSpPr/>
          <p:nvPr/>
        </p:nvSpPr>
        <p:spPr>
          <a:xfrm>
            <a:off x="8577072" y="5212080"/>
            <a:ext cx="310896" cy="310896"/>
          </a:xfrm>
          <a:custGeom>
            <a:avLst/>
            <a:gdLst/>
            <a:ahLst/>
            <a:cxnLst/>
            <a:rect l="l" t="t" r="r" b="b"/>
            <a:pathLst>
              <a:path w="310896" h="310896">
                <a:moveTo>
                  <a:pt x="187833" y="58293"/>
                </a:moveTo>
                <a:cubicBezTo>
                  <a:pt x="187833" y="76179"/>
                  <a:pt x="173334" y="90678"/>
                  <a:pt x="155448" y="90678"/>
                </a:cubicBezTo>
                <a:cubicBezTo>
                  <a:pt x="137562" y="90678"/>
                  <a:pt x="123063" y="76179"/>
                  <a:pt x="123063" y="58293"/>
                </a:cubicBezTo>
                <a:cubicBezTo>
                  <a:pt x="123063" y="40407"/>
                  <a:pt x="137562" y="25908"/>
                  <a:pt x="155448" y="25908"/>
                </a:cubicBezTo>
                <a:cubicBezTo>
                  <a:pt x="173334" y="25908"/>
                  <a:pt x="187833" y="40407"/>
                  <a:pt x="187833" y="58293"/>
                </a:cubicBezTo>
                <a:close/>
                <a:moveTo>
                  <a:pt x="132131" y="81610"/>
                </a:moveTo>
                <a:lnTo>
                  <a:pt x="81610" y="132131"/>
                </a:lnTo>
                <a:moveTo>
                  <a:pt x="90678" y="155448"/>
                </a:moveTo>
                <a:cubicBezTo>
                  <a:pt x="90678" y="173334"/>
                  <a:pt x="76179" y="187833"/>
                  <a:pt x="58293" y="187833"/>
                </a:cubicBezTo>
                <a:cubicBezTo>
                  <a:pt x="40407" y="187833"/>
                  <a:pt x="25908" y="173334"/>
                  <a:pt x="25908" y="155448"/>
                </a:cubicBezTo>
                <a:cubicBezTo>
                  <a:pt x="25908" y="137562"/>
                  <a:pt x="40407" y="123063"/>
                  <a:pt x="58293" y="123063"/>
                </a:cubicBezTo>
                <a:cubicBezTo>
                  <a:pt x="76179" y="123063"/>
                  <a:pt x="90678" y="137562"/>
                  <a:pt x="90678" y="155448"/>
                </a:cubicBezTo>
                <a:close/>
                <a:moveTo>
                  <a:pt x="90678" y="155448"/>
                </a:moveTo>
                <a:lnTo>
                  <a:pt x="220218" y="155448"/>
                </a:lnTo>
                <a:moveTo>
                  <a:pt x="284988" y="155448"/>
                </a:moveTo>
                <a:cubicBezTo>
                  <a:pt x="284988" y="173334"/>
                  <a:pt x="270489" y="187833"/>
                  <a:pt x="252603" y="187833"/>
                </a:cubicBezTo>
                <a:cubicBezTo>
                  <a:pt x="234717" y="187833"/>
                  <a:pt x="220218" y="173334"/>
                  <a:pt x="220218" y="155448"/>
                </a:cubicBezTo>
                <a:cubicBezTo>
                  <a:pt x="220218" y="137562"/>
                  <a:pt x="234717" y="123063"/>
                  <a:pt x="252603" y="123063"/>
                </a:cubicBezTo>
                <a:cubicBezTo>
                  <a:pt x="270489" y="123063"/>
                  <a:pt x="284988" y="137562"/>
                  <a:pt x="284988" y="155448"/>
                </a:cubicBezTo>
                <a:close/>
                <a:moveTo>
                  <a:pt x="178765" y="229286"/>
                </a:moveTo>
                <a:lnTo>
                  <a:pt x="229286" y="178765"/>
                </a:lnTo>
                <a:moveTo>
                  <a:pt x="187833" y="252603"/>
                </a:moveTo>
                <a:cubicBezTo>
                  <a:pt x="187833" y="270489"/>
                  <a:pt x="173334" y="284988"/>
                  <a:pt x="155448" y="284988"/>
                </a:cubicBezTo>
                <a:cubicBezTo>
                  <a:pt x="137562" y="284988"/>
                  <a:pt x="123063" y="270489"/>
                  <a:pt x="123063" y="252603"/>
                </a:cubicBezTo>
                <a:cubicBezTo>
                  <a:pt x="123063" y="234717"/>
                  <a:pt x="137562" y="220218"/>
                  <a:pt x="155448" y="220218"/>
                </a:cubicBezTo>
                <a:cubicBezTo>
                  <a:pt x="173334" y="220218"/>
                  <a:pt x="187833" y="234717"/>
                  <a:pt x="187833" y="252603"/>
                </a:cubicBezTo>
                <a:close/>
              </a:path>
            </a:pathLst>
          </a:custGeom>
          <a:noFill/>
          <a:ln w="25908" cap="rnd">
            <a:solidFill>
              <a:srgbClr val="2BA6CB"/>
            </a:solidFill>
            <a:prstDash val="solid"/>
            <a:round/>
          </a:ln>
        </p:spPr>
      </p:sp>
      <p:sp>
        <p:nvSpPr>
          <p:cNvPr id="31" name="Text 29"/>
          <p:cNvSpPr/>
          <p:nvPr/>
        </p:nvSpPr>
        <p:spPr>
          <a:xfrm>
            <a:off x="8851392" y="4992624"/>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4</a:t>
            </a:r>
            <a:endParaRPr lang="en-US" sz="900" dirty="0"/>
          </a:p>
        </p:txBody>
      </p:sp>
      <p:sp>
        <p:nvSpPr>
          <p:cNvPr id="32" name="Text 30"/>
          <p:cNvSpPr/>
          <p:nvPr/>
        </p:nvSpPr>
        <p:spPr>
          <a:xfrm>
            <a:off x="9125712" y="5221224"/>
            <a:ext cx="1143000" cy="292608"/>
          </a:xfrm>
          <a:prstGeom prst="rect">
            <a:avLst/>
          </a:prstGeom>
          <a:noFill/>
          <a:ln/>
        </p:spPr>
        <p:txBody>
          <a:bodyPr wrap="square" lIns="0" tIns="0" rIns="0" bIns="0" rtlCol="0" anchor="ctr"/>
          <a:lstStyle/>
          <a:p>
            <a:pPr algn="l" indent="0" marL="0">
              <a:buNone/>
            </a:pPr>
            <a:r>
              <a:rPr lang="en-US" sz="1050" b="1" dirty="0">
                <a:solidFill>
                  <a:srgbClr val="E8EDF8"/>
                </a:solidFill>
                <a:latin typeface="Segoe UI" pitchFamily="34" charset="0"/>
                <a:ea typeface="Segoe UI" pitchFamily="34" charset="-122"/>
                <a:cs typeface="Segoe UI" pitchFamily="34" charset="-120"/>
              </a:rPr>
              <a:t>Interconexión</a:t>
            </a:r>
            <a:endParaRPr lang="en-US" sz="1050" dirty="0"/>
          </a:p>
        </p:txBody>
      </p:sp>
      <p:sp>
        <p:nvSpPr>
          <p:cNvPr id="33" name="Shape 31"/>
          <p:cNvSpPr/>
          <p:nvPr/>
        </p:nvSpPr>
        <p:spPr>
          <a:xfrm>
            <a:off x="6893719" y="4325572"/>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34" name="Icono container"/>
          <p:cNvSpPr/>
          <p:nvPr/>
        </p:nvSpPr>
        <p:spPr>
          <a:xfrm>
            <a:off x="7040023" y="4471876"/>
            <a:ext cx="310896" cy="310896"/>
          </a:xfrm>
          <a:custGeom>
            <a:avLst/>
            <a:gdLst/>
            <a:ahLst/>
            <a:cxnLst/>
            <a:rect l="l" t="t" r="r" b="b"/>
            <a:pathLst>
              <a:path w="310896" h="310896">
                <a:moveTo>
                  <a:pt x="284988" y="99746"/>
                </a:moveTo>
                <a:cubicBezTo>
                  <a:pt x="284988" y="91973"/>
                  <a:pt x="279806" y="84201"/>
                  <a:pt x="274625" y="80315"/>
                </a:cubicBezTo>
                <a:lnTo>
                  <a:pt x="193015" y="29794"/>
                </a:lnTo>
                <a:cubicBezTo>
                  <a:pt x="186187" y="25913"/>
                  <a:pt x="177820" y="25913"/>
                  <a:pt x="170993" y="29794"/>
                </a:cubicBezTo>
                <a:lnTo>
                  <a:pt x="37567" y="107518"/>
                </a:lnTo>
                <a:cubicBezTo>
                  <a:pt x="31090" y="110109"/>
                  <a:pt x="25908" y="117881"/>
                  <a:pt x="25908" y="125654"/>
                </a:cubicBezTo>
                <a:lnTo>
                  <a:pt x="25908" y="211150"/>
                </a:lnTo>
                <a:cubicBezTo>
                  <a:pt x="25908" y="217627"/>
                  <a:pt x="31090" y="226695"/>
                  <a:pt x="36271" y="230581"/>
                </a:cubicBezTo>
                <a:lnTo>
                  <a:pt x="117881" y="281102"/>
                </a:lnTo>
                <a:cubicBezTo>
                  <a:pt x="124709" y="284983"/>
                  <a:pt x="133076" y="284983"/>
                  <a:pt x="139903" y="281102"/>
                </a:cubicBezTo>
                <a:lnTo>
                  <a:pt x="273329" y="203378"/>
                </a:lnTo>
                <a:cubicBezTo>
                  <a:pt x="279806" y="199492"/>
                  <a:pt x="284988" y="190424"/>
                  <a:pt x="284988" y="183947"/>
                </a:cubicBezTo>
                <a:close/>
                <a:moveTo>
                  <a:pt x="129540" y="283693"/>
                </a:moveTo>
                <a:lnTo>
                  <a:pt x="129540" y="181356"/>
                </a:lnTo>
                <a:lnTo>
                  <a:pt x="27203" y="117881"/>
                </a:lnTo>
                <a:moveTo>
                  <a:pt x="129540" y="181356"/>
                </a:moveTo>
                <a:lnTo>
                  <a:pt x="283693" y="91973"/>
                </a:lnTo>
                <a:moveTo>
                  <a:pt x="181356" y="256489"/>
                </a:moveTo>
                <a:lnTo>
                  <a:pt x="181356" y="151562"/>
                </a:lnTo>
                <a:moveTo>
                  <a:pt x="233172" y="226695"/>
                </a:moveTo>
                <a:lnTo>
                  <a:pt x="233172" y="121768"/>
                </a:lnTo>
              </a:path>
            </a:pathLst>
          </a:custGeom>
          <a:noFill/>
          <a:ln w="25908" cap="rnd">
            <a:solidFill>
              <a:srgbClr val="2BA6CB"/>
            </a:solidFill>
            <a:prstDash val="solid"/>
            <a:round/>
          </a:ln>
        </p:spPr>
      </p:sp>
      <p:sp>
        <p:nvSpPr>
          <p:cNvPr id="35" name="Text 33"/>
          <p:cNvSpPr/>
          <p:nvPr/>
        </p:nvSpPr>
        <p:spPr>
          <a:xfrm>
            <a:off x="7314343" y="4252420"/>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5</a:t>
            </a:r>
            <a:endParaRPr lang="en-US" sz="900" dirty="0"/>
          </a:p>
        </p:txBody>
      </p:sp>
      <p:sp>
        <p:nvSpPr>
          <p:cNvPr id="36" name="Text 34"/>
          <p:cNvSpPr/>
          <p:nvPr/>
        </p:nvSpPr>
        <p:spPr>
          <a:xfrm>
            <a:off x="5659279" y="4481020"/>
            <a:ext cx="1143000" cy="292608"/>
          </a:xfrm>
          <a:prstGeom prst="rect">
            <a:avLst/>
          </a:prstGeom>
          <a:noFill/>
          <a:ln/>
        </p:spPr>
        <p:txBody>
          <a:bodyPr wrap="square" lIns="0" tIns="0" rIns="0" bIns="0" rtlCol="0" anchor="ctr"/>
          <a:lstStyle/>
          <a:p>
            <a:pPr algn="r" indent="0" marL="0">
              <a:buNone/>
            </a:pPr>
            <a:r>
              <a:rPr lang="en-US" sz="1050" b="1" dirty="0">
                <a:solidFill>
                  <a:srgbClr val="E8EDF8"/>
                </a:solidFill>
                <a:latin typeface="Segoe UI" pitchFamily="34" charset="0"/>
                <a:ea typeface="Segoe UI" pitchFamily="34" charset="-122"/>
                <a:cs typeface="Segoe UI" pitchFamily="34" charset="-120"/>
              </a:rPr>
              <a:t>DevOps</a:t>
            </a:r>
            <a:endParaRPr lang="en-US" sz="1050" dirty="0"/>
          </a:p>
        </p:txBody>
      </p:sp>
      <p:sp>
        <p:nvSpPr>
          <p:cNvPr id="37" name="Shape 35"/>
          <p:cNvSpPr/>
          <p:nvPr/>
        </p:nvSpPr>
        <p:spPr>
          <a:xfrm>
            <a:off x="6514099" y="2662349"/>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38" name="Icono chart-line"/>
          <p:cNvSpPr/>
          <p:nvPr/>
        </p:nvSpPr>
        <p:spPr>
          <a:xfrm>
            <a:off x="6660403" y="2808653"/>
            <a:ext cx="310896" cy="310896"/>
          </a:xfrm>
          <a:custGeom>
            <a:avLst/>
            <a:gdLst/>
            <a:ahLst/>
            <a:cxnLst/>
            <a:rect l="l" t="t" r="r" b="b"/>
            <a:pathLst>
              <a:path w="310896" h="310896">
                <a:moveTo>
                  <a:pt x="38862" y="38862"/>
                </a:moveTo>
                <a:lnTo>
                  <a:pt x="38862" y="246126"/>
                </a:lnTo>
                <a:cubicBezTo>
                  <a:pt x="38862" y="260435"/>
                  <a:pt x="50461" y="272034"/>
                  <a:pt x="64770" y="272034"/>
                </a:cubicBezTo>
                <a:lnTo>
                  <a:pt x="272034" y="272034"/>
                </a:lnTo>
                <a:moveTo>
                  <a:pt x="246126" y="116586"/>
                </a:moveTo>
                <a:lnTo>
                  <a:pt x="181356" y="181356"/>
                </a:lnTo>
                <a:lnTo>
                  <a:pt x="129540" y="129540"/>
                </a:lnTo>
                <a:lnTo>
                  <a:pt x="90678" y="168402"/>
                </a:lnTo>
              </a:path>
            </a:pathLst>
          </a:custGeom>
          <a:noFill/>
          <a:ln w="25908" cap="rnd">
            <a:solidFill>
              <a:srgbClr val="2BA6CB"/>
            </a:solidFill>
            <a:prstDash val="solid"/>
            <a:round/>
          </a:ln>
        </p:spPr>
      </p:sp>
      <p:sp>
        <p:nvSpPr>
          <p:cNvPr id="39" name="Text 37"/>
          <p:cNvSpPr/>
          <p:nvPr/>
        </p:nvSpPr>
        <p:spPr>
          <a:xfrm>
            <a:off x="6934723" y="2589197"/>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6</a:t>
            </a:r>
            <a:endParaRPr lang="en-US" sz="900" dirty="0"/>
          </a:p>
        </p:txBody>
      </p:sp>
      <p:sp>
        <p:nvSpPr>
          <p:cNvPr id="40" name="Text 38"/>
          <p:cNvSpPr/>
          <p:nvPr/>
        </p:nvSpPr>
        <p:spPr>
          <a:xfrm>
            <a:off x="5279659" y="2817797"/>
            <a:ext cx="1143000" cy="292608"/>
          </a:xfrm>
          <a:prstGeom prst="rect">
            <a:avLst/>
          </a:prstGeom>
          <a:noFill/>
          <a:ln/>
        </p:spPr>
        <p:txBody>
          <a:bodyPr wrap="square" lIns="0" tIns="0" rIns="0" bIns="0" rtlCol="0" anchor="ctr"/>
          <a:lstStyle/>
          <a:p>
            <a:pPr algn="r" indent="0" marL="0">
              <a:buNone/>
            </a:pPr>
            <a:r>
              <a:rPr lang="en-US" sz="1050" b="1" dirty="0">
                <a:solidFill>
                  <a:srgbClr val="E8EDF8"/>
                </a:solidFill>
                <a:latin typeface="Segoe UI" pitchFamily="34" charset="0"/>
                <a:ea typeface="Segoe UI" pitchFamily="34" charset="-122"/>
                <a:cs typeface="Segoe UI" pitchFamily="34" charset="-120"/>
              </a:rPr>
              <a:t>Observabilidad</a:t>
            </a:r>
            <a:endParaRPr lang="en-US" sz="1050" dirty="0"/>
          </a:p>
        </p:txBody>
      </p:sp>
      <p:sp>
        <p:nvSpPr>
          <p:cNvPr id="41" name="Shape 39"/>
          <p:cNvSpPr/>
          <p:nvPr/>
        </p:nvSpPr>
        <p:spPr>
          <a:xfrm>
            <a:off x="7577770" y="1328547"/>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42" name="Icono monitor"/>
          <p:cNvSpPr/>
          <p:nvPr/>
        </p:nvSpPr>
        <p:spPr>
          <a:xfrm>
            <a:off x="7724074" y="1474851"/>
            <a:ext cx="310896" cy="310896"/>
          </a:xfrm>
          <a:custGeom>
            <a:avLst/>
            <a:gdLst/>
            <a:ahLst/>
            <a:cxnLst/>
            <a:rect l="l" t="t" r="r" b="b"/>
            <a:pathLst>
              <a:path w="310896" h="310896">
                <a:moveTo>
                  <a:pt x="51816" y="38862"/>
                </a:moveTo>
                <a:lnTo>
                  <a:pt x="259080" y="38862"/>
                </a:lnTo>
                <a:cubicBezTo>
                  <a:pt x="273389" y="38862"/>
                  <a:pt x="284988" y="50461"/>
                  <a:pt x="284988" y="64770"/>
                </a:cubicBezTo>
                <a:lnTo>
                  <a:pt x="284988" y="194310"/>
                </a:lnTo>
                <a:cubicBezTo>
                  <a:pt x="284988" y="208619"/>
                  <a:pt x="273389" y="220218"/>
                  <a:pt x="259080" y="220218"/>
                </a:cubicBezTo>
                <a:lnTo>
                  <a:pt x="51816" y="220218"/>
                </a:lnTo>
                <a:cubicBezTo>
                  <a:pt x="37507" y="220218"/>
                  <a:pt x="25908" y="208619"/>
                  <a:pt x="25908" y="194310"/>
                </a:cubicBezTo>
                <a:lnTo>
                  <a:pt x="25908" y="64770"/>
                </a:lnTo>
                <a:cubicBezTo>
                  <a:pt x="25908" y="50461"/>
                  <a:pt x="37507" y="38862"/>
                  <a:pt x="51816" y="38862"/>
                </a:cubicBezTo>
                <a:close/>
                <a:moveTo>
                  <a:pt x="103632" y="272034"/>
                </a:moveTo>
                <a:lnTo>
                  <a:pt x="207264" y="272034"/>
                </a:lnTo>
                <a:moveTo>
                  <a:pt x="155448" y="220218"/>
                </a:moveTo>
                <a:lnTo>
                  <a:pt x="155448" y="272034"/>
                </a:lnTo>
              </a:path>
            </a:pathLst>
          </a:custGeom>
          <a:noFill/>
          <a:ln w="25908" cap="rnd">
            <a:solidFill>
              <a:srgbClr val="2BA6CB"/>
            </a:solidFill>
            <a:prstDash val="solid"/>
            <a:round/>
          </a:ln>
        </p:spPr>
      </p:sp>
      <p:sp>
        <p:nvSpPr>
          <p:cNvPr id="43" name="Text 41"/>
          <p:cNvSpPr/>
          <p:nvPr/>
        </p:nvSpPr>
        <p:spPr>
          <a:xfrm>
            <a:off x="7998394" y="1255395"/>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7</a:t>
            </a:r>
            <a:endParaRPr lang="en-US" sz="900" dirty="0"/>
          </a:p>
        </p:txBody>
      </p:sp>
      <p:sp>
        <p:nvSpPr>
          <p:cNvPr id="44" name="Text 42"/>
          <p:cNvSpPr/>
          <p:nvPr/>
        </p:nvSpPr>
        <p:spPr>
          <a:xfrm>
            <a:off x="6343330" y="1483995"/>
            <a:ext cx="1143000" cy="292608"/>
          </a:xfrm>
          <a:prstGeom prst="rect">
            <a:avLst/>
          </a:prstGeom>
          <a:noFill/>
          <a:ln/>
        </p:spPr>
        <p:txBody>
          <a:bodyPr wrap="square" lIns="0" tIns="0" rIns="0" bIns="0" rtlCol="0" anchor="ctr"/>
          <a:lstStyle/>
          <a:p>
            <a:pPr algn="r" indent="0" marL="0">
              <a:buNone/>
            </a:pPr>
            <a:r>
              <a:rPr lang="en-US" sz="1050" b="1" dirty="0">
                <a:solidFill>
                  <a:srgbClr val="E8EDF8"/>
                </a:solidFill>
                <a:latin typeface="Segoe UI" pitchFamily="34" charset="0"/>
                <a:ea typeface="Segoe UI" pitchFamily="34" charset="-122"/>
                <a:cs typeface="Segoe UI" pitchFamily="34" charset="-120"/>
              </a:rPr>
              <a:t>Demostración</a:t>
            </a:r>
            <a:endParaRPr lang="en-US" sz="1050" dirty="0"/>
          </a:p>
        </p:txBody>
      </p:sp>
      <p:sp>
        <p:nvSpPr>
          <p:cNvPr id="45" name="Shape 43"/>
          <p:cNvSpPr/>
          <p:nvPr/>
        </p:nvSpPr>
        <p:spPr>
          <a:xfrm>
            <a:off x="758952" y="530352"/>
            <a:ext cx="329184" cy="329184"/>
          </a:xfrm>
          <a:prstGeom prst="ellipse">
            <a:avLst/>
          </a:prstGeom>
          <a:solidFill>
            <a:srgbClr val="2BA6CB"/>
          </a:solidFill>
          <a:ln w="12700">
            <a:solidFill>
              <a:srgbClr val="2BA6CB"/>
            </a:solidFill>
            <a:prstDash val="solid"/>
          </a:ln>
        </p:spPr>
      </p:sp>
      <p:sp>
        <p:nvSpPr>
          <p:cNvPr id="46" name="Text 44"/>
          <p:cNvSpPr/>
          <p:nvPr/>
        </p:nvSpPr>
        <p:spPr>
          <a:xfrm>
            <a:off x="758952" y="530352"/>
            <a:ext cx="329184" cy="329184"/>
          </a:xfrm>
          <a:prstGeom prst="rect">
            <a:avLst/>
          </a:prstGeom>
          <a:noFill/>
          <a:ln/>
        </p:spPr>
        <p:txBody>
          <a:bodyPr wrap="square" lIns="0" tIns="0" rIns="0" bIns="0" rtlCol="0" anchor="ctr"/>
          <a:lstStyle/>
          <a:p>
            <a:pPr algn="ctr" indent="0" marL="0">
              <a:buNone/>
            </a:pPr>
            <a:r>
              <a:rPr lang="en-US" sz="1300" b="1" dirty="0">
                <a:solidFill>
                  <a:srgbClr val="0B1F3A"/>
                </a:solidFill>
                <a:latin typeface="Segoe UI Semibold" pitchFamily="34" charset="0"/>
                <a:ea typeface="Segoe UI Semibold" pitchFamily="34" charset="-122"/>
                <a:cs typeface="Segoe UI Semibold" pitchFamily="34" charset="-120"/>
              </a:rPr>
              <a:t>A</a:t>
            </a:r>
            <a:endParaRPr lang="en-US" sz="1300" dirty="0"/>
          </a:p>
        </p:txBody>
      </p:sp>
      <p:sp>
        <p:nvSpPr>
          <p:cNvPr id="47" name="Text 45"/>
          <p:cNvSpPr/>
          <p:nvPr/>
        </p:nvSpPr>
        <p:spPr>
          <a:xfrm>
            <a:off x="1179576" y="530352"/>
            <a:ext cx="2011680" cy="329184"/>
          </a:xfrm>
          <a:prstGeom prst="rect">
            <a:avLst/>
          </a:prstGeom>
          <a:noFill/>
          <a:ln/>
        </p:spPr>
        <p:txBody>
          <a:bodyPr wrap="square" lIns="0" tIns="0" rIns="0" bIns="0" rtlCol="0" anchor="ctr"/>
          <a:lstStyle/>
          <a:p>
            <a:pPr indent="0" marL="0">
              <a:buNone/>
            </a:pPr>
            <a:r>
              <a:rPr lang="en-US" sz="1500" b="1" dirty="0">
                <a:solidFill>
                  <a:srgbClr val="FFFFFF"/>
                </a:solidFill>
                <a:latin typeface="Segoe UI Semibold" pitchFamily="34" charset="0"/>
                <a:ea typeface="Segoe UI Semibold" pitchFamily="34" charset="-122"/>
                <a:cs typeface="Segoe UI Semibold" pitchFamily="34" charset="-120"/>
              </a:rPr>
              <a:t>ARKA-Lite</a:t>
            </a:r>
            <a:endParaRPr lang="en-US" sz="1500" dirty="0"/>
          </a:p>
        </p:txBody>
      </p:sp>
      <p:sp>
        <p:nvSpPr>
          <p:cNvPr id="48" name="Text 46"/>
          <p:cNvSpPr/>
          <p:nvPr/>
        </p:nvSpPr>
        <p:spPr>
          <a:xfrm>
            <a:off x="758952" y="2011680"/>
            <a:ext cx="5486400" cy="1280160"/>
          </a:xfrm>
          <a:prstGeom prst="rect">
            <a:avLst/>
          </a:prstGeom>
          <a:noFill/>
          <a:ln/>
        </p:spPr>
        <p:txBody>
          <a:bodyPr wrap="square" lIns="0" tIns="0" rIns="0" bIns="0" rtlCol="0" anchor="ctr"/>
          <a:lstStyle/>
          <a:p>
            <a:pPr indent="0" marL="0">
              <a:buNone/>
            </a:pPr>
            <a:r>
              <a:rPr lang="en-US" sz="7200" b="1" dirty="0">
                <a:solidFill>
                  <a:srgbClr val="FFFFFF"/>
                </a:solidFill>
                <a:latin typeface="Segoe UI Semibold" pitchFamily="34" charset="0"/>
                <a:ea typeface="Segoe UI Semibold" pitchFamily="34" charset="-122"/>
                <a:cs typeface="Segoe UI Semibold" pitchFamily="34" charset="-120"/>
              </a:rPr>
              <a:t>Gracias</a:t>
            </a:r>
            <a:endParaRPr lang="en-US" sz="7200" dirty="0"/>
          </a:p>
        </p:txBody>
      </p:sp>
      <p:sp>
        <p:nvSpPr>
          <p:cNvPr id="49" name="Shape 47"/>
          <p:cNvSpPr/>
          <p:nvPr/>
        </p:nvSpPr>
        <p:spPr>
          <a:xfrm>
            <a:off x="758952" y="3429000"/>
            <a:ext cx="822960" cy="54864"/>
          </a:xfrm>
          <a:prstGeom prst="rect">
            <a:avLst/>
          </a:prstGeom>
          <a:solidFill>
            <a:srgbClr val="2BA6CB"/>
          </a:solidFill>
          <a:ln w="12700">
            <a:solidFill>
              <a:srgbClr val="2BA6CB"/>
            </a:solidFill>
            <a:prstDash val="solid"/>
          </a:ln>
        </p:spPr>
      </p:sp>
      <p:sp>
        <p:nvSpPr>
          <p:cNvPr id="50" name="Text 48"/>
          <p:cNvSpPr/>
          <p:nvPr/>
        </p:nvSpPr>
        <p:spPr>
          <a:xfrm>
            <a:off x="758952" y="3657600"/>
            <a:ext cx="5120640" cy="1280160"/>
          </a:xfrm>
          <a:prstGeom prst="rect">
            <a:avLst/>
          </a:prstGeom>
          <a:noFill/>
          <a:ln/>
        </p:spPr>
        <p:txBody>
          <a:bodyPr wrap="square" lIns="0" tIns="0" rIns="0" bIns="0" rtlCol="0" anchor="t"/>
          <a:lstStyle/>
          <a:p>
            <a:pPr indent="0" marL="0">
              <a:spcAft>
                <a:spcPts val="600"/>
              </a:spcAft>
              <a:buNone/>
            </a:pPr>
            <a:r>
              <a:rPr lang="en-US" sz="2000" dirty="0">
                <a:solidFill>
                  <a:srgbClr val="9FBEE0"/>
                </a:solidFill>
                <a:latin typeface="Segoe UI" pitchFamily="34" charset="0"/>
                <a:ea typeface="Segoe UI" pitchFamily="34" charset="-122"/>
                <a:cs typeface="Segoe UI" pitchFamily="34" charset="-120"/>
              </a:rPr>
              <a:t>Equipo arka-litos</a:t>
            </a:r>
            <a:endParaRPr lang="en-US" sz="2000" dirty="0"/>
          </a:p>
          <a:p>
            <a:pPr indent="0" marL="0">
              <a:spcAft>
                <a:spcPts val="600"/>
              </a:spcAft>
              <a:buNone/>
            </a:pPr>
            <a:r>
              <a:rPr lang="en-US" sz="2000" dirty="0">
                <a:solidFill>
                  <a:srgbClr val="9FBEE0"/>
                </a:solidFill>
                <a:latin typeface="Segoe UI" pitchFamily="34" charset="0"/>
                <a:ea typeface="Segoe UI" pitchFamily="34" charset="-122"/>
                <a:cs typeface="Segoe UI" pitchFamily="34" charset="-120"/>
              </a:rPr>
              <a:t>Proyecto final · Upskilling Backend Java</a:t>
            </a:r>
            <a:endParaRPr lang="en-US" sz="20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ARKA-Lite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ARKA-Lite · Resumen</dc:title>
  <dc:subject>Proyecto final de Upskilling Backend Java</dc:subject>
  <dc:creator>Upskilling Backend Java</dc:creator>
  <cp:lastModifiedBy>Upskilling Backend Java</cp:lastModifiedBy>
  <cp:revision>1</cp:revision>
  <dcterms:created xsi:type="dcterms:W3CDTF">2026-10-29T11:33:50Z</dcterms:created>
  <dcterms:modified xsi:type="dcterms:W3CDTF">2026-10-29T11:33:50Z</dcterms:modified>
</cp:coreProperties>
</file>