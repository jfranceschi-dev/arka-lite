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En 40 minutos, prácticas que pueden aplicar en sus propios sistemas, no solo teoría.
QUÉ DECIR (▶ CLIC = hacer clic)
“Buenos días a todos. Somos el equipo arka-litos, del curso Upskilling Backend Java, y hoy les presentamos ARKA-Lite, nuestro proyecto final.”
“Somos un equipo de tres áreas, las mismas que tienen ustedes: desarrollo, base de datos e infraestructura, y cada parte la presenta quien la construyó. A mí, que vengo de desarrollo y conozco el negocio de punta a punta, me toca abrir, conectar las partes y cerrar.”
“El título lo resume: empezamos escribiendo un endpoint, una sola operación en Java, y terminamos con un sistema completo corriendo en un clúster de Kubernetes, con sus bases de datos, su pipeline y su monitoreo.”
“El equipo anterior ya les explicó los fundamentos y la arquitectura. Nosotros les vamos a contar el proyecto desde la práctica, con diagramas y ejemplos reales del sistema, y nos vamos a enfocar en lo que les puede servir en su día a día: cómo se cuidan los datos, cómo se hablan los sistemas y cómo se despliega y se opera todo.”
QUÉ HACER (no se dice)
• Cada diagrama se arma con clics: en el texto, ▶ CLIC marca el momento de hacer clic.
SI HAY TIEMPO, SE PUEDE AGREGAR
“ARKA-Lite nació como el laboratorio del curso: cada tema que veíamos lo aplicábamos al mismo sistema. Por eso creció por capas: primero un endpoint, después la base de datos, la comunicación entre servicios, los contenedores, el pipeline y la observabilidad.”
“Todo lo que van a ver está en un solo repositorio, con su documentación, y se levanta con un solo comando. Si a alguien le interesa revisarlo después, con gusto se lo compartimos.”
“Trabajamos como trabajaría un equipo real: cada cambio en una rama, revisado por otra persona y probado por el pipeline antes de entrar. Mezclar áreas nos obligó a ponernos de acuerdo en contratos claros: qué expone cada servicio, qué guarda cada base y cómo se despliega cada pieza.”
PARA PASAR
“Este es el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Apertura
PRESENTA: Desarrollo 1 · orquesta
LO QUE SE LLEVA EL STAFF
Saber desde el inicio dónde vamos a profundizar y qué se van a llevar.
QUÉ DECIR (▶ CLIC = hacer clic)
“Todos los equipos presentamos las mismas secciones, pero cada uno profundiza en algunas para no repetirnos. El equipo anterior se enfocó en los fundamentos y en la arquitectura hexagonal, así que esas dos partes las vamos a ver rápido, en vista general.”
“▶ CLIC Donde vamos a fondo es en tres temas que tocan directo el trabajo de ustedes: la base de datos, cómo se comunican los servicios sin perder información, y DevOps, con Docker, Kubernetes y el pipeline. ▶ CLIC Y después, una mirada general a la observabilidad, antes de cerrar con lo que pueden aplicar desde mañana.”
“Al final de cada parte les dejamos lo que aprendimos y cómo se puede aplicar en cualquier proyecto, también en los que usan procedimientos almacenados.”
SI HAY TIEMPO, SE PUEDE AGREGAR
“Las partes generales son cortas a propósito: el equipo anterior ya las explicó. El tiempo lo dedicamos a lo que más valor les deja: los datos, la comunicación entre sistemas y la operación.”
“Al final juntamos lo que pueden aplicar desde mañana, aunque sus sistemas usen procedimientos almacenados.”
PARA PASAR
“Empecemos por los fundamentos, y por lo primero: el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Pensar primero en el qué y después en el cómo: las reglas claras hacen el código simple.
QUÉ DECIR (▶ CLIC = hacer clic)
“Antes de entrar a la tecnología, el aprendizaje más importante de los fundamentos: primero pensamos en el qué y después en el cómo. ¿Qué tiene que pasar, quién lo hace y qué no se puede permitir? Este es el negocio, en una lámina. Alguien registra una solicitud, por ejemplo una incidencia o un pedido de cambio: qué necesita y de qué tipo.”
“▶ CLIC Cuando está lista, la envía. ▶ CLIC En ese momento, el sistema le avisa a quien debe atenderla. ▶ CLIC Y esa persona la aprueba o la rechaza: es la decisión final.”
“▶ CLIC Igual de importante es lo que no se permite: enviar dos veces la misma solicitud, o aprobar una que todavía nadie ha enviado. El sistema no lo hace y explica por qué. Esas son las reglas del negocio, y con ellas claras, el código salió simple: un servicio para las solicitudes y otro para los avisos.”
SI HAY TIEMPO, SE PUEDE AGREGAR
“Antes de escribir una línea de código nos hicimos tres preguntas: qué tiene que pasar, quién hace cada paso y qué no se puede permitir. Las respuestas se volvieron las reglas del sistema.”
“Por dentro, esos pasos son cuatro estados: borrador, enviada, aprobada y rechazada. La base de datos también los cuida: la columna estado solo acepta esos cuatro valores.”
“Al arrancar, el sistema siempre registra dos solicitudes de ejemplo: INC-001, una incidencia en borrador, y CAM-002, un cambio que se envía. El pipeline usa CAM-002 para comprobar que el servicio arrancó de verdad.”
SI PREGUNTAN
¿Por qué los avisos van en otro servicio?
RESPUESTA CORTA
Porque cambian por motivos distintos, y así el trámite sigue funcionando aunque el servicio de avisos esté caído.
PARA PASAR
“Con el qué claro, el cómo: código que se pueda cambiar sin miedo.”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Cuando cambia una regla, se toca un solo lugar y una prueba confirma que nada se rompió.
QUÉ DECIR (▶ CLIC = hacer clic)
“Con el qué claro, viene el cómo. El equipo anterior ya cubrió los fundamentos, así que nos quedamos con seis prácticas que nos sirvieron y que se pueden usar en cualquier lenguaje, sea Java, C#, Python o PL/SQL. Primera: cada pieza hace una sola tarea; la que recibe la petición no decide, y la que decide no guarda.”
“▶ CLIC Segunda: las piezas se conectan desde afuera, así se pueden cambiar o probar por separado. ▶ CLIC Tercera: las reglas del negocio viven en un solo lugar, no repetidas en la pantalla y en la base. ▶ CLIC Cuarta: los errores responden siempre igual: un 400 si faltan datos, un 404 si algo no existe, un 409 si la regla no lo permite.”
“▶ CLIC Quinta: los nombres son los del negocio, así el código se lee como el proceso. ▶ CLIC Y sexta: cada regla tiene una prueba automática que avisa si un cambio rompió algo. El resultado: cuando cambia una regla, se toca un solo lugar.”
SI HAY TIEMPO, SE PUEDE AGREGAR
“Un ejemplo concreto: el controlador de solicitudes no decide nada; solo convierte el JSON y llama al servicio. Si mañana cambia la regla de envío, se toca la clase Solicitud y su prueba, nada más.”
“Lo de las piezas que se conectan desde afuera tiene un nombre: inyección de dependencias. En ARKA-Lite todo llega por el constructor, y por eso en las pruebas cambiamos la base real por una en memoria sin tocar el negocio.”
SI PREGUNTAN
¿Esto no hace el código más largo?
RESPUESTA CORTA
Un poco más de piezas, pero cada una es corta y se entiende sola. El costo se recupera en el primer cambio.
PARA PASAR
“Y como somos varios trabajando sobre el mismo código, también necesitamos orden.”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Nada llega a la rama principal sin revisión, pruebas y documentación.
QUÉ DECIR (▶ CLIC = hacer clic)
“Muy rápido, cómo trabajamos en equipo. Cada tarea se hace en una rama corta, y cada commit dice qué cambió: una funcionalidad, una prueba, la documentación.”
“▶ CLIC El cambio entra a la rama principal solo por un Pull Request: otra persona lo revisa, las pruebas tienen que pasar y la documentación se actualiza en ese mismo cambio. La documentación de la API, además, la genera Swagger desde el código, así que nunca queda vieja.”
SI HAY TIEMPO, SE PUEDE AGREGAR
“Usamos un formato común para los mensajes de commit: el tipo, dos puntos y qué hace el cambio, por ejemplo: fix: impedir el envío de una solicitud aprobada. Con eso, el historial se lee como una bitácora.”
“Nadie sube directo a main, ni siquiera quien orquesta. Eso nos protegió más de una vez de romper algo que otro compañero estaba usando.”
PARA PASAR
“Esto es lo que nos llevamos de los fundamentos.”
PARA LEER MÁS
docs/desarrollo/git.md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Fundamentos
PRESENTA: Desarrollo 1 · orquesta
LO QUE SE LLEVA EL STAFF
Cuatro hábitos que bajan el costo de mantener cualquier sistema.
QUÉ DECIR (▶ CLIC = hacer clic)
“Lo que nos llevamos a cualquier proyecto. ▶ CLIC Primero el qué, después el cómo: con las reglas del negocio claras, la tecnología se elige mejor y el código sale más simple. ▶ CLIC Separar responsabilidades se paga desde el primer cambio.”
“▶ CLIC Las reglas no deben depender de la herramienta: si mañana cambia la base o el framework, las reglas siguen iguales. ▶ CLIC Y ningún cambio entra sin revisión, pruebas y documentación.”
SI HAY TIEMPO, SE PUEDE AGREGAR
“Si tuviéramos que elegir una sola práctica para empezar en un sistema existente, sería poner las reglas del negocio en un solo lugar con su prueba. Es la que más rápido devuelve la inversión.”
PARA PASAR
“Con esa base, veamos el sistema completo desde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Cada capa se puede cambiar sin romper las otras.
QUÉ DECIR (▶ CLIC = hacer clic)
“Gracias. ARKA-Lite no es una aplicación grande: son piezas pequeñas, cada una con una responsabilidad. Arriba está la experiencia: la persona usa la interfaz, y la interfaz no guarda nada, solo les pasa las peticiones a los servicios.”
“▶ CLIC En el medio, los dos microservicios: solicitudes lleva el trámite y sus estados; notificaciones crea los avisos. ▶ CLIC Debajo, cada uno con su propia base PostgreSQL; ninguno lee la base del otro. ▶ CLIC Y abajo, la plataforma: dónde corre, cómo se prueba cada cambio y dónde se ven los logs.”
SI HAY TIEMPO, SE PUEDE AGREGAR
“La interfaz es delgada a propósito: no guarda nada ni toma decisiones. Si mañana se cambia por otra, los servicios no se enteran.”
“La plataforma es la misma para los dos servicios: el mismo Compose, el mismo pipeline y el mismo lugar para los logs. Eso baja mucho el costo de tener dos servicios en lugar de uno.”
SI PREGUNTAN
¿Por qué no comparten una sola base de datos?
RESPUESTA CORTA
Para que cada servicio sea dueño de sus datos y pueda cambiar sin romper al otro.
PARA PASAR
“Ahora veamos cómo trabajan juntas esas piezas en la práctica.”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Los sistemas se comunican con mensajes claros, no compartiendo tablas.
QUÉ DECIR (▶ CLIC = hacer clic)
“Ahora, cómo trabajan juntas en la práctica. Sigamos los números. ▶ CLIC Uno: la persona usa la interfaz. ▶ CLIC Dos: cuando crea, envía o decide una solicitud, la interfaz se lo pide al servicio de solicitudes. ▶ CLIC Tres: solicitudes lo guarda en su propia base.”
“▶ CLIC Cuatro, el paso más importante: cuando una solicitud se envía, solicitudes le avisa a notificaciones. Fíjense en que esa flecha no es una pieza del sistema: es un dato que viaja, un mensaje pequeño con el número del evento, la solicitud y su tipo.”
“▶ CLIC Cinco: notificaciones crea el aviso y anota que ya recibió ese evento. ▶ CLIC Seis: la interfaz le consulta a notificaciones para mostrar los avisos.”
“▶ CLIC Y lo que no hay también dice mucho: ninguna flecha une las dos bases. Si un servicio necesita algo del otro, se lo pide; nunca entra a su base.”
SI HAY TIEMPO, SE PUEDE AGREGAR
“El mensaje que viaja entre servicios lleva solo tres datos: el número del evento, el identificador de la solicitud y su tipo. Mientras más pequeño el mensaje, más fácil es que los dos lados se pongan de acuerdo.”
“Ese contrato está copiado en los dos servicios. Si un día cambia, se cambia en los dos al mismo tiempo: es lo único que comparten.”
SI PREGUNTAN
¿Qué pasa si notificaciones está caído en el paso cuatro?
RESPUESTA CORTA
Solicitudes sigue funcionando y el aviso espera guardado. Lo vemos en la parte de interconexión.
PARA PASAR
“¿Y cómo está ordenado cada servicio por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Cambiar la base o la forma de avisar sin tocar las reglas del negocio.
QUÉ DECIR (▶ CLIC = hacer clic)
“Como explicó el equipo anterior, la arquitectura hexagonal es una forma de ordenar el código por dentro. No cambia cómo se despliega: por fuera, cada servicio sigue siendo una aplicación en su contenedor. Al centro van las reglas del negocio y los contratos que necesitan, como guardar una solicitud o avisar que se envió.”
“▶ CLIC Por un lado entra la web. ▶ CLIC Por el otro salen la base de datos y las llamadas a otros servicios, conectadas como enchufes. Fíjense en la última: una versión en memoria que reemplaza a la base en las pruebas. Gracias a eso probamos todas las reglas sin levantar PostgreSQL.”
SI HAY TIEMPO, SE PUEDE AGREGAR
“En solicitudes hay tres contratos hacia afuera: guardar solicitudes, anotar eventos y publicarlos. Cada uno puede tener más de una implementación, y Spring usa la que está marcada como principal.”
“Dejamos a propósito implementaciones alternativas, por ejemplo un publicador simple sin reintentos, para mostrar que se puede cambiar una por otra sin tocar las reglas.”
SI PREGUNTAN
¿Esto se parece a llamar un procedimiento almacenado?
RESPUESTA CORTA
En que quien llama solo conoce el nombre y los parámetros, no cómo está hecho por dentro. La diferencia es que aquí el negocio define el contrato y la base se adapta a él.
PARA PASAR
“Esto es lo que nos dejó la arquitectura.”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Arquitectura
PRESENTA: Desarrollo 2
LO QUE SE LLEVA EL STAFF
Sistemas que cambian por separado, unidos por acuerdos claros.
QUÉ DECIR (▶ CLIC = hacer clic)
“Cuatro aprendizajes de arquitectura. ▶ CLIC Cada servicio es dueño de sus datos. ▶ CLIC Entre servicios no se comparten tablas, se comparten mensajes.”
“▶ CLIC Hexagonal ordena el código por dentro, pero no cambia el despliegue. ▶ CLIC Y separar en microservicios tiene un costo real, así que se hace cuando el negocio lo justifica, no por moda.”
SI HAY TIEMPO, SE PUEDE AGREGAR
“Lo más difícil de los microservicios no fue el código, fueron las fronteras: decidir qué dato es de quién. Una vez claro eso, lo demás se ordenó solo.”
PARA PASAR
“Y aquí empieza la parte en la que vamos a fondo: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Cada base cambia a su ritmo, sin coordinar despliegues con otros equipos.
QUÉ DECIR (▶ CLIC = hacer clic)
“Gracias. Como les contó mi compañero de arquitectura, el sistema tiene dos bases de datos, una para cada microservicio: db-solicitudes y db-notificaciones. ▶ CLIC Las dos están montadas en PostgreSQL, versión diecisiete.”
“¿Por qué dos y no una? Porque cada servicio es dueño de sus datos. Solicitudes guarda las solicitudes y los avisos que tiene pendientes; notificaciones guarda qué avisos ya recibió. Si mañana una cambia su estructura, la otra ni se entera.”
“▶ CLIC Eso tiene una consecuencia que para quienes trabajamos con bases de datos pesa mucho: no hay ningún JOIN entre las dos bases, ni llaves foráneas que crucen. Si un servicio necesita algo del otro, se lo pregunta por HTTP.”
“▶ CLIC Y cada base corre en su propio contenedor. En Kubernetes, además, tiene su disco persistente: los datos sobreviven aunque el contenedor se reinicie.”
SI HAY TIEMPO, SE PUEDE AGREGAR
“En nuestra computadora, la base de notificaciones se publica en el puerto 5433 para consultarla con cualquier herramienta; la de solicitudes solo se ve dentro de la red de Docker. Lo que no se publica, no se alcanza desde afuera.”
“En Kubernetes, cada base tiene su disco persistente: si el contenedor se reinicia, los datos siguen ahí. Solo se perderían si se borra el disco.”
SI PREGUNTAN
¿Y si necesito un reporte que junte datos de las dos?
RESPUESTA CORTA
Se arma fuera de los servicios, por ejemplo con una réplica o un proceso de reportes que lea de ambas. Lo que no se hace es que un servicio lea la base del otro.
SI PREGUNTAN
¿No es más difícil administrar dos bases?
RESPUESTA CORTA
Son dos bases pequeñas con una sola responsabilidad cada una. Se respaldan y se monitorean como cualquier PostgreSQL, y la caída de una no tumba a la otra.
PARA PASAR
“Veamos qué hay dentro de cada una.”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Un modelo pequeño, con reglas que también cuida la base: CHECK, llaves e índices.
QUÉ DECIR (▶ CLIC = hacer clic)
“Veamos qué hay adentro. En la base de solicitudes, la tabla solicitud guarda el trámite: su identificador como llave primaria, el tipo y el estado. Y el estado tiene un CHECK que solo admite los cuatro valores válidos. Aunque alguien escriba directo en la tabla, la base no acepta un estado inventado.”
“▶ CLIC Al lado está la tabla evento, que funciona como bandeja de salida: cada fila es un aviso que hay que entregar. Tiene una llave foránea a la solicitud, un número único de evento, que es un UUID, y una columna procesado: mientras está en falso, el aviso sigue pendiente.”
“▶ CLIC En la base de notificaciones hay una sola tabla importante: evento_procesado, la lista de eventos que ya se recibieron. Su llave primaria es justamente ese número de evento.”
“▶ CLIC Y fíjense en la flecha: lo único que pasa de una base a la otra es el evento_id, y no viaja por la base, viaja por HTTP. Esa es la frontera entre los dos servicios.”
SI HAY TIEMPO, SE PUEDE AGREGAR
“La tabla evento tiene un índice parcial: solo indexa las filas pendientes. Como el relevador busca pendientes cada cinco segundos, el índice se mantiene pequeño aunque la tabla acumule años de eventos ya entregados.”
“Las tablas se crean con un archivo schema.sql que corre en cada arranque y se puede ejecutar mil veces sin romper nada. También actualiza bases viejas, agregando lo que les falte.”
SI PREGUNTAN
¿Dónde se guarda el texto de cada aviso?
RESPUESTA CORTA
En este proyecto, en la memoria del servicio de notificaciones; en la base solo queda qué eventos se procesaron. En producción sería una tabla más.
SI PREGUNTAN
¿Por qué un UUID y no un número secuencial?
RESPUESTA CORTA
Porque lo genera la aplicación sin consultar a la base y no se repite entre servicios. Así el mismo número sirve para reintentar sin duplicar.
PARA PASAR
“Ahora, la gran diferencia con muchas aplicaciones que manejamos hoy: dónde vive la regla del negocio.”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Reglas que se prueban en segundos y una base que sigue cuidando los datos.
QUÉ DECIR (▶ CLIC = hacer clic)
“Esta es la gran diferencia con muchas de las aplicaciones que gestionamos hoy, y no es la base de datos: es dónde vive la regla del negocio. Arriba, el enfoque que conocemos: la persona pulsa enviar, la aplicación solo pasa parámetros con un EXEC, y el procedimiento almacenado decide y guarda. La regla vive en la base.”
“▶ CLIC Abajo, ARKA-Lite: la regla vive en el servicio Java, junto con su prueba. Cuando decide que sí, Hibernate, que es el ORM, escribe el UPDATE y el INSERT. La base sigue guardando y cuidando llaves, restricciones e índices. Lo único que se movió es la decisión.”
SI HAY TIEMPO, SE PUEDE AGREGAR
“No estamos diciendo que los procedimientos estén mal: son la herramienta correcta para procesos masivos y reportes. Lo que cambia es dónde ponemos las reglas que más cambian y que más necesitamos probar.”
“Una ventaja que no se ve a primera vista: con la regla en el código, cada cambio pasa por revisión, pruebas automáticas y pipeline, igual que cualquier otra línea del sistema.”
SI PREGUNTAN
¿Y el rendimiento? ¿El SQL que genera Hibernate es bueno?
RESPUESTA CORTA
Para guardar y buscar por llave, sí. Para consultas complejas se puede escribir SQL propio; además, los índices y las restricciones siguen siendo trabajo de la base.
SI PREGUNTAN
¿Hay que migrar todos los procedimientos?
RESPUESTA CORTA
No. Se puede empezar por las reglas que más cambian; los reportes y los procesos masivos pueden seguir en la base.
PARA PASAR
“Mi compañero de desarrollo se los muestra con una regla real, escrita de las dos formas.”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 misma regla, más fácil de probar y de cambiar, sin que la base pierda su papel.
QUÉ DECIR (▶ CLIC = hacer clic)
“Gracias. Tomemos una regla real del negocio: solo se puede enviar una solicitud que está en borrador. A la izquierda, cómo la escribiríamos hoy: un procedimiento que consulta el estado, lanza un error si no está en borrador y hace el UPDATE. La regla y el dato viven juntos en la base, y para probarla hace falta una base con datos.”
“▶ CLIC A la derecha, la misma regla en ARKA-Lite: el método enviar de la clase Solicitud. Si el estado no es borrador, lanza un error; si lo es, devuelve la solicitud enviada. No hay SQL: el UPDATE lo escribe Hibernate cuando el servicio guarda, siempre con parámetros.”
“¿Qué ganamos? Esa regla se prueba en milisegundos, sin base de datos, y si cambia, se cambia en un solo lugar junto con su prueba. ¿Qué no perdemos? La base sigue cuidando lo suyo: la llave primaria, el CHECK de los estados y los índices.”
SI HAY TIEMPO, SE PUEDE AGREGAR
“La prueba de esa regla es así de simple: se crea una solicitud ya enviada, se intenta enviarla otra vez y se verifica que el sistema lo rechaza. Corre en milisegundos y no necesita ninguna base.”
“Para probar lo mismo en el procedimiento habría que preparar datos en una base, ejecutarlo y revisar el resultado. Funciona, pero es más lento y más difícil de repetir en cada cambio.”
SI PREGUNTAN
¿Y si la regla necesita consultar muchos datos?
RESPUESTA CORTA
Para decidir, el servicio pide solo lo que necesita por llave. Si es un cálculo sobre millones de filas, ese trabajo puede seguir en la base, como una consulta o un procedimiento bien delimitado.
PARA PASAR
“Ahora veamos cómo hace Hibernate esa traducción.”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El SQL de todos los días sale solo y siempre con parámetros: menos código y menos riesgo de inyección.
QUÉ DECIR (▶ CLIC = hacer clic)
“Esta es la traducción, lado a lado. A la izquierda, una clase Java: SolicitudEntity. Con la anotación arroba Entity le decimos a Hibernate que esta clase representa una tabla, y con arroba Table, cuál: la tabla solicitud. ▶ CLIC Cada campo de la clase corresponde a una columna, y arroba Id marca la llave primaria.”
“Con eso, Hibernate ya sabe todo. Abajo ven qué pasa cuando el código llama a un método. ▶ CLIC Guardar una solicitud nueva se convierte en un INSERT. ▶ CLIC Buscar por identificador, en un SELECT con su WHERE. ▶ CLIC Y guardar una que ya existe, por ejemplo cuando se envía, en un UPDATE.”
“Fíjense en los signos de interrogación: los valores viajan siempre como parámetros, nunca pegados al texto del SQL. Es lo mismo que hacemos con los parámetros de un procedimiento, y es lo que nos protege de la inyección SQL.”
“Nosotros no escribimos ninguna de esas consultas. Lo que sí cuidamos fue el diseño de las tablas, porque el ORM confía en que la base esté bien hecha.”
SI HAY TIEMPO, SE PUEDE AGREGAR
“El repositorio de Spring Data no tiene ni una consulta escrita: hereda de JpaRepository, y con eso ya trae guardar, buscar por llave, listar y borrar.”
“Cuando el código guarda una solicitud que ya existe, Hibernate primero la busca por su llave y después decide si hace un INSERT o un UPDATE. Por eso las llaves bien definidas importan: el ORM las usa todo el tiempo.”
SI PREGUNTAN
¿Se puede ver el SQL que genera?
RESPUESTA CORTA
Sí: con spring.jpa.show-sql=true se imprime en el log. Es lo primero que conviene activar para revisar el rendimiento.
SI PREGUNTAN
¿Y las consultas complejas?
RESPUESTA CORTA
Se pueden escribir a mano, en JPQL o en SQL nativo, con la anotación @Query. El ORM no lo impide.
PARA PASAR
“Ahora sigamos un dato completo, desde la pantalla hasta la fila.”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Cada pieza hace una sola traducción; si algo falla, se sabe en qué punto.
QUÉ DECIR (▶ CLIC = hacer clic)
“Ahora sigamos un dato de punta a punta. La persona llena el formulario y la pantalla manda un JSON: identificador SOL-100, tipo Consulta. ▶ CLIC El controlador recibe ese JSON y lo convierte en un objeto de Java.”
“▶ CLIC Ese objeto pasa por las reglas del negocio, que revisan, por ejemplo, que el identificador no exista. Hasta aquí no hay ni una línea de SQL. ▶ CLIC Cuando las reglas dicen que sí, Hibernate lo traduce a un INSERT con sus parámetros. ▶ CLIC El driver toma una conexión del pool, y PostgreSQL guarda la fila y confirma con un COMMIT.”
“Y de regreso, el mismo camino al revés: la fila se vuelve objeto, el objeto se vuelve JSON y la pantalla muestra la solicitud creada, con un 201.”
SI HAY TIEMPO, SE PUEDE AGREGAR
“Entre el controlador y la base hay dos objetos distintos a propósito: la Solicitud del negocio, que no sabe nada de tablas, y la SolicitudEntity, que es el reflejo de la tabla. Un adaptador traduce entre los dos.”
“Si el identificador ya existe, el viaje se corta en las reglas: no se toca la base y la persona recibe un 409 con el motivo.”
PARA PASAR
“Para hablar con la base, la aplicación necesita su dirección, su usuario y su clave. ¿Dónde están?”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Desarrollo 3
LO QUE SE LLEVA EL STAFF
Las claves fuera del código: rotarlas o cambiar de servidor no requiere recompilar.
QUÉ DECIR (▶ CLIC = hacer clic)
“Esta es la pregunta que siempre nos hacen: ¿dónde está la cadena de conexión? Empecemos por el centro: el servicio, al arrancar, lee su archivo de configuración, y ese archivo no tiene la dirección ni la clave. Solo tiene marcadores: DB_URL, DB_USER y DB_PASSWORD.”
“¿Quién llena esos marcadores? El ambiente donde corre. ▶ CLIC En Docker Compose, las variables se definen para cada servicio en el archivo compose.yaml. ▶ CLIC En Kubernetes, la dirección y el usuario van en el Deployment, ▶ CLIC y la clave se guarda aparte, en un Secret: un objeto del clúster hecho para datos sensibles, que el contenedor recibe como variable al arrancar.”
“▶ CLIC Con esos valores, el servicio abre su pool de conexiones contra la base.”
“▶ CLIC ¿Y la imagen Docker? No lleva ni dirección ni clave. Es la misma imagen en desarrollo, en pruebas y en producción. Cambiar de servidor de base de datos o rotar una clave no obliga a recompilar ni a tocar el código.”
SI HAY TIEMPO, SE PUEDE AGREGAR
“Un detalle honesto: el archivo de configuración trae un valor por defecto para trabajar en la computadora de cada uno. En un ambiente real nunca se usa, porque ahí siempre llegan las variables.”
“En el pipeline, la clave de la base de pruebas cambia en cada ejecución: se arma con el número de la corrida. Ni siquiera la base temporal tiene una clave fija.”
SI PREGUNTAN
¿El Secret no está en el repositorio?
RESPUESTA CORTA
En este laboratorio sí, con una clave de ejemplo, para que cualquiera lo levante. En un ambiente real el Secret se crea aparte, o lo alimenta un gestor de secretos, y nunca se versiona.
SI PREGUNTAN
¿Y si no usamos Kubernetes?
RESPUESTA CORTA
La misma idea funciona con variables de entorno del servidor o con un gestor de secretos. Lo importante es que la clave no viva en el código ni en el paquete que se despliega.
SI PREGUNTAN
¿Quién puede ver la clave en Kubernetes?
RESPUESTA CORTA
Quien tenga permiso de leer Secrets en ese espacio del clúster; ese acceso se controla con roles.
PARA PASAR
“Con la conexión resuelta, mi compañero de base de datos les cuenta qué pasa cuando se guarda: la transacción.”
PARA LEER MÁS
docs/inicio/bases-de-datos-locales.md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Lo que cambia junto se guarda junto: nunca quedan datos a medias.
QUÉ DECIR (▶ CLIC = hacer clic)
“Gracias. Para quienes administran bases de datos, esto es terreno conocido, solo que configurado desde la aplicación. Cuando llega una petición, el pool de conexiones, HikariCP, le presta una de sus conexiones abiertas; por defecto mantiene hasta diez y las reutiliza.”
“▶ CLIC Cuando un método lleva la anotación Transactional, empieza una transacción: es el BEGIN de siempre. ▶ CLIC Al enviar una solicitud, primero se actualiza su estado a enviada, ▶ CLIC y en la misma transacción se anota el aviso pendiente en la tabla evento. ▶ CLIC Al final, el COMMIT guarda las dos cosas juntas.”
“▶ CLIC Y si algo falla en el medio, se hace ROLLBACK de todo: no queda una solicitud enviada sin su aviso, ni un aviso sin su solicitud. Esa garantía es la base de lo que les va a explicar mi compañero de interconexión.”
SI HAY TIEMPO, SE PUEDE AGREGAR
“Abrir una conexión nueva a PostgreSQL toma su tiempo; con muchas peticiones, eso se nota. Por eso el pool las mantiene abiertas y las presta: es la diferencia entre responder rápido y saturar la base.”
“La transacción envuelve todo el método enviar: si el INSERT del evento fallara, por ejemplo por una restricción, el UPDATE de la solicitud también se deshace.”
SI PREGUNTAN
¿Cuántas conexiones abre cada servicio?
RESPUESTA CORTA
Las que define el pool; por defecto HikariCP mantiene hasta 10 y las reutiliza entre peticiones.
SI PREGUNTAN
¿Esto reemplaza las transacciones dentro de un procedimiento?
RESPUESTA CORTA
Es el mismo concepto: BEGIN, COMMIT y ROLLBACK. Solo que la transacción la abre la aplicación, alrededor del método que hace el trabajo.
PARA PASAR
“Esto es lo que nos dejó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Base de datos
PRESENTA: Base de datos
LO QUE SE LLEVA EL STAFF
El conocimiento de base de datos del staff sigue siendo clave, ahora junto al código.
QUÉ DECIR (▶ CLIC = hacer clic)
“Cuatro aprendizajes de datos, sobre todo para quienes venimos de los procedimientos almacenados. ▶ CLIC Primero: el ORM no elimina el trabajo de base de datos. Escribe el SQL rutinario, pero las llaves, las restricciones, los índices y las transacciones siguen siendo diseño de base.”
“▶ CLIC Segundo: la cadena de conexión no vive en el código; vive en el ambiente. ▶ CLIC Tercero: la transacción local sigue siendo la herramienta más confiable que tenemos. ▶ CLIC Y cuarto: el esquema también es código: versionado, repetible y validado al arrancar.”
SI HAY TIEMPO, SE PUEDE AGREGAR
“Para quien trabaja en base de datos, el rol no desaparece: pasa de escribir cada consulta a diseñar el modelo, cuidar índices y restricciones, y revisar el SQL que genera el ORM.”
PARA PASAR
“Esa transacción local es justo la base de la siguiente parte: cómo se avisan los servicios sin perder ni duplicar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Cada conexión tiene un porqué: cambiar una dirección o seguir un error no obliga a tocar todo.
QUÉ DECIR (▶ CLIC = hacer clic)
“Gracias. Ya vimos que los servicios no comparten base. Entonces, ¿cómo se hablan? Esta tabla lo resume, fila por fila. Primero, el navegador solo conoce la interfaz, nunca las direcciones internas.”
“▶ CLIC La interfaz tampoco llama directo a los servicios: nginx, su servidor web, recibe todo lo que empieza con /api y lo reenvía al servicio que corresponde. Si un servicio cambia de dirección, la pantalla ni se entera.”
“▶ CLIC Entre servicios, solicitudes le manda el evento a notificaciones con un POST en JSON. Pero no en el momento en que la persona envía, sino después, desde un proceso que llamamos el relevador. En un momento vemos por qué.”
“▶ CLIC Nadie usa direcciones IP: cada pieza encuentra a la otra por su nombre. ▶ CLIC Y en cada llamada viaja un traceId, un número que nos deja seguir el recorrido completo en los logs.”
SI HAY TIEMPO, SE PUEDE AGREGAR
“nginx espera menos que la interfaz, nueve segundos contra diez, para que el proxy responda con un error claro antes de que el navegador corte la petición.”
“La llamada entre servicios usa un cliente HTTP preparado para pasar el traceId. Con un cliente cualquiera, el seguimiento entre servicios se rompería; por eso es una regla del equipo.”
SI PREGUNTAN
¿Por qué no se llaman directamente por localhost?
RESPUESTA CORTA
Porque dentro de un contenedor localhost es el mismo contenedor; por eso cada servicio se busca por su nombre.
SI PREGUNTAN
¿Por qué HTTP y no una cola de mensajes como RabbitMQ o Kafka?
RESPUESTA CORTA
Para el laboratorio, HTTP con Outbox da la garantía que necesitamos sin otra pieza que operar. Si el volumen crece, el mismo diseño se puede pasar a una cola sin tocar las reglas.
PARA PASAR
“Hay dos formas de hablarse, y usamos las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La caída de un sistema secundario no detiene a quien está atendiendo al usuario.
QUÉ DECIR (▶ CLIC = hacer clic)
“Hay dos formas de comunicarse. La síncrona es como una llamada telefónica: la interfaz llama y espera a que el proceso se complete. La respuesta es inmediata, y por eso la usamos para crear, aprobar o rechazar: la persona necesita saber el resultado en ese momento. El costo es que, si el servicio se cae, la persona ve el error.”
“▶ CLIC La asíncrona es como un correo: el servicio de solicitudes envía el evento a notificaciones y continúa con su proceso, sin esperar. La respuesta puede demorar unos segundos, pero si notificaciones se cae, el evento no se pierde: espera hasta que el servicio vuelva.”
“La regla que aprendimos: lo que la persona necesita ver, síncrono; lo que puede esperar, asíncrono. Y esto pasa también en sus sistemas de hoy: un procedimiento que llama a otro sistema y espera su respuesta falla si el otro está caído.”
SI HAY TIEMPO, SE PUEDE AGREGAR
“Un ejemplo de la vida diaria: cuando pagamos con tarjeta, la aprobación es síncrona, porque necesitamos saber si pasó; el correo con el comprobante es asíncrono, porque puede llegar un minuto después.”
“La pregunta que nos hacemos en cada caso es: si el otro sistema está caído, ¿la persona tiene que enterarse? Si la respuesta es no, va asíncrono.”
SI PREGUNTAN
¿Por qué no hacerlo todo asíncrono?
RESPUESTA CORTA
Porque quien crea o aprueba una solicitud necesita saber en ese momento si se pudo. Lo asíncrono es para lo que puede esperar.
PARA PASAR
“¿Y cómo logramos que el evento espere sin perderse? Con el patrón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Ningún aviso se pierde, aunque el otro sistema esté caído. Y se puede aplicar también con procedimientos y un job.
QUÉ DECIR (▶ CLIC = hacer clic)
“Pensemos en el problema. Si al enviar una solicitud llamáramos directamente a notificaciones y justo estuviera caído, la solicitud quedaría enviada y nadie se enteraría. Por eso usamos el patrón Outbox, o bandeja de salida, que se apoya en la transacción que vimos en la parte de datos.”
“Al enviar, en una sola transacción se guardan la solicitud como enviada y su aviso pendiente. O se guardan las dos cosas, o ninguna, y la persona recibe su respuesta enseguida. ▶ CLIC El aviso queda esperando en la tabla evento, como una carta en la bandeja de salida.”
“▶ CLIC Después, un proceso que llamamos el relevador revisa la bandeja cada cinco segundos y entrega los pendientes, con hasta tres intentos. ▶ CLIC Si notificaciones lo recibe, la fila se marca como procesada. ▶ CLIC Si falla, la fila sigue pendiente, con el mismo número de evento, y se reintenta en el siguiente ciclo.”
“Esto se puede aplicar hoy mismo en un sistema con procedimientos almacenados: en lugar de llamar a otro sistema dentro del procedimiento, se anota el aviso en una tabla de pendientes y un job lo entrega.”
SI HAY TIEMPO, SE PUEDE AGREGAR
“El relevador hace hasta tres intentos por ciclo, esperando un poco más entre cada uno. Si los tres fallan, no pasa nada grave: la fila sigue pendiente y el siguiente ciclo, cinco segundos después, vuelve a intentar.”
“El número del evento se genera una sola vez, al guardar. Por eso cada reintento manda exactamente el mismo número, y del otro lado se puede reconocer como repetido.”
“En un sistema con procedimientos se traduce así: una tabla de pendientes con una columna procesado, un INSERT dentro de la misma transacción del procedimiento y un job que recorre los pendientes.”
SI PREGUNTAN
¿Que el envío responda bien significa que el aviso ya existe?
RESPUESTA CORTA
No. Significa que la solicitud y el evento quedaron guardados; el aviso llega después.
SI PREGUNTAN
¿Qué pasa si se cae solicitudes con avisos pendientes?
RESPUESTA CORTA
Nada se pierde: están en la base. Cuando el servicio vuelve, el relevador los encuentra y los entrega.
PARA PASAR
“Pero si se reintenta, ¿no puede llegar el aviso dos veces?”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Se puede reintentar sin miedo: un pago, un correo o un aviso nunca se duplica.
QUÉ DECIR (▶ CLIC = hacer clic)
“Sí, puede llegar dos veces. Imaginen que notificaciones recibió el evento y creó el aviso, pero la respuesta se perdió en la red. El relevador cree que falló y lo vuelve a mandar. Para eso está la idempotencia: repetir la misma operación no multiplica su efecto.”
“Así funciona: llega el evento con su número. ▶ CLIC Notificaciones busca ese número en la tabla evento_procesado. ▶ CLIC Si es nuevo, crea el aviso ▶ CLIC y anota el número, en la misma transacción. ▶ CLIC Si ya estaba, lo ignora: no se crea otro aviso. Como un portero con lista de invitados.”
“Los dos patrones se complementan: el Outbox evita perder y la idempotencia evita duplicar. Y sirve en cualquier sistema: todo proceso que se reintenta, un pago, un correo, un registro, debería tener una tabla de procesados con una llave única.”
SI HAY TIEMPO, SE PUEDE AGREGAR
“Lo probamos a propósito: la interfaz tiene un botón para reentregar un evento ya consumido, y el contador de avisos duplicados se mantiene en cero.”
“La idempotencia no es solo para mensajes: un pago, un registro de asistencia o una importación de archivos deberían poder reintentarse sin duplicar. La receta es la misma: un número único por operación y una tabla que lo recuerde.”
SI PREGUNTAN
¿Qué resuelve el Outbox y qué resuelve la idempotencia?
RESPUESTA CORTA
El Outbox evita perder el evento; la idempotencia evita duplicar su efecto.
SI PREGUNTAN
¿Y si llegan dos entregas al mismo tiempo?
RESPUESTA CORTA
La llave primaria de evento_procesado lo impide: solo una de las dos transacciones puede anotar el número; la otra falla y su reintento lo encuentra ya procesado.
PARA PASAR
“Esto es lo que aprendimos de la interconexión.”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Interconexión de servicios
PRESENTA: Desarrollo 4
LO QUE SE LLEVA EL STAFF
Cero avisos perdidos y cero duplicados, con patrones que sirven en cualquier tecnología.
QUÉ DECIR (▶ CLIC = hacer clic)
“Cuatro aprendizajes. ▶ CLIC Síncrono para lo que la persona necesita ver, asíncrono para lo que puede esperar. ▶ CLIC Guardar primero y avisar después: una transacción local y una bandeja de salida son más confiables que coordinar dos sistemas al mismo tiempo.”
“▶ CLIC Todo reintento necesita idempotencia del otro lado. ▶ CLIC Y entre dos servicios, lo único compartido es el contrato del mensaje; si cambia, cambia en los dos lados.”
SI HAY TIEMPO, SE PUEDE AGREGAR
“Juntos, Outbox e idempotencia logran lo que en la industria se llama entrega al menos una vez con efecto exactamente una vez. Es la base de muchos sistemas de pagos y de notificaciones.”
PARA PASAR
“Hasta aquí, el código y los datos. Ahora, ¿cómo llevamos todo esto a cualquier ambiente? Le paso la palabra a infraestructura.”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 camino único y automático del código a producción: menos pasos manuales y menos errores.
QUÉ DECIR (▶ CLIC = hacer clic)
“Gracias. DevOps no es una herramienta ni un puesto: es una forma de trabajar en la que desarrollo y operación dejan de ser dos mundos separados. Todo cambio recorre el mismo camino, de forma automática y repetible. Empieza en el código, en una rama con su Pull Request.”
“▶ CLIC Se construye, ▶ CLIC y se prueba solo, en cada cambio. ▶ CLIC Se empaqueta en una imagen Docker ▶ CLIC que se publica en un registro. ▶ CLIC Esa imagen se despliega y se opera en Kubernetes, ▶ CLIC y lo que pasa adentro se observa con los logs en un solo lugar. Lo que aprendemos al observar vuelve al código, y el ciclo empieza otra vez.”
“En las próximas láminas recorremos ese camino con ARKA-Lite, pieza por pieza: primero Docker, después el pipeline y al final Kubernetes.”
SI HAY TIEMPO, SE PUEDE AGREGAR
“En ARKA-Lite, cada paso del camino tiene su herramienta: Git y GitHub para el código, Maven para construir, las pruebas automáticas, Docker para empaquetar, GHCR para publicar, Kubernetes para operar y Loki con Grafana para observar.”
“Lo que más se nota en el día a día es que nadie hace pasos a mano: no se copian archivos a un servidor ni se corren pruebas de memoria. Si un paso falla, el camino se detiene y se sabe dónde.”
SI PREGUNTAN
¿DevOps es un equipo aparte?
RESPUESTA CORTA
Es una práctica. Puede haber personas que la impulsen, pero funciona cuando desarrollo e infraestructura comparten el mismo camino y las mismas herramientas.
PARA PASAR
“Empecemos por las dos herramientas que más se nombran: Docker y Kubernetes.”
PARA LEER MÁS
docs/operaciones/infraestructura-y-entrega.md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El mismo paquete del laptop al servidor, y un sistema que se cuida solo.
QUÉ DECIR (▶ CLIC = hacer clic)
“Docker y Kubernetes muchas veces se presentan como si uno reemplazara al otro, y no es así: no compiten, se complementan. Docker resuelve el clásico “en mi máquina funciona”: empaqueta la aplicación con Java y todo lo que necesita en una imagen, un paquete que no cambia y que corre igual en una laptop o en un servidor.”
“▶ CLIC Kubernetes empieza donde termina Docker. No empaqueta nada: toma esas imágenes y las administra. Decide dónde corre cada contenedor, lo vigila y, si uno se cae, levanta otro.”
“Piénsenlo como el transporte de carga: Docker es el contenedor estándar y Kubernetes es el puerto que los acomoda y reemplaza el que se daña. En nuestra computadora, Docker Compose levanta los ocho contenedores del sistema con un solo comando; en el clúster, esas mismas imágenes las administra Kubernetes, sin recompilar nada.”
SI HAY TIEMPO, SE PUEDE AGREGAR
“La imagen de cada servicio se construye en dos etapas: una con Maven para compilar y otra solo con Java para correr. Así la imagen final es más liviana y no lleva herramientas de compilación.”
“Además, el contenedor corre con un usuario sin privilegios: si alguien comprometiera la aplicación, no sería administrador del contenedor.”
SI PREGUNTAN
¿Docker es una máquina virtual?
RESPUESTA CORTA
No. Es más liviano: comparte el sistema operativo y solo aísla la aplicación y lo que necesita.
SI PREGUNTAN
¿Necesitamos Kubernetes para todo?
RESPUESTA CORTA
No. Para un sistema pequeño basta Docker Compose en un servidor. Kubernetes vale la pena cuando hay varios servicios, varias copias o hay que recuperarse solo.
PARA PASAR
“Veamos cómo nace un contenedor.”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La receta queda escrita: cualquiera construye la misma imagen, en cualquier computadora.
QUÉ DECIR (▶ CLIC = hacer clic)
“Así nace un contenedor. Todo empieza en el Dockerfile, que es la receta: qué se instala y qué se copia. ▶ CLIC En una primera etapa, Maven compila el código y produce el archivo JAR, que es la aplicación lista para correr.”
“▶ CLIC En la segunda etapa se arma la imagen final, solo con Java y ese JAR: más liviana y sin herramientas de compilación. Una imagen es un paquete que no cambia: la misma que probamos es la que se despliega.”
“▶ CLIC Cuando la imagen corre, se llama contenedor. El nuestro corre con un usuario sin privilegios: si alguien comprometiera la aplicación, no sería administrador del contenedor.”
SI HAY TIEMPO, SE PUEDE AGREGAR
“La primera etapa descarga las dependencias de Maven en una capa aparte. Mientras el pom.xml no cambie, esa capa se reutiliza y las siguientes construcciones tardan mucho menos.”
“Separar la compilación de la imagen final también es seguridad: la imagen que corre no lleva Maven ni el código fuente, solo lo necesario para ejecutar.”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Una persona nueva levanta el sistema completo en minutos, no en un día.
QUÉ DECIR (▶ CLIC = hacer clic)
“Con Docker, cada servicio viaja con su receta, y con Docker Compose levantamos el sistema completo con un solo comando: los dos servicios, sus dos bases, la interfaz y las herramientas de logs. Ocho contenedores en total.”
“La configuración, como la cadena de conexión que vimos en la parte de datos, entra por variables de entorno. Así la misma imagen sirve en nuestra computadora y en el clúster, sin recompilar.”
“Para alguien que llega nuevo al equipo, esto es la diferencia entre un día configurando su máquina y cinco minutos.”
SI HAY TIEMPO, SE PUEDE AGREGAR
“Compose arranca las piezas en orden: primero las bases, y cada servicio espera a que su base esté sana antes de arrancar.”
“La base de solicitudes no se publica hacia afuera; solo la ven los contenedores de la misma red. La de notificaciones sí, en el puerto 5433, para poder consultarla con cualquier herramienta.”
SI PREGUNTAN
Dentro de un contenedor, ¿a dónde lleva localhost?
RESPUESTA CORTA
Al mismo contenedor, no a otro servicio. Por eso usamos el nombre del servicio.
PARA PASAR
“¿Y cómo se encuentran entre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Saber qué se expone y qué no: menos superficie de ataque y menos confusiones al configurar.
QUÉ DECIR (▶ CLIC = hacer clic)
“Una duda muy común: si todo está en contenedores, ¿cómo se encuentran? Docker Compose crea una red privada y, adentro, cada contenedor se llama por su nombre. La interfaz, por ejemplo, es arka-lite-ui y escucha en el 8080; desde nuestra computadora la abrimos en el 8088.”
“▶ CLIC Solicitudes, adentro, es servicio-solicitudes en el 8080; afuera la vemos en el 18080. ▶ CLIC Notificaciones, lo mismo, en el 18081. Fíjense que adentro los dos usan el 8080 y no chocan: cada contenedor tiene su propia dirección.”
“▶ CLIC La base de solicitudes no se publica: solo la alcanzan los contenedores de la red. ▶ CLIC La de notificaciones sí, en el 5433, para consultarla con cualquier herramienta. Y una trampa clásica: dentro de un contenedor, localhost es el mismo contenedor; por eso los servicios se buscan por nombre.”
SI HAY TIEMPO, SE PUEDE AGREGAR
“Los puertos de afuera se pueden cambiar con variables, SOLICITUDES_PORT y NOTIFICACIONES_PORT, sin tocar el archivo de Compose.”
“En Kubernetes pasa algo parecido: cada componente tiene un Service con un nombre fijo, y desde afuera solo se abre la interfaz.”
SI PREGUNTAN
¿Por qué 18080 y no 8080 afuera?
RESPUESTA CORTA
Para no chocar con otros programas que ya usan el 8080 en la computadora. Se puede cambiar con una variable, sin tocar el archivo.
PARA PASAR
“¿Y en qué orden arrancan?”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Arranques sin errores ni pasos manuales: el orden queda escrito en el archivo.
QUÉ DECIR (▶ CLIC = hacer clic)
“Levantar ocho contenedores juntos tiene un riesgo: que un servicio arranque antes que su base y falle. Compose lo resuelve con pruebas de salud y dependencias. Primero arrancan las bases, y cada una avisa cuando ya acepta conexiones.”
“▶ CLIC Notificaciones arranca solo cuando su base está sana. ▶ CLIC Solicitudes espera a su base y también a notificaciones, porque le va a mandar eventos. ▶ CLIC Y la interfaz arranca al final, con su propia prueba de salud.”
“Es la misma idea que vamos a ver en Kubernetes con otro nombre: nadie recibe trabajo antes de estar listo.”
SI HAY TIEMPO, SE PUEDE AGREGAR
“La prueba de salud de las bases usa pg_isready, la misma herramienta de PostgreSQL que usaría un DBA para saber si la base responde.”
“Sin estas dependencias, el primer arranque fallaría a menudo y habría que levantar los servicios a mano, en orden.”
SI PREGUNTAN
¿Qué pasa si una base no arranca?
RESPUESTA CORTA
Su servicio no arranca tampoco, y docker compose ps muestra cuál quedó esperando. El error aparece en el lugar correcto, no como una falla rara más adelante.
PARA PASAR
“Y ese mismo comando también corre en la nube: Codespaces.”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1
LO QUE SE LLEVA EL STAFF
Cualquiera del equipo prueba o muestra el sistema desde un navegador, sin instalar nada.
QUÉ DECIR (▶ CLIC = hacer clic)
“Una pieza que resuelve cómo probar o mostrar el sistema sin instalar nada: GitHub Codespaces. Desde una rama del repositorio se crea una máquina en la nube lista para trabajar. ▶ CLIC La configuración vive en el mismo repositorio, en la carpeta .devcontainer: pide cuatro núcleos y Docker adentro.”
“▶ CLIC Al crearla, un script construye las imágenes y levanta los ocho contenedores, igual que en nuestra computadora. ▶ CLIC Cada puerto queda publicado por https y privado para la cuenta que lo abrió: la interfaz, Grafana y los dos Swagger. ▶ CLIC Y todo se usa desde el navegador.”
“El valor: cualquiera del equipo puede probar o mostrar el sistema sin instalar nada y sin depender de la red de la oficina. Lo verificamos con la prueba de humo completa: siete de siete.”
SI HAY TIEMPO, SE PUEDE AGREGAR
“La máquina publica cuatro puertos: la interfaz, Grafana y los dos Swagger. Un script escribe la dirección pública de cada puerto para que los enlaces de la interfaz también funcionen en la nube.”
“Un Codespace sin uso se detiene solo a los treinta minutos, y se borra al terminar. Para el día de la presentación lo arrancamos quince minutos antes.”
SI PREGUNTAN
¿Cuánto cuesta?
RESPUESTA CORTA
GitHub lo cobra por horas de núcleo: esta máquina de 4 núcleos consume 4 por cada hora encendida. Se detiene al terminar y deja de consumir.
PARA PASAR
“¿Y quién construye y publica las imágenes en cada cambio? El pipeline. Le paso la palabra a mi compañero.”
PARA LEER MÁS
docs/operaciones/codespaces.md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Un error se detecta antes de llegar a main, y cada imagen se rastrea hasta su commit.
QUÉ DECIR (▶ CLIC = hacer clic)
“Gracias. Así funciona el pipeline, desde el momento del push. Primero, algo que sorprende: un push a una rama de trabajo, por sí solo, no dispara nada. El pipeline arranca cuando se abre o se actualiza un Pull Request hacia main. Ahí corre la integración continua, el CI: un servidor de GitHub compila cada servicio, corre todas sus pruebas contra un PostgreSQL temporal, arranca el servicio de verdad hasta ver sus datos iniciales y construye la imagen Docker. El resultado queda en el mismo Pull Request: verde o rojo.”
“▶ CLIC Cuando el Pull Request se aprueba y se fusiona a main, corre otra vez el mismo CI, y después viene el CD, la entrega continua: la imagen se publica en el registro de GitHub, etiquetada con el código del commit, lista para desplegar.”
“Y una distinción que vale la pena: CD puede ser entrega continua, que es dejar la imagen lista, o despliegue continuo, que es instalarla sola en el ambiente. Nosotros llegamos a la entrega; el despliegue en Kubernetes es un paso aparte, con kubectl apply. Automatizarlo es el siguiente paso natural, con una aprobación de por medio.”
SI HAY TIEMPO, SE PUEDE AGREGAR
“El pipeline prueba los dos servicios en paralelo, cada uno con su propia base temporal, y tiene un trabajo aparte para la interfaz: valida, prueba, construye y comprueba que el archivo de Compose es válido.”
“La imagen de la interfaz solo se publica cuando el cambio llega a main; la de los servicios hoy también se publica desde el Pull Request. Es un ajuste que ya tenemos identificado.”
“Cada imagen lleva como etiqueta el código del commit. Si algo falla en un ambiente, sabemos exactamente qué versión está corriendo y podemos volver a la anterior.”
SI PREGUNTAN
¿Por qué no se despliega solo?
RESPUESTA CORTA
Porque es un laboratorio con un clúster local. En un ambiente real se agrega un paso de despliegue con aprobación, o una herramienta que aplica en el clúster lo que está en main.
SI PREGUNTAN
¿Las pruebas usan la base real?
RESPUESTA CORTA
No: GitHub crea un PostgreSQL temporal para cada ejecución, con una clave distinta cada vez, y lo descarta al terminar.
PARA PASAR
“Veamos qué hace el pipeline por dentro.”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Diagnóstico inmediato: el pipeline dice qué pieza falló y en qué paso.
QUÉ DECIR (▶ CLIC = hacer clic)
“Veamos qué hace el pipeline por dentro. Son tres trabajos que corren al mismo tiempo, cada uno en su propia máquina de GitHub. El de solicitudes levanta su propio PostgreSQL, compila y corre todas las pruebas, arranca el servicio de verdad y espera ver la solicitud de ejemplo CAM-002. Si todo pasa, construye la imagen y la publica.”
“▶ CLIC El de notificaciones hace lo mismo con su propia base: compila, prueba, construye y publica. ▶ CLIC Y el de la interfaz valida su contenido, corre sus pruebas, construye la aplicación y su imagen, y además comprueba que el archivo de Compose sea válido. Su imagen solo se publica cuando el cambio llega a main.”
“Que corran en paralelo tiene dos ventajas: el resultado llega antes, y si algo falla, el pipeline dice exactamente en cuál de las tres piezas y en qué paso.”
SI HAY TIEMPO, SE PUEDE AGREGAR
“La clave de cada base de pruebas se arma con el número de la ejecución: nunca hay una clave fija en el pipeline.”
“Para publicar en el registro de GitHub no se guarda ninguna contraseña: el pipeline usa un token temporal que GitHub le entrega a cada ejecución.”
SI PREGUNTAN
¿Dónde se ven los resultados?
RESPUESTA CORTA
En la pestaña Actions de GitHub y en el mismo Pull Request: cada trabajo con sus pasos y su registro.
PARA PASAR
“¿Y qué pasa cuando un cambio rompe algo?”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Los errores se detienen en el Pull Request, antes de llegar a main o a una imagen.
QUÉ DECIR (▶ CLIC = hacer clic)
“Veamos el caso que más valor tiene: un cambio que rompe algo. Imaginen que alguien, sin querer, cambia la regla y ahora se puede enviar dos veces la misma solicitud.”
“▶ CLIC Al actualizar el Pull Request, el pipeline arranca solo. ▶ CLIC En pocos minutos, la prueba de esa regla falla y el Pull Request queda en rojo. ▶ CLIC GitHub muestra qué trabajo falló, en qué paso y el mensaje de la prueba. ▶ CLIC La persona corrige, sube el cambio y el pipeline vuelve a correr.”
“▶ CLIC El resultado: el error nunca llegó a main, y no se publicó ninguna imagen con él, porque el paso de publicar va después de las pruebas. Esa es la red de seguridad de la integración continua.”
SI HAY TIEMPO, SE PUEDE AGREGAR
“Por eso cada regla del negocio tiene su prueba: la prueba es la que hace sonar la alarma.”
“Se puede ir más lejos con una regla del repositorio que impida fusionar un Pull Request mientras el pipeline esté en rojo. Es configuración de GitHub, sin tocar el código.”
SI PREGUNTAN
¿Y si alguien se salta el pipeline?
RESPUESTA CORTA
Nadie sube directo a main: todo entra por Pull Request. Además, GitHub permite exigir que el pipeline esté en verde antes de fusionar.
PARA PASAR
“Y cuando todo pasa, cada imagen queda marcada con su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Saber siempre qué código está corriendo y poder volver atrás con certeza.
QUÉ DECIR (▶ CLIC = hacer clic)
“Cuando todo pasa, queda algo muy valioso: trazabilidad. Cada imagen publicada lleva como etiqueta el SHA del commit, ese código largo que identifica un cambio en Git. ▶ CLIC Con ese código llegamos al cambio exacto: qué líneas cambiaron.”
“▶ CLIC Del commit llegamos al Pull Request: quién lo pidió, quién lo revisó y qué pruebas pasó. ▶ CLIC Y si una versión da problemas, volver atrás es desplegar la imagen del commit anterior, que sigue publicada en el registro.”
“Para operación, esto cambia la conversación: ya no es “¿qué versión tenemos?”, sino “esta imagen es este commit, revisado por estas personas”.”
SI HAY TIEMPO, SE PUEDE AGREGAR
“Etiquetar con el SHA, y no con latest, evita la duda clásica de si la imagen que corre es la nueva o la vieja.”
“En Kubernetes, el manifiesto dice qué imagen usar; cambiar de versión es cambiar esa línea y volver a aplicar.”
SI PREGUNTAN
¿Por qué no usar la etiqueta latest?
RESPUESTA CORTA
Porque latest cambia con cada publicación y no dice qué código es. Con el SHA, la etiqueta nunca miente.
PARA PASAR
“La imagen ya está publicada y rastreada. Ahora, dónde corre: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El clúster se mantiene solo como lo describimos, sin intervención manual.
QUÉ DECIR (▶ CLIC = hacer clic)
“Para entender Kubernetes hay que cambiar el chip: no le damos órdenes paso a paso, le decimos cómo queremos que esté el sistema. Eso se escribe en un archivo YAML, un manifiesto: qué imagen usar, cuántas copias de cada servicio y qué variables recibe.”
“▶ CLIC Con kubectl apply, ese archivo se le entrega al clúster. ▶ CLIC El Deployment lee el manifiesto y crea los Pods, que son donde corren los contenedores. ▶ CLIC El Service les da un nombre fijo, para que los demás los encuentren aunque un Pod se reemplace.”
“▶ CLIC Y lo más importante: Kubernetes compara todo el tiempo lo que hay con lo que pedimos. Si falta algo, lo crea; si sobra, lo quita. A eso se le llama ciclo de control, y es lo que hace que el sistema se repare solo.”
SI HAY TIEMPO, SE PUEDE AGREGAR
“Todos los manifiestos de ARKA-Lite están en la carpeta k8s del repositorio: cinco archivos, uno por componente, con su Deployment, su Service y, en las bases, su disco persistente.”
“Como el estado deseado está en archivos versionados, reconstruir el sistema completo en otro clúster es volver a aplicar esos archivos.”
SI PREGUNTAN
¿Qué pasa si alguien cambia algo a mano en el clúster?
RESPUESTA CORTA
El ciclo de control lo devuelve a lo que dice el manifiesto. Por eso los cambios se hacen en el archivo, versionado en el repositorio, y no a mano.
PARA PASAR
“Veamos las piezas que usamos en ARKA-Lite.”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El estado del sistema queda escrito y versionado, no en la memoria de alguien.
QUÉ DECIR (▶ CLIC = hacer clic)
“Estas son las piezas que usamos en ARKA-Lite. Arriba, el acceso: un Service le da a cada componente un nombre fijo, para que los demás lo encuentren aunque el contenedor cambie.”
“▶ CLIC Luego, el cómputo: un Deployment por componente, cinco en total, que dice cuántas copias queremos. Antes de arrancar, cada servicio espera a que su base responda, y una prueba de salud evita mandarle tráfico antes de tiempo.”
“▶ CLIC La configuración: la clave de la base en un Secret, como vimos en la parte de datos, y el resto en variables de entorno. ▶ CLIC Y los datos: cada base tiene su disco persistente, que sobrevive aunque el Pod se recree. Todo se aplica con un solo comando: kubectl apply sobre la carpeta k8s.”
SI HAY TIEMPO, SE PUEDE AGREGAR
“Antes de arrancar cada servicio, un contenedor previo espera a que su base responda. Sin eso, el servicio arrancaría, no encontraría la base y se reiniciaría una y otra vez.”
“La prueba de salud le dice a Kubernetes cuándo el servicio está listo para recibir tráfico. Arrancar no es lo mismo que estar listo, y esa diferencia evita errores en los primeros segundos.”
SI PREGUNTAN
¿Por qué la base corre como un Deployment y no como un servicio administrado?
RESPUESTA CORTA
Porque es un ambiente de laboratorio. En producción conviene una base administrada o un StatefulSet con respaldos.
PARA PASAR
“¿Y qué pasa cuando algo se cae?”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Un sistema que se recupera solo, sin que nadie se despierte a las tres de la mañana.
QUÉ DECIR (▶ CLIC = hacer clic)
“Ya vimos que Kubernetes compara todo el tiempo lo que hay con lo que pedimos. Veamos qué pasa cuando se cae el Pod de solicitudes, por un error, porque se reinició el servidor o porque alguien lo borró.”
“▶ CLIC En el mismo instante, el Deployment detecta que falta una copia. ▶ CLIC En un segundo, crea un Pod nuevo con la misma imagen. ▶ CLIC El Pod nuevo espera a que su base y notificaciones respondan, ▶ CLIC y solo cuando su prueba de salud contesta, vuelve a recibir tráfico.”
“▶ CLIC Nadie intervino. Y como los avisos pendientes están en la base, no en memoria, nada se pierde mientras tanto. Aquí se juntan las tres partes que vimos a fondo: la base guarda, el Outbox espera y Kubernetes repara.”
SI HAY TIEMPO, SE PUEDE AGREGAR
“Se demuestra en un minuto: se borra el Pod con kubectl delete y, mirando la lista de Pods, aparece uno nuevo que en unos segundos vuelve a estar listo.”
“Si lo que se cae es la base, pasa lo mismo: su Pod se recrea y los datos siguen en el disco persistente.”
SI PREGUNTAN
¿Y si se cae la base?
RESPUESTA CORTA
Su Pod también se recrea y los datos siguen en el disco persistente; los servicios esperan a que vuelva.
PARA PASAR
“Esto es lo que aprendimos de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5 · DevOps: Docker y Kubernetes
PRESENTA: Infraestructura 2
LO QUE SE LLEVA EL STAFF
Despliegues repetibles y un sistema que se repara solo.
QUÉ DECIR (▶ CLIC = hacer clic)
“Cuatro aprendizajes de DevOps. ▶ CLIC Docker y Kubernetes no compiten: uno empaqueta y el otro ejecuta y cuida. ▶ CLIC La imagen es el entregable: lo que prueba el pipeline es exactamente lo que se despliega.”
“▶ CLIC Configurar por variables y no por código, empezando por la cadena de conexión. ▶ CLIC Y declarar el estado que queremos, y probar que el servicio arranca, no solo que compila.”
SI HAY TIEMPO, SE PUEDE AGREGAR
“Lo que más valor nos dio de DevOps fue que todo quedó escrito: la receta de cada imagen, el archivo de Compose, los manifiestos de Kubernetes y el pipeline. Nada depende de la memoria de una persona.”
PARA PASAR
“Ya está desplegado. ¿Cómo sabemos qué pasa adentro? Le devuelvo la palabra a mi compañero.”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1
LO QUE SE LLEVA EL STAFF
Diagnosticar un error entre sistemas en minutos, con una sola búsqueda.
QUÉ DECIR (▶ CLIC = hacer clic)
“Gracias. La observabilidad la vemos de forma general. Con varios servicios, cada uno tiene sus logs, y si algo falla no queremos entrar contenedor por contenedor. Cada servicio escribe sus logs en JSON, con un formato estándar. ▶ CLIC Promtail los recoge de todos los contenedores, ▶ CLIC Loki los guarda etiquetados por servicio ▶ CLIC y Grafana nos deja buscarlos en un solo lugar.”
“Como cada llamada lleva su traceId, con una sola búsqueda vemos el viaje completo de un evento: cuándo lo publicó el relevador y cuándo lo consumió notificaciones. Y cada servicio expone su salud, que la interfaz muestra en verde o en rojo.”
SI HAY TIEMPO, SE PUEDE AGREGAR
“Para buscar en Grafana basta una consulta como: los logs del servicio de notificaciones que contengan la palabra evento. En segundos aparecen las líneas con el número del evento.”
“Los logs salen en un formato estándar, ECS, sin tocar el código del negocio: es una línea de configuración de Spring Boot.”
PARA PASAR
“Esto es lo que aprendimos de observar el sistema.”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6 · Observabilidad
PRESENTA: Infraestructura 1
LO QUE SE LLEVA EL STAFF
Saber qué pasa adentro sin adivinar.
QUÉ DECIR (▶ CLIC = hacer clic)
“Tres aprendizajes. ▶ CLIC Los logs estructurados se configuran desde el día uno; después es mucho más caro. ▶ CLIC En un sistema distribuido hace falta un identificador que cruce los servicios. ▶ CLIC Y salud no es lo mismo que correcto: un servicio puede estar arriba y tener avisos pendientes; hay que medir el resultado, no solo el proceso.”
SI HAY TIEMPO, SE PUEDE AGREGAR
“Si tuvieran que empezar por una sola cosa, sería un identificador por operación que viaje entre sistemas y aparezca en cada log. Con eso, diagnosticar deja de ser adivinar.”
PARA PASAR
“Para cerrar, le devuelvo la palabra a quien abrió, con el valor que deja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pilares que cualquier equipo puede adoptar.
QUÉ DECIR (▶ CLIC = hacer clic)
“Gracias. Si tuviéramos que resumir el valor en una lámina, sería esta. Datos consistentes: ante una caída, no se pierde ni se duplica un aviso. ▶ CLIC Conexión segura: la cadena de conexión y las claves viven fuera del código.”
“▶ CLIC Reproducibilidad: un comando y la misma imagen en cualquier ambiente. ▶ CLIC Calidad: pruebas automáticas en cada cambio, antes de integrarlo. ▶ CLIC Y trazabilidad: logs en un solo lugar e imágenes rastreables hasta su commit.”
SI HAY TIEMPO, SE PUEDE AGREGAR
“Si alguien pregunta por números: cero avisos perdidos o duplicados en las pruebas de caída, un comando para levantar los ocho contenedores y una imagen rastreable por cada commit.”
PARA PASAR
“Y lo más importante: qué pueden aplicar ustedes desde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Cinco prácticas concretas que se pueden empezar a aplicar sin cambiar de tecnología.
QUÉ DECIR (▶ CLIC = hacer clic)
“Esta es la lámina que más nos importa que se lleven. Nada de esto exige reescribir sus sistemas; todo funciona también con procedimientos almacenados. Primero: saquen la cadena de conexión del código; usen variables de entorno o un gestor de secretos.”
“▶ CLIC Segundo: si un procedimiento tiene que avisarle a otro sistema, no lo llamen ahí mismo. Anoten el aviso en una tabla de pendientes, en la misma transacción, y que un job lo entregue. Ese es el Outbox. ▶ CLIC Tercero: todo lo que se reintenta, un pago, un correo, un registro, debe ser idempotente: una tabla de procesados con llave única.”
“▶ CLIC Cuarto: un mismo identificador en todos los logs, para seguir una operación de un sistema a otro. ▶ CLIC Y quinto: el mismo paquete en todos los ambientes, para que lo que se prueba sea lo que se despliega.”
SI HAY TIEMPO, SE PUEDE AGREGAR
“El orden que recomendamos: primero la cadena de conexión, porque es un cambio pequeño que baja un riesgo real; después la tabla de pendientes en el proceso que más falla hoy; y luego la idempotencia en lo que se reintenta.”
“Ninguna de estas prácticas exige Java, microservicios ni Kubernetes. Son decisiones de diseño que se pueden tomar en el sistema que ya tienen.”
SI PREGUNTAN
¿Por dónde empezamos?
RESPUESTA CORTA
Por la cadena de conexión: es el cambio más pequeño y baja un riesgo real de seguridad. Después, la tabla de pendientes en el proceso que más falle hoy.
PARA PASAR
“Si nos llevamos solo tres ideas, que sean 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LO QUE SE LLEVA EL STAFF
Tres ideas para recordar al salir de la sala.
QUÉ DECIR (▶ CLIC = hacer clic)
“Tres ideas para cerrar. ▶ CLIC Diseñar para la falla: en un sistema distribuido algo siempre va a fallar, y la diferencia está en cómo reacciona. ▶ CLIC Automatizar la confianza: pruebas, pipeline e infraestructura declarada para cambiar rápido sin miedo. ▶ CLIC Y hacer visible el sistema: lo que no se ve no se puede diagnosticar ni explicar.”
SI HAY TIEMPO, SE PUEDE AGREGAR
“Si se llevan una sola frase: diseñen pensando en qué pasa cuando algo falla, no solo cuando todo sale bien. Y antes de pensar en el cómo, tengan claro el qué.”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Valor y cierre
PRESENTA: Desarrollo 1 · orquesta
QUÉ DECIR (▶ CLIC = hacer clic)
“Empezamos con un endpoint y terminamos con dos microservicios con sus bases de datos, empaquetados, desplegados, observados y documentados, que saben comportarse cuando algo falla.”
“Muchas gracias por acompañarnos, de parte de todo el equipo arka-litos. Con gusto respondemos sus preguntas.”
QUÉ HACER (no se dice)
• Quien orquesta recibe las preguntas y se las pasa a quien presentó esa parte.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80576" y="1984078"/>
            <a:ext cx="370332" cy="641434"/>
          </a:xfrm>
          <a:prstGeom prst="line">
            <a:avLst/>
          </a:prstGeom>
          <a:noFill/>
          <a:ln w="12700">
            <a:solidFill>
              <a:srgbClr val="2BA6CB">
                <a:alpha val="40000"/>
              </a:srgbClr>
            </a:solidFill>
            <a:prstDash val="solid"/>
          </a:ln>
        </p:spPr>
      </p:sp>
      <p:sp>
        <p:nvSpPr>
          <p:cNvPr id="7" name="Shape 5"/>
          <p:cNvSpPr/>
          <p:nvPr/>
        </p:nvSpPr>
        <p:spPr>
          <a:xfrm>
            <a:off x="9628632" y="3401568"/>
            <a:ext cx="740664" cy="0"/>
          </a:xfrm>
          <a:prstGeom prst="line">
            <a:avLst/>
          </a:prstGeom>
          <a:noFill/>
          <a:ln w="12700">
            <a:solidFill>
              <a:srgbClr val="2BA6CB">
                <a:alpha val="40000"/>
              </a:srgbClr>
            </a:solidFill>
            <a:prstDash val="solid"/>
          </a:ln>
        </p:spPr>
      </p:sp>
      <p:sp>
        <p:nvSpPr>
          <p:cNvPr id="8" name="Shape 6"/>
          <p:cNvSpPr/>
          <p:nvPr/>
        </p:nvSpPr>
        <p:spPr>
          <a:xfrm>
            <a:off x="9180576" y="4177624"/>
            <a:ext cx="370332" cy="641434"/>
          </a:xfrm>
          <a:prstGeom prst="line">
            <a:avLst/>
          </a:prstGeom>
          <a:noFill/>
          <a:ln w="12700">
            <a:solidFill>
              <a:srgbClr val="2BA6CB">
                <a:alpha val="40000"/>
              </a:srgbClr>
            </a:solidFill>
            <a:prstDash val="solid"/>
          </a:ln>
        </p:spPr>
      </p:sp>
      <p:sp>
        <p:nvSpPr>
          <p:cNvPr id="9" name="Shape 7"/>
          <p:cNvSpPr/>
          <p:nvPr/>
        </p:nvSpPr>
        <p:spPr>
          <a:xfrm flipH="1">
            <a:off x="7914132" y="4177624"/>
            <a:ext cx="370332" cy="641434"/>
          </a:xfrm>
          <a:prstGeom prst="line">
            <a:avLst/>
          </a:prstGeom>
          <a:noFill/>
          <a:ln w="12700">
            <a:solidFill>
              <a:srgbClr val="2BA6CB">
                <a:alpha val="40000"/>
              </a:srgbClr>
            </a:solidFill>
            <a:prstDash val="solid"/>
          </a:ln>
        </p:spPr>
      </p:sp>
      <p:sp>
        <p:nvSpPr>
          <p:cNvPr id="10" name="Shape 8"/>
          <p:cNvSpPr/>
          <p:nvPr/>
        </p:nvSpPr>
        <p:spPr>
          <a:xfrm flipH="1">
            <a:off x="7095744" y="3401568"/>
            <a:ext cx="740664" cy="0"/>
          </a:xfrm>
          <a:prstGeom prst="line">
            <a:avLst/>
          </a:prstGeom>
          <a:noFill/>
          <a:ln w="12700">
            <a:solidFill>
              <a:srgbClr val="2BA6CB">
                <a:alpha val="40000"/>
              </a:srgbClr>
            </a:solidFill>
            <a:prstDash val="solid"/>
          </a:ln>
        </p:spPr>
      </p:sp>
      <p:sp>
        <p:nvSpPr>
          <p:cNvPr id="11" name="Shape 9"/>
          <p:cNvSpPr/>
          <p:nvPr/>
        </p:nvSpPr>
        <p:spPr>
          <a:xfrm flipH="1" flipV="1">
            <a:off x="7914132" y="1984078"/>
            <a:ext cx="370332" cy="641434"/>
          </a:xfrm>
          <a:prstGeom prst="line">
            <a:avLst/>
          </a:prstGeom>
          <a:noFill/>
          <a:ln w="12700">
            <a:solidFill>
              <a:srgbClr val="2BA6CB">
                <a:alpha val="40000"/>
              </a:srgbClr>
            </a:solidFill>
            <a:prstDash val="solid"/>
          </a:ln>
        </p:spPr>
      </p:sp>
      <p:sp>
        <p:nvSpPr>
          <p:cNvPr id="12" name="Shape 10"/>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3" name="Shape 11"/>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4" name="Icono ship-wheel"/>
          <p:cNvSpPr/>
          <p:nvPr/>
        </p:nvSpPr>
        <p:spPr>
          <a:xfrm>
            <a:off x="8430768" y="2871216"/>
            <a:ext cx="603504" cy="603504"/>
          </a:xfrm>
          <a:custGeom>
            <a:avLst/>
            <a:gdLst/>
            <a:ahLst/>
            <a:cxnLst/>
            <a:rect l="l" t="t" r="r" b="b"/>
            <a:pathLst>
              <a:path w="603504" h="603504">
                <a:moveTo>
                  <a:pt x="502920" y="301752"/>
                </a:moveTo>
                <a:cubicBezTo>
                  <a:pt x="502920" y="412854"/>
                  <a:pt x="412854" y="502920"/>
                  <a:pt x="301752" y="502920"/>
                </a:cubicBezTo>
                <a:cubicBezTo>
                  <a:pt x="190650" y="502920"/>
                  <a:pt x="100584" y="412854"/>
                  <a:pt x="100584" y="301752"/>
                </a:cubicBezTo>
                <a:cubicBezTo>
                  <a:pt x="100584" y="190650"/>
                  <a:pt x="190650" y="100584"/>
                  <a:pt x="301752" y="100584"/>
                </a:cubicBezTo>
                <a:cubicBezTo>
                  <a:pt x="412854" y="100584"/>
                  <a:pt x="502920" y="190650"/>
                  <a:pt x="502920" y="301752"/>
                </a:cubicBezTo>
                <a:close/>
                <a:moveTo>
                  <a:pt x="301752" y="50292"/>
                </a:moveTo>
                <a:lnTo>
                  <a:pt x="301752" y="238887"/>
                </a:lnTo>
                <a:moveTo>
                  <a:pt x="477774" y="125730"/>
                </a:moveTo>
                <a:lnTo>
                  <a:pt x="346260" y="257244"/>
                </a:lnTo>
                <a:moveTo>
                  <a:pt x="553212" y="301752"/>
                </a:moveTo>
                <a:lnTo>
                  <a:pt x="364617" y="301752"/>
                </a:lnTo>
                <a:moveTo>
                  <a:pt x="477774" y="477774"/>
                </a:moveTo>
                <a:lnTo>
                  <a:pt x="346260" y="346260"/>
                </a:lnTo>
                <a:moveTo>
                  <a:pt x="301752" y="364617"/>
                </a:moveTo>
                <a:lnTo>
                  <a:pt x="301752" y="553212"/>
                </a:lnTo>
                <a:moveTo>
                  <a:pt x="257244" y="346260"/>
                </a:moveTo>
                <a:lnTo>
                  <a:pt x="125730" y="477774"/>
                </a:lnTo>
                <a:moveTo>
                  <a:pt x="238887" y="301752"/>
                </a:moveTo>
                <a:lnTo>
                  <a:pt x="50292" y="301752"/>
                </a:lnTo>
                <a:moveTo>
                  <a:pt x="257244" y="257244"/>
                </a:moveTo>
                <a:lnTo>
                  <a:pt x="125730" y="125730"/>
                </a:lnTo>
                <a:moveTo>
                  <a:pt x="364617" y="301752"/>
                </a:moveTo>
                <a:cubicBezTo>
                  <a:pt x="364617" y="336471"/>
                  <a:pt x="336471" y="364617"/>
                  <a:pt x="301752" y="364617"/>
                </a:cubicBezTo>
                <a:cubicBezTo>
                  <a:pt x="267033" y="364617"/>
                  <a:pt x="238887" y="336471"/>
                  <a:pt x="238887" y="301752"/>
                </a:cubicBezTo>
                <a:cubicBezTo>
                  <a:pt x="238887" y="267033"/>
                  <a:pt x="267033" y="238887"/>
                  <a:pt x="301752" y="238887"/>
                </a:cubicBezTo>
                <a:cubicBezTo>
                  <a:pt x="336471" y="238887"/>
                  <a:pt x="364617" y="267033"/>
                  <a:pt x="364617" y="301752"/>
                </a:cubicBezTo>
                <a:close/>
              </a:path>
            </a:pathLst>
          </a:custGeom>
          <a:noFill/>
          <a:ln w="37719" cap="rnd">
            <a:solidFill>
              <a:srgbClr val="2BA6CB"/>
            </a:solidFill>
            <a:prstDash val="solid"/>
            <a:round/>
          </a:ln>
        </p:spPr>
      </p:sp>
      <p:sp>
        <p:nvSpPr>
          <p:cNvPr id="15" name="Text 13"/>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16" name="Shape 14"/>
          <p:cNvSpPr/>
          <p:nvPr/>
        </p:nvSpPr>
        <p:spPr>
          <a:xfrm>
            <a:off x="9413748" y="1397245"/>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7" name="Icono code"/>
          <p:cNvSpPr/>
          <p:nvPr/>
        </p:nvSpPr>
        <p:spPr>
          <a:xfrm>
            <a:off x="9560052" y="1543549"/>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8" name="Text 16"/>
          <p:cNvSpPr/>
          <p:nvPr/>
        </p:nvSpPr>
        <p:spPr>
          <a:xfrm>
            <a:off x="9834372" y="1324093"/>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19" name="Text 17"/>
          <p:cNvSpPr/>
          <p:nvPr/>
        </p:nvSpPr>
        <p:spPr>
          <a:xfrm>
            <a:off x="10108692" y="1552693"/>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0" name="Shape 18"/>
          <p:cNvSpPr/>
          <p:nvPr/>
        </p:nvSpPr>
        <p:spPr>
          <a:xfrm>
            <a:off x="10396728" y="309981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1" name="Icono network"/>
          <p:cNvSpPr/>
          <p:nvPr/>
        </p:nvSpPr>
        <p:spPr>
          <a:xfrm>
            <a:off x="10543032" y="324612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2" name="Text 20"/>
          <p:cNvSpPr/>
          <p:nvPr/>
        </p:nvSpPr>
        <p:spPr>
          <a:xfrm>
            <a:off x="10817352" y="302666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3" name="Text 21"/>
          <p:cNvSpPr/>
          <p:nvPr/>
        </p:nvSpPr>
        <p:spPr>
          <a:xfrm>
            <a:off x="10126980" y="3739896"/>
            <a:ext cx="1143000" cy="292608"/>
          </a:xfrm>
          <a:prstGeom prst="rect">
            <a:avLst/>
          </a:prstGeom>
          <a:noFill/>
          <a:ln/>
        </p:spPr>
        <p:txBody>
          <a:bodyPr wrap="square" lIns="0" tIns="0" rIns="0" bIns="0" rtlCol="0" anchor="ctr"/>
          <a:lstStyle/>
          <a:p>
            <a:pPr algn="ctr"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4" name="Shape 22"/>
          <p:cNvSpPr/>
          <p:nvPr/>
        </p:nvSpPr>
        <p:spPr>
          <a:xfrm>
            <a:off x="9413748" y="480238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5" name="Icono database"/>
          <p:cNvSpPr/>
          <p:nvPr/>
        </p:nvSpPr>
        <p:spPr>
          <a:xfrm>
            <a:off x="9560052" y="494869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6" name="Text 24"/>
          <p:cNvSpPr/>
          <p:nvPr/>
        </p:nvSpPr>
        <p:spPr>
          <a:xfrm>
            <a:off x="9834372" y="472923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7" name="Text 25"/>
          <p:cNvSpPr/>
          <p:nvPr/>
        </p:nvSpPr>
        <p:spPr>
          <a:xfrm>
            <a:off x="10108692" y="495783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8" name="Shape 26"/>
          <p:cNvSpPr/>
          <p:nvPr/>
        </p:nvSpPr>
        <p:spPr>
          <a:xfrm>
            <a:off x="7447788" y="480238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9" name="Icono waypoints"/>
          <p:cNvSpPr/>
          <p:nvPr/>
        </p:nvSpPr>
        <p:spPr>
          <a:xfrm>
            <a:off x="7594092" y="4948691"/>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0" name="Text 28"/>
          <p:cNvSpPr/>
          <p:nvPr/>
        </p:nvSpPr>
        <p:spPr>
          <a:xfrm>
            <a:off x="7868412" y="472923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1" name="Text 29"/>
          <p:cNvSpPr/>
          <p:nvPr/>
        </p:nvSpPr>
        <p:spPr>
          <a:xfrm>
            <a:off x="6213348" y="495783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2" name="Shape 30"/>
          <p:cNvSpPr/>
          <p:nvPr/>
        </p:nvSpPr>
        <p:spPr>
          <a:xfrm>
            <a:off x="6464808" y="309981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3" name="Icono container"/>
          <p:cNvSpPr/>
          <p:nvPr/>
        </p:nvSpPr>
        <p:spPr>
          <a:xfrm>
            <a:off x="6611112" y="324612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4" name="Text 32"/>
          <p:cNvSpPr/>
          <p:nvPr/>
        </p:nvSpPr>
        <p:spPr>
          <a:xfrm>
            <a:off x="6885432" y="302666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5" name="Text 33"/>
          <p:cNvSpPr/>
          <p:nvPr/>
        </p:nvSpPr>
        <p:spPr>
          <a:xfrm>
            <a:off x="5230368" y="325526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6" name="Shape 34"/>
          <p:cNvSpPr/>
          <p:nvPr/>
        </p:nvSpPr>
        <p:spPr>
          <a:xfrm>
            <a:off x="7447788" y="1397245"/>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7" name="Icono chart-line"/>
          <p:cNvSpPr/>
          <p:nvPr/>
        </p:nvSpPr>
        <p:spPr>
          <a:xfrm>
            <a:off x="7594092" y="1543549"/>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8" name="Text 36"/>
          <p:cNvSpPr/>
          <p:nvPr/>
        </p:nvSpPr>
        <p:spPr>
          <a:xfrm>
            <a:off x="7868412" y="1324093"/>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39" name="Text 37"/>
          <p:cNvSpPr/>
          <p:nvPr/>
        </p:nvSpPr>
        <p:spPr>
          <a:xfrm>
            <a:off x="6213348" y="1552693"/>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0" name="Shape 38"/>
          <p:cNvSpPr/>
          <p:nvPr/>
        </p:nvSpPr>
        <p:spPr>
          <a:xfrm>
            <a:off x="758952" y="530352"/>
            <a:ext cx="329184" cy="329184"/>
          </a:xfrm>
          <a:prstGeom prst="ellipse">
            <a:avLst/>
          </a:prstGeom>
          <a:solidFill>
            <a:srgbClr val="2BA6CB"/>
          </a:solidFill>
          <a:ln w="12700">
            <a:solidFill>
              <a:srgbClr val="2BA6CB"/>
            </a:solidFill>
            <a:prstDash val="solid"/>
          </a:ln>
        </p:spPr>
      </p:sp>
      <p:sp>
        <p:nvSpPr>
          <p:cNvPr id="41" name="Text 3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2" name="Text 4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3" name="Text 41"/>
          <p:cNvSpPr/>
          <p:nvPr/>
        </p:nvSpPr>
        <p:spPr>
          <a:xfrm>
            <a:off x="758952" y="1371600"/>
            <a:ext cx="5669280" cy="274320"/>
          </a:xfrm>
          <a:prstGeom prst="rect">
            <a:avLst/>
          </a:prstGeom>
          <a:noFill/>
          <a:ln/>
        </p:spPr>
        <p:txBody>
          <a:bodyPr wrap="square" lIns="0" tIns="0" rIns="0" bIns="0" rtlCol="0" anchor="ctr">
            <a:normAutofit/>
          </a:bodyP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EQUIPO ARKA-LITOS · UPSKILLING BACKEND JAVA</a:t>
            </a:r>
            <a:endParaRPr lang="en-US" sz="1200" dirty="0"/>
          </a:p>
        </p:txBody>
      </p:sp>
      <p:sp>
        <p:nvSpPr>
          <p:cNvPr id="44" name="Text 42"/>
          <p:cNvSpPr/>
          <p:nvPr/>
        </p:nvSpPr>
        <p:spPr>
          <a:xfrm>
            <a:off x="758952" y="1719072"/>
            <a:ext cx="548640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45" name="Text 43"/>
          <p:cNvSpPr/>
          <p:nvPr/>
        </p:nvSpPr>
        <p:spPr>
          <a:xfrm>
            <a:off x="758952" y="3584448"/>
            <a:ext cx="4480560" cy="731520"/>
          </a:xfrm>
          <a:prstGeom prst="rect">
            <a:avLst/>
          </a:prstGeom>
          <a:noFill/>
          <a:ln/>
        </p:spPr>
        <p:txBody>
          <a:bodyPr wrap="square" lIns="0" tIns="0" rIns="0" bIns="0" rtlCol="0" anchor="t"/>
          <a:lstStyle/>
          <a:p>
            <a:pPr indent="0" marL="0">
              <a:buNone/>
            </a:pPr>
            <a:r>
              <a:rPr lang="en-US" sz="1700" dirty="0">
                <a:solidFill>
                  <a:srgbClr val="9FBEE0"/>
                </a:solidFill>
                <a:latin typeface="Segoe UI" pitchFamily="34" charset="0"/>
                <a:ea typeface="Segoe UI" pitchFamily="34" charset="-122"/>
                <a:cs typeface="Segoe UI" pitchFamily="34" charset="-120"/>
              </a:rPr>
              <a:t>Cómo construimos dos microservicios con sus datos, su plataforma y su operación.</a:t>
            </a:r>
            <a:endParaRPr lang="en-US" sz="1700" dirty="0"/>
          </a:p>
        </p:txBody>
      </p:sp>
      <p:sp>
        <p:nvSpPr>
          <p:cNvPr id="46" name="Shape 44"/>
          <p:cNvSpPr/>
          <p:nvPr/>
        </p:nvSpPr>
        <p:spPr>
          <a:xfrm>
            <a:off x="758952" y="4498848"/>
            <a:ext cx="1225296" cy="914400"/>
          </a:xfrm>
          <a:prstGeom prst="roundRect">
            <a:avLst>
              <a:gd name="adj" fmla="val 10000"/>
            </a:avLst>
          </a:prstGeom>
          <a:solidFill>
            <a:srgbClr val="1C2F48"/>
          </a:solidFill>
          <a:ln w="9525">
            <a:solidFill>
              <a:srgbClr val="164E6D"/>
            </a:solidFill>
            <a:prstDash val="solid"/>
          </a:ln>
        </p:spPr>
      </p:sp>
      <p:sp>
        <p:nvSpPr>
          <p:cNvPr id="47" name="Shape 45"/>
          <p:cNvSpPr/>
          <p:nvPr/>
        </p:nvSpPr>
        <p:spPr>
          <a:xfrm>
            <a:off x="758952" y="4590288"/>
            <a:ext cx="45720" cy="731520"/>
          </a:xfrm>
          <a:prstGeom prst="rect">
            <a:avLst/>
          </a:prstGeom>
          <a:solidFill>
            <a:srgbClr val="2BA6CB"/>
          </a:solidFill>
          <a:ln w="12700">
            <a:solidFill>
              <a:srgbClr val="2BA6CB"/>
            </a:solidFill>
            <a:prstDash val="solid"/>
          </a:ln>
        </p:spPr>
      </p:sp>
      <p:sp>
        <p:nvSpPr>
          <p:cNvPr id="48" name="Text 46"/>
          <p:cNvSpPr/>
          <p:nvPr/>
        </p:nvSpPr>
        <p:spPr>
          <a:xfrm>
            <a:off x="905256"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49" name="Text 47"/>
          <p:cNvSpPr/>
          <p:nvPr/>
        </p:nvSpPr>
        <p:spPr>
          <a:xfrm>
            <a:off x="905256"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microservicios</a:t>
            </a:r>
            <a:endParaRPr lang="en-US" sz="1000" dirty="0"/>
          </a:p>
        </p:txBody>
      </p:sp>
      <p:sp>
        <p:nvSpPr>
          <p:cNvPr id="50" name="Shape 48"/>
          <p:cNvSpPr/>
          <p:nvPr/>
        </p:nvSpPr>
        <p:spPr>
          <a:xfrm>
            <a:off x="2075688" y="4498848"/>
            <a:ext cx="1225296" cy="914400"/>
          </a:xfrm>
          <a:prstGeom prst="roundRect">
            <a:avLst>
              <a:gd name="adj" fmla="val 10000"/>
            </a:avLst>
          </a:prstGeom>
          <a:solidFill>
            <a:srgbClr val="1C2F48"/>
          </a:solidFill>
          <a:ln w="9525">
            <a:solidFill>
              <a:srgbClr val="164E6D"/>
            </a:solidFill>
            <a:prstDash val="solid"/>
          </a:ln>
        </p:spPr>
      </p:sp>
      <p:sp>
        <p:nvSpPr>
          <p:cNvPr id="51" name="Shape 49"/>
          <p:cNvSpPr/>
          <p:nvPr/>
        </p:nvSpPr>
        <p:spPr>
          <a:xfrm>
            <a:off x="2075688" y="4590288"/>
            <a:ext cx="45720" cy="731520"/>
          </a:xfrm>
          <a:prstGeom prst="rect">
            <a:avLst/>
          </a:prstGeom>
          <a:solidFill>
            <a:srgbClr val="2BA6CB"/>
          </a:solidFill>
          <a:ln w="12700">
            <a:solidFill>
              <a:srgbClr val="2BA6CB"/>
            </a:solidFill>
            <a:prstDash val="solid"/>
          </a:ln>
        </p:spPr>
      </p:sp>
      <p:sp>
        <p:nvSpPr>
          <p:cNvPr id="52" name="Text 50"/>
          <p:cNvSpPr/>
          <p:nvPr/>
        </p:nvSpPr>
        <p:spPr>
          <a:xfrm>
            <a:off x="2221992"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2</a:t>
            </a:r>
            <a:endParaRPr lang="en-US" sz="2600" dirty="0"/>
          </a:p>
        </p:txBody>
      </p:sp>
      <p:sp>
        <p:nvSpPr>
          <p:cNvPr id="53" name="Text 51"/>
          <p:cNvSpPr/>
          <p:nvPr/>
        </p:nvSpPr>
        <p:spPr>
          <a:xfrm>
            <a:off x="2221992"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bases PostgreSQL</a:t>
            </a:r>
            <a:endParaRPr lang="en-US" sz="1000" dirty="0"/>
          </a:p>
        </p:txBody>
      </p:sp>
      <p:sp>
        <p:nvSpPr>
          <p:cNvPr id="54" name="Shape 52"/>
          <p:cNvSpPr/>
          <p:nvPr/>
        </p:nvSpPr>
        <p:spPr>
          <a:xfrm>
            <a:off x="3392424" y="4498848"/>
            <a:ext cx="1225296" cy="914400"/>
          </a:xfrm>
          <a:prstGeom prst="roundRect">
            <a:avLst>
              <a:gd name="adj" fmla="val 10000"/>
            </a:avLst>
          </a:prstGeom>
          <a:solidFill>
            <a:srgbClr val="1C2F48"/>
          </a:solidFill>
          <a:ln w="9525">
            <a:solidFill>
              <a:srgbClr val="164E6D"/>
            </a:solidFill>
            <a:prstDash val="solid"/>
          </a:ln>
        </p:spPr>
      </p:sp>
      <p:sp>
        <p:nvSpPr>
          <p:cNvPr id="55" name="Shape 53"/>
          <p:cNvSpPr/>
          <p:nvPr/>
        </p:nvSpPr>
        <p:spPr>
          <a:xfrm>
            <a:off x="3392424" y="4590288"/>
            <a:ext cx="45720" cy="731520"/>
          </a:xfrm>
          <a:prstGeom prst="rect">
            <a:avLst/>
          </a:prstGeom>
          <a:solidFill>
            <a:srgbClr val="2BA6CB"/>
          </a:solidFill>
          <a:ln w="12700">
            <a:solidFill>
              <a:srgbClr val="2BA6CB"/>
            </a:solidFill>
            <a:prstDash val="solid"/>
          </a:ln>
        </p:spPr>
      </p:sp>
      <p:sp>
        <p:nvSpPr>
          <p:cNvPr id="56" name="Text 54"/>
          <p:cNvSpPr/>
          <p:nvPr/>
        </p:nvSpPr>
        <p:spPr>
          <a:xfrm>
            <a:off x="3538728"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1</a:t>
            </a:r>
            <a:endParaRPr lang="en-US" sz="2600" dirty="0"/>
          </a:p>
        </p:txBody>
      </p:sp>
      <p:sp>
        <p:nvSpPr>
          <p:cNvPr id="57" name="Text 55"/>
          <p:cNvSpPr/>
          <p:nvPr/>
        </p:nvSpPr>
        <p:spPr>
          <a:xfrm>
            <a:off x="3538728" y="4974336"/>
            <a:ext cx="1024128" cy="384048"/>
          </a:xfrm>
          <a:prstGeom prst="rect">
            <a:avLst/>
          </a:prstGeom>
          <a:noFill/>
          <a:ln/>
        </p:spPr>
        <p:txBody>
          <a:bodyPr wrap="square" lIns="0" tIns="0" rIns="0" bIns="0" rtlCol="0" anchor="t"/>
          <a:lstStyle/>
          <a:p>
            <a:pPr indent="0" marL="0">
              <a:buNone/>
            </a:pPr>
            <a:r>
              <a:rPr lang="en-US" sz="1000" dirty="0">
                <a:solidFill>
                  <a:srgbClr val="9FBEE0"/>
                </a:solidFill>
                <a:latin typeface="Segoe UI" pitchFamily="34" charset="0"/>
                <a:ea typeface="Segoe UI" pitchFamily="34" charset="-122"/>
                <a:cs typeface="Segoe UI" pitchFamily="34" charset="-120"/>
              </a:rPr>
              <a:t>comando levanta todo</a:t>
            </a:r>
            <a:endParaRPr lang="en-US" sz="1000" dirty="0"/>
          </a:p>
        </p:txBody>
      </p:sp>
      <p:sp>
        <p:nvSpPr>
          <p:cNvPr id="58" name="Shape 56"/>
          <p:cNvSpPr/>
          <p:nvPr/>
        </p:nvSpPr>
        <p:spPr>
          <a:xfrm>
            <a:off x="4709160" y="4498848"/>
            <a:ext cx="1225296" cy="914400"/>
          </a:xfrm>
          <a:prstGeom prst="roundRect">
            <a:avLst>
              <a:gd name="adj" fmla="val 10000"/>
            </a:avLst>
          </a:prstGeom>
          <a:solidFill>
            <a:srgbClr val="1C2F48"/>
          </a:solidFill>
          <a:ln w="9525">
            <a:solidFill>
              <a:srgbClr val="164E6D"/>
            </a:solidFill>
            <a:prstDash val="solid"/>
          </a:ln>
        </p:spPr>
      </p:sp>
      <p:sp>
        <p:nvSpPr>
          <p:cNvPr id="59" name="Shape 57"/>
          <p:cNvSpPr/>
          <p:nvPr/>
        </p:nvSpPr>
        <p:spPr>
          <a:xfrm>
            <a:off x="4709160" y="4590288"/>
            <a:ext cx="45720" cy="731520"/>
          </a:xfrm>
          <a:prstGeom prst="rect">
            <a:avLst/>
          </a:prstGeom>
          <a:solidFill>
            <a:srgbClr val="2BA6CB"/>
          </a:solidFill>
          <a:ln w="12700">
            <a:solidFill>
              <a:srgbClr val="2BA6CB"/>
            </a:solidFill>
            <a:prstDash val="solid"/>
          </a:ln>
        </p:spPr>
      </p:sp>
      <p:sp>
        <p:nvSpPr>
          <p:cNvPr id="60" name="Text 58"/>
          <p:cNvSpPr/>
          <p:nvPr/>
        </p:nvSpPr>
        <p:spPr>
          <a:xfrm>
            <a:off x="4855464" y="4553712"/>
            <a:ext cx="1005840" cy="420624"/>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0</a:t>
            </a:r>
            <a:endParaRPr lang="en-US" sz="2600" dirty="0"/>
          </a:p>
        </p:txBody>
      </p:sp>
      <p:sp>
        <p:nvSpPr>
          <p:cNvPr id="61" name="Text 59"/>
          <p:cNvSpPr/>
          <p:nvPr/>
        </p:nvSpPr>
        <p:spPr>
          <a:xfrm>
            <a:off x="4855464" y="4974336"/>
            <a:ext cx="1024128" cy="384048"/>
          </a:xfrm>
          <a:prstGeom prst="rect">
            <a:avLst/>
          </a:prstGeom>
          <a:noFill/>
          <a:ln/>
        </p:spPr>
        <p:txBody>
          <a:bodyPr wrap="square" lIns="0" tIns="0" rIns="0" bIns="0" rtlCol="0" anchor="t"/>
          <a:lstStyle/>
          <a:p>
            <a:pPr indent="0" marL="0">
              <a:buNone/>
            </a:pPr>
            <a:r>
              <a:rPr lang="en-US" sz="950" dirty="0">
                <a:solidFill>
                  <a:srgbClr val="9FBEE0"/>
                </a:solidFill>
                <a:latin typeface="Segoe UI" pitchFamily="34" charset="0"/>
                <a:ea typeface="Segoe UI" pitchFamily="34" charset="-122"/>
                <a:cs typeface="Segoe UI" pitchFamily="34" charset="-120"/>
              </a:rPr>
              <a:t>avisos perdidos o duplicados</a:t>
            </a:r>
            <a:endParaRPr lang="en-US" sz="950" dirty="0"/>
          </a:p>
        </p:txBody>
      </p:sp>
      <p:sp>
        <p:nvSpPr>
          <p:cNvPr id="62" name="Text 60"/>
          <p:cNvSpPr/>
          <p:nvPr/>
        </p:nvSpPr>
        <p:spPr>
          <a:xfrm>
            <a:off x="758952" y="5742432"/>
            <a:ext cx="5577840" cy="329184"/>
          </a:xfrm>
          <a:prstGeom prst="roundRect">
            <a:avLst>
              <a:gd name="adj" fmla="val 50000"/>
            </a:avLst>
          </a:prstGeom>
          <a:solidFill>
            <a:srgbClr val="113A57"/>
          </a:solidFill>
          <a:ln w="12700">
            <a:solidFill>
              <a:srgbClr val="2BA6CB"/>
            </a:solidFill>
          </a:ln>
        </p:spPr>
        <p:txBody>
          <a:bodyPr wrap="square" lIns="0" tIns="0" rIns="0" bIns="0" rtlCol="0" anchor="ctr"/>
          <a:lstStyle/>
          <a:p>
            <a:pPr algn="ctr" indent="0" marL="0">
              <a:buNone/>
            </a:pPr>
            <a:r>
              <a:rPr lang="en-US" sz="1000" b="1" spc="100" kern="0" dirty="0">
                <a:solidFill>
                  <a:srgbClr val="2BA6CB"/>
                </a:solidFill>
                <a:latin typeface="Segoe UI" pitchFamily="34" charset="0"/>
                <a:ea typeface="Segoe UI" pitchFamily="34" charset="-122"/>
                <a:cs typeface="Segoe UI" pitchFamily="34" charset="-120"/>
              </a:rPr>
              <a:t>VERSIÓN EJECUTIVO SIN DEMOSTRACIÓN · STAFF DE TECNOLOGÍA</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vamos a ver</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Las mismas secciones que todos los equipos; nosotros vamos a fondo en datos, interconexión y DevOps.</a:t>
            </a:r>
            <a:endParaRPr lang="en-US" sz="1650" dirty="0"/>
          </a:p>
        </p:txBody>
      </p:sp>
      <p:sp>
        <p:nvSpPr>
          <p:cNvPr id="6" name="Shape 4"/>
          <p:cNvSpPr/>
          <p:nvPr/>
        </p:nvSpPr>
        <p:spPr>
          <a:xfrm>
            <a:off x="1526515" y="3145536"/>
            <a:ext cx="9138666" cy="0"/>
          </a:xfrm>
          <a:prstGeom prst="line">
            <a:avLst/>
          </a:prstGeom>
          <a:noFill/>
          <a:ln w="50800">
            <a:solidFill>
              <a:srgbClr val="75C5DD"/>
            </a:solidFill>
            <a:prstDash val="solid"/>
          </a:ln>
        </p:spPr>
      </p:sp>
      <p:sp>
        <p:nvSpPr>
          <p:cNvPr id="7" name="Shape 5"/>
          <p:cNvSpPr/>
          <p:nvPr/>
        </p:nvSpPr>
        <p:spPr>
          <a:xfrm>
            <a:off x="1152068"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8" name="Icono code"/>
          <p:cNvSpPr/>
          <p:nvPr/>
        </p:nvSpPr>
        <p:spPr>
          <a:xfrm>
            <a:off x="1339291" y="2958313"/>
            <a:ext cx="374447" cy="374447"/>
          </a:xfrm>
          <a:custGeom>
            <a:avLst/>
            <a:gdLst/>
            <a:ahLst/>
            <a:cxnLst/>
            <a:rect l="l" t="t" r="r" b="b"/>
            <a:pathLst>
              <a:path w="374447" h="374447">
                <a:moveTo>
                  <a:pt x="249631" y="280835"/>
                </a:moveTo>
                <a:lnTo>
                  <a:pt x="343243" y="187223"/>
                </a:lnTo>
                <a:lnTo>
                  <a:pt x="249631" y="93612"/>
                </a:lnTo>
                <a:moveTo>
                  <a:pt x="124816" y="93612"/>
                </a:moveTo>
                <a:lnTo>
                  <a:pt x="31204" y="187223"/>
                </a:lnTo>
                <a:lnTo>
                  <a:pt x="124816" y="280835"/>
                </a:lnTo>
              </a:path>
            </a:pathLst>
          </a:custGeom>
          <a:noFill/>
          <a:ln w="31204" cap="rnd">
            <a:solidFill>
              <a:srgbClr val="FFFFFF"/>
            </a:solidFill>
            <a:prstDash val="solid"/>
            <a:round/>
          </a:ln>
        </p:spPr>
      </p:sp>
      <p:sp>
        <p:nvSpPr>
          <p:cNvPr id="9" name="Text 7"/>
          <p:cNvSpPr/>
          <p:nvPr/>
        </p:nvSpPr>
        <p:spPr>
          <a:xfrm>
            <a:off x="1646338"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1</a:t>
            </a:r>
            <a:endParaRPr lang="en-US" sz="1150" dirty="0"/>
          </a:p>
        </p:txBody>
      </p:sp>
      <p:sp>
        <p:nvSpPr>
          <p:cNvPr id="10" name="Text 8"/>
          <p:cNvSpPr/>
          <p:nvPr/>
        </p:nvSpPr>
        <p:spPr>
          <a:xfrm>
            <a:off x="649224" y="3753612"/>
            <a:ext cx="1754581"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Fundamentos</a:t>
            </a:r>
            <a:endParaRPr lang="en-US" sz="1500" dirty="0"/>
          </a:p>
        </p:txBody>
      </p:sp>
      <p:sp>
        <p:nvSpPr>
          <p:cNvPr id="11" name="Text 9"/>
          <p:cNvSpPr/>
          <p:nvPr/>
        </p:nvSpPr>
        <p:spPr>
          <a:xfrm>
            <a:off x="838429"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2" name="Text 10"/>
          <p:cNvSpPr/>
          <p:nvPr/>
        </p:nvSpPr>
        <p:spPr>
          <a:xfrm>
            <a:off x="667512" y="4777740"/>
            <a:ext cx="1718005"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Primero el qué · Código mantenible · Git y documentación</a:t>
            </a:r>
            <a:endParaRPr lang="en-US" sz="1150" dirty="0"/>
          </a:p>
        </p:txBody>
      </p:sp>
      <p:sp>
        <p:nvSpPr>
          <p:cNvPr id="13" name="Shape 11"/>
          <p:cNvSpPr/>
          <p:nvPr/>
        </p:nvSpPr>
        <p:spPr>
          <a:xfrm>
            <a:off x="2979801"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14" name="Icono network"/>
          <p:cNvSpPr/>
          <p:nvPr/>
        </p:nvSpPr>
        <p:spPr>
          <a:xfrm>
            <a:off x="3167024" y="2958313"/>
            <a:ext cx="374447" cy="374447"/>
          </a:xfrm>
          <a:custGeom>
            <a:avLst/>
            <a:gdLst/>
            <a:ahLst/>
            <a:cxnLst/>
            <a:rect l="l" t="t" r="r" b="b"/>
            <a:pathLst>
              <a:path w="374447" h="374447">
                <a:moveTo>
                  <a:pt x="265233" y="249631"/>
                </a:moveTo>
                <a:lnTo>
                  <a:pt x="327641" y="249631"/>
                </a:lnTo>
                <a:cubicBezTo>
                  <a:pt x="336258" y="249631"/>
                  <a:pt x="343243" y="256616"/>
                  <a:pt x="343243" y="265233"/>
                </a:cubicBezTo>
                <a:lnTo>
                  <a:pt x="343243" y="327641"/>
                </a:lnTo>
                <a:cubicBezTo>
                  <a:pt x="343243" y="336258"/>
                  <a:pt x="336258" y="343243"/>
                  <a:pt x="327641" y="343243"/>
                </a:cubicBezTo>
                <a:lnTo>
                  <a:pt x="265233" y="343243"/>
                </a:lnTo>
                <a:cubicBezTo>
                  <a:pt x="256616" y="343243"/>
                  <a:pt x="249631" y="336258"/>
                  <a:pt x="249631" y="327641"/>
                </a:cubicBezTo>
                <a:lnTo>
                  <a:pt x="249631" y="265233"/>
                </a:lnTo>
                <a:cubicBezTo>
                  <a:pt x="249631" y="256616"/>
                  <a:pt x="256616" y="249631"/>
                  <a:pt x="265233" y="249631"/>
                </a:cubicBezTo>
                <a:close/>
                <a:moveTo>
                  <a:pt x="46806" y="249631"/>
                </a:moveTo>
                <a:lnTo>
                  <a:pt x="109214" y="249631"/>
                </a:lnTo>
                <a:cubicBezTo>
                  <a:pt x="117830" y="249631"/>
                  <a:pt x="124816" y="256616"/>
                  <a:pt x="124816" y="265233"/>
                </a:cubicBezTo>
                <a:lnTo>
                  <a:pt x="124816" y="327641"/>
                </a:lnTo>
                <a:cubicBezTo>
                  <a:pt x="124816" y="336258"/>
                  <a:pt x="117830" y="343243"/>
                  <a:pt x="109214" y="343243"/>
                </a:cubicBezTo>
                <a:lnTo>
                  <a:pt x="46806" y="343243"/>
                </a:lnTo>
                <a:cubicBezTo>
                  <a:pt x="38189" y="343243"/>
                  <a:pt x="31204" y="336258"/>
                  <a:pt x="31204" y="327641"/>
                </a:cubicBezTo>
                <a:lnTo>
                  <a:pt x="31204" y="265233"/>
                </a:lnTo>
                <a:cubicBezTo>
                  <a:pt x="31204" y="256616"/>
                  <a:pt x="38189" y="249631"/>
                  <a:pt x="46806" y="249631"/>
                </a:cubicBezTo>
                <a:close/>
                <a:moveTo>
                  <a:pt x="156020" y="31204"/>
                </a:moveTo>
                <a:lnTo>
                  <a:pt x="218427" y="31204"/>
                </a:lnTo>
                <a:cubicBezTo>
                  <a:pt x="227044" y="31204"/>
                  <a:pt x="234029" y="38189"/>
                  <a:pt x="234029" y="46806"/>
                </a:cubicBezTo>
                <a:lnTo>
                  <a:pt x="234029" y="109214"/>
                </a:lnTo>
                <a:cubicBezTo>
                  <a:pt x="234029" y="117830"/>
                  <a:pt x="227044" y="124816"/>
                  <a:pt x="218427" y="124816"/>
                </a:cubicBezTo>
                <a:lnTo>
                  <a:pt x="156020" y="124816"/>
                </a:lnTo>
                <a:cubicBezTo>
                  <a:pt x="147403" y="124816"/>
                  <a:pt x="140418" y="117830"/>
                  <a:pt x="140418" y="109214"/>
                </a:cubicBezTo>
                <a:lnTo>
                  <a:pt x="140418" y="46806"/>
                </a:lnTo>
                <a:cubicBezTo>
                  <a:pt x="140418" y="38189"/>
                  <a:pt x="147403" y="31204"/>
                  <a:pt x="156020" y="31204"/>
                </a:cubicBezTo>
                <a:close/>
                <a:moveTo>
                  <a:pt x="78010" y="249631"/>
                </a:moveTo>
                <a:lnTo>
                  <a:pt x="78010" y="202825"/>
                </a:lnTo>
                <a:cubicBezTo>
                  <a:pt x="78010" y="194209"/>
                  <a:pt x="84995" y="187223"/>
                  <a:pt x="93612" y="187223"/>
                </a:cubicBezTo>
                <a:lnTo>
                  <a:pt x="280835" y="187223"/>
                </a:lnTo>
                <a:cubicBezTo>
                  <a:pt x="289452" y="187223"/>
                  <a:pt x="296437" y="194209"/>
                  <a:pt x="296437" y="202825"/>
                </a:cubicBezTo>
                <a:lnTo>
                  <a:pt x="296437" y="249631"/>
                </a:lnTo>
                <a:moveTo>
                  <a:pt x="187223" y="187223"/>
                </a:moveTo>
                <a:lnTo>
                  <a:pt x="187223" y="124816"/>
                </a:lnTo>
              </a:path>
            </a:pathLst>
          </a:custGeom>
          <a:noFill/>
          <a:ln w="31204" cap="rnd">
            <a:solidFill>
              <a:srgbClr val="FFFFFF"/>
            </a:solidFill>
            <a:prstDash val="solid"/>
            <a:round/>
          </a:ln>
        </p:spPr>
      </p:sp>
      <p:sp>
        <p:nvSpPr>
          <p:cNvPr id="15" name="Text 13"/>
          <p:cNvSpPr/>
          <p:nvPr/>
        </p:nvSpPr>
        <p:spPr>
          <a:xfrm>
            <a:off x="3474071"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2</a:t>
            </a:r>
            <a:endParaRPr lang="en-US" sz="1150" dirty="0"/>
          </a:p>
        </p:txBody>
      </p:sp>
      <p:sp>
        <p:nvSpPr>
          <p:cNvPr id="16" name="Text 14"/>
          <p:cNvSpPr/>
          <p:nvPr/>
        </p:nvSpPr>
        <p:spPr>
          <a:xfrm>
            <a:off x="2476957" y="3753612"/>
            <a:ext cx="1754581"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Arquitectura</a:t>
            </a:r>
            <a:endParaRPr lang="en-US" sz="1500" dirty="0"/>
          </a:p>
        </p:txBody>
      </p:sp>
      <p:sp>
        <p:nvSpPr>
          <p:cNvPr id="17" name="Text 15"/>
          <p:cNvSpPr/>
          <p:nvPr/>
        </p:nvSpPr>
        <p:spPr>
          <a:xfrm>
            <a:off x="2666162"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18" name="Text 16"/>
          <p:cNvSpPr/>
          <p:nvPr/>
        </p:nvSpPr>
        <p:spPr>
          <a:xfrm>
            <a:off x="2495245" y="4777740"/>
            <a:ext cx="1718005"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Microservicios · Una base por servicio · Hexagonal en una frase</a:t>
            </a:r>
            <a:endParaRPr lang="en-US" sz="1150" dirty="0"/>
          </a:p>
        </p:txBody>
      </p:sp>
      <p:sp>
        <p:nvSpPr>
          <p:cNvPr id="19" name="[p1] Forma"/>
          <p:cNvSpPr/>
          <p:nvPr/>
        </p:nvSpPr>
        <p:spPr>
          <a:xfrm>
            <a:off x="4701921"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0" name="[p1] Icono database"/>
          <p:cNvSpPr/>
          <p:nvPr/>
        </p:nvSpPr>
        <p:spPr>
          <a:xfrm>
            <a:off x="4941951" y="2905506"/>
            <a:ext cx="480060" cy="480060"/>
          </a:xfrm>
          <a:custGeom>
            <a:avLst/>
            <a:gdLst/>
            <a:ahLst/>
            <a:cxnLst/>
            <a:rect l="l" t="t" r="r" b="b"/>
            <a:pathLst>
              <a:path w="480060" h="480060">
                <a:moveTo>
                  <a:pt x="420053" y="100013"/>
                </a:moveTo>
                <a:cubicBezTo>
                  <a:pt x="420053" y="133154"/>
                  <a:pt x="339454" y="160020"/>
                  <a:pt x="240030" y="160020"/>
                </a:cubicBezTo>
                <a:cubicBezTo>
                  <a:pt x="140606" y="160020"/>
                  <a:pt x="60008" y="133154"/>
                  <a:pt x="60008" y="100013"/>
                </a:cubicBezTo>
                <a:cubicBezTo>
                  <a:pt x="60008" y="66871"/>
                  <a:pt x="140606" y="40005"/>
                  <a:pt x="240030" y="40005"/>
                </a:cubicBezTo>
                <a:cubicBezTo>
                  <a:pt x="339454" y="40005"/>
                  <a:pt x="420053" y="66871"/>
                  <a:pt x="420053" y="100013"/>
                </a:cubicBezTo>
                <a:close/>
                <a:moveTo>
                  <a:pt x="60008" y="100013"/>
                </a:moveTo>
                <a:lnTo>
                  <a:pt x="60008" y="380048"/>
                </a:lnTo>
                <a:cubicBezTo>
                  <a:pt x="60008" y="413189"/>
                  <a:pt x="140606" y="440055"/>
                  <a:pt x="240030" y="440055"/>
                </a:cubicBezTo>
                <a:cubicBezTo>
                  <a:pt x="339454" y="440055"/>
                  <a:pt x="420053" y="413189"/>
                  <a:pt x="420053" y="380048"/>
                </a:cubicBezTo>
                <a:lnTo>
                  <a:pt x="420053" y="100013"/>
                </a:lnTo>
                <a:moveTo>
                  <a:pt x="60008" y="240030"/>
                </a:moveTo>
                <a:cubicBezTo>
                  <a:pt x="60008" y="273171"/>
                  <a:pt x="140606" y="300038"/>
                  <a:pt x="240030" y="300038"/>
                </a:cubicBezTo>
                <a:cubicBezTo>
                  <a:pt x="339454" y="300038"/>
                  <a:pt x="420053" y="273171"/>
                  <a:pt x="420053" y="240030"/>
                </a:cubicBezTo>
              </a:path>
            </a:pathLst>
          </a:custGeom>
          <a:noFill/>
          <a:ln w="40005" cap="rnd">
            <a:solidFill>
              <a:srgbClr val="FFFFFF"/>
            </a:solidFill>
            <a:prstDash val="solid"/>
            <a:round/>
          </a:ln>
        </p:spPr>
      </p:sp>
      <p:sp>
        <p:nvSpPr>
          <p:cNvPr id="21" name="[p1] Forma"/>
          <p:cNvSpPr/>
          <p:nvPr/>
        </p:nvSpPr>
        <p:spPr>
          <a:xfrm>
            <a:off x="5335600"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3</a:t>
            </a:r>
            <a:endParaRPr lang="en-US" sz="1150" dirty="0"/>
          </a:p>
        </p:txBody>
      </p:sp>
      <p:sp>
        <p:nvSpPr>
          <p:cNvPr id="22" name="[p1] Forma"/>
          <p:cNvSpPr/>
          <p:nvPr/>
        </p:nvSpPr>
        <p:spPr>
          <a:xfrm>
            <a:off x="4304690" y="3753612"/>
            <a:ext cx="1754581"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Base de datos</a:t>
            </a:r>
            <a:endParaRPr lang="en-US" sz="1500" dirty="0"/>
          </a:p>
        </p:txBody>
      </p:sp>
      <p:sp>
        <p:nvSpPr>
          <p:cNvPr id="23" name="[p1] Forma"/>
          <p:cNvSpPr/>
          <p:nvPr/>
        </p:nvSpPr>
        <p:spPr>
          <a:xfrm>
            <a:off x="4727067"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24" name="[p1] Forma"/>
          <p:cNvSpPr/>
          <p:nvPr/>
        </p:nvSpPr>
        <p:spPr>
          <a:xfrm>
            <a:off x="4322978" y="4777740"/>
            <a:ext cx="1718005"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Modelo de datos · ORM con JPA · Cadena de conexión</a:t>
            </a:r>
            <a:endParaRPr lang="en-US" sz="1150" dirty="0"/>
          </a:p>
        </p:txBody>
      </p:sp>
      <p:sp>
        <p:nvSpPr>
          <p:cNvPr id="25" name="[p1] Forma"/>
          <p:cNvSpPr/>
          <p:nvPr/>
        </p:nvSpPr>
        <p:spPr>
          <a:xfrm>
            <a:off x="6529654"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26" name="[p1] Icono waypoints"/>
          <p:cNvSpPr/>
          <p:nvPr/>
        </p:nvSpPr>
        <p:spPr>
          <a:xfrm>
            <a:off x="6769684" y="2905506"/>
            <a:ext cx="480060" cy="480060"/>
          </a:xfrm>
          <a:custGeom>
            <a:avLst/>
            <a:gdLst/>
            <a:ahLst/>
            <a:cxnLst/>
            <a:rect l="l" t="t" r="r" b="b"/>
            <a:pathLst>
              <a:path w="480060" h="480060">
                <a:moveTo>
                  <a:pt x="290036" y="90011"/>
                </a:moveTo>
                <a:cubicBezTo>
                  <a:pt x="290036" y="117629"/>
                  <a:pt x="267648" y="140018"/>
                  <a:pt x="240030" y="140018"/>
                </a:cubicBezTo>
                <a:cubicBezTo>
                  <a:pt x="212412" y="140018"/>
                  <a:pt x="190024" y="117629"/>
                  <a:pt x="190024" y="90011"/>
                </a:cubicBezTo>
                <a:cubicBezTo>
                  <a:pt x="190024" y="62394"/>
                  <a:pt x="212412" y="40005"/>
                  <a:pt x="240030" y="40005"/>
                </a:cubicBezTo>
                <a:cubicBezTo>
                  <a:pt x="267648" y="40005"/>
                  <a:pt x="290036" y="62394"/>
                  <a:pt x="290036" y="90011"/>
                </a:cubicBezTo>
                <a:close/>
                <a:moveTo>
                  <a:pt x="204026" y="126016"/>
                </a:moveTo>
                <a:lnTo>
                  <a:pt x="126016" y="204026"/>
                </a:lnTo>
                <a:moveTo>
                  <a:pt x="140018" y="240030"/>
                </a:moveTo>
                <a:cubicBezTo>
                  <a:pt x="140018" y="267648"/>
                  <a:pt x="117629" y="290036"/>
                  <a:pt x="90011" y="290036"/>
                </a:cubicBezTo>
                <a:cubicBezTo>
                  <a:pt x="62394" y="290036"/>
                  <a:pt x="40005" y="267648"/>
                  <a:pt x="40005" y="240030"/>
                </a:cubicBezTo>
                <a:cubicBezTo>
                  <a:pt x="40005" y="212412"/>
                  <a:pt x="62394" y="190024"/>
                  <a:pt x="90011" y="190024"/>
                </a:cubicBezTo>
                <a:cubicBezTo>
                  <a:pt x="117629" y="190024"/>
                  <a:pt x="140018" y="212412"/>
                  <a:pt x="140018" y="240030"/>
                </a:cubicBezTo>
                <a:close/>
                <a:moveTo>
                  <a:pt x="140018" y="240030"/>
                </a:moveTo>
                <a:lnTo>
                  <a:pt x="340043" y="240030"/>
                </a:lnTo>
                <a:moveTo>
                  <a:pt x="440055" y="240030"/>
                </a:moveTo>
                <a:cubicBezTo>
                  <a:pt x="440055" y="267648"/>
                  <a:pt x="417666" y="290036"/>
                  <a:pt x="390049" y="290036"/>
                </a:cubicBezTo>
                <a:cubicBezTo>
                  <a:pt x="362431" y="290036"/>
                  <a:pt x="340043" y="267648"/>
                  <a:pt x="340043" y="240030"/>
                </a:cubicBezTo>
                <a:cubicBezTo>
                  <a:pt x="340043" y="212412"/>
                  <a:pt x="362431" y="190024"/>
                  <a:pt x="390049" y="190024"/>
                </a:cubicBezTo>
                <a:cubicBezTo>
                  <a:pt x="417666" y="190024"/>
                  <a:pt x="440055" y="212412"/>
                  <a:pt x="440055" y="240030"/>
                </a:cubicBezTo>
                <a:close/>
                <a:moveTo>
                  <a:pt x="276035" y="354044"/>
                </a:moveTo>
                <a:lnTo>
                  <a:pt x="354044" y="276035"/>
                </a:lnTo>
                <a:moveTo>
                  <a:pt x="290036" y="390049"/>
                </a:moveTo>
                <a:cubicBezTo>
                  <a:pt x="290036" y="417666"/>
                  <a:pt x="267648" y="440055"/>
                  <a:pt x="240030" y="440055"/>
                </a:cubicBezTo>
                <a:cubicBezTo>
                  <a:pt x="212412" y="440055"/>
                  <a:pt x="190024" y="417666"/>
                  <a:pt x="190024" y="390049"/>
                </a:cubicBezTo>
                <a:cubicBezTo>
                  <a:pt x="190024" y="362431"/>
                  <a:pt x="212412" y="340043"/>
                  <a:pt x="240030" y="340043"/>
                </a:cubicBezTo>
                <a:cubicBezTo>
                  <a:pt x="267648" y="340043"/>
                  <a:pt x="290036" y="362431"/>
                  <a:pt x="290036" y="390049"/>
                </a:cubicBezTo>
                <a:close/>
              </a:path>
            </a:pathLst>
          </a:custGeom>
          <a:noFill/>
          <a:ln w="40005" cap="rnd">
            <a:solidFill>
              <a:srgbClr val="FFFFFF"/>
            </a:solidFill>
            <a:prstDash val="solid"/>
            <a:round/>
          </a:ln>
        </p:spPr>
      </p:sp>
      <p:sp>
        <p:nvSpPr>
          <p:cNvPr id="27" name="[p1] Forma"/>
          <p:cNvSpPr/>
          <p:nvPr/>
        </p:nvSpPr>
        <p:spPr>
          <a:xfrm>
            <a:off x="7163333"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4</a:t>
            </a:r>
            <a:endParaRPr lang="en-US" sz="1150" dirty="0"/>
          </a:p>
        </p:txBody>
      </p:sp>
      <p:sp>
        <p:nvSpPr>
          <p:cNvPr id="28" name="[p1] Forma"/>
          <p:cNvSpPr/>
          <p:nvPr/>
        </p:nvSpPr>
        <p:spPr>
          <a:xfrm>
            <a:off x="6132424" y="3753612"/>
            <a:ext cx="1754581"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Interconexión de servicios</a:t>
            </a:r>
            <a:endParaRPr lang="en-US" sz="1500" dirty="0"/>
          </a:p>
        </p:txBody>
      </p:sp>
      <p:sp>
        <p:nvSpPr>
          <p:cNvPr id="29" name="[p1] Forma"/>
          <p:cNvSpPr/>
          <p:nvPr/>
        </p:nvSpPr>
        <p:spPr>
          <a:xfrm>
            <a:off x="6554800"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0" name="[p1] Forma"/>
          <p:cNvSpPr/>
          <p:nvPr/>
        </p:nvSpPr>
        <p:spPr>
          <a:xfrm>
            <a:off x="6150712" y="4777740"/>
            <a:ext cx="1718005"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Síncrono y asíncrono · Patrón Outbox · Idempotencia</a:t>
            </a:r>
            <a:endParaRPr lang="en-US" sz="1150" dirty="0"/>
          </a:p>
        </p:txBody>
      </p:sp>
      <p:sp>
        <p:nvSpPr>
          <p:cNvPr id="31" name="[p1] Forma"/>
          <p:cNvSpPr/>
          <p:nvPr/>
        </p:nvSpPr>
        <p:spPr>
          <a:xfrm>
            <a:off x="8357387" y="2665476"/>
            <a:ext cx="960120" cy="960120"/>
          </a:xfrm>
          <a:prstGeom prst="ellipse">
            <a:avLst/>
          </a:prstGeom>
          <a:solidFill>
            <a:srgbClr val="0B2350"/>
          </a:solidFill>
          <a:ln w="44450">
            <a:solidFill>
              <a:srgbClr val="2BA6CB"/>
            </a:solidFill>
            <a:prstDash val="solid"/>
          </a:ln>
          <a:effectLst>
            <a:outerShdw sx="100000" sy="100000" kx="0" ky="0" algn="bl" rotWithShape="0" blurRad="114300" dist="50800" dir="16200000">
              <a:srgbClr val="2BA6CB">
                <a:alpha val="60000"/>
              </a:srgbClr>
            </a:outerShdw>
          </a:effectLst>
        </p:spPr>
      </p:sp>
      <p:sp>
        <p:nvSpPr>
          <p:cNvPr id="32" name="[p1] Icono container"/>
          <p:cNvSpPr/>
          <p:nvPr/>
        </p:nvSpPr>
        <p:spPr>
          <a:xfrm>
            <a:off x="8597417" y="2905506"/>
            <a:ext cx="480060" cy="480060"/>
          </a:xfrm>
          <a:custGeom>
            <a:avLst/>
            <a:gdLst/>
            <a:ahLst/>
            <a:cxnLst/>
            <a:rect l="l" t="t" r="r" b="b"/>
            <a:pathLst>
              <a:path w="480060" h="480060">
                <a:moveTo>
                  <a:pt x="440055" y="154019"/>
                </a:moveTo>
                <a:cubicBezTo>
                  <a:pt x="440055" y="142018"/>
                  <a:pt x="432054" y="130016"/>
                  <a:pt x="424053" y="124016"/>
                </a:cubicBezTo>
                <a:lnTo>
                  <a:pt x="298037" y="46006"/>
                </a:lnTo>
                <a:cubicBezTo>
                  <a:pt x="287495" y="40013"/>
                  <a:pt x="274576" y="40013"/>
                  <a:pt x="264033" y="46006"/>
                </a:cubicBezTo>
                <a:lnTo>
                  <a:pt x="58007" y="166021"/>
                </a:lnTo>
                <a:cubicBezTo>
                  <a:pt x="48006" y="170021"/>
                  <a:pt x="40005" y="182023"/>
                  <a:pt x="40005" y="194024"/>
                </a:cubicBezTo>
                <a:lnTo>
                  <a:pt x="40005" y="326041"/>
                </a:lnTo>
                <a:cubicBezTo>
                  <a:pt x="40005" y="336042"/>
                  <a:pt x="48006" y="350044"/>
                  <a:pt x="56007" y="356045"/>
                </a:cubicBezTo>
                <a:lnTo>
                  <a:pt x="182023" y="434054"/>
                </a:lnTo>
                <a:cubicBezTo>
                  <a:pt x="192565" y="440047"/>
                  <a:pt x="205484" y="440047"/>
                  <a:pt x="216027" y="434054"/>
                </a:cubicBezTo>
                <a:lnTo>
                  <a:pt x="422053" y="314039"/>
                </a:lnTo>
                <a:cubicBezTo>
                  <a:pt x="432054" y="308039"/>
                  <a:pt x="440055" y="294037"/>
                  <a:pt x="440055" y="284036"/>
                </a:cubicBezTo>
                <a:close/>
                <a:moveTo>
                  <a:pt x="200025" y="438055"/>
                </a:moveTo>
                <a:lnTo>
                  <a:pt x="200025" y="280035"/>
                </a:lnTo>
                <a:lnTo>
                  <a:pt x="42005" y="182023"/>
                </a:lnTo>
                <a:moveTo>
                  <a:pt x="200025" y="280035"/>
                </a:moveTo>
                <a:lnTo>
                  <a:pt x="438055" y="142018"/>
                </a:lnTo>
                <a:moveTo>
                  <a:pt x="280035" y="396050"/>
                </a:moveTo>
                <a:lnTo>
                  <a:pt x="280035" y="234029"/>
                </a:lnTo>
                <a:moveTo>
                  <a:pt x="360045" y="350044"/>
                </a:moveTo>
                <a:lnTo>
                  <a:pt x="360045" y="188024"/>
                </a:lnTo>
              </a:path>
            </a:pathLst>
          </a:custGeom>
          <a:noFill/>
          <a:ln w="40005" cap="rnd">
            <a:solidFill>
              <a:srgbClr val="FFFFFF"/>
            </a:solidFill>
            <a:prstDash val="solid"/>
            <a:round/>
          </a:ln>
        </p:spPr>
      </p:sp>
      <p:sp>
        <p:nvSpPr>
          <p:cNvPr id="33" name="[p1] Forma"/>
          <p:cNvSpPr/>
          <p:nvPr/>
        </p:nvSpPr>
        <p:spPr>
          <a:xfrm>
            <a:off x="8991067" y="2592324"/>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5</a:t>
            </a:r>
            <a:endParaRPr lang="en-US" sz="1150" dirty="0"/>
          </a:p>
        </p:txBody>
      </p:sp>
      <p:sp>
        <p:nvSpPr>
          <p:cNvPr id="34" name="[p1] Forma"/>
          <p:cNvSpPr/>
          <p:nvPr/>
        </p:nvSpPr>
        <p:spPr>
          <a:xfrm>
            <a:off x="7960157" y="3753612"/>
            <a:ext cx="1754581"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DevOps: Docker y Kubernetes</a:t>
            </a:r>
            <a:endParaRPr lang="en-US" sz="1500" dirty="0"/>
          </a:p>
        </p:txBody>
      </p:sp>
      <p:sp>
        <p:nvSpPr>
          <p:cNvPr id="35" name="[p1] Forma"/>
          <p:cNvSpPr/>
          <p:nvPr/>
        </p:nvSpPr>
        <p:spPr>
          <a:xfrm>
            <a:off x="8382533" y="4393692"/>
            <a:ext cx="909828" cy="274320"/>
          </a:xfrm>
          <a:prstGeom prst="roundRect">
            <a:avLst>
              <a:gd name="adj" fmla="val 50000"/>
            </a:avLst>
          </a:prstGeom>
          <a:solidFill>
            <a:srgbClr val="2BA6CB"/>
          </a:solidFill>
          <a:ln w="12700">
            <a:solidFill>
              <a:srgbClr val="2BA6CB"/>
            </a:solidFill>
          </a:ln>
        </p:spPr>
        <p:txBody>
          <a:bodyPr wrap="square" lIns="0" tIns="0" rIns="0" bIns="0" rtlCol="0" anchor="ctr"/>
          <a:lstStyle/>
          <a:p>
            <a:pPr algn="ctr" indent="0" marL="0">
              <a:buNone/>
            </a:pPr>
            <a:r>
              <a:rPr lang="en-US" sz="950" b="1" spc="100" kern="0" dirty="0">
                <a:solidFill>
                  <a:srgbClr val="0B1F3A"/>
                </a:solidFill>
                <a:latin typeface="Segoe UI" pitchFamily="34" charset="0"/>
                <a:ea typeface="Segoe UI" pitchFamily="34" charset="-122"/>
                <a:cs typeface="Segoe UI" pitchFamily="34" charset="-120"/>
              </a:rPr>
              <a:t>A FONDO</a:t>
            </a:r>
            <a:endParaRPr lang="en-US" sz="950" dirty="0"/>
          </a:p>
        </p:txBody>
      </p:sp>
      <p:sp>
        <p:nvSpPr>
          <p:cNvPr id="36" name="[p1] Forma"/>
          <p:cNvSpPr/>
          <p:nvPr/>
        </p:nvSpPr>
        <p:spPr>
          <a:xfrm>
            <a:off x="7978445" y="4777740"/>
            <a:ext cx="1718005"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Docker y Compose · CI/CD con GitHub Actions · Kubernetes</a:t>
            </a:r>
            <a:endParaRPr lang="en-US" sz="1150" dirty="0"/>
          </a:p>
        </p:txBody>
      </p:sp>
      <p:sp>
        <p:nvSpPr>
          <p:cNvPr id="37" name="[p2] Forma"/>
          <p:cNvSpPr/>
          <p:nvPr/>
        </p:nvSpPr>
        <p:spPr>
          <a:xfrm>
            <a:off x="10290734" y="2771089"/>
            <a:ext cx="748894" cy="748894"/>
          </a:xfrm>
          <a:prstGeom prst="ellipse">
            <a:avLst/>
          </a:prstGeom>
          <a:solidFill>
            <a:srgbClr val="546585"/>
          </a:solidFill>
          <a:ln w="38100">
            <a:solidFill>
              <a:srgbClr val="FFFFFF"/>
            </a:solidFill>
            <a:prstDash val="solid"/>
          </a:ln>
          <a:effectLst>
            <a:outerShdw sx="100000" sy="100000" kx="0" ky="0" algn="bl" rotWithShape="0" blurRad="76200" dist="19050" dir="5400000">
              <a:srgbClr val="0B1F3A">
                <a:alpha val="14000"/>
              </a:srgbClr>
            </a:outerShdw>
          </a:effectLst>
        </p:spPr>
      </p:sp>
      <p:sp>
        <p:nvSpPr>
          <p:cNvPr id="38" name="[p2] Icono chart-line"/>
          <p:cNvSpPr/>
          <p:nvPr/>
        </p:nvSpPr>
        <p:spPr>
          <a:xfrm>
            <a:off x="10477957" y="2958313"/>
            <a:ext cx="374447" cy="374447"/>
          </a:xfrm>
          <a:custGeom>
            <a:avLst/>
            <a:gdLst/>
            <a:ahLst/>
            <a:cxnLst/>
            <a:rect l="l" t="t" r="r" b="b"/>
            <a:pathLst>
              <a:path w="374447" h="374447">
                <a:moveTo>
                  <a:pt x="46806" y="46806"/>
                </a:moveTo>
                <a:lnTo>
                  <a:pt x="46806" y="296437"/>
                </a:lnTo>
                <a:cubicBezTo>
                  <a:pt x="46806" y="313670"/>
                  <a:pt x="60776" y="327641"/>
                  <a:pt x="78010" y="327641"/>
                </a:cubicBezTo>
                <a:lnTo>
                  <a:pt x="327641" y="327641"/>
                </a:lnTo>
                <a:moveTo>
                  <a:pt x="296437" y="140418"/>
                </a:moveTo>
                <a:lnTo>
                  <a:pt x="218427" y="218427"/>
                </a:lnTo>
                <a:lnTo>
                  <a:pt x="156020" y="156020"/>
                </a:lnTo>
                <a:lnTo>
                  <a:pt x="109214" y="202825"/>
                </a:lnTo>
              </a:path>
            </a:pathLst>
          </a:custGeom>
          <a:noFill/>
          <a:ln w="31204" cap="rnd">
            <a:solidFill>
              <a:srgbClr val="FFFFFF"/>
            </a:solidFill>
            <a:prstDash val="solid"/>
            <a:round/>
          </a:ln>
        </p:spPr>
      </p:sp>
      <p:sp>
        <p:nvSpPr>
          <p:cNvPr id="39" name="[p2] Forma"/>
          <p:cNvSpPr/>
          <p:nvPr/>
        </p:nvSpPr>
        <p:spPr>
          <a:xfrm>
            <a:off x="10785004" y="2697937"/>
            <a:ext cx="310896" cy="310896"/>
          </a:xfrm>
          <a:prstGeom prst="ellipse">
            <a:avLst/>
          </a:prstGeom>
          <a:solidFill>
            <a:srgbClr val="2BA6CB"/>
          </a:solidFill>
          <a:ln w="19050">
            <a:solidFill>
              <a:srgbClr val="FFFFFF"/>
            </a:solidFill>
          </a:ln>
        </p:spPr>
        <p:txBody>
          <a:bodyPr wrap="square" lIns="0" tIns="0" rIns="0" bIns="0" rtlCol="0" anchor="ctr"/>
          <a:lstStyle/>
          <a:p>
            <a:pPr algn="ctr" indent="0" marL="0">
              <a:buNone/>
            </a:pPr>
            <a:r>
              <a:rPr lang="en-US" sz="1150" b="1" dirty="0">
                <a:solidFill>
                  <a:srgbClr val="0B1F3A"/>
                </a:solidFill>
                <a:latin typeface="Segoe UI Semibold" pitchFamily="34" charset="0"/>
                <a:ea typeface="Segoe UI Semibold" pitchFamily="34" charset="-122"/>
                <a:cs typeface="Segoe UI Semibold" pitchFamily="34" charset="-120"/>
              </a:rPr>
              <a:t>6</a:t>
            </a:r>
            <a:endParaRPr lang="en-US" sz="1150" dirty="0"/>
          </a:p>
        </p:txBody>
      </p:sp>
      <p:sp>
        <p:nvSpPr>
          <p:cNvPr id="40" name="[p2] Forma"/>
          <p:cNvSpPr/>
          <p:nvPr/>
        </p:nvSpPr>
        <p:spPr>
          <a:xfrm>
            <a:off x="9787890" y="3753612"/>
            <a:ext cx="1754581" cy="566928"/>
          </a:xfrm>
          <a:prstGeom prst="rect">
            <a:avLst/>
          </a:prstGeom>
          <a:noFill/>
          <a:ln/>
        </p:spPr>
        <p:txBody>
          <a:bodyPr wrap="square" lIns="0" tIns="0" rIns="0" bIns="0" rtlCol="0" anchor="t">
            <a:normAutofit/>
          </a:bodyPr>
          <a:lstStyle/>
          <a:p>
            <a:pPr algn="ctr" indent="0" marL="0">
              <a:buNone/>
            </a:pPr>
            <a:r>
              <a:rPr lang="en-US" sz="1500" b="1" dirty="0">
                <a:solidFill>
                  <a:srgbClr val="0B1A3C"/>
                </a:solidFill>
                <a:latin typeface="Segoe UI Semibold" pitchFamily="34" charset="0"/>
                <a:ea typeface="Segoe UI Semibold" pitchFamily="34" charset="-122"/>
                <a:cs typeface="Segoe UI Semibold" pitchFamily="34" charset="-120"/>
              </a:rPr>
              <a:t>Observabilidad</a:t>
            </a:r>
            <a:endParaRPr lang="en-US" sz="1500" dirty="0"/>
          </a:p>
        </p:txBody>
      </p:sp>
      <p:sp>
        <p:nvSpPr>
          <p:cNvPr id="41" name="[p2] Forma"/>
          <p:cNvSpPr/>
          <p:nvPr/>
        </p:nvSpPr>
        <p:spPr>
          <a:xfrm>
            <a:off x="9977095" y="4393692"/>
            <a:ext cx="1376172" cy="274320"/>
          </a:xfrm>
          <a:prstGeom prst="roundRect">
            <a:avLst>
              <a:gd name="adj" fmla="val 50000"/>
            </a:avLst>
          </a:prstGeom>
          <a:solidFill>
            <a:srgbClr val="FFFFFF"/>
          </a:solidFill>
          <a:ln w="12700">
            <a:solidFill>
              <a:srgbClr val="DFE6F0"/>
            </a:solidFill>
          </a:ln>
        </p:spPr>
        <p:txBody>
          <a:bodyPr wrap="square" lIns="0" tIns="0" rIns="0" bIns="0" rtlCol="0" anchor="ctr"/>
          <a:lstStyle/>
          <a:p>
            <a:pPr algn="ctr" indent="0" marL="0">
              <a:buNone/>
            </a:pPr>
            <a:r>
              <a:rPr lang="en-US" sz="950" b="1" spc="100" kern="0" dirty="0">
                <a:solidFill>
                  <a:srgbClr val="55627E"/>
                </a:solidFill>
                <a:latin typeface="Segoe UI" pitchFamily="34" charset="0"/>
                <a:ea typeface="Segoe UI" pitchFamily="34" charset="-122"/>
                <a:cs typeface="Segoe UI" pitchFamily="34" charset="-120"/>
              </a:rPr>
              <a:t>VISTA GENERAL</a:t>
            </a:r>
            <a:endParaRPr lang="en-US" sz="950" dirty="0"/>
          </a:p>
        </p:txBody>
      </p:sp>
      <p:sp>
        <p:nvSpPr>
          <p:cNvPr id="42" name="[p2] Forma"/>
          <p:cNvSpPr/>
          <p:nvPr/>
        </p:nvSpPr>
        <p:spPr>
          <a:xfrm>
            <a:off x="9806178" y="4777740"/>
            <a:ext cx="1718005" cy="1577340"/>
          </a:xfrm>
          <a:prstGeom prst="rect">
            <a:avLst/>
          </a:prstGeom>
          <a:noFill/>
          <a:ln/>
        </p:spPr>
        <p:txBody>
          <a:bodyPr wrap="square" lIns="0" tIns="0" rIns="0" bIns="0" rtlCol="0" anchor="t">
            <a:normAutofit/>
          </a:bodyPr>
          <a:lstStyle/>
          <a:p>
            <a:pPr algn="ctr" indent="0" marL="0">
              <a:buNone/>
            </a:pPr>
            <a:r>
              <a:rPr lang="en-US" sz="1150" dirty="0">
                <a:solidFill>
                  <a:srgbClr val="55627E"/>
                </a:solidFill>
                <a:latin typeface="Segoe UI" pitchFamily="34" charset="0"/>
                <a:ea typeface="Segoe UI" pitchFamily="34" charset="-122"/>
                <a:cs typeface="Segoe UI" pitchFamily="34" charset="-120"/>
              </a:rPr>
              <a:t>Logs centralizados · Trazas · Salud con Actuator</a:t>
            </a:r>
            <a:endParaRPr lang="en-US" sz="115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4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0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40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400"/>
                                        <p:tgtEl>
                                          <p:spTgt spid="36"/>
                                        </p:tgtEl>
                                      </p:cBhvr>
                                    </p:animEffect>
                                  </p:childTnLst>
                                </p:cTn>
                              </p:par>
                            </p:childTnLst>
                          </p:cTn>
                        </p:par>
                      </p:childTnLst>
                    </p:cTn>
                  </p:par>
                  <p:par>
                    <p:cTn id="77" fill="hold">
                      <p:stCondLst>
                        <p:cond delay="indefinite"/>
                      </p:stCondLst>
                      <p:childTnLst>
                        <p:par>
                          <p:cTn id="7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400"/>
                                        <p:tgtEl>
                                          <p:spTgt spid="3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400"/>
                                        <p:tgtEl>
                                          <p:spTgt spid="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400"/>
                                        <p:tgtEl>
                                          <p:spTgt spid="3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400"/>
                                        <p:tgtEl>
                                          <p:spTgt spid="4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400"/>
                                        <p:tgtEl>
                                          <p:spTgt spid="4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Primero el qué: el negocio en una lámina</a:t>
            </a:r>
            <a:endParaRPr lang="en-US" sz="2800" dirty="0"/>
          </a:p>
        </p:txBody>
      </p:sp>
      <p:sp>
        <p:nvSpPr>
          <p:cNvPr id="5" name="Shape 3"/>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Antes de escribir código, entendimos qué tiene que pasar, quién lo hace y qué no se permite.</a:t>
            </a:r>
            <a:endParaRPr lang="en-US" sz="1700" dirty="0"/>
          </a:p>
        </p:txBody>
      </p:sp>
      <p:sp>
        <p:nvSpPr>
          <p:cNvPr id="12" name="Shape 10"/>
          <p:cNvSpPr/>
          <p:nvPr/>
        </p:nvSpPr>
        <p:spPr>
          <a:xfrm>
            <a:off x="1251928" y="1828800"/>
            <a:ext cx="1463040" cy="146304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3" name="Icono user"/>
          <p:cNvSpPr/>
          <p:nvPr/>
        </p:nvSpPr>
        <p:spPr>
          <a:xfrm>
            <a:off x="1588427" y="2165299"/>
            <a:ext cx="790042" cy="790042"/>
          </a:xfrm>
          <a:custGeom>
            <a:avLst/>
            <a:gdLst/>
            <a:ahLst/>
            <a:cxnLst/>
            <a:rect l="l" t="t" r="r" b="b"/>
            <a:pathLst>
              <a:path w="790042" h="790042">
                <a:moveTo>
                  <a:pt x="625450" y="691286"/>
                </a:moveTo>
                <a:lnTo>
                  <a:pt x="625450" y="625450"/>
                </a:lnTo>
                <a:cubicBezTo>
                  <a:pt x="625450" y="552728"/>
                  <a:pt x="566497" y="493776"/>
                  <a:pt x="493776" y="493776"/>
                </a:cubicBezTo>
                <a:lnTo>
                  <a:pt x="296266" y="493776"/>
                </a:lnTo>
                <a:cubicBezTo>
                  <a:pt x="223544" y="493776"/>
                  <a:pt x="164592" y="552728"/>
                  <a:pt x="164592" y="625450"/>
                </a:cubicBezTo>
                <a:lnTo>
                  <a:pt x="164592" y="691286"/>
                </a:lnTo>
                <a:moveTo>
                  <a:pt x="526694" y="230429"/>
                </a:moveTo>
                <a:cubicBezTo>
                  <a:pt x="526694" y="303150"/>
                  <a:pt x="467742" y="362102"/>
                  <a:pt x="395021" y="362102"/>
                </a:cubicBezTo>
                <a:cubicBezTo>
                  <a:pt x="322299" y="362102"/>
                  <a:pt x="263347" y="303150"/>
                  <a:pt x="263347" y="230429"/>
                </a:cubicBezTo>
                <a:cubicBezTo>
                  <a:pt x="263347" y="157707"/>
                  <a:pt x="322299" y="98755"/>
                  <a:pt x="395021" y="98755"/>
                </a:cubicBezTo>
                <a:cubicBezTo>
                  <a:pt x="467742" y="98755"/>
                  <a:pt x="526694" y="157707"/>
                  <a:pt x="526694" y="230429"/>
                </a:cubicBezTo>
                <a:close/>
              </a:path>
            </a:pathLst>
          </a:custGeom>
          <a:noFill/>
          <a:ln w="57607" cap="rnd">
            <a:solidFill>
              <a:srgbClr val="5B3FC4"/>
            </a:solidFill>
            <a:prstDash val="solid"/>
            <a:round/>
          </a:ln>
        </p:spPr>
      </p:sp>
      <p:sp>
        <p:nvSpPr>
          <p:cNvPr id="14" name="Text 12"/>
          <p:cNvSpPr/>
          <p:nvPr/>
        </p:nvSpPr>
        <p:spPr>
          <a:xfrm>
            <a:off x="1215352" y="1792224"/>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Text 13"/>
          <p:cNvSpPr/>
          <p:nvPr/>
        </p:nvSpPr>
        <p:spPr>
          <a:xfrm>
            <a:off x="6583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Quien solicita</a:t>
            </a:r>
            <a:endParaRPr lang="en-US" sz="1800" dirty="0"/>
          </a:p>
        </p:txBody>
      </p:sp>
      <p:sp>
        <p:nvSpPr>
          <p:cNvPr id="16" name="Text 14"/>
          <p:cNvSpPr/>
          <p:nvPr/>
        </p:nvSpPr>
        <p:spPr>
          <a:xfrm>
            <a:off x="7223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Registra qué necesita y de qué tipo.</a:t>
            </a:r>
            <a:endParaRPr lang="en-US" sz="1400" dirty="0"/>
          </a:p>
        </p:txBody>
      </p:sp>
      <p:sp>
        <p:nvSpPr>
          <p:cNvPr id="17" name="[p1] Forma"/>
          <p:cNvSpPr/>
          <p:nvPr/>
        </p:nvSpPr>
        <p:spPr>
          <a:xfrm>
            <a:off x="2806408" y="2560320"/>
            <a:ext cx="1095680" cy="0"/>
          </a:xfrm>
          <a:prstGeom prst="line">
            <a:avLst/>
          </a:prstGeom>
          <a:noFill/>
          <a:ln w="38100">
            <a:solidFill>
              <a:srgbClr val="2BA6CB"/>
            </a:solidFill>
            <a:prstDash val="solid"/>
            <a:tailEnd type="triangle"/>
          </a:ln>
        </p:spPr>
      </p:sp>
      <p:sp>
        <p:nvSpPr>
          <p:cNvPr id="18" name="[p1] Forma"/>
          <p:cNvSpPr/>
          <p:nvPr/>
        </p:nvSpPr>
        <p:spPr>
          <a:xfrm>
            <a:off x="3993528" y="1828800"/>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p1] Icono send"/>
          <p:cNvSpPr/>
          <p:nvPr/>
        </p:nvSpPr>
        <p:spPr>
          <a:xfrm>
            <a:off x="4330027" y="2165299"/>
            <a:ext cx="790042" cy="790042"/>
          </a:xfrm>
          <a:custGeom>
            <a:avLst/>
            <a:gdLst/>
            <a:ahLst/>
            <a:cxnLst/>
            <a:rect l="l" t="t" r="r" b="b"/>
            <a:pathLst>
              <a:path w="790042" h="790042">
                <a:moveTo>
                  <a:pt x="478502" y="713868"/>
                </a:moveTo>
                <a:cubicBezTo>
                  <a:pt x="481063" y="720252"/>
                  <a:pt x="487323" y="724369"/>
                  <a:pt x="494199" y="724193"/>
                </a:cubicBezTo>
                <a:cubicBezTo>
                  <a:pt x="501074" y="724017"/>
                  <a:pt x="507115" y="719584"/>
                  <a:pt x="509346" y="713078"/>
                </a:cubicBezTo>
                <a:lnTo>
                  <a:pt x="723316" y="87629"/>
                </a:lnTo>
                <a:cubicBezTo>
                  <a:pt x="725467" y="81674"/>
                  <a:pt x="723981" y="75013"/>
                  <a:pt x="719505" y="70537"/>
                </a:cubicBezTo>
                <a:cubicBezTo>
                  <a:pt x="715028" y="66060"/>
                  <a:pt x="708367" y="64575"/>
                  <a:pt x="702413" y="66726"/>
                </a:cubicBezTo>
                <a:lnTo>
                  <a:pt x="76963" y="280695"/>
                </a:lnTo>
                <a:cubicBezTo>
                  <a:pt x="70457" y="282926"/>
                  <a:pt x="66025" y="288967"/>
                  <a:pt x="65849" y="295843"/>
                </a:cubicBezTo>
                <a:cubicBezTo>
                  <a:pt x="65673" y="302718"/>
                  <a:pt x="69790" y="308979"/>
                  <a:pt x="76173" y="311540"/>
                </a:cubicBezTo>
                <a:lnTo>
                  <a:pt x="337216" y="416220"/>
                </a:lnTo>
                <a:cubicBezTo>
                  <a:pt x="353891" y="422897"/>
                  <a:pt x="367115" y="436096"/>
                  <a:pt x="373821" y="452760"/>
                </a:cubicBezTo>
                <a:close/>
                <a:moveTo>
                  <a:pt x="719399" y="70676"/>
                </a:moveTo>
                <a:lnTo>
                  <a:pt x="359271" y="430770"/>
                </a:lnTo>
              </a:path>
            </a:pathLst>
          </a:custGeom>
          <a:noFill/>
          <a:ln w="57607" cap="rnd">
            <a:solidFill>
              <a:srgbClr val="0B2350"/>
            </a:solidFill>
            <a:prstDash val="solid"/>
            <a:round/>
          </a:ln>
        </p:spPr>
      </p:sp>
      <p:sp>
        <p:nvSpPr>
          <p:cNvPr id="20" name="[p1] Forma"/>
          <p:cNvSpPr/>
          <p:nvPr/>
        </p:nvSpPr>
        <p:spPr>
          <a:xfrm>
            <a:off x="39569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1" name="[p1] Forma"/>
          <p:cNvSpPr/>
          <p:nvPr/>
        </p:nvSpPr>
        <p:spPr>
          <a:xfrm>
            <a:off x="33999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envía</a:t>
            </a:r>
            <a:endParaRPr lang="en-US" sz="1800" dirty="0"/>
          </a:p>
        </p:txBody>
      </p:sp>
      <p:sp>
        <p:nvSpPr>
          <p:cNvPr id="22" name="[p1] Forma"/>
          <p:cNvSpPr/>
          <p:nvPr/>
        </p:nvSpPr>
        <p:spPr>
          <a:xfrm>
            <a:off x="34639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Cuando está lista.</a:t>
            </a:r>
            <a:endParaRPr lang="en-US" sz="1400" dirty="0"/>
          </a:p>
        </p:txBody>
      </p:sp>
      <p:sp>
        <p:nvSpPr>
          <p:cNvPr id="23" name="[p2] Forma"/>
          <p:cNvSpPr/>
          <p:nvPr/>
        </p:nvSpPr>
        <p:spPr>
          <a:xfrm>
            <a:off x="5548008" y="2560320"/>
            <a:ext cx="1095680" cy="0"/>
          </a:xfrm>
          <a:prstGeom prst="line">
            <a:avLst/>
          </a:prstGeom>
          <a:noFill/>
          <a:ln w="38100">
            <a:solidFill>
              <a:srgbClr val="2BA6CB"/>
            </a:solidFill>
            <a:prstDash val="solid"/>
            <a:tailEnd type="triangle"/>
          </a:ln>
        </p:spPr>
      </p:sp>
      <p:sp>
        <p:nvSpPr>
          <p:cNvPr id="24" name="[p2] Forma"/>
          <p:cNvSpPr/>
          <p:nvPr/>
        </p:nvSpPr>
        <p:spPr>
          <a:xfrm>
            <a:off x="6735128" y="1828800"/>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p2] Icono bell"/>
          <p:cNvSpPr/>
          <p:nvPr/>
        </p:nvSpPr>
        <p:spPr>
          <a:xfrm>
            <a:off x="7071627" y="2165299"/>
            <a:ext cx="790042" cy="790042"/>
          </a:xfrm>
          <a:custGeom>
            <a:avLst/>
            <a:gdLst/>
            <a:ahLst/>
            <a:cxnLst/>
            <a:rect l="l" t="t" r="r" b="b"/>
            <a:pathLst>
              <a:path w="790042" h="790042">
                <a:moveTo>
                  <a:pt x="338006" y="691286"/>
                </a:moveTo>
                <a:cubicBezTo>
                  <a:pt x="349767" y="711655"/>
                  <a:pt x="371501" y="724202"/>
                  <a:pt x="395021" y="724202"/>
                </a:cubicBezTo>
                <a:cubicBezTo>
                  <a:pt x="418541" y="724202"/>
                  <a:pt x="440274" y="711655"/>
                  <a:pt x="452035" y="691286"/>
                </a:cubicBezTo>
                <a:moveTo>
                  <a:pt x="107380" y="504507"/>
                </a:moveTo>
                <a:cubicBezTo>
                  <a:pt x="98594" y="514138"/>
                  <a:pt x="96318" y="528045"/>
                  <a:pt x="101577" y="539974"/>
                </a:cubicBezTo>
                <a:cubicBezTo>
                  <a:pt x="106835" y="551902"/>
                  <a:pt x="118638" y="559603"/>
                  <a:pt x="131674" y="559613"/>
                </a:cubicBezTo>
                <a:lnTo>
                  <a:pt x="658368" y="559613"/>
                </a:lnTo>
                <a:cubicBezTo>
                  <a:pt x="671402" y="559617"/>
                  <a:pt x="683212" y="551931"/>
                  <a:pt x="688485" y="540010"/>
                </a:cubicBezTo>
                <a:cubicBezTo>
                  <a:pt x="693757" y="528090"/>
                  <a:pt x="691500" y="514181"/>
                  <a:pt x="682728" y="504540"/>
                </a:cubicBezTo>
                <a:cubicBezTo>
                  <a:pt x="638946" y="459409"/>
                  <a:pt x="592531" y="411447"/>
                  <a:pt x="592531" y="263347"/>
                </a:cubicBezTo>
                <a:cubicBezTo>
                  <a:pt x="592531" y="154265"/>
                  <a:pt x="504103" y="65837"/>
                  <a:pt x="395021" y="65837"/>
                </a:cubicBezTo>
                <a:cubicBezTo>
                  <a:pt x="285939" y="65837"/>
                  <a:pt x="197510" y="154265"/>
                  <a:pt x="197510" y="263347"/>
                </a:cubicBezTo>
                <a:cubicBezTo>
                  <a:pt x="197510" y="411447"/>
                  <a:pt x="151063" y="459409"/>
                  <a:pt x="107380" y="504507"/>
                </a:cubicBezTo>
              </a:path>
            </a:pathLst>
          </a:custGeom>
          <a:noFill/>
          <a:ln w="57607" cap="rnd">
            <a:solidFill>
              <a:srgbClr val="0B6E8A"/>
            </a:solidFill>
            <a:prstDash val="solid"/>
            <a:round/>
          </a:ln>
        </p:spPr>
      </p:sp>
      <p:sp>
        <p:nvSpPr>
          <p:cNvPr id="26" name="[p2] Forma"/>
          <p:cNvSpPr/>
          <p:nvPr/>
        </p:nvSpPr>
        <p:spPr>
          <a:xfrm>
            <a:off x="6698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7" name="[p2] Forma"/>
          <p:cNvSpPr/>
          <p:nvPr/>
        </p:nvSpPr>
        <p:spPr>
          <a:xfrm>
            <a:off x="6141568"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sistema avisa</a:t>
            </a:r>
            <a:endParaRPr lang="en-US" sz="1800" dirty="0"/>
          </a:p>
        </p:txBody>
      </p:sp>
      <p:sp>
        <p:nvSpPr>
          <p:cNvPr id="28" name="[p2] Forma"/>
          <p:cNvSpPr/>
          <p:nvPr/>
        </p:nvSpPr>
        <p:spPr>
          <a:xfrm>
            <a:off x="6205576"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 quien debe atenderla.</a:t>
            </a:r>
            <a:endParaRPr lang="en-US" sz="1400" dirty="0"/>
          </a:p>
        </p:txBody>
      </p:sp>
      <p:sp>
        <p:nvSpPr>
          <p:cNvPr id="29" name="[p3] Forma"/>
          <p:cNvSpPr/>
          <p:nvPr/>
        </p:nvSpPr>
        <p:spPr>
          <a:xfrm>
            <a:off x="8289608" y="2560320"/>
            <a:ext cx="1095680" cy="0"/>
          </a:xfrm>
          <a:prstGeom prst="line">
            <a:avLst/>
          </a:prstGeom>
          <a:noFill/>
          <a:ln w="38100">
            <a:solidFill>
              <a:srgbClr val="2BA6CB"/>
            </a:solidFill>
            <a:prstDash val="solid"/>
            <a:tailEnd type="triangle"/>
          </a:ln>
        </p:spPr>
      </p:sp>
      <p:sp>
        <p:nvSpPr>
          <p:cNvPr id="30" name="[p3] Forma"/>
          <p:cNvSpPr/>
          <p:nvPr/>
        </p:nvSpPr>
        <p:spPr>
          <a:xfrm>
            <a:off x="9476727" y="1828800"/>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p3] Icono circle-check"/>
          <p:cNvSpPr/>
          <p:nvPr/>
        </p:nvSpPr>
        <p:spPr>
          <a:xfrm>
            <a:off x="9813226" y="2165299"/>
            <a:ext cx="790042" cy="790042"/>
          </a:xfrm>
          <a:custGeom>
            <a:avLst/>
            <a:gdLst/>
            <a:ahLst/>
            <a:cxnLst/>
            <a:rect l="l" t="t" r="r" b="b"/>
            <a:pathLst>
              <a:path w="790042" h="790042">
                <a:moveTo>
                  <a:pt x="724205" y="395021"/>
                </a:moveTo>
                <a:cubicBezTo>
                  <a:pt x="724205" y="576824"/>
                  <a:pt x="576824" y="724205"/>
                  <a:pt x="395021" y="724205"/>
                </a:cubicBezTo>
                <a:cubicBezTo>
                  <a:pt x="213217" y="724205"/>
                  <a:pt x="65837" y="576824"/>
                  <a:pt x="65837" y="395021"/>
                </a:cubicBezTo>
                <a:cubicBezTo>
                  <a:pt x="65837" y="213217"/>
                  <a:pt x="213217" y="65837"/>
                  <a:pt x="395021" y="65837"/>
                </a:cubicBezTo>
                <a:cubicBezTo>
                  <a:pt x="576824" y="65837"/>
                  <a:pt x="724205" y="213217"/>
                  <a:pt x="724205" y="395021"/>
                </a:cubicBezTo>
                <a:close/>
                <a:moveTo>
                  <a:pt x="296266" y="395021"/>
                </a:moveTo>
                <a:lnTo>
                  <a:pt x="362102" y="460858"/>
                </a:lnTo>
                <a:lnTo>
                  <a:pt x="493776" y="329184"/>
                </a:lnTo>
              </a:path>
            </a:pathLst>
          </a:custGeom>
          <a:noFill/>
          <a:ln w="57607" cap="rnd">
            <a:solidFill>
              <a:srgbClr val="0A6648"/>
            </a:solidFill>
            <a:prstDash val="solid"/>
            <a:round/>
          </a:ln>
        </p:spPr>
      </p:sp>
      <p:sp>
        <p:nvSpPr>
          <p:cNvPr id="32" name="[p3] Forma"/>
          <p:cNvSpPr/>
          <p:nvPr/>
        </p:nvSpPr>
        <p:spPr>
          <a:xfrm>
            <a:off x="94401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p3] Forma"/>
          <p:cNvSpPr/>
          <p:nvPr/>
        </p:nvSpPr>
        <p:spPr>
          <a:xfrm>
            <a:off x="8883167" y="34198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Alguien decide</a:t>
            </a:r>
            <a:endParaRPr lang="en-US" sz="1800" dirty="0"/>
          </a:p>
        </p:txBody>
      </p:sp>
      <p:sp>
        <p:nvSpPr>
          <p:cNvPr id="34" name="[p3] Forma"/>
          <p:cNvSpPr/>
          <p:nvPr/>
        </p:nvSpPr>
        <p:spPr>
          <a:xfrm>
            <a:off x="8947175" y="3858768"/>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aprueba o la rechaza.</a:t>
            </a:r>
            <a:endParaRPr lang="en-US" sz="1400" dirty="0"/>
          </a:p>
        </p:txBody>
      </p:sp>
      <p:sp>
        <p:nvSpPr>
          <p:cNvPr id="35" name="[p4] Forma"/>
          <p:cNvSpPr/>
          <p:nvPr/>
        </p:nvSpPr>
        <p:spPr>
          <a:xfrm>
            <a:off x="4725048" y="4352544"/>
            <a:ext cx="0" cy="1568196"/>
          </a:xfrm>
          <a:prstGeom prst="line">
            <a:avLst/>
          </a:prstGeom>
          <a:noFill/>
          <a:ln w="25400">
            <a:solidFill>
              <a:srgbClr val="AB243E"/>
            </a:solidFill>
            <a:prstDash val="dash"/>
          </a:ln>
        </p:spPr>
      </p:sp>
      <p:sp>
        <p:nvSpPr>
          <p:cNvPr id="36" name="[p4] Forma"/>
          <p:cNvSpPr/>
          <p:nvPr/>
        </p:nvSpPr>
        <p:spPr>
          <a:xfrm>
            <a:off x="4725048" y="5920740"/>
            <a:ext cx="457200" cy="0"/>
          </a:xfrm>
          <a:prstGeom prst="line">
            <a:avLst/>
          </a:prstGeom>
          <a:noFill/>
          <a:ln w="25400">
            <a:solidFill>
              <a:srgbClr val="AB243E"/>
            </a:solidFill>
            <a:prstDash val="dash"/>
            <a:tailEnd type="triangle"/>
          </a:ln>
        </p:spPr>
      </p:sp>
      <p:sp>
        <p:nvSpPr>
          <p:cNvPr id="37" name="[p4] Forma"/>
          <p:cNvSpPr/>
          <p:nvPr/>
        </p:nvSpPr>
        <p:spPr>
          <a:xfrm>
            <a:off x="3262008" y="5591556"/>
            <a:ext cx="1371600" cy="274320"/>
          </a:xfrm>
          <a:prstGeom prst="rect">
            <a:avLst/>
          </a:prstGeom>
          <a:noFill/>
          <a:ln/>
        </p:spPr>
        <p:txBody>
          <a:bodyPr wrap="square" lIns="0" tIns="0" rIns="0" bIns="0" rtlCol="0" anchor="t">
            <a:normAutofit/>
          </a:bodyPr>
          <a:lstStyle/>
          <a:p>
            <a:pPr algn="r" indent="0" marL="0">
              <a:buNone/>
            </a:pPr>
            <a:r>
              <a:rPr lang="en-US" sz="950" b="1" dirty="0">
                <a:solidFill>
                  <a:srgbClr val="AB243E"/>
                </a:solidFill>
                <a:latin typeface="Segoe UI" pitchFamily="34" charset="0"/>
                <a:ea typeface="Segoe UI" pitchFamily="34" charset="-122"/>
                <a:cs typeface="Segoe UI" pitchFamily="34" charset="-120"/>
              </a:rPr>
              <a:t>si se salta un paso</a:t>
            </a:r>
            <a:endParaRPr lang="en-US" sz="950" dirty="0"/>
          </a:p>
        </p:txBody>
      </p:sp>
      <p:sp>
        <p:nvSpPr>
          <p:cNvPr id="38" name="[p4] Forma"/>
          <p:cNvSpPr/>
          <p:nvPr/>
        </p:nvSpPr>
        <p:spPr>
          <a:xfrm>
            <a:off x="5182248"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39" name="[p4] Forma"/>
          <p:cNvSpPr/>
          <p:nvPr/>
        </p:nvSpPr>
        <p:spPr>
          <a:xfrm>
            <a:off x="5346840" y="5641848"/>
            <a:ext cx="548640" cy="548640"/>
          </a:xfrm>
          <a:prstGeom prst="ellipse">
            <a:avLst/>
          </a:prstGeom>
          <a:solidFill>
            <a:srgbClr val="FFFFFF"/>
          </a:solidFill>
          <a:ln w="12700">
            <a:solidFill>
              <a:srgbClr val="FFFFFF"/>
            </a:solidFill>
            <a:prstDash val="solid"/>
          </a:ln>
        </p:spPr>
      </p:sp>
      <p:sp>
        <p:nvSpPr>
          <p:cNvPr id="40" name="[p4] Icono ban"/>
          <p:cNvSpPr/>
          <p:nvPr/>
        </p:nvSpPr>
        <p:spPr>
          <a:xfrm>
            <a:off x="5478513" y="5773522"/>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AB243E"/>
            </a:solidFill>
            <a:prstDash val="solid"/>
            <a:round/>
          </a:ln>
        </p:spPr>
      </p:sp>
      <p:sp>
        <p:nvSpPr>
          <p:cNvPr id="41" name="[p4] Forma"/>
          <p:cNvSpPr/>
          <p:nvPr/>
        </p:nvSpPr>
        <p:spPr>
          <a:xfrm>
            <a:off x="6023496"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No se permite</a:t>
            </a:r>
            <a:endParaRPr lang="en-US" sz="1450" dirty="0"/>
          </a:p>
        </p:txBody>
      </p:sp>
      <p:sp>
        <p:nvSpPr>
          <p:cNvPr id="42" name="[p4] Forma"/>
          <p:cNvSpPr/>
          <p:nvPr/>
        </p:nvSpPr>
        <p:spPr>
          <a:xfrm>
            <a:off x="6023496"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Enviar dos veces o decidir sobre un borrador: el sistema explica por qué.</a:t>
            </a:r>
            <a:endParaRPr lang="en-US" sz="1150" dirty="0"/>
          </a:p>
        </p:txBody>
      </p:sp>
      <p:sp>
        <p:nvSpPr>
          <p:cNvPr id="43" name="Text 4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4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4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4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00"/>
                                        <p:tgtEl>
                                          <p:spTgt spid="34"/>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400"/>
                                        <p:tgtEl>
                                          <p:spTgt spid="3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400"/>
                                        <p:tgtEl>
                                          <p:spTgt spid="3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4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400"/>
                                        <p:tgtEl>
                                          <p:spTgt spid="3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400"/>
                                        <p:tgtEl>
                                          <p:spTgt spid="4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400"/>
                                        <p:tgtEl>
                                          <p:spTgt spid="4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Código mantenible: buenas prácticas</a:t>
            </a:r>
            <a:endParaRPr lang="en-US" sz="2800" dirty="0"/>
          </a:p>
        </p:txBody>
      </p:sp>
      <p:sp>
        <p:nvSpPr>
          <p:cNvPr id="5" name="Shape 3"/>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Después, el cómo: seis prácticas que hacen que un cambio toque un solo lugar, en cualquier lenguaje.</a:t>
            </a:r>
            <a:endParaRPr lang="en-US" sz="1650" dirty="0"/>
          </a:p>
        </p:txBody>
      </p:sp>
      <p:sp>
        <p:nvSpPr>
          <p:cNvPr id="12" name="Shape 10"/>
          <p:cNvSpPr/>
          <p:nvPr/>
        </p:nvSpPr>
        <p:spPr>
          <a:xfrm>
            <a:off x="612648"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2648" y="1847088"/>
            <a:ext cx="64008" cy="1970532"/>
          </a:xfrm>
          <a:prstGeom prst="rect">
            <a:avLst/>
          </a:prstGeom>
          <a:solidFill>
            <a:srgbClr val="0B2350"/>
          </a:solidFill>
          <a:ln w="12700">
            <a:solidFill>
              <a:srgbClr val="0B2350"/>
            </a:solidFill>
            <a:prstDash val="solid"/>
          </a:ln>
        </p:spPr>
      </p:sp>
      <p:sp>
        <p:nvSpPr>
          <p:cNvPr id="14" name="Shape 12"/>
          <p:cNvSpPr/>
          <p:nvPr/>
        </p:nvSpPr>
        <p:spPr>
          <a:xfrm>
            <a:off x="813816" y="1901952"/>
            <a:ext cx="676656" cy="676656"/>
          </a:xfrm>
          <a:prstGeom prst="ellipse">
            <a:avLst/>
          </a:prstGeom>
          <a:solidFill>
            <a:srgbClr val="E8EEF8"/>
          </a:solidFill>
          <a:ln w="12700">
            <a:solidFill>
              <a:srgbClr val="E8EEF8"/>
            </a:solidFill>
            <a:prstDash val="solid"/>
          </a:ln>
        </p:spPr>
      </p:sp>
      <p:sp>
        <p:nvSpPr>
          <p:cNvPr id="15" name="Icono layers"/>
          <p:cNvSpPr/>
          <p:nvPr/>
        </p:nvSpPr>
        <p:spPr>
          <a:xfrm>
            <a:off x="976213" y="2064349"/>
            <a:ext cx="351861" cy="351861"/>
          </a:xfrm>
          <a:custGeom>
            <a:avLst/>
            <a:gdLst/>
            <a:ahLst/>
            <a:cxnLst/>
            <a:rect l="l" t="t" r="r" b="b"/>
            <a:pathLst>
              <a:path w="351861" h="351861">
                <a:moveTo>
                  <a:pt x="188099" y="31961"/>
                </a:moveTo>
                <a:cubicBezTo>
                  <a:pt x="180370" y="28435"/>
                  <a:pt x="171491" y="28435"/>
                  <a:pt x="163762" y="31961"/>
                </a:cubicBezTo>
                <a:lnTo>
                  <a:pt x="38118" y="89138"/>
                </a:lnTo>
                <a:cubicBezTo>
                  <a:pt x="32803" y="91482"/>
                  <a:pt x="29372" y="96743"/>
                  <a:pt x="29372" y="102553"/>
                </a:cubicBezTo>
                <a:cubicBezTo>
                  <a:pt x="29372" y="108362"/>
                  <a:pt x="32803" y="113624"/>
                  <a:pt x="38118" y="115968"/>
                </a:cubicBezTo>
                <a:lnTo>
                  <a:pt x="163909" y="173292"/>
                </a:lnTo>
                <a:cubicBezTo>
                  <a:pt x="171638" y="176817"/>
                  <a:pt x="180516" y="176817"/>
                  <a:pt x="188246" y="173292"/>
                </a:cubicBezTo>
                <a:lnTo>
                  <a:pt x="314036" y="116114"/>
                </a:lnTo>
                <a:cubicBezTo>
                  <a:pt x="319352" y="113770"/>
                  <a:pt x="322782" y="108509"/>
                  <a:pt x="322782" y="102699"/>
                </a:cubicBezTo>
                <a:cubicBezTo>
                  <a:pt x="322782" y="96890"/>
                  <a:pt x="319352" y="91629"/>
                  <a:pt x="314036" y="89285"/>
                </a:cubicBezTo>
                <a:close/>
                <a:moveTo>
                  <a:pt x="29322" y="175931"/>
                </a:moveTo>
                <a:cubicBezTo>
                  <a:pt x="29308" y="181657"/>
                  <a:pt x="32628" y="186867"/>
                  <a:pt x="37825" y="189272"/>
                </a:cubicBezTo>
                <a:lnTo>
                  <a:pt x="163909" y="246596"/>
                </a:lnTo>
                <a:cubicBezTo>
                  <a:pt x="171596" y="250077"/>
                  <a:pt x="180411" y="250077"/>
                  <a:pt x="188099" y="246596"/>
                </a:cubicBezTo>
                <a:lnTo>
                  <a:pt x="313889" y="189419"/>
                </a:lnTo>
                <a:cubicBezTo>
                  <a:pt x="319192" y="187035"/>
                  <a:pt x="322585" y="181744"/>
                  <a:pt x="322539" y="175931"/>
                </a:cubicBezTo>
                <a:moveTo>
                  <a:pt x="29322" y="249235"/>
                </a:moveTo>
                <a:cubicBezTo>
                  <a:pt x="29308" y="254961"/>
                  <a:pt x="32628" y="260171"/>
                  <a:pt x="37825" y="262576"/>
                </a:cubicBezTo>
                <a:lnTo>
                  <a:pt x="163909" y="319900"/>
                </a:lnTo>
                <a:cubicBezTo>
                  <a:pt x="171596" y="323382"/>
                  <a:pt x="180411" y="323382"/>
                  <a:pt x="188099" y="319900"/>
                </a:cubicBezTo>
                <a:lnTo>
                  <a:pt x="313889" y="262723"/>
                </a:lnTo>
                <a:cubicBezTo>
                  <a:pt x="319192" y="260340"/>
                  <a:pt x="322585" y="255048"/>
                  <a:pt x="322539" y="249235"/>
                </a:cubicBezTo>
              </a:path>
            </a:pathLst>
          </a:custGeom>
          <a:noFill/>
          <a:ln w="29322" cap="rnd">
            <a:solidFill>
              <a:srgbClr val="0B2350"/>
            </a:solidFill>
            <a:prstDash val="solid"/>
            <a:round/>
          </a:ln>
        </p:spPr>
      </p:sp>
      <p:sp>
        <p:nvSpPr>
          <p:cNvPr id="16" name="Text 14"/>
          <p:cNvSpPr/>
          <p:nvPr/>
        </p:nvSpPr>
        <p:spPr>
          <a:xfrm>
            <a:off x="1636776"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2350"/>
                </a:solidFill>
                <a:latin typeface="Segoe UI Semibold" pitchFamily="34" charset="0"/>
                <a:ea typeface="Segoe UI Semibold" pitchFamily="34" charset="-122"/>
                <a:cs typeface="Segoe UI Semibold" pitchFamily="34" charset="-120"/>
              </a:rPr>
              <a:t>Una tarea por pieza</a:t>
            </a:r>
            <a:endParaRPr lang="en-US" sz="1800" dirty="0"/>
          </a:p>
        </p:txBody>
      </p:sp>
      <p:sp>
        <p:nvSpPr>
          <p:cNvPr id="17" name="Text 15"/>
          <p:cNvSpPr/>
          <p:nvPr/>
        </p:nvSpPr>
        <p:spPr>
          <a:xfrm>
            <a:off x="868680"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Quien recibe la petición no decide; quien decide no guarda.</a:t>
            </a:r>
            <a:endParaRPr lang="en-US" sz="1600" dirty="0"/>
          </a:p>
        </p:txBody>
      </p:sp>
      <p:sp>
        <p:nvSpPr>
          <p:cNvPr id="18" name="[p1] Forma"/>
          <p:cNvSpPr/>
          <p:nvPr/>
        </p:nvSpPr>
        <p:spPr>
          <a:xfrm>
            <a:off x="4329074"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p1] Forma"/>
          <p:cNvSpPr/>
          <p:nvPr/>
        </p:nvSpPr>
        <p:spPr>
          <a:xfrm>
            <a:off x="4329074" y="1847088"/>
            <a:ext cx="64008" cy="1970532"/>
          </a:xfrm>
          <a:prstGeom prst="rect">
            <a:avLst/>
          </a:prstGeom>
          <a:solidFill>
            <a:srgbClr val="0B6E8A"/>
          </a:solidFill>
          <a:ln w="12700">
            <a:solidFill>
              <a:srgbClr val="0B6E8A"/>
            </a:solidFill>
            <a:prstDash val="solid"/>
          </a:ln>
        </p:spPr>
      </p:sp>
      <p:sp>
        <p:nvSpPr>
          <p:cNvPr id="20" name="[p1] Forma"/>
          <p:cNvSpPr/>
          <p:nvPr/>
        </p:nvSpPr>
        <p:spPr>
          <a:xfrm>
            <a:off x="4530242" y="1901952"/>
            <a:ext cx="676656" cy="676656"/>
          </a:xfrm>
          <a:prstGeom prst="ellipse">
            <a:avLst/>
          </a:prstGeom>
          <a:solidFill>
            <a:srgbClr val="E3F4FA"/>
          </a:solidFill>
          <a:ln w="12700">
            <a:solidFill>
              <a:srgbClr val="E3F4FA"/>
            </a:solidFill>
            <a:prstDash val="solid"/>
          </a:ln>
        </p:spPr>
      </p:sp>
      <p:sp>
        <p:nvSpPr>
          <p:cNvPr id="21" name="[p1] Icono plug"/>
          <p:cNvSpPr/>
          <p:nvPr/>
        </p:nvSpPr>
        <p:spPr>
          <a:xfrm>
            <a:off x="4692640" y="2064349"/>
            <a:ext cx="351861" cy="351861"/>
          </a:xfrm>
          <a:custGeom>
            <a:avLst/>
            <a:gdLst/>
            <a:ahLst/>
            <a:cxnLst/>
            <a:rect l="l" t="t" r="r" b="b"/>
            <a:pathLst>
              <a:path w="351861" h="351861">
                <a:moveTo>
                  <a:pt x="175931" y="322539"/>
                </a:moveTo>
                <a:lnTo>
                  <a:pt x="175931" y="249235"/>
                </a:lnTo>
                <a:moveTo>
                  <a:pt x="131948" y="117287"/>
                </a:moveTo>
                <a:lnTo>
                  <a:pt x="131948" y="29322"/>
                </a:lnTo>
                <a:moveTo>
                  <a:pt x="219913" y="117287"/>
                </a:moveTo>
                <a:lnTo>
                  <a:pt x="219913" y="29322"/>
                </a:lnTo>
                <a:moveTo>
                  <a:pt x="263896" y="117287"/>
                </a:moveTo>
                <a:lnTo>
                  <a:pt x="263896" y="190591"/>
                </a:lnTo>
                <a:cubicBezTo>
                  <a:pt x="263896" y="222979"/>
                  <a:pt x="237640" y="249235"/>
                  <a:pt x="205252" y="249235"/>
                </a:cubicBezTo>
                <a:lnTo>
                  <a:pt x="146609" y="249235"/>
                </a:lnTo>
                <a:cubicBezTo>
                  <a:pt x="114221" y="249235"/>
                  <a:pt x="87965" y="222979"/>
                  <a:pt x="87965" y="190591"/>
                </a:cubicBezTo>
                <a:lnTo>
                  <a:pt x="87965" y="117287"/>
                </a:lnTo>
                <a:close/>
              </a:path>
            </a:pathLst>
          </a:custGeom>
          <a:noFill/>
          <a:ln w="29322" cap="rnd">
            <a:solidFill>
              <a:srgbClr val="0B6E8A"/>
            </a:solidFill>
            <a:prstDash val="solid"/>
            <a:round/>
          </a:ln>
        </p:spPr>
      </p:sp>
      <p:sp>
        <p:nvSpPr>
          <p:cNvPr id="22" name="[p1] Forma"/>
          <p:cNvSpPr/>
          <p:nvPr/>
        </p:nvSpPr>
        <p:spPr>
          <a:xfrm>
            <a:off x="5353202"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B6E8A"/>
                </a:solidFill>
                <a:latin typeface="Segoe UI Semibold" pitchFamily="34" charset="0"/>
                <a:ea typeface="Segoe UI Semibold" pitchFamily="34" charset="-122"/>
                <a:cs typeface="Segoe UI Semibold" pitchFamily="34" charset="-120"/>
              </a:rPr>
              <a:t>Piezas que se conectan</a:t>
            </a:r>
            <a:endParaRPr lang="en-US" sz="1800" dirty="0"/>
          </a:p>
        </p:txBody>
      </p:sp>
      <p:sp>
        <p:nvSpPr>
          <p:cNvPr id="23" name="[p1] Forma"/>
          <p:cNvSpPr/>
          <p:nvPr/>
        </p:nvSpPr>
        <p:spPr>
          <a:xfrm>
            <a:off x="4585106"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Cada pieza recibe lo que necesita: se cambia o se prueba sola.</a:t>
            </a:r>
            <a:endParaRPr lang="en-US" sz="1600" dirty="0"/>
          </a:p>
        </p:txBody>
      </p:sp>
      <p:sp>
        <p:nvSpPr>
          <p:cNvPr id="24" name="[p2] Forma"/>
          <p:cNvSpPr/>
          <p:nvPr/>
        </p:nvSpPr>
        <p:spPr>
          <a:xfrm>
            <a:off x="8045501" y="1719072"/>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5" name="[p2] Forma"/>
          <p:cNvSpPr/>
          <p:nvPr/>
        </p:nvSpPr>
        <p:spPr>
          <a:xfrm>
            <a:off x="8045501" y="1847088"/>
            <a:ext cx="64008" cy="1970532"/>
          </a:xfrm>
          <a:prstGeom prst="rect">
            <a:avLst/>
          </a:prstGeom>
          <a:solidFill>
            <a:srgbClr val="5B3FC4"/>
          </a:solidFill>
          <a:ln w="12700">
            <a:solidFill>
              <a:srgbClr val="5B3FC4"/>
            </a:solidFill>
            <a:prstDash val="solid"/>
          </a:ln>
        </p:spPr>
      </p:sp>
      <p:sp>
        <p:nvSpPr>
          <p:cNvPr id="26" name="[p2] Forma"/>
          <p:cNvSpPr/>
          <p:nvPr/>
        </p:nvSpPr>
        <p:spPr>
          <a:xfrm>
            <a:off x="8246669" y="1901952"/>
            <a:ext cx="676656" cy="676656"/>
          </a:xfrm>
          <a:prstGeom prst="ellipse">
            <a:avLst/>
          </a:prstGeom>
          <a:solidFill>
            <a:srgbClr val="F1EEFD"/>
          </a:solidFill>
          <a:ln w="12700">
            <a:solidFill>
              <a:srgbClr val="F1EEFD"/>
            </a:solidFill>
            <a:prstDash val="solid"/>
          </a:ln>
        </p:spPr>
      </p:sp>
      <p:sp>
        <p:nvSpPr>
          <p:cNvPr id="27" name="[p2] Icono puzzle"/>
          <p:cNvSpPr/>
          <p:nvPr/>
        </p:nvSpPr>
        <p:spPr>
          <a:xfrm>
            <a:off x="8409066" y="2064349"/>
            <a:ext cx="351861" cy="351861"/>
          </a:xfrm>
          <a:custGeom>
            <a:avLst/>
            <a:gdLst/>
            <a:ahLst/>
            <a:cxnLst/>
            <a:rect l="l" t="t" r="r" b="b"/>
            <a:pathLst>
              <a:path w="351861" h="351861">
                <a:moveTo>
                  <a:pt x="225631" y="64361"/>
                </a:moveTo>
                <a:cubicBezTo>
                  <a:pt x="229384" y="68118"/>
                  <a:pt x="234874" y="69552"/>
                  <a:pt x="239984" y="68110"/>
                </a:cubicBezTo>
                <a:cubicBezTo>
                  <a:pt x="245094" y="66668"/>
                  <a:pt x="249025" y="62576"/>
                  <a:pt x="250261" y="57412"/>
                </a:cubicBezTo>
                <a:cubicBezTo>
                  <a:pt x="254473" y="39882"/>
                  <a:pt x="270808" y="28017"/>
                  <a:pt x="288781" y="29435"/>
                </a:cubicBezTo>
                <a:cubicBezTo>
                  <a:pt x="306754" y="30852"/>
                  <a:pt x="321028" y="45130"/>
                  <a:pt x="322439" y="63104"/>
                </a:cubicBezTo>
                <a:cubicBezTo>
                  <a:pt x="323851" y="81078"/>
                  <a:pt x="311981" y="97409"/>
                  <a:pt x="294449" y="101615"/>
                </a:cubicBezTo>
                <a:cubicBezTo>
                  <a:pt x="289285" y="102850"/>
                  <a:pt x="285193" y="106782"/>
                  <a:pt x="283751" y="111892"/>
                </a:cubicBezTo>
                <a:cubicBezTo>
                  <a:pt x="282310" y="117002"/>
                  <a:pt x="283743" y="122492"/>
                  <a:pt x="287500" y="126245"/>
                </a:cubicBezTo>
                <a:lnTo>
                  <a:pt x="312174" y="150904"/>
                </a:lnTo>
                <a:cubicBezTo>
                  <a:pt x="318812" y="157542"/>
                  <a:pt x="322541" y="166544"/>
                  <a:pt x="322541" y="175931"/>
                </a:cubicBezTo>
                <a:cubicBezTo>
                  <a:pt x="322541" y="185317"/>
                  <a:pt x="318812" y="194319"/>
                  <a:pt x="312174" y="200957"/>
                </a:cubicBezTo>
                <a:lnTo>
                  <a:pt x="287500" y="225631"/>
                </a:lnTo>
                <a:cubicBezTo>
                  <a:pt x="283747" y="229387"/>
                  <a:pt x="278257" y="230821"/>
                  <a:pt x="273147" y="229379"/>
                </a:cubicBezTo>
                <a:cubicBezTo>
                  <a:pt x="268037" y="227938"/>
                  <a:pt x="264105" y="223846"/>
                  <a:pt x="262870" y="218682"/>
                </a:cubicBezTo>
                <a:cubicBezTo>
                  <a:pt x="258658" y="201151"/>
                  <a:pt x="242323" y="189287"/>
                  <a:pt x="224350" y="190704"/>
                </a:cubicBezTo>
                <a:cubicBezTo>
                  <a:pt x="206376" y="192122"/>
                  <a:pt x="192103" y="206400"/>
                  <a:pt x="190692" y="224374"/>
                </a:cubicBezTo>
                <a:cubicBezTo>
                  <a:pt x="189280" y="242348"/>
                  <a:pt x="201150" y="258679"/>
                  <a:pt x="218682" y="262884"/>
                </a:cubicBezTo>
                <a:cubicBezTo>
                  <a:pt x="223846" y="264120"/>
                  <a:pt x="227938" y="268051"/>
                  <a:pt x="229379" y="273161"/>
                </a:cubicBezTo>
                <a:cubicBezTo>
                  <a:pt x="230821" y="278272"/>
                  <a:pt x="229387" y="283762"/>
                  <a:pt x="225631" y="287515"/>
                </a:cubicBezTo>
                <a:lnTo>
                  <a:pt x="200957" y="312174"/>
                </a:lnTo>
                <a:cubicBezTo>
                  <a:pt x="194319" y="318812"/>
                  <a:pt x="185317" y="322541"/>
                  <a:pt x="175931" y="322541"/>
                </a:cubicBezTo>
                <a:cubicBezTo>
                  <a:pt x="166544" y="322541"/>
                  <a:pt x="157542" y="318812"/>
                  <a:pt x="150904" y="312174"/>
                </a:cubicBezTo>
                <a:lnTo>
                  <a:pt x="126230" y="287500"/>
                </a:lnTo>
                <a:cubicBezTo>
                  <a:pt x="122478" y="283743"/>
                  <a:pt x="116987" y="282310"/>
                  <a:pt x="111877" y="283751"/>
                </a:cubicBezTo>
                <a:cubicBezTo>
                  <a:pt x="106767" y="285193"/>
                  <a:pt x="102836" y="289285"/>
                  <a:pt x="101600" y="294449"/>
                </a:cubicBezTo>
                <a:cubicBezTo>
                  <a:pt x="97389" y="311979"/>
                  <a:pt x="81053" y="323844"/>
                  <a:pt x="63080" y="322426"/>
                </a:cubicBezTo>
                <a:cubicBezTo>
                  <a:pt x="45107" y="321009"/>
                  <a:pt x="30833" y="306731"/>
                  <a:pt x="29422" y="288757"/>
                </a:cubicBezTo>
                <a:cubicBezTo>
                  <a:pt x="28010" y="270783"/>
                  <a:pt x="39880" y="254452"/>
                  <a:pt x="57412" y="250247"/>
                </a:cubicBezTo>
                <a:cubicBezTo>
                  <a:pt x="62576" y="249011"/>
                  <a:pt x="66668" y="245080"/>
                  <a:pt x="68110" y="239969"/>
                </a:cubicBezTo>
                <a:cubicBezTo>
                  <a:pt x="69552" y="234859"/>
                  <a:pt x="68118" y="229369"/>
                  <a:pt x="64361" y="225616"/>
                </a:cubicBezTo>
                <a:lnTo>
                  <a:pt x="39687" y="200957"/>
                </a:lnTo>
                <a:cubicBezTo>
                  <a:pt x="33049" y="194319"/>
                  <a:pt x="29320" y="185317"/>
                  <a:pt x="29320" y="175931"/>
                </a:cubicBezTo>
                <a:cubicBezTo>
                  <a:pt x="29320" y="166544"/>
                  <a:pt x="33049" y="157542"/>
                  <a:pt x="39687" y="150904"/>
                </a:cubicBezTo>
                <a:lnTo>
                  <a:pt x="64361" y="126230"/>
                </a:lnTo>
                <a:cubicBezTo>
                  <a:pt x="68114" y="122474"/>
                  <a:pt x="73604" y="121040"/>
                  <a:pt x="78714" y="122482"/>
                </a:cubicBezTo>
                <a:cubicBezTo>
                  <a:pt x="83824" y="123924"/>
                  <a:pt x="87756" y="128016"/>
                  <a:pt x="88992" y="133179"/>
                </a:cubicBezTo>
                <a:cubicBezTo>
                  <a:pt x="93203" y="150710"/>
                  <a:pt x="109538" y="162574"/>
                  <a:pt x="127511" y="161157"/>
                </a:cubicBezTo>
                <a:cubicBezTo>
                  <a:pt x="145485" y="159739"/>
                  <a:pt x="159758" y="145461"/>
                  <a:pt x="161170" y="127487"/>
                </a:cubicBezTo>
                <a:cubicBezTo>
                  <a:pt x="162581" y="109514"/>
                  <a:pt x="150711" y="93182"/>
                  <a:pt x="133179" y="88977"/>
                </a:cubicBezTo>
                <a:cubicBezTo>
                  <a:pt x="128016" y="87741"/>
                  <a:pt x="123924" y="83810"/>
                  <a:pt x="122482" y="78700"/>
                </a:cubicBezTo>
                <a:cubicBezTo>
                  <a:pt x="121040" y="73590"/>
                  <a:pt x="122474" y="68099"/>
                  <a:pt x="126230" y="64347"/>
                </a:cubicBezTo>
                <a:lnTo>
                  <a:pt x="150904" y="39687"/>
                </a:lnTo>
                <a:cubicBezTo>
                  <a:pt x="157542" y="33049"/>
                  <a:pt x="166544" y="29320"/>
                  <a:pt x="175931" y="29320"/>
                </a:cubicBezTo>
                <a:cubicBezTo>
                  <a:pt x="185317" y="29320"/>
                  <a:pt x="194319" y="33049"/>
                  <a:pt x="200957" y="39687"/>
                </a:cubicBezTo>
                <a:close/>
              </a:path>
            </a:pathLst>
          </a:custGeom>
          <a:noFill/>
          <a:ln w="29322" cap="rnd">
            <a:solidFill>
              <a:srgbClr val="5B3FC4"/>
            </a:solidFill>
            <a:prstDash val="solid"/>
            <a:round/>
          </a:ln>
        </p:spPr>
      </p:sp>
      <p:sp>
        <p:nvSpPr>
          <p:cNvPr id="28" name="[p2] Forma"/>
          <p:cNvSpPr/>
          <p:nvPr/>
        </p:nvSpPr>
        <p:spPr>
          <a:xfrm>
            <a:off x="9069629" y="1901952"/>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5B3FC4"/>
                </a:solidFill>
                <a:latin typeface="Segoe UI Semibold" pitchFamily="34" charset="0"/>
                <a:ea typeface="Segoe UI Semibold" pitchFamily="34" charset="-122"/>
                <a:cs typeface="Segoe UI Semibold" pitchFamily="34" charset="-120"/>
              </a:rPr>
              <a:t>Reglas en un solo lugar</a:t>
            </a:r>
            <a:endParaRPr lang="en-US" sz="1800" dirty="0"/>
          </a:p>
        </p:txBody>
      </p:sp>
      <p:sp>
        <p:nvSpPr>
          <p:cNvPr id="29" name="[p2] Forma"/>
          <p:cNvSpPr/>
          <p:nvPr/>
        </p:nvSpPr>
        <p:spPr>
          <a:xfrm>
            <a:off x="8301533" y="2724912"/>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El negocio vive junto, lejos de la pantalla y de la base.</a:t>
            </a:r>
            <a:endParaRPr lang="en-US" sz="1600" dirty="0"/>
          </a:p>
        </p:txBody>
      </p:sp>
      <p:sp>
        <p:nvSpPr>
          <p:cNvPr id="30" name="[p3] Forma"/>
          <p:cNvSpPr/>
          <p:nvPr/>
        </p:nvSpPr>
        <p:spPr>
          <a:xfrm>
            <a:off x="612648"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3] Forma"/>
          <p:cNvSpPr/>
          <p:nvPr/>
        </p:nvSpPr>
        <p:spPr>
          <a:xfrm>
            <a:off x="612648" y="4256532"/>
            <a:ext cx="64008" cy="1970532"/>
          </a:xfrm>
          <a:prstGeom prst="rect">
            <a:avLst/>
          </a:prstGeom>
          <a:solidFill>
            <a:srgbClr val="AB243E"/>
          </a:solidFill>
          <a:ln w="12700">
            <a:solidFill>
              <a:srgbClr val="AB243E"/>
            </a:solidFill>
            <a:prstDash val="solid"/>
          </a:ln>
        </p:spPr>
      </p:sp>
      <p:sp>
        <p:nvSpPr>
          <p:cNvPr id="32" name="[p3] Forma"/>
          <p:cNvSpPr/>
          <p:nvPr/>
        </p:nvSpPr>
        <p:spPr>
          <a:xfrm>
            <a:off x="813816" y="4311396"/>
            <a:ext cx="676656" cy="676656"/>
          </a:xfrm>
          <a:prstGeom prst="ellipse">
            <a:avLst/>
          </a:prstGeom>
          <a:solidFill>
            <a:srgbClr val="F7E3E7"/>
          </a:solidFill>
          <a:ln w="12700">
            <a:solidFill>
              <a:srgbClr val="F7E3E7"/>
            </a:solidFill>
            <a:prstDash val="solid"/>
          </a:ln>
        </p:spPr>
      </p:sp>
      <p:sp>
        <p:nvSpPr>
          <p:cNvPr id="33" name="[p3] Icono shield-alert"/>
          <p:cNvSpPr/>
          <p:nvPr/>
        </p:nvSpPr>
        <p:spPr>
          <a:xfrm>
            <a:off x="976213" y="4473793"/>
            <a:ext cx="351861" cy="351861"/>
          </a:xfrm>
          <a:custGeom>
            <a:avLst/>
            <a:gdLst/>
            <a:ahLst/>
            <a:cxnLst/>
            <a:rect l="l" t="t" r="r" b="b"/>
            <a:pathLst>
              <a:path w="351861" h="351861">
                <a:moveTo>
                  <a:pt x="293218" y="190591"/>
                </a:moveTo>
                <a:cubicBezTo>
                  <a:pt x="293218" y="263896"/>
                  <a:pt x="241905" y="300548"/>
                  <a:pt x="180915" y="321806"/>
                </a:cubicBezTo>
                <a:cubicBezTo>
                  <a:pt x="177722" y="322889"/>
                  <a:pt x="174252" y="322837"/>
                  <a:pt x="171092" y="321660"/>
                </a:cubicBezTo>
                <a:cubicBezTo>
                  <a:pt x="109957" y="300548"/>
                  <a:pt x="58644" y="263896"/>
                  <a:pt x="58644" y="190591"/>
                </a:cubicBezTo>
                <a:lnTo>
                  <a:pt x="58644" y="87965"/>
                </a:lnTo>
                <a:cubicBezTo>
                  <a:pt x="58644" y="79868"/>
                  <a:pt x="65207" y="73304"/>
                  <a:pt x="73304" y="73304"/>
                </a:cubicBezTo>
                <a:cubicBezTo>
                  <a:pt x="102626" y="73304"/>
                  <a:pt x="139278" y="55711"/>
                  <a:pt x="164788" y="33427"/>
                </a:cubicBezTo>
                <a:cubicBezTo>
                  <a:pt x="171205" y="27945"/>
                  <a:pt x="180656" y="27945"/>
                  <a:pt x="187073" y="33427"/>
                </a:cubicBezTo>
                <a:cubicBezTo>
                  <a:pt x="212729" y="55858"/>
                  <a:pt x="249235" y="73304"/>
                  <a:pt x="278557" y="73304"/>
                </a:cubicBezTo>
                <a:cubicBezTo>
                  <a:pt x="286654" y="73304"/>
                  <a:pt x="293218" y="79868"/>
                  <a:pt x="293218" y="87965"/>
                </a:cubicBezTo>
                <a:close/>
                <a:moveTo>
                  <a:pt x="175931" y="117287"/>
                </a:moveTo>
                <a:lnTo>
                  <a:pt x="175931" y="175931"/>
                </a:lnTo>
                <a:moveTo>
                  <a:pt x="175931" y="234574"/>
                </a:moveTo>
                <a:lnTo>
                  <a:pt x="176077" y="234574"/>
                </a:lnTo>
              </a:path>
            </a:pathLst>
          </a:custGeom>
          <a:noFill/>
          <a:ln w="29322" cap="rnd">
            <a:solidFill>
              <a:srgbClr val="AB243E"/>
            </a:solidFill>
            <a:prstDash val="solid"/>
            <a:round/>
          </a:ln>
        </p:spPr>
      </p:sp>
      <p:sp>
        <p:nvSpPr>
          <p:cNvPr id="34" name="[p3] Forma"/>
          <p:cNvSpPr/>
          <p:nvPr/>
        </p:nvSpPr>
        <p:spPr>
          <a:xfrm>
            <a:off x="1636776"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AB243E"/>
                </a:solidFill>
                <a:latin typeface="Segoe UI Semibold" pitchFamily="34" charset="0"/>
                <a:ea typeface="Segoe UI Semibold" pitchFamily="34" charset="-122"/>
                <a:cs typeface="Segoe UI Semibold" pitchFamily="34" charset="-120"/>
              </a:rPr>
              <a:t>Errores con respuesta clara</a:t>
            </a:r>
            <a:endParaRPr lang="en-US" sz="1800" dirty="0"/>
          </a:p>
        </p:txBody>
      </p:sp>
      <p:sp>
        <p:nvSpPr>
          <p:cNvPr id="35" name="[p3] Forma"/>
          <p:cNvSpPr/>
          <p:nvPr/>
        </p:nvSpPr>
        <p:spPr>
          <a:xfrm>
            <a:off x="868680"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Siempre el mismo formato: 400, 404 o 409 con su motivo.</a:t>
            </a:r>
            <a:endParaRPr lang="en-US" sz="1600" dirty="0"/>
          </a:p>
        </p:txBody>
      </p:sp>
      <p:sp>
        <p:nvSpPr>
          <p:cNvPr id="36" name="[p4] Forma"/>
          <p:cNvSpPr/>
          <p:nvPr/>
        </p:nvSpPr>
        <p:spPr>
          <a:xfrm>
            <a:off x="4329074"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7" name="[p4] Forma"/>
          <p:cNvSpPr/>
          <p:nvPr/>
        </p:nvSpPr>
        <p:spPr>
          <a:xfrm>
            <a:off x="4329074" y="4256532"/>
            <a:ext cx="64008" cy="1970532"/>
          </a:xfrm>
          <a:prstGeom prst="rect">
            <a:avLst/>
          </a:prstGeom>
          <a:solidFill>
            <a:srgbClr val="8A4B06"/>
          </a:solidFill>
          <a:ln w="12700">
            <a:solidFill>
              <a:srgbClr val="8A4B06"/>
            </a:solidFill>
            <a:prstDash val="solid"/>
          </a:ln>
        </p:spPr>
      </p:sp>
      <p:sp>
        <p:nvSpPr>
          <p:cNvPr id="38" name="[p4] Forma"/>
          <p:cNvSpPr/>
          <p:nvPr/>
        </p:nvSpPr>
        <p:spPr>
          <a:xfrm>
            <a:off x="4530242" y="4311396"/>
            <a:ext cx="676656" cy="676656"/>
          </a:xfrm>
          <a:prstGeom prst="ellipse">
            <a:avLst/>
          </a:prstGeom>
          <a:solidFill>
            <a:srgbClr val="FCEFD6"/>
          </a:solidFill>
          <a:ln w="12700">
            <a:solidFill>
              <a:srgbClr val="FCEFD6"/>
            </a:solidFill>
            <a:prstDash val="solid"/>
          </a:ln>
        </p:spPr>
      </p:sp>
      <p:sp>
        <p:nvSpPr>
          <p:cNvPr id="39" name="[p4] Icono book-open"/>
          <p:cNvSpPr/>
          <p:nvPr/>
        </p:nvSpPr>
        <p:spPr>
          <a:xfrm>
            <a:off x="4692640" y="4473793"/>
            <a:ext cx="351861" cy="351861"/>
          </a:xfrm>
          <a:custGeom>
            <a:avLst/>
            <a:gdLst/>
            <a:ahLst/>
            <a:cxnLst/>
            <a:rect l="l" t="t" r="r" b="b"/>
            <a:pathLst>
              <a:path w="351861" h="351861">
                <a:moveTo>
                  <a:pt x="175931" y="102626"/>
                </a:moveTo>
                <a:lnTo>
                  <a:pt x="175931" y="307878"/>
                </a:lnTo>
                <a:moveTo>
                  <a:pt x="43983" y="263896"/>
                </a:moveTo>
                <a:cubicBezTo>
                  <a:pt x="35886" y="263896"/>
                  <a:pt x="29322" y="257332"/>
                  <a:pt x="29322" y="249235"/>
                </a:cubicBezTo>
                <a:lnTo>
                  <a:pt x="29322" y="58644"/>
                </a:lnTo>
                <a:cubicBezTo>
                  <a:pt x="29322" y="50547"/>
                  <a:pt x="35886" y="43983"/>
                  <a:pt x="43983" y="43983"/>
                </a:cubicBezTo>
                <a:lnTo>
                  <a:pt x="117287" y="43983"/>
                </a:lnTo>
                <a:cubicBezTo>
                  <a:pt x="149675" y="43983"/>
                  <a:pt x="175931" y="70238"/>
                  <a:pt x="175931" y="102626"/>
                </a:cubicBezTo>
                <a:cubicBezTo>
                  <a:pt x="175931" y="70238"/>
                  <a:pt x="202186" y="43983"/>
                  <a:pt x="234574" y="43983"/>
                </a:cubicBezTo>
                <a:lnTo>
                  <a:pt x="307878" y="43983"/>
                </a:lnTo>
                <a:cubicBezTo>
                  <a:pt x="315975" y="43983"/>
                  <a:pt x="322539" y="50547"/>
                  <a:pt x="322539" y="58644"/>
                </a:cubicBezTo>
                <a:lnTo>
                  <a:pt x="322539" y="249235"/>
                </a:lnTo>
                <a:cubicBezTo>
                  <a:pt x="322539" y="257332"/>
                  <a:pt x="315975" y="263896"/>
                  <a:pt x="307878" y="263896"/>
                </a:cubicBezTo>
                <a:lnTo>
                  <a:pt x="219913" y="263896"/>
                </a:lnTo>
                <a:cubicBezTo>
                  <a:pt x="195622" y="263896"/>
                  <a:pt x="175931" y="283588"/>
                  <a:pt x="175931" y="307878"/>
                </a:cubicBezTo>
                <a:cubicBezTo>
                  <a:pt x="175931" y="283588"/>
                  <a:pt x="156239" y="263896"/>
                  <a:pt x="131948" y="263896"/>
                </a:cubicBezTo>
                <a:close/>
              </a:path>
            </a:pathLst>
          </a:custGeom>
          <a:noFill/>
          <a:ln w="29322" cap="rnd">
            <a:solidFill>
              <a:srgbClr val="8A4B06"/>
            </a:solidFill>
            <a:prstDash val="solid"/>
            <a:round/>
          </a:ln>
        </p:spPr>
      </p:sp>
      <p:sp>
        <p:nvSpPr>
          <p:cNvPr id="40" name="[p4] Forma"/>
          <p:cNvSpPr/>
          <p:nvPr/>
        </p:nvSpPr>
        <p:spPr>
          <a:xfrm>
            <a:off x="5353202"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Nombres del negocio</a:t>
            </a:r>
            <a:endParaRPr lang="en-US" sz="1800" dirty="0"/>
          </a:p>
        </p:txBody>
      </p:sp>
      <p:sp>
        <p:nvSpPr>
          <p:cNvPr id="41" name="[p4] Forma"/>
          <p:cNvSpPr/>
          <p:nvPr/>
        </p:nvSpPr>
        <p:spPr>
          <a:xfrm>
            <a:off x="4585106"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Solicitud, enviar, aprobar: el código se lee como el proceso.</a:t>
            </a:r>
            <a:endParaRPr lang="en-US" sz="1600" dirty="0"/>
          </a:p>
        </p:txBody>
      </p:sp>
      <p:sp>
        <p:nvSpPr>
          <p:cNvPr id="42" name="[p5] Forma"/>
          <p:cNvSpPr/>
          <p:nvPr/>
        </p:nvSpPr>
        <p:spPr>
          <a:xfrm>
            <a:off x="8045501" y="4128516"/>
            <a:ext cx="3533546" cy="2226564"/>
          </a:xfrm>
          <a:prstGeom prst="roundRect">
            <a:avLst>
              <a:gd name="adj" fmla="val 5749"/>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3" name="[p5] Forma"/>
          <p:cNvSpPr/>
          <p:nvPr/>
        </p:nvSpPr>
        <p:spPr>
          <a:xfrm>
            <a:off x="8045501" y="4256532"/>
            <a:ext cx="64008" cy="1970532"/>
          </a:xfrm>
          <a:prstGeom prst="rect">
            <a:avLst/>
          </a:prstGeom>
          <a:solidFill>
            <a:srgbClr val="0A6648"/>
          </a:solidFill>
          <a:ln w="12700">
            <a:solidFill>
              <a:srgbClr val="0A6648"/>
            </a:solidFill>
            <a:prstDash val="solid"/>
          </a:ln>
        </p:spPr>
      </p:sp>
      <p:sp>
        <p:nvSpPr>
          <p:cNvPr id="44" name="[p5] Forma"/>
          <p:cNvSpPr/>
          <p:nvPr/>
        </p:nvSpPr>
        <p:spPr>
          <a:xfrm>
            <a:off x="8246669" y="4311396"/>
            <a:ext cx="676656" cy="676656"/>
          </a:xfrm>
          <a:prstGeom prst="ellipse">
            <a:avLst/>
          </a:prstGeom>
          <a:solidFill>
            <a:srgbClr val="E1F1EA"/>
          </a:solidFill>
          <a:ln w="12700">
            <a:solidFill>
              <a:srgbClr val="E1F1EA"/>
            </a:solidFill>
            <a:prstDash val="solid"/>
          </a:ln>
        </p:spPr>
      </p:sp>
      <p:sp>
        <p:nvSpPr>
          <p:cNvPr id="45" name="[p5] Icono flask-conical"/>
          <p:cNvSpPr/>
          <p:nvPr/>
        </p:nvSpPr>
        <p:spPr>
          <a:xfrm>
            <a:off x="8409066" y="4473793"/>
            <a:ext cx="351861" cy="351861"/>
          </a:xfrm>
          <a:custGeom>
            <a:avLst/>
            <a:gdLst/>
            <a:ahLst/>
            <a:cxnLst/>
            <a:rect l="l" t="t" r="r" b="b"/>
            <a:pathLst>
              <a:path w="351861" h="351861">
                <a:moveTo>
                  <a:pt x="205252" y="29322"/>
                </a:moveTo>
                <a:lnTo>
                  <a:pt x="205252" y="117287"/>
                </a:lnTo>
                <a:cubicBezTo>
                  <a:pt x="205250" y="122206"/>
                  <a:pt x="206485" y="127046"/>
                  <a:pt x="208844" y="131361"/>
                </a:cubicBezTo>
                <a:lnTo>
                  <a:pt x="289626" y="279143"/>
                </a:lnTo>
                <a:cubicBezTo>
                  <a:pt x="294597" y="288229"/>
                  <a:pt x="294406" y="299263"/>
                  <a:pt x="289124" y="308172"/>
                </a:cubicBezTo>
                <a:cubicBezTo>
                  <a:pt x="283842" y="317080"/>
                  <a:pt x="274253" y="322542"/>
                  <a:pt x="263896" y="322539"/>
                </a:cubicBezTo>
                <a:lnTo>
                  <a:pt x="87965" y="322539"/>
                </a:lnTo>
                <a:cubicBezTo>
                  <a:pt x="77608" y="322542"/>
                  <a:pt x="68019" y="317080"/>
                  <a:pt x="62737" y="308172"/>
                </a:cubicBezTo>
                <a:cubicBezTo>
                  <a:pt x="57455" y="299263"/>
                  <a:pt x="57264" y="288229"/>
                  <a:pt x="62235" y="279143"/>
                </a:cubicBezTo>
                <a:lnTo>
                  <a:pt x="143017" y="131361"/>
                </a:lnTo>
                <a:cubicBezTo>
                  <a:pt x="145376" y="127046"/>
                  <a:pt x="146611" y="122206"/>
                  <a:pt x="146609" y="117287"/>
                </a:cubicBezTo>
                <a:lnTo>
                  <a:pt x="146609" y="29322"/>
                </a:lnTo>
                <a:moveTo>
                  <a:pt x="94607" y="219913"/>
                </a:moveTo>
                <a:lnTo>
                  <a:pt x="257254" y="219913"/>
                </a:lnTo>
                <a:moveTo>
                  <a:pt x="124617" y="29322"/>
                </a:moveTo>
                <a:lnTo>
                  <a:pt x="227244" y="29322"/>
                </a:lnTo>
              </a:path>
            </a:pathLst>
          </a:custGeom>
          <a:noFill/>
          <a:ln w="29322" cap="rnd">
            <a:solidFill>
              <a:srgbClr val="0A6648"/>
            </a:solidFill>
            <a:prstDash val="solid"/>
            <a:round/>
          </a:ln>
        </p:spPr>
      </p:sp>
      <p:sp>
        <p:nvSpPr>
          <p:cNvPr id="46" name="[p5] Forma"/>
          <p:cNvSpPr/>
          <p:nvPr/>
        </p:nvSpPr>
        <p:spPr>
          <a:xfrm>
            <a:off x="9069629" y="4311396"/>
            <a:ext cx="2372258" cy="676656"/>
          </a:xfrm>
          <a:prstGeom prst="rect">
            <a:avLst/>
          </a:prstGeom>
          <a:noFill/>
          <a:ln/>
        </p:spPr>
        <p:txBody>
          <a:bodyPr wrap="square" lIns="0" tIns="0" rIns="0" bIns="0" rtlCol="0" anchor="ctr">
            <a:normAutofit/>
          </a:bodyPr>
          <a:lstStyle/>
          <a:p>
            <a:pPr algn="l" indent="0" marL="0">
              <a:buNone/>
            </a:pPr>
            <a:r>
              <a:rPr lang="en-US" sz="1800" b="1" dirty="0">
                <a:solidFill>
                  <a:srgbClr val="0A6648"/>
                </a:solidFill>
                <a:latin typeface="Segoe UI Semibold" pitchFamily="34" charset="0"/>
                <a:ea typeface="Segoe UI Semibold" pitchFamily="34" charset="-122"/>
                <a:cs typeface="Segoe UI Semibold" pitchFamily="34" charset="-120"/>
              </a:rPr>
              <a:t>Cada regla con su prueba</a:t>
            </a:r>
            <a:endParaRPr lang="en-US" sz="1800" dirty="0"/>
          </a:p>
        </p:txBody>
      </p:sp>
      <p:sp>
        <p:nvSpPr>
          <p:cNvPr id="47" name="[p5] Forma"/>
          <p:cNvSpPr/>
          <p:nvPr/>
        </p:nvSpPr>
        <p:spPr>
          <a:xfrm>
            <a:off x="8301533" y="5134356"/>
            <a:ext cx="3122066" cy="109270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Una prueba automática avisa si un cambio rompió algo.</a:t>
            </a:r>
            <a:endParaRPr lang="en-US" sz="1600" dirty="0"/>
          </a:p>
        </p:txBody>
      </p:sp>
      <p:sp>
        <p:nvSpPr>
          <p:cNvPr id="48" name="Text 4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4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4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400"/>
                                        <p:tgtEl>
                                          <p:spTgt spid="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400"/>
                                        <p:tgtEl>
                                          <p:spTgt spid="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400"/>
                                        <p:tgtEl>
                                          <p:spTgt spid="35"/>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4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4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4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400"/>
                                        <p:tgtEl>
                                          <p:spTgt spid="3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4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fade">
                                      <p:cBhvr>
                                        <p:cTn id="85" dur="400"/>
                                        <p:tgtEl>
                                          <p:spTgt spid="4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animEffect transition="in" filter="fade">
                                      <p:cBhvr>
                                        <p:cTn id="88" dur="400"/>
                                        <p:tgtEl>
                                          <p:spTgt spid="4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fade">
                                      <p:cBhvr>
                                        <p:cTn id="91" dur="400"/>
                                        <p:tgtEl>
                                          <p:spTgt spid="4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400"/>
                                        <p:tgtEl>
                                          <p:spTgt spid="4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400"/>
                                        <p:tgtEl>
                                          <p:spTgt spid="4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Trabajo en equipo: Git y documentación</a:t>
            </a:r>
            <a:endParaRPr lang="en-US" sz="2800" dirty="0"/>
          </a:p>
        </p:txBody>
      </p:sp>
      <p:sp>
        <p:nvSpPr>
          <p:cNvPr id="5" name="Shape 3"/>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cambio entra revisado, probado y documentado.</a:t>
            </a:r>
            <a:endParaRPr lang="en-US" sz="1700" dirty="0"/>
          </a:p>
        </p:txBody>
      </p:sp>
      <p:sp>
        <p:nvSpPr>
          <p:cNvPr id="12" name="Shape 10"/>
          <p:cNvSpPr/>
          <p:nvPr/>
        </p:nvSpPr>
        <p:spPr>
          <a:xfrm>
            <a:off x="978408" y="5349240"/>
            <a:ext cx="10234879" cy="0"/>
          </a:xfrm>
          <a:prstGeom prst="line">
            <a:avLst/>
          </a:prstGeom>
          <a:noFill/>
          <a:ln w="76200">
            <a:solidFill>
              <a:srgbClr val="0B2350"/>
            </a:solidFill>
            <a:prstDash val="solid"/>
          </a:ln>
        </p:spPr>
      </p:sp>
      <p:sp>
        <p:nvSpPr>
          <p:cNvPr id="13" name="Text 11"/>
          <p:cNvSpPr/>
          <p:nvPr/>
        </p:nvSpPr>
        <p:spPr>
          <a:xfrm>
            <a:off x="886968" y="5550408"/>
            <a:ext cx="1463040" cy="365760"/>
          </a:xfrm>
          <a:prstGeom prst="roundRect">
            <a:avLst>
              <a:gd name="adj" fmla="val 50000"/>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main</a:t>
            </a:r>
            <a:endParaRPr lang="en-US" sz="1400" dirty="0"/>
          </a:p>
        </p:txBody>
      </p:sp>
      <p:sp>
        <p:nvSpPr>
          <p:cNvPr id="14" name="Shape 12"/>
          <p:cNvSpPr/>
          <p:nvPr/>
        </p:nvSpPr>
        <p:spPr>
          <a:xfrm flipV="1">
            <a:off x="2075688" y="2816352"/>
            <a:ext cx="640080" cy="2532888"/>
          </a:xfrm>
          <a:prstGeom prst="line">
            <a:avLst/>
          </a:prstGeom>
          <a:noFill/>
          <a:ln w="63500">
            <a:solidFill>
              <a:srgbClr val="2BA6CB"/>
            </a:solidFill>
            <a:prstDash val="solid"/>
          </a:ln>
        </p:spPr>
      </p:sp>
      <p:sp>
        <p:nvSpPr>
          <p:cNvPr id="15" name="Shape 13"/>
          <p:cNvSpPr/>
          <p:nvPr/>
        </p:nvSpPr>
        <p:spPr>
          <a:xfrm>
            <a:off x="2715768" y="2816352"/>
            <a:ext cx="6394399" cy="0"/>
          </a:xfrm>
          <a:prstGeom prst="line">
            <a:avLst/>
          </a:prstGeom>
          <a:noFill/>
          <a:ln w="63500">
            <a:solidFill>
              <a:srgbClr val="2BA6CB"/>
            </a:solidFill>
            <a:prstDash val="solid"/>
          </a:ln>
        </p:spPr>
      </p:sp>
      <p:sp>
        <p:nvSpPr>
          <p:cNvPr id="16" name="[p1] Forma"/>
          <p:cNvSpPr/>
          <p:nvPr/>
        </p:nvSpPr>
        <p:spPr>
          <a:xfrm>
            <a:off x="9110167" y="2816352"/>
            <a:ext cx="640080" cy="2532888"/>
          </a:xfrm>
          <a:prstGeom prst="line">
            <a:avLst/>
          </a:prstGeom>
          <a:noFill/>
          <a:ln w="63500">
            <a:solidFill>
              <a:srgbClr val="0A6648"/>
            </a:solidFill>
            <a:prstDash val="solid"/>
            <a:tailEnd type="triangle"/>
          </a:ln>
        </p:spPr>
      </p:sp>
      <p:sp>
        <p:nvSpPr>
          <p:cNvPr id="17" name="Text 15"/>
          <p:cNvSpPr/>
          <p:nvPr/>
        </p:nvSpPr>
        <p:spPr>
          <a:xfrm>
            <a:off x="2761488" y="2103120"/>
            <a:ext cx="4206240" cy="365760"/>
          </a:xfrm>
          <a:prstGeom prst="roundRect">
            <a:avLst>
              <a:gd name="adj" fmla="val 50000"/>
            </a:avLst>
          </a:prstGeom>
          <a:solidFill>
            <a:srgbClr val="E3F4FA"/>
          </a:solidFill>
          <a:ln w="12700">
            <a:solidFill>
              <a:srgbClr val="2BA6CB"/>
            </a:solidFill>
          </a:ln>
        </p:spPr>
        <p:txBody>
          <a:bodyPr wrap="square" lIns="101600" tIns="101600" rIns="101600" bIns="101600" rtlCol="0" anchor="ctr">
            <a:normAutofit/>
          </a:bodyPr>
          <a:lstStyle/>
          <a:p>
            <a:pPr indent="0" marL="0">
              <a:buNone/>
            </a:pPr>
            <a:r>
              <a:rPr lang="en-US" sz="1300" b="1" dirty="0">
                <a:solidFill>
                  <a:srgbClr val="0B6E8A"/>
                </a:solidFill>
                <a:latin typeface="Consolas" pitchFamily="34" charset="0"/>
                <a:ea typeface="Consolas" pitchFamily="34" charset="-122"/>
                <a:cs typeface="Consolas" pitchFamily="34" charset="-120"/>
              </a:rPr>
              <a:t>feat/crear-solicitud-por-post</a:t>
            </a:r>
            <a:endParaRPr lang="en-US" sz="1300" dirty="0"/>
          </a:p>
        </p:txBody>
      </p:sp>
      <p:sp>
        <p:nvSpPr>
          <p:cNvPr id="18" name="Icono git-branch"/>
          <p:cNvSpPr/>
          <p:nvPr/>
        </p:nvSpPr>
        <p:spPr>
          <a:xfrm>
            <a:off x="2029968" y="2084832"/>
            <a:ext cx="365760" cy="365760"/>
          </a:xfrm>
          <a:custGeom>
            <a:avLst/>
            <a:gdLst/>
            <a:ahLst/>
            <a:cxnLst/>
            <a:rect l="l" t="t" r="r" b="b"/>
            <a:pathLst>
              <a:path w="365760" h="365760">
                <a:moveTo>
                  <a:pt x="91440" y="45720"/>
                </a:moveTo>
                <a:lnTo>
                  <a:pt x="91440" y="228600"/>
                </a:lnTo>
                <a:moveTo>
                  <a:pt x="320040" y="91440"/>
                </a:moveTo>
                <a:cubicBezTo>
                  <a:pt x="320040" y="116690"/>
                  <a:pt x="299570" y="137160"/>
                  <a:pt x="274320" y="137160"/>
                </a:cubicBezTo>
                <a:cubicBezTo>
                  <a:pt x="249070" y="137160"/>
                  <a:pt x="228600" y="116690"/>
                  <a:pt x="228600" y="91440"/>
                </a:cubicBezTo>
                <a:cubicBezTo>
                  <a:pt x="228600" y="66190"/>
                  <a:pt x="249070" y="45720"/>
                  <a:pt x="274320" y="45720"/>
                </a:cubicBezTo>
                <a:cubicBezTo>
                  <a:pt x="299570" y="45720"/>
                  <a:pt x="320040" y="66190"/>
                  <a:pt x="320040" y="91440"/>
                </a:cubicBezTo>
                <a:close/>
                <a:moveTo>
                  <a:pt x="137160" y="274320"/>
                </a:moveTo>
                <a:cubicBezTo>
                  <a:pt x="137160" y="299570"/>
                  <a:pt x="116690" y="320040"/>
                  <a:pt x="91440" y="320040"/>
                </a:cubicBezTo>
                <a:cubicBezTo>
                  <a:pt x="66190" y="320040"/>
                  <a:pt x="45720" y="299570"/>
                  <a:pt x="45720" y="274320"/>
                </a:cubicBezTo>
                <a:cubicBezTo>
                  <a:pt x="45720" y="249070"/>
                  <a:pt x="66190" y="228600"/>
                  <a:pt x="91440" y="228600"/>
                </a:cubicBezTo>
                <a:cubicBezTo>
                  <a:pt x="116690" y="228600"/>
                  <a:pt x="137160" y="249070"/>
                  <a:pt x="137160" y="274320"/>
                </a:cubicBezTo>
                <a:close/>
                <a:moveTo>
                  <a:pt x="274320" y="137160"/>
                </a:moveTo>
                <a:cubicBezTo>
                  <a:pt x="274320" y="212911"/>
                  <a:pt x="212911" y="274320"/>
                  <a:pt x="137160" y="274320"/>
                </a:cubicBezTo>
              </a:path>
            </a:pathLst>
          </a:custGeom>
          <a:noFill/>
          <a:ln w="30480" cap="rnd">
            <a:solidFill>
              <a:srgbClr val="0B6E8A"/>
            </a:solidFill>
            <a:prstDash val="solid"/>
            <a:round/>
          </a:ln>
        </p:spPr>
      </p:sp>
      <p:sp>
        <p:nvSpPr>
          <p:cNvPr id="19" name="Shape 17"/>
          <p:cNvSpPr/>
          <p:nvPr/>
        </p:nvSpPr>
        <p:spPr>
          <a:xfrm>
            <a:off x="3598621"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0" name="Text 18"/>
          <p:cNvSpPr/>
          <p:nvPr/>
        </p:nvSpPr>
        <p:spPr>
          <a:xfrm>
            <a:off x="2761488"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feat: crear solicitud</a:t>
            </a:r>
            <a:endParaRPr lang="en-US" sz="1150" dirty="0"/>
          </a:p>
        </p:txBody>
      </p:sp>
      <p:sp>
        <p:nvSpPr>
          <p:cNvPr id="21" name="Shape 19"/>
          <p:cNvSpPr/>
          <p:nvPr/>
        </p:nvSpPr>
        <p:spPr>
          <a:xfrm>
            <a:off x="5730088"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2" name="Text 20"/>
          <p:cNvSpPr/>
          <p:nvPr/>
        </p:nvSpPr>
        <p:spPr>
          <a:xfrm>
            <a:off x="4892954"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test: 409 si ya existe</a:t>
            </a:r>
            <a:endParaRPr lang="en-US" sz="1150" dirty="0"/>
          </a:p>
        </p:txBody>
      </p:sp>
      <p:sp>
        <p:nvSpPr>
          <p:cNvPr id="23" name="Shape 21"/>
          <p:cNvSpPr/>
          <p:nvPr/>
        </p:nvSpPr>
        <p:spPr>
          <a:xfrm>
            <a:off x="7861554" y="2633472"/>
            <a:ext cx="365760" cy="365760"/>
          </a:xfrm>
          <a:prstGeom prst="ellipse">
            <a:avLst/>
          </a:prstGeom>
          <a:solidFill>
            <a:srgbClr val="FFFFFF"/>
          </a:solidFill>
          <a:ln w="50800">
            <a:solidFill>
              <a:srgbClr val="2BA6CB"/>
            </a:solidFill>
            <a:prstDash val="solid"/>
          </a:ln>
          <a:effectLst>
            <a:outerShdw sx="100000" sy="100000" kx="0" ky="0" algn="bl" rotWithShape="0" blurRad="76200" dist="19050" dir="5400000">
              <a:srgbClr val="0B1F3A">
                <a:alpha val="14000"/>
              </a:srgbClr>
            </a:outerShdw>
          </a:effectLst>
        </p:spPr>
      </p:sp>
      <p:sp>
        <p:nvSpPr>
          <p:cNvPr id="24" name="Text 22"/>
          <p:cNvSpPr/>
          <p:nvPr/>
        </p:nvSpPr>
        <p:spPr>
          <a:xfrm>
            <a:off x="7024421" y="3108960"/>
            <a:ext cx="2040026" cy="566928"/>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Consolas" pitchFamily="34" charset="0"/>
                <a:ea typeface="Consolas" pitchFamily="34" charset="-122"/>
                <a:cs typeface="Consolas" pitchFamily="34" charset="-120"/>
              </a:rPr>
              <a:t>docs: el nuevo POST</a:t>
            </a:r>
            <a:endParaRPr lang="en-US" sz="1150" dirty="0"/>
          </a:p>
        </p:txBody>
      </p:sp>
      <p:sp>
        <p:nvSpPr>
          <p:cNvPr id="25" name="Shape 23"/>
          <p:cNvSpPr/>
          <p:nvPr/>
        </p:nvSpPr>
        <p:spPr>
          <a:xfrm>
            <a:off x="1280160" y="5193792"/>
            <a:ext cx="310896" cy="310896"/>
          </a:xfrm>
          <a:prstGeom prst="ellipse">
            <a:avLst/>
          </a:prstGeom>
          <a:solidFill>
            <a:srgbClr val="0B2350"/>
          </a:solidFill>
          <a:ln w="25400">
            <a:solidFill>
              <a:srgbClr val="FFFFFF"/>
            </a:solidFill>
            <a:prstDash val="solid"/>
          </a:ln>
        </p:spPr>
      </p:sp>
      <p:sp>
        <p:nvSpPr>
          <p:cNvPr id="26" name="Shape 24"/>
          <p:cNvSpPr/>
          <p:nvPr/>
        </p:nvSpPr>
        <p:spPr>
          <a:xfrm>
            <a:off x="1920240" y="5193792"/>
            <a:ext cx="310896" cy="310896"/>
          </a:xfrm>
          <a:prstGeom prst="ellipse">
            <a:avLst/>
          </a:prstGeom>
          <a:solidFill>
            <a:srgbClr val="0B2350"/>
          </a:solidFill>
          <a:ln w="25400">
            <a:solidFill>
              <a:srgbClr val="FFFFFF"/>
            </a:solidFill>
            <a:prstDash val="solid"/>
          </a:ln>
        </p:spPr>
      </p:sp>
      <p:sp>
        <p:nvSpPr>
          <p:cNvPr id="27" name="Shape 25"/>
          <p:cNvSpPr/>
          <p:nvPr/>
        </p:nvSpPr>
        <p:spPr>
          <a:xfrm>
            <a:off x="9594799" y="5193792"/>
            <a:ext cx="310896" cy="310896"/>
          </a:xfrm>
          <a:prstGeom prst="ellipse">
            <a:avLst/>
          </a:prstGeom>
          <a:solidFill>
            <a:srgbClr val="0B2350"/>
          </a:solidFill>
          <a:ln w="25400">
            <a:solidFill>
              <a:srgbClr val="FFFFFF"/>
            </a:solidFill>
            <a:prstDash val="solid"/>
          </a:ln>
        </p:spPr>
      </p:sp>
      <p:sp>
        <p:nvSpPr>
          <p:cNvPr id="28" name="Shape 26"/>
          <p:cNvSpPr/>
          <p:nvPr/>
        </p:nvSpPr>
        <p:spPr>
          <a:xfrm>
            <a:off x="10600639" y="5193792"/>
            <a:ext cx="310896" cy="310896"/>
          </a:xfrm>
          <a:prstGeom prst="ellipse">
            <a:avLst/>
          </a:prstGeom>
          <a:solidFill>
            <a:srgbClr val="0B2350"/>
          </a:solidFill>
          <a:ln w="25400">
            <a:solidFill>
              <a:srgbClr val="FFFFFF"/>
            </a:solidFill>
            <a:prstDash val="solid"/>
          </a:ln>
        </p:spPr>
      </p:sp>
      <p:sp>
        <p:nvSpPr>
          <p:cNvPr id="29" name="[p1] Forma"/>
          <p:cNvSpPr/>
          <p:nvPr/>
        </p:nvSpPr>
        <p:spPr>
          <a:xfrm>
            <a:off x="6275527" y="4142232"/>
            <a:ext cx="3154680" cy="749808"/>
          </a:xfrm>
          <a:prstGeom prst="roundRect">
            <a:avLst>
              <a:gd name="adj" fmla="val 17073"/>
            </a:avLst>
          </a:prstGeom>
          <a:solidFill>
            <a:srgbClr val="E1F1EA"/>
          </a:solidFill>
          <a:ln w="12700">
            <a:solidFill>
              <a:srgbClr val="85B3A4"/>
            </a:solidFill>
            <a:prstDash val="solid"/>
          </a:ln>
          <a:effectLst>
            <a:outerShdw sx="100000" sy="100000" kx="0" ky="0" algn="bl" rotWithShape="0" blurRad="76200" dist="19050" dir="5400000">
              <a:srgbClr val="0B1F3A">
                <a:alpha val="14000"/>
              </a:srgbClr>
            </a:outerShdw>
          </a:effectLst>
        </p:spPr>
      </p:sp>
      <p:sp>
        <p:nvSpPr>
          <p:cNvPr id="30" name="[p1] Icono git-pull-request"/>
          <p:cNvSpPr/>
          <p:nvPr/>
        </p:nvSpPr>
        <p:spPr>
          <a:xfrm>
            <a:off x="6421831" y="4325112"/>
            <a:ext cx="384048" cy="384048"/>
          </a:xfrm>
          <a:custGeom>
            <a:avLst/>
            <a:gdLst/>
            <a:ahLst/>
            <a:cxnLst/>
            <a:rect l="l" t="t" r="r" b="b"/>
            <a:pathLst>
              <a:path w="384048" h="384048">
                <a:moveTo>
                  <a:pt x="336042" y="288036"/>
                </a:moveTo>
                <a:cubicBezTo>
                  <a:pt x="336042" y="314549"/>
                  <a:pt x="314549" y="336042"/>
                  <a:pt x="288036" y="336042"/>
                </a:cubicBezTo>
                <a:cubicBezTo>
                  <a:pt x="261523" y="336042"/>
                  <a:pt x="240030" y="314549"/>
                  <a:pt x="240030" y="288036"/>
                </a:cubicBezTo>
                <a:cubicBezTo>
                  <a:pt x="240030" y="261523"/>
                  <a:pt x="261523" y="240030"/>
                  <a:pt x="288036" y="240030"/>
                </a:cubicBezTo>
                <a:cubicBezTo>
                  <a:pt x="314549" y="240030"/>
                  <a:pt x="336042" y="261523"/>
                  <a:pt x="336042" y="288036"/>
                </a:cubicBezTo>
                <a:close/>
                <a:moveTo>
                  <a:pt x="144018" y="96012"/>
                </a:moveTo>
                <a:cubicBezTo>
                  <a:pt x="144018" y="122525"/>
                  <a:pt x="122525" y="144018"/>
                  <a:pt x="96012" y="144018"/>
                </a:cubicBezTo>
                <a:cubicBezTo>
                  <a:pt x="69499" y="144018"/>
                  <a:pt x="48006" y="122525"/>
                  <a:pt x="48006" y="96012"/>
                </a:cubicBezTo>
                <a:cubicBezTo>
                  <a:pt x="48006" y="69499"/>
                  <a:pt x="69499" y="48006"/>
                  <a:pt x="96012" y="48006"/>
                </a:cubicBezTo>
                <a:cubicBezTo>
                  <a:pt x="122525" y="48006"/>
                  <a:pt x="144018" y="69499"/>
                  <a:pt x="144018" y="96012"/>
                </a:cubicBezTo>
                <a:close/>
                <a:moveTo>
                  <a:pt x="208026" y="96012"/>
                </a:moveTo>
                <a:lnTo>
                  <a:pt x="256032" y="96012"/>
                </a:lnTo>
                <a:cubicBezTo>
                  <a:pt x="273707" y="96012"/>
                  <a:pt x="288036" y="110341"/>
                  <a:pt x="288036" y="128016"/>
                </a:cubicBezTo>
                <a:lnTo>
                  <a:pt x="288036" y="240030"/>
                </a:lnTo>
                <a:moveTo>
                  <a:pt x="96012" y="144018"/>
                </a:moveTo>
                <a:lnTo>
                  <a:pt x="96012" y="336042"/>
                </a:lnTo>
              </a:path>
            </a:pathLst>
          </a:custGeom>
          <a:noFill/>
          <a:ln w="32004" cap="rnd">
            <a:solidFill>
              <a:srgbClr val="0A6648"/>
            </a:solidFill>
            <a:prstDash val="solid"/>
            <a:round/>
          </a:ln>
        </p:spPr>
      </p:sp>
      <p:sp>
        <p:nvSpPr>
          <p:cNvPr id="31" name="[p1] Forma"/>
          <p:cNvSpPr/>
          <p:nvPr/>
        </p:nvSpPr>
        <p:spPr>
          <a:xfrm>
            <a:off x="6915607" y="4197096"/>
            <a:ext cx="2423160" cy="640080"/>
          </a:xfrm>
          <a:prstGeom prst="rect">
            <a:avLst/>
          </a:prstGeom>
          <a:noFill/>
          <a:ln/>
        </p:spPr>
        <p:txBody>
          <a:bodyPr wrap="square" lIns="0" tIns="0" rIns="0" bIns="0" rtlCol="0" anchor="ctr">
            <a:normAutofit/>
          </a:bodyPr>
          <a:lstStyle/>
          <a:p>
            <a:pPr algn="l" indent="0" marL="0">
              <a:buNone/>
            </a:pPr>
            <a:r>
              <a:rPr lang="en-US" sz="1250" b="1" dirty="0">
                <a:solidFill>
                  <a:srgbClr val="0A6648"/>
                </a:solidFill>
                <a:latin typeface="Segoe UI" pitchFamily="34" charset="0"/>
                <a:ea typeface="Segoe UI" pitchFamily="34" charset="-122"/>
                <a:cs typeface="Segoe UI" pitchFamily="34" charset="-120"/>
              </a:rPr>
              <a:t>Pull Request: revisión, pruebas en verde y documentación</a:t>
            </a:r>
            <a:endParaRPr lang="en-US" sz="1250" dirty="0"/>
          </a:p>
        </p:txBody>
      </p:sp>
      <p:sp>
        <p:nvSpPr>
          <p:cNvPr id="32"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3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400"/>
                                        <p:tgtEl>
                                          <p:spTgt spid="2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0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9"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FUNDAMENTOS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Fundamentos: lo que nos llevamos a cualquier proyecto</a:t>
            </a:r>
            <a:endParaRPr lang="en-US" sz="2800" dirty="0"/>
          </a:p>
        </p:txBody>
      </p:sp>
      <p:sp>
        <p:nvSpPr>
          <p:cNvPr id="5" name="Shape 3"/>
          <p:cNvSpPr/>
          <p:nvPr/>
        </p:nvSpPr>
        <p:spPr>
          <a:xfrm>
            <a:off x="9549079" y="429768"/>
            <a:ext cx="274320" cy="73152"/>
          </a:xfrm>
          <a:prstGeom prst="roundRect">
            <a:avLst>
              <a:gd name="adj" fmla="val 50000"/>
            </a:avLst>
          </a:prstGeom>
          <a:solidFill>
            <a:srgbClr val="2BA6CB"/>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DFE6F0"/>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886968" y="1645920"/>
            <a:ext cx="713232" cy="713232"/>
          </a:xfrm>
          <a:prstGeom prst="ellipse">
            <a:avLst/>
          </a:prstGeom>
          <a:solidFill>
            <a:srgbClr val="2BA6CB"/>
          </a:solidFill>
          <a:ln w="12700">
            <a:solidFill>
              <a:srgbClr val="2BA6CB"/>
            </a:solidFill>
            <a:prstDash val="solid"/>
          </a:ln>
        </p:spPr>
      </p:sp>
      <p:sp>
        <p:nvSpPr>
          <p:cNvPr id="13" name="Icono code"/>
          <p:cNvSpPr/>
          <p:nvPr/>
        </p:nvSpPr>
        <p:spPr>
          <a:xfrm>
            <a:off x="1058144" y="1817096"/>
            <a:ext cx="370881" cy="370881"/>
          </a:xfrm>
          <a:custGeom>
            <a:avLst/>
            <a:gdLst/>
            <a:ahLst/>
            <a:cxnLst/>
            <a:rect l="l" t="t" r="r" b="b"/>
            <a:pathLst>
              <a:path w="370881" h="370881">
                <a:moveTo>
                  <a:pt x="247254" y="278160"/>
                </a:moveTo>
                <a:lnTo>
                  <a:pt x="339974" y="185440"/>
                </a:lnTo>
                <a:lnTo>
                  <a:pt x="247254" y="92720"/>
                </a:lnTo>
                <a:moveTo>
                  <a:pt x="123627" y="92720"/>
                </a:moveTo>
                <a:lnTo>
                  <a:pt x="30907" y="185440"/>
                </a:lnTo>
                <a:lnTo>
                  <a:pt x="123627" y="278160"/>
                </a:lnTo>
              </a:path>
            </a:pathLst>
          </a:custGeom>
          <a:noFill/>
          <a:ln w="30907" cap="rnd">
            <a:solidFill>
              <a:srgbClr val="0B1F3A"/>
            </a:solidFill>
            <a:prstDash val="solid"/>
            <a:round/>
          </a:ln>
        </p:spPr>
      </p:sp>
      <p:sp>
        <p:nvSpPr>
          <p:cNvPr id="14" name="Text 12"/>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5" name="Text 13"/>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6</a:t>
            </a:r>
            <a:endParaRPr lang="en-US" sz="4700" dirty="0"/>
          </a:p>
        </p:txBody>
      </p:sp>
      <p:sp>
        <p:nvSpPr>
          <p:cNvPr id="16" name="Text 14"/>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prácticas que sirven en cualquier lenguaje</a:t>
            </a:r>
            <a:endParaRPr lang="en-US" sz="1300" dirty="0"/>
          </a:p>
        </p:txBody>
      </p:sp>
      <p:sp>
        <p:nvSpPr>
          <p:cNvPr id="17" name="Shape 15"/>
          <p:cNvSpPr/>
          <p:nvPr/>
        </p:nvSpPr>
        <p:spPr>
          <a:xfrm>
            <a:off x="886968" y="4489704"/>
            <a:ext cx="2423160" cy="0"/>
          </a:xfrm>
          <a:prstGeom prst="line">
            <a:avLst/>
          </a:prstGeom>
          <a:noFill/>
          <a:ln w="9525">
            <a:solidFill>
              <a:srgbClr val="3C4C61"/>
            </a:solidFill>
            <a:prstDash val="solid"/>
          </a:ln>
        </p:spPr>
      </p:sp>
      <p:sp>
        <p:nvSpPr>
          <p:cNvPr id="18" name="Text 16"/>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4</a:t>
            </a:r>
            <a:endParaRPr lang="en-US" sz="4700" dirty="0"/>
          </a:p>
        </p:txBody>
      </p:sp>
      <p:sp>
        <p:nvSpPr>
          <p:cNvPr id="19" name="Text 17"/>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respuestas claras: 201, 400, 404 y 409</a:t>
            </a:r>
            <a:endParaRPr lang="en-US" sz="1300" dirty="0"/>
          </a:p>
        </p:txBody>
      </p:sp>
      <p:sp>
        <p:nvSpPr>
          <p:cNvPr id="20"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2" name="[p1] Icono target"/>
          <p:cNvSpPr/>
          <p:nvPr/>
        </p:nvSpPr>
        <p:spPr>
          <a:xfrm>
            <a:off x="4258544" y="1740515"/>
            <a:ext cx="370881" cy="370881"/>
          </a:xfrm>
          <a:custGeom>
            <a:avLst/>
            <a:gdLst/>
            <a:ahLst/>
            <a:cxnLst/>
            <a:rect l="l" t="t" r="r" b="b"/>
            <a:pathLst>
              <a:path w="370881" h="370881">
                <a:moveTo>
                  <a:pt x="339974" y="185440"/>
                </a:moveTo>
                <a:cubicBezTo>
                  <a:pt x="339974" y="270787"/>
                  <a:pt x="270787" y="339974"/>
                  <a:pt x="185440" y="339974"/>
                </a:cubicBezTo>
                <a:cubicBezTo>
                  <a:pt x="100094" y="339974"/>
                  <a:pt x="30907" y="270787"/>
                  <a:pt x="30907" y="185440"/>
                </a:cubicBezTo>
                <a:cubicBezTo>
                  <a:pt x="30907" y="100094"/>
                  <a:pt x="100094" y="30907"/>
                  <a:pt x="185440" y="30907"/>
                </a:cubicBezTo>
                <a:cubicBezTo>
                  <a:pt x="270787" y="30907"/>
                  <a:pt x="339974" y="100094"/>
                  <a:pt x="339974" y="185440"/>
                </a:cubicBezTo>
                <a:close/>
                <a:moveTo>
                  <a:pt x="278160" y="185440"/>
                </a:moveTo>
                <a:cubicBezTo>
                  <a:pt x="278160" y="236648"/>
                  <a:pt x="236648" y="278160"/>
                  <a:pt x="185440" y="278160"/>
                </a:cubicBezTo>
                <a:cubicBezTo>
                  <a:pt x="134232" y="278160"/>
                  <a:pt x="92720" y="236648"/>
                  <a:pt x="92720" y="185440"/>
                </a:cubicBezTo>
                <a:cubicBezTo>
                  <a:pt x="92720" y="134232"/>
                  <a:pt x="134232" y="92720"/>
                  <a:pt x="185440" y="92720"/>
                </a:cubicBezTo>
                <a:cubicBezTo>
                  <a:pt x="236648" y="92720"/>
                  <a:pt x="278160" y="134232"/>
                  <a:pt x="278160" y="185440"/>
                </a:cubicBezTo>
                <a:close/>
                <a:moveTo>
                  <a:pt x="216347" y="185440"/>
                </a:moveTo>
                <a:cubicBezTo>
                  <a:pt x="216347" y="202510"/>
                  <a:pt x="202510" y="216347"/>
                  <a:pt x="185440" y="216347"/>
                </a:cubicBezTo>
                <a:cubicBezTo>
                  <a:pt x="168371" y="216347"/>
                  <a:pt x="154534" y="202510"/>
                  <a:pt x="154534" y="185440"/>
                </a:cubicBezTo>
                <a:cubicBezTo>
                  <a:pt x="154534" y="168371"/>
                  <a:pt x="168371" y="154534"/>
                  <a:pt x="185440" y="154534"/>
                </a:cubicBezTo>
                <a:cubicBezTo>
                  <a:pt x="202510" y="154534"/>
                  <a:pt x="216347" y="168371"/>
                  <a:pt x="216347" y="185440"/>
                </a:cubicBezTo>
                <a:close/>
              </a:path>
            </a:pathLst>
          </a:custGeom>
          <a:noFill/>
          <a:ln w="30907" cap="rnd">
            <a:solidFill>
              <a:srgbClr val="0B2350"/>
            </a:solidFill>
            <a:prstDash val="solid"/>
            <a:round/>
          </a:ln>
        </p:spPr>
      </p:sp>
      <p:sp>
        <p:nvSpPr>
          <p:cNvPr id="23"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Primero el qué, después el cómo</a:t>
            </a:r>
            <a:endParaRPr lang="en-US" sz="1500" dirty="0"/>
          </a:p>
        </p:txBody>
      </p:sp>
      <p:sp>
        <p:nvSpPr>
          <p:cNvPr id="24"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Qué tiene que pasar, quién lo hace y qué no se permite.</a:t>
            </a:r>
            <a:endParaRPr lang="en-US" sz="1150" dirty="0"/>
          </a:p>
        </p:txBody>
      </p:sp>
      <p:sp>
        <p:nvSpPr>
          <p:cNvPr id="25"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6"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7"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8"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Reglas claras antes de elegir la tecnología.</a:t>
            </a:r>
            <a:endParaRPr lang="en-US" sz="1350" dirty="0"/>
          </a:p>
        </p:txBody>
      </p:sp>
      <p:sp>
        <p:nvSpPr>
          <p:cNvPr id="29"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1" name="[p2] Icono layers"/>
          <p:cNvSpPr/>
          <p:nvPr/>
        </p:nvSpPr>
        <p:spPr>
          <a:xfrm>
            <a:off x="4258544" y="3032105"/>
            <a:ext cx="370881" cy="370881"/>
          </a:xfrm>
          <a:custGeom>
            <a:avLst/>
            <a:gdLst/>
            <a:ahLst/>
            <a:cxnLst/>
            <a:rect l="l" t="t" r="r" b="b"/>
            <a:pathLst>
              <a:path w="370881" h="370881">
                <a:moveTo>
                  <a:pt x="198267" y="33688"/>
                </a:moveTo>
                <a:cubicBezTo>
                  <a:pt x="190120" y="29972"/>
                  <a:pt x="180761" y="29972"/>
                  <a:pt x="172614" y="33688"/>
                </a:cubicBezTo>
                <a:lnTo>
                  <a:pt x="40179" y="93956"/>
                </a:lnTo>
                <a:cubicBezTo>
                  <a:pt x="34576" y="96427"/>
                  <a:pt x="30960" y="101973"/>
                  <a:pt x="30960" y="108096"/>
                </a:cubicBezTo>
                <a:cubicBezTo>
                  <a:pt x="30960" y="114220"/>
                  <a:pt x="34576" y="119766"/>
                  <a:pt x="40179" y="122236"/>
                </a:cubicBezTo>
                <a:lnTo>
                  <a:pt x="172769" y="182659"/>
                </a:lnTo>
                <a:cubicBezTo>
                  <a:pt x="180916" y="186375"/>
                  <a:pt x="190274" y="186375"/>
                  <a:pt x="198421" y="182659"/>
                </a:cubicBezTo>
                <a:lnTo>
                  <a:pt x="331011" y="122391"/>
                </a:lnTo>
                <a:cubicBezTo>
                  <a:pt x="336614" y="119920"/>
                  <a:pt x="340230" y="114374"/>
                  <a:pt x="340230" y="108251"/>
                </a:cubicBezTo>
                <a:cubicBezTo>
                  <a:pt x="340230" y="102127"/>
                  <a:pt x="336614" y="96581"/>
                  <a:pt x="331011" y="94111"/>
                </a:cubicBezTo>
                <a:close/>
                <a:moveTo>
                  <a:pt x="30907" y="185440"/>
                </a:moveTo>
                <a:cubicBezTo>
                  <a:pt x="30892" y="191476"/>
                  <a:pt x="34392" y="196968"/>
                  <a:pt x="39870" y="199503"/>
                </a:cubicBezTo>
                <a:lnTo>
                  <a:pt x="172769" y="259926"/>
                </a:lnTo>
                <a:cubicBezTo>
                  <a:pt x="180872" y="263595"/>
                  <a:pt x="190163" y="263595"/>
                  <a:pt x="198267" y="259926"/>
                </a:cubicBezTo>
                <a:lnTo>
                  <a:pt x="330856" y="199657"/>
                </a:lnTo>
                <a:cubicBezTo>
                  <a:pt x="336446" y="197145"/>
                  <a:pt x="340022" y="191568"/>
                  <a:pt x="339974" y="185440"/>
                </a:cubicBezTo>
                <a:moveTo>
                  <a:pt x="30907" y="262707"/>
                </a:moveTo>
                <a:cubicBezTo>
                  <a:pt x="30892" y="268743"/>
                  <a:pt x="34392" y="274235"/>
                  <a:pt x="39870" y="276770"/>
                </a:cubicBezTo>
                <a:lnTo>
                  <a:pt x="172769" y="337192"/>
                </a:lnTo>
                <a:cubicBezTo>
                  <a:pt x="180872" y="340862"/>
                  <a:pt x="190163" y="340862"/>
                  <a:pt x="198267" y="337192"/>
                </a:cubicBezTo>
                <a:lnTo>
                  <a:pt x="330856" y="276924"/>
                </a:lnTo>
                <a:cubicBezTo>
                  <a:pt x="336446" y="274412"/>
                  <a:pt x="340022" y="268835"/>
                  <a:pt x="339974" y="262707"/>
                </a:cubicBezTo>
              </a:path>
            </a:pathLst>
          </a:custGeom>
          <a:noFill/>
          <a:ln w="30907" cap="rnd">
            <a:solidFill>
              <a:srgbClr val="0B2350"/>
            </a:solidFill>
            <a:prstDash val="solid"/>
            <a:round/>
          </a:ln>
        </p:spPr>
      </p:sp>
      <p:sp>
        <p:nvSpPr>
          <p:cNvPr id="32"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Separar responsabilidades paga pronto</a:t>
            </a:r>
            <a:endParaRPr lang="en-US" sz="1500" dirty="0"/>
          </a:p>
        </p:txBody>
      </p:sp>
      <p:sp>
        <p:nvSpPr>
          <p:cNvPr id="33"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Pantalla, reglas y datos en piezas distintas.</a:t>
            </a:r>
            <a:endParaRPr lang="en-US" sz="1150" dirty="0"/>
          </a:p>
        </p:txBody>
      </p:sp>
      <p:sp>
        <p:nvSpPr>
          <p:cNvPr id="34"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5"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6"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7"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cambio de regla toca un solo lugar.</a:t>
            </a:r>
            <a:endParaRPr lang="en-US" sz="1350" dirty="0"/>
          </a:p>
        </p:txBody>
      </p:sp>
      <p:sp>
        <p:nvSpPr>
          <p:cNvPr id="38"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0" name="[p3] Icono shield-check"/>
          <p:cNvSpPr/>
          <p:nvPr/>
        </p:nvSpPr>
        <p:spPr>
          <a:xfrm>
            <a:off x="4258544" y="4323695"/>
            <a:ext cx="370881" cy="370881"/>
          </a:xfrm>
          <a:custGeom>
            <a:avLst/>
            <a:gdLst/>
            <a:ahLst/>
            <a:cxnLst/>
            <a:rect l="l" t="t" r="r" b="b"/>
            <a:pathLst>
              <a:path w="370881" h="370881">
                <a:moveTo>
                  <a:pt x="309067" y="200894"/>
                </a:moveTo>
                <a:cubicBezTo>
                  <a:pt x="309067" y="278160"/>
                  <a:pt x="254980" y="316794"/>
                  <a:pt x="190694" y="339201"/>
                </a:cubicBezTo>
                <a:cubicBezTo>
                  <a:pt x="187328" y="340342"/>
                  <a:pt x="183671" y="340287"/>
                  <a:pt x="180341" y="339047"/>
                </a:cubicBezTo>
                <a:cubicBezTo>
                  <a:pt x="115900" y="316794"/>
                  <a:pt x="61813" y="278160"/>
                  <a:pt x="61813" y="200894"/>
                </a:cubicBezTo>
                <a:lnTo>
                  <a:pt x="61813" y="92720"/>
                </a:lnTo>
                <a:cubicBezTo>
                  <a:pt x="61813" y="84186"/>
                  <a:pt x="68732" y="77267"/>
                  <a:pt x="77267" y="77267"/>
                </a:cubicBezTo>
                <a:cubicBezTo>
                  <a:pt x="108174" y="77267"/>
                  <a:pt x="146807" y="58723"/>
                  <a:pt x="173696" y="35234"/>
                </a:cubicBezTo>
                <a:cubicBezTo>
                  <a:pt x="180459" y="29455"/>
                  <a:pt x="190421" y="29455"/>
                  <a:pt x="197185" y="35234"/>
                </a:cubicBezTo>
                <a:cubicBezTo>
                  <a:pt x="224228" y="58877"/>
                  <a:pt x="262707" y="77267"/>
                  <a:pt x="293614" y="77267"/>
                </a:cubicBezTo>
                <a:cubicBezTo>
                  <a:pt x="302148" y="77267"/>
                  <a:pt x="309067" y="84186"/>
                  <a:pt x="309067" y="92720"/>
                </a:cubicBezTo>
                <a:close/>
                <a:moveTo>
                  <a:pt x="139080" y="185440"/>
                </a:moveTo>
                <a:lnTo>
                  <a:pt x="169987" y="216347"/>
                </a:lnTo>
                <a:lnTo>
                  <a:pt x="231800" y="154534"/>
                </a:lnTo>
              </a:path>
            </a:pathLst>
          </a:custGeom>
          <a:noFill/>
          <a:ln w="30907" cap="rnd">
            <a:solidFill>
              <a:srgbClr val="0B2350"/>
            </a:solidFill>
            <a:prstDash val="solid"/>
            <a:round/>
          </a:ln>
        </p:spPr>
      </p:sp>
      <p:sp>
        <p:nvSpPr>
          <p:cNvPr id="41"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Las reglas no dependen de la herramienta</a:t>
            </a:r>
            <a:endParaRPr lang="en-US" sz="1500" dirty="0"/>
          </a:p>
        </p:txBody>
      </p:sp>
      <p:sp>
        <p:nvSpPr>
          <p:cNvPr id="42"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El negocio no sabe si detrás hay una base, una web o un framework.</a:t>
            </a:r>
            <a:endParaRPr lang="en-US" sz="1150" dirty="0"/>
          </a:p>
        </p:txBody>
      </p:sp>
      <p:sp>
        <p:nvSpPr>
          <p:cNvPr id="43"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4"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5"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6"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Se prueba rápido y sobrevive a un cambio de tecnología.</a:t>
            </a:r>
            <a:endParaRPr lang="en-US" sz="1300" dirty="0"/>
          </a:p>
        </p:txBody>
      </p:sp>
      <p:sp>
        <p:nvSpPr>
          <p:cNvPr id="47"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49" name="[p4] Icono git-pull-request"/>
          <p:cNvSpPr/>
          <p:nvPr/>
        </p:nvSpPr>
        <p:spPr>
          <a:xfrm>
            <a:off x="4258544" y="5615285"/>
            <a:ext cx="370881" cy="370881"/>
          </a:xfrm>
          <a:custGeom>
            <a:avLst/>
            <a:gdLst/>
            <a:ahLst/>
            <a:cxnLst/>
            <a:rect l="l" t="t" r="r" b="b"/>
            <a:pathLst>
              <a:path w="370881" h="370881">
                <a:moveTo>
                  <a:pt x="324521" y="278160"/>
                </a:moveTo>
                <a:cubicBezTo>
                  <a:pt x="324521" y="303764"/>
                  <a:pt x="303764" y="324521"/>
                  <a:pt x="278160" y="324521"/>
                </a:cubicBezTo>
                <a:cubicBezTo>
                  <a:pt x="252557" y="324521"/>
                  <a:pt x="231800" y="303764"/>
                  <a:pt x="231800" y="278160"/>
                </a:cubicBezTo>
                <a:cubicBezTo>
                  <a:pt x="231800" y="252557"/>
                  <a:pt x="252557" y="231800"/>
                  <a:pt x="278160" y="231800"/>
                </a:cubicBezTo>
                <a:cubicBezTo>
                  <a:pt x="303764" y="231800"/>
                  <a:pt x="324521" y="252557"/>
                  <a:pt x="324521" y="278160"/>
                </a:cubicBezTo>
                <a:close/>
                <a:moveTo>
                  <a:pt x="139080" y="92720"/>
                </a:moveTo>
                <a:cubicBezTo>
                  <a:pt x="139080" y="118324"/>
                  <a:pt x="118324" y="139080"/>
                  <a:pt x="92720" y="139080"/>
                </a:cubicBezTo>
                <a:cubicBezTo>
                  <a:pt x="67116" y="139080"/>
                  <a:pt x="46360" y="118324"/>
                  <a:pt x="46360" y="92720"/>
                </a:cubicBezTo>
                <a:cubicBezTo>
                  <a:pt x="46360" y="67116"/>
                  <a:pt x="67116" y="46360"/>
                  <a:pt x="92720" y="46360"/>
                </a:cubicBezTo>
                <a:cubicBezTo>
                  <a:pt x="118324" y="46360"/>
                  <a:pt x="139080" y="67116"/>
                  <a:pt x="139080" y="92720"/>
                </a:cubicBezTo>
                <a:close/>
                <a:moveTo>
                  <a:pt x="200894" y="92720"/>
                </a:moveTo>
                <a:lnTo>
                  <a:pt x="247254" y="92720"/>
                </a:lnTo>
                <a:cubicBezTo>
                  <a:pt x="264323" y="92720"/>
                  <a:pt x="278160" y="106558"/>
                  <a:pt x="278160" y="123627"/>
                </a:cubicBezTo>
                <a:lnTo>
                  <a:pt x="278160" y="231800"/>
                </a:lnTo>
                <a:moveTo>
                  <a:pt x="92720" y="139080"/>
                </a:moveTo>
                <a:lnTo>
                  <a:pt x="92720" y="324521"/>
                </a:lnTo>
              </a:path>
            </a:pathLst>
          </a:custGeom>
          <a:noFill/>
          <a:ln w="30907" cap="rnd">
            <a:solidFill>
              <a:srgbClr val="0B2350"/>
            </a:solidFill>
            <a:prstDash val="solid"/>
            <a:round/>
          </a:ln>
        </p:spPr>
      </p:sp>
      <p:sp>
        <p:nvSpPr>
          <p:cNvPr id="50"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Todo cambio entra revisado</a:t>
            </a:r>
            <a:endParaRPr lang="en-US" sz="1700" dirty="0"/>
          </a:p>
        </p:txBody>
      </p:sp>
      <p:sp>
        <p:nvSpPr>
          <p:cNvPr id="51"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Ramas cortas, revisión, pruebas y documentación juntas.</a:t>
            </a:r>
            <a:endParaRPr lang="en-US" sz="1150" dirty="0"/>
          </a:p>
        </p:txBody>
      </p:sp>
      <p:sp>
        <p:nvSpPr>
          <p:cNvPr id="52"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3"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4"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5"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Menos sorpresas en producción.</a:t>
            </a:r>
            <a:endParaRPr lang="en-US" sz="135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FUNDAMENTOS</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4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fade">
                                      <p:cBhvr>
                                        <p:cTn id="98" dur="400"/>
                                        <p:tgtEl>
                                          <p:spTgt spid="4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fade">
                                      <p:cBhvr>
                                        <p:cTn id="101" dur="400"/>
                                        <p:tgtEl>
                                          <p:spTgt spid="5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400"/>
                                        <p:tgtEl>
                                          <p:spTgt spid="5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fade">
                                      <p:cBhvr>
                                        <p:cTn id="107" dur="400"/>
                                        <p:tgtEl>
                                          <p:spTgt spid="5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fade">
                                      <p:cBhvr>
                                        <p:cTn id="110" dur="400"/>
                                        <p:tgtEl>
                                          <p:spTgt spid="5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fade">
                                      <p:cBhvr>
                                        <p:cTn id="113" dur="400"/>
                                        <p:tgtEl>
                                          <p:spTgt spid="5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sistema de un vistazo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capa tiene una sola responsabilidad.</a:t>
            </a:r>
            <a:endParaRPr lang="en-US" sz="1700" dirty="0"/>
          </a:p>
        </p:txBody>
      </p:sp>
      <p:sp>
        <p:nvSpPr>
          <p:cNvPr id="12" name="Shape 10"/>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3" name="Text 11"/>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EXPERIENCIA</a:t>
            </a:r>
            <a:endParaRPr lang="en-US" sz="1186" dirty="0"/>
          </a:p>
        </p:txBody>
      </p:sp>
      <p:sp>
        <p:nvSpPr>
          <p:cNvPr id="14" name="Shape 12"/>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2542032" y="1939671"/>
            <a:ext cx="566928" cy="566928"/>
          </a:xfrm>
          <a:prstGeom prst="ellipse">
            <a:avLst/>
          </a:prstGeom>
          <a:solidFill>
            <a:srgbClr val="F1EEFD"/>
          </a:solidFill>
          <a:ln w="12700">
            <a:solidFill>
              <a:srgbClr val="F1EEFD"/>
            </a:solidFill>
            <a:prstDash val="solid"/>
          </a:ln>
        </p:spPr>
      </p:sp>
      <p:sp>
        <p:nvSpPr>
          <p:cNvPr id="16" name="Icono user"/>
          <p:cNvSpPr/>
          <p:nvPr/>
        </p:nvSpPr>
        <p:spPr>
          <a:xfrm>
            <a:off x="2678095" y="2075734"/>
            <a:ext cx="294803" cy="294803"/>
          </a:xfrm>
          <a:custGeom>
            <a:avLst/>
            <a:gdLst/>
            <a:ahLst/>
            <a:cxnLst/>
            <a:rect l="l" t="t" r="r" b="b"/>
            <a:pathLst>
              <a:path w="294803" h="294803">
                <a:moveTo>
                  <a:pt x="233385" y="257952"/>
                </a:moveTo>
                <a:lnTo>
                  <a:pt x="233385" y="233385"/>
                </a:lnTo>
                <a:cubicBezTo>
                  <a:pt x="233385" y="206250"/>
                  <a:pt x="211387" y="184252"/>
                  <a:pt x="184252" y="184252"/>
                </a:cubicBezTo>
                <a:lnTo>
                  <a:pt x="110551" y="184252"/>
                </a:lnTo>
                <a:cubicBezTo>
                  <a:pt x="83415" y="184252"/>
                  <a:pt x="61417" y="206250"/>
                  <a:pt x="61417" y="233385"/>
                </a:cubicBezTo>
                <a:lnTo>
                  <a:pt x="61417" y="257952"/>
                </a:lnTo>
                <a:moveTo>
                  <a:pt x="196535" y="85984"/>
                </a:moveTo>
                <a:cubicBezTo>
                  <a:pt x="196535" y="113120"/>
                  <a:pt x="174537" y="135118"/>
                  <a:pt x="147401" y="135118"/>
                </a:cubicBezTo>
                <a:cubicBezTo>
                  <a:pt x="120265" y="135118"/>
                  <a:pt x="98268" y="113120"/>
                  <a:pt x="98268" y="85984"/>
                </a:cubicBezTo>
                <a:cubicBezTo>
                  <a:pt x="98268" y="58848"/>
                  <a:pt x="120265" y="36850"/>
                  <a:pt x="147401" y="36850"/>
                </a:cubicBezTo>
                <a:cubicBezTo>
                  <a:pt x="174537" y="36850"/>
                  <a:pt x="196535" y="58848"/>
                  <a:pt x="196535" y="85984"/>
                </a:cubicBezTo>
                <a:close/>
              </a:path>
            </a:pathLst>
          </a:custGeom>
          <a:noFill/>
          <a:ln w="24567" cap="rnd">
            <a:solidFill>
              <a:srgbClr val="5B3FC4"/>
            </a:solidFill>
            <a:prstDash val="solid"/>
            <a:round/>
          </a:ln>
        </p:spPr>
      </p:sp>
      <p:sp>
        <p:nvSpPr>
          <p:cNvPr id="17" name="Text 15"/>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Persona</a:t>
            </a:r>
            <a:endParaRPr lang="en-US" sz="1500" dirty="0"/>
          </a:p>
        </p:txBody>
      </p:sp>
      <p:sp>
        <p:nvSpPr>
          <p:cNvPr id="18" name="Text 16"/>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Usa el navegador</a:t>
            </a:r>
            <a:endParaRPr lang="en-US" sz="1200" dirty="0"/>
          </a:p>
        </p:txBody>
      </p:sp>
      <p:sp>
        <p:nvSpPr>
          <p:cNvPr id="19" name="Shape 17"/>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7147408" y="1939671"/>
            <a:ext cx="566928" cy="566928"/>
          </a:xfrm>
          <a:prstGeom prst="ellipse">
            <a:avLst/>
          </a:prstGeom>
          <a:solidFill>
            <a:srgbClr val="F1EEFD"/>
          </a:solidFill>
          <a:ln w="12700">
            <a:solidFill>
              <a:srgbClr val="F1EEFD"/>
            </a:solidFill>
            <a:prstDash val="solid"/>
          </a:ln>
        </p:spPr>
      </p:sp>
      <p:sp>
        <p:nvSpPr>
          <p:cNvPr id="21" name="Icono monitor"/>
          <p:cNvSpPr/>
          <p:nvPr/>
        </p:nvSpPr>
        <p:spPr>
          <a:xfrm>
            <a:off x="7283470" y="2075734"/>
            <a:ext cx="294803" cy="294803"/>
          </a:xfrm>
          <a:custGeom>
            <a:avLst/>
            <a:gdLst/>
            <a:ahLst/>
            <a:cxnLst/>
            <a:rect l="l" t="t" r="r" b="b"/>
            <a:pathLst>
              <a:path w="294803" h="294803">
                <a:moveTo>
                  <a:pt x="49134" y="36850"/>
                </a:moveTo>
                <a:lnTo>
                  <a:pt x="245669" y="36850"/>
                </a:lnTo>
                <a:cubicBezTo>
                  <a:pt x="259237" y="36850"/>
                  <a:pt x="270236" y="47849"/>
                  <a:pt x="270236" y="61417"/>
                </a:cubicBezTo>
                <a:lnTo>
                  <a:pt x="270236" y="184252"/>
                </a:lnTo>
                <a:cubicBezTo>
                  <a:pt x="270236" y="197820"/>
                  <a:pt x="259237" y="208818"/>
                  <a:pt x="245669" y="208818"/>
                </a:cubicBezTo>
                <a:lnTo>
                  <a:pt x="49134" y="208818"/>
                </a:lnTo>
                <a:cubicBezTo>
                  <a:pt x="35566" y="208818"/>
                  <a:pt x="24567" y="197820"/>
                  <a:pt x="24567" y="184252"/>
                </a:cubicBezTo>
                <a:lnTo>
                  <a:pt x="24567" y="61417"/>
                </a:lnTo>
                <a:cubicBezTo>
                  <a:pt x="24567" y="47849"/>
                  <a:pt x="35566" y="36850"/>
                  <a:pt x="49134" y="36850"/>
                </a:cubicBezTo>
                <a:close/>
                <a:moveTo>
                  <a:pt x="98268" y="257952"/>
                </a:moveTo>
                <a:lnTo>
                  <a:pt x="196535" y="257952"/>
                </a:lnTo>
                <a:moveTo>
                  <a:pt x="147401" y="208818"/>
                </a:moveTo>
                <a:lnTo>
                  <a:pt x="147401" y="257952"/>
                </a:lnTo>
              </a:path>
            </a:pathLst>
          </a:custGeom>
          <a:noFill/>
          <a:ln w="24567" cap="rnd">
            <a:solidFill>
              <a:srgbClr val="5B3FC4"/>
            </a:solidFill>
            <a:prstDash val="solid"/>
            <a:round/>
          </a:ln>
        </p:spPr>
      </p:sp>
      <p:sp>
        <p:nvSpPr>
          <p:cNvPr id="22" name="Text 20"/>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arka-lite-ui</a:t>
            </a:r>
            <a:endParaRPr lang="en-US" sz="1500" dirty="0"/>
          </a:p>
        </p:txBody>
      </p:sp>
      <p:sp>
        <p:nvSpPr>
          <p:cNvPr id="23" name="Text 21"/>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pantalla · reenvía /api</a:t>
            </a:r>
            <a:endParaRPr lang="en-US" sz="1200" dirty="0"/>
          </a:p>
        </p:txBody>
      </p:sp>
      <p:sp>
        <p:nvSpPr>
          <p:cNvPr id="24" name="[p1] Forma"/>
          <p:cNvSpPr/>
          <p:nvPr/>
        </p:nvSpPr>
        <p:spPr>
          <a:xfrm>
            <a:off x="1412748" y="2708910"/>
            <a:ext cx="0" cy="237744"/>
          </a:xfrm>
          <a:prstGeom prst="line">
            <a:avLst/>
          </a:prstGeom>
          <a:noFill/>
          <a:ln w="31750">
            <a:solidFill>
              <a:srgbClr val="0B2350"/>
            </a:solidFill>
            <a:prstDash val="solid"/>
            <a:tailEnd type="triangle"/>
          </a:ln>
        </p:spPr>
      </p:sp>
      <p:sp>
        <p:nvSpPr>
          <p:cNvPr id="25"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6"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SERVICIOS</a:t>
            </a:r>
            <a:endParaRPr lang="en-US" sz="1300" dirty="0"/>
          </a:p>
        </p:txBody>
      </p:sp>
      <p:sp>
        <p:nvSpPr>
          <p:cNvPr id="27" name="[p1] Forma"/>
          <p:cNvSpPr/>
          <p:nvPr/>
        </p:nvSpPr>
        <p:spPr>
          <a:xfrm>
            <a:off x="2395728" y="3019806"/>
            <a:ext cx="4440784"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8"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29" name="[p1] Icono clipboard-list"/>
          <p:cNvSpPr/>
          <p:nvPr/>
        </p:nvSpPr>
        <p:spPr>
          <a:xfrm>
            <a:off x="2678095" y="3285028"/>
            <a:ext cx="294803" cy="294803"/>
          </a:xfrm>
          <a:custGeom>
            <a:avLst/>
            <a:gdLst/>
            <a:ahLst/>
            <a:cxnLst/>
            <a:rect l="l" t="t" r="r" b="b"/>
            <a:pathLst>
              <a:path w="294803" h="294803">
                <a:moveTo>
                  <a:pt x="110551" y="24567"/>
                </a:moveTo>
                <a:lnTo>
                  <a:pt x="184252" y="24567"/>
                </a:lnTo>
                <a:cubicBezTo>
                  <a:pt x="191036" y="24567"/>
                  <a:pt x="196535" y="30066"/>
                  <a:pt x="196535" y="36850"/>
                </a:cubicBezTo>
                <a:lnTo>
                  <a:pt x="196535" y="61417"/>
                </a:lnTo>
                <a:cubicBezTo>
                  <a:pt x="196535" y="68201"/>
                  <a:pt x="191036" y="73701"/>
                  <a:pt x="184252" y="73701"/>
                </a:cubicBezTo>
                <a:lnTo>
                  <a:pt x="110551" y="73701"/>
                </a:lnTo>
                <a:cubicBezTo>
                  <a:pt x="103767" y="73701"/>
                  <a:pt x="98268" y="68201"/>
                  <a:pt x="98268" y="61417"/>
                </a:cubicBezTo>
                <a:lnTo>
                  <a:pt x="98268" y="36850"/>
                </a:lnTo>
                <a:cubicBezTo>
                  <a:pt x="98268" y="30066"/>
                  <a:pt x="103767" y="24567"/>
                  <a:pt x="110551" y="24567"/>
                </a:cubicBezTo>
                <a:close/>
                <a:moveTo>
                  <a:pt x="196535" y="49134"/>
                </a:moveTo>
                <a:lnTo>
                  <a:pt x="221102" y="49134"/>
                </a:lnTo>
                <a:cubicBezTo>
                  <a:pt x="234670" y="49134"/>
                  <a:pt x="245669" y="60133"/>
                  <a:pt x="245669" y="73701"/>
                </a:cubicBezTo>
                <a:lnTo>
                  <a:pt x="245669" y="245669"/>
                </a:lnTo>
                <a:cubicBezTo>
                  <a:pt x="245669" y="259237"/>
                  <a:pt x="234670" y="270236"/>
                  <a:pt x="221102" y="270236"/>
                </a:cubicBezTo>
                <a:lnTo>
                  <a:pt x="73701" y="270236"/>
                </a:lnTo>
                <a:cubicBezTo>
                  <a:pt x="60133" y="270236"/>
                  <a:pt x="49134" y="259237"/>
                  <a:pt x="49134" y="245669"/>
                </a:cubicBezTo>
                <a:lnTo>
                  <a:pt x="49134" y="73701"/>
                </a:lnTo>
                <a:cubicBezTo>
                  <a:pt x="49134" y="60133"/>
                  <a:pt x="60133" y="49134"/>
                  <a:pt x="73701" y="49134"/>
                </a:cubicBezTo>
                <a:lnTo>
                  <a:pt x="98268" y="49134"/>
                </a:lnTo>
                <a:moveTo>
                  <a:pt x="147401" y="135118"/>
                </a:moveTo>
                <a:lnTo>
                  <a:pt x="196535" y="135118"/>
                </a:lnTo>
                <a:moveTo>
                  <a:pt x="147401" y="196535"/>
                </a:moveTo>
                <a:lnTo>
                  <a:pt x="196535" y="196535"/>
                </a:lnTo>
                <a:moveTo>
                  <a:pt x="98268" y="135118"/>
                </a:moveTo>
                <a:lnTo>
                  <a:pt x="98390" y="135118"/>
                </a:lnTo>
                <a:moveTo>
                  <a:pt x="98268" y="196535"/>
                </a:moveTo>
                <a:lnTo>
                  <a:pt x="98390" y="196535"/>
                </a:lnTo>
              </a:path>
            </a:pathLst>
          </a:custGeom>
          <a:noFill/>
          <a:ln w="24567" cap="rnd">
            <a:solidFill>
              <a:srgbClr val="0B2350"/>
            </a:solidFill>
            <a:prstDash val="solid"/>
            <a:round/>
          </a:ln>
        </p:spPr>
      </p:sp>
      <p:sp>
        <p:nvSpPr>
          <p:cNvPr id="30" name="[p1] Forma"/>
          <p:cNvSpPr/>
          <p:nvPr/>
        </p:nvSpPr>
        <p:spPr>
          <a:xfrm>
            <a:off x="3255264"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servicio-solicitudes</a:t>
            </a:r>
            <a:endParaRPr lang="en-US" sz="1500" dirty="0"/>
          </a:p>
        </p:txBody>
      </p:sp>
      <p:sp>
        <p:nvSpPr>
          <p:cNvPr id="31" name="[p1] Forma"/>
          <p:cNvSpPr/>
          <p:nvPr/>
        </p:nvSpPr>
        <p:spPr>
          <a:xfrm>
            <a:off x="3255264"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El trámite y sus estados</a:t>
            </a:r>
            <a:endParaRPr lang="en-US" sz="1200" dirty="0"/>
          </a:p>
        </p:txBody>
      </p:sp>
      <p:sp>
        <p:nvSpPr>
          <p:cNvPr id="32" name="[p1] Forma"/>
          <p:cNvSpPr/>
          <p:nvPr/>
        </p:nvSpPr>
        <p:spPr>
          <a:xfrm>
            <a:off x="7001104" y="3019806"/>
            <a:ext cx="4440784" cy="825246"/>
          </a:xfrm>
          <a:prstGeom prst="roundRect">
            <a:avLst>
              <a:gd name="adj" fmla="val 1551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3" name="[p1] Forma"/>
          <p:cNvSpPr/>
          <p:nvPr/>
        </p:nvSpPr>
        <p:spPr>
          <a:xfrm>
            <a:off x="7147408" y="3148965"/>
            <a:ext cx="566928" cy="566928"/>
          </a:xfrm>
          <a:prstGeom prst="ellipse">
            <a:avLst/>
          </a:prstGeom>
          <a:solidFill>
            <a:srgbClr val="E3F4FA"/>
          </a:solidFill>
          <a:ln w="12700">
            <a:solidFill>
              <a:srgbClr val="E3F4FA"/>
            </a:solidFill>
            <a:prstDash val="solid"/>
          </a:ln>
        </p:spPr>
      </p:sp>
      <p:sp>
        <p:nvSpPr>
          <p:cNvPr id="34" name="[p1] Icono bell"/>
          <p:cNvSpPr/>
          <p:nvPr/>
        </p:nvSpPr>
        <p:spPr>
          <a:xfrm>
            <a:off x="7283470" y="3285028"/>
            <a:ext cx="294803" cy="294803"/>
          </a:xfrm>
          <a:custGeom>
            <a:avLst/>
            <a:gdLst/>
            <a:ahLst/>
            <a:cxnLst/>
            <a:rect l="l" t="t" r="r" b="b"/>
            <a:pathLst>
              <a:path w="294803" h="294803">
                <a:moveTo>
                  <a:pt x="126126" y="257952"/>
                </a:moveTo>
                <a:cubicBezTo>
                  <a:pt x="130515" y="265553"/>
                  <a:pt x="138625" y="270235"/>
                  <a:pt x="147401" y="270235"/>
                </a:cubicBezTo>
                <a:cubicBezTo>
                  <a:pt x="156178" y="270235"/>
                  <a:pt x="164288" y="265553"/>
                  <a:pt x="168676" y="257952"/>
                </a:cubicBezTo>
                <a:moveTo>
                  <a:pt x="40069" y="188256"/>
                </a:moveTo>
                <a:cubicBezTo>
                  <a:pt x="36790" y="191849"/>
                  <a:pt x="35941" y="197039"/>
                  <a:pt x="37903" y="201490"/>
                </a:cubicBezTo>
                <a:cubicBezTo>
                  <a:pt x="39865" y="205941"/>
                  <a:pt x="44269" y="208815"/>
                  <a:pt x="49134" y="208818"/>
                </a:cubicBezTo>
                <a:lnTo>
                  <a:pt x="245669" y="208818"/>
                </a:lnTo>
                <a:cubicBezTo>
                  <a:pt x="250533" y="208820"/>
                  <a:pt x="254939" y="205952"/>
                  <a:pt x="256907" y="201504"/>
                </a:cubicBezTo>
                <a:cubicBezTo>
                  <a:pt x="258874" y="197056"/>
                  <a:pt x="258032" y="191866"/>
                  <a:pt x="254759" y="188268"/>
                </a:cubicBezTo>
                <a:cubicBezTo>
                  <a:pt x="238422" y="171428"/>
                  <a:pt x="221102" y="153531"/>
                  <a:pt x="221102" y="98268"/>
                </a:cubicBezTo>
                <a:cubicBezTo>
                  <a:pt x="221102" y="57564"/>
                  <a:pt x="188105" y="24567"/>
                  <a:pt x="147401" y="24567"/>
                </a:cubicBezTo>
                <a:cubicBezTo>
                  <a:pt x="106698" y="24567"/>
                  <a:pt x="73701" y="57564"/>
                  <a:pt x="73701" y="98268"/>
                </a:cubicBezTo>
                <a:cubicBezTo>
                  <a:pt x="73701" y="153531"/>
                  <a:pt x="56369" y="171428"/>
                  <a:pt x="40069" y="188256"/>
                </a:cubicBezTo>
              </a:path>
            </a:pathLst>
          </a:custGeom>
          <a:noFill/>
          <a:ln w="24567" cap="rnd">
            <a:solidFill>
              <a:srgbClr val="0B6E8A"/>
            </a:solidFill>
            <a:prstDash val="solid"/>
            <a:round/>
          </a:ln>
        </p:spPr>
      </p:sp>
      <p:sp>
        <p:nvSpPr>
          <p:cNvPr id="35" name="[p1] Forma"/>
          <p:cNvSpPr/>
          <p:nvPr/>
        </p:nvSpPr>
        <p:spPr>
          <a:xfrm>
            <a:off x="7860640" y="3056382"/>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servicio-notificaciones</a:t>
            </a:r>
            <a:endParaRPr lang="en-US" sz="1500" dirty="0"/>
          </a:p>
        </p:txBody>
      </p:sp>
      <p:sp>
        <p:nvSpPr>
          <p:cNvPr id="36" name="[p1] Forma"/>
          <p:cNvSpPr/>
          <p:nvPr/>
        </p:nvSpPr>
        <p:spPr>
          <a:xfrm>
            <a:off x="7860640" y="3469005"/>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Los avisos, sin duplicados</a:t>
            </a:r>
            <a:endParaRPr lang="en-US" sz="1200" dirty="0"/>
          </a:p>
        </p:txBody>
      </p:sp>
      <p:sp>
        <p:nvSpPr>
          <p:cNvPr id="37" name="[p2] Forma"/>
          <p:cNvSpPr/>
          <p:nvPr/>
        </p:nvSpPr>
        <p:spPr>
          <a:xfrm>
            <a:off x="1412748" y="3918204"/>
            <a:ext cx="0" cy="237744"/>
          </a:xfrm>
          <a:prstGeom prst="line">
            <a:avLst/>
          </a:prstGeom>
          <a:noFill/>
          <a:ln w="31750">
            <a:solidFill>
              <a:srgbClr val="0B2350"/>
            </a:solidFill>
            <a:prstDash val="solid"/>
            <a:tailEnd type="triangle"/>
          </a:ln>
        </p:spPr>
      </p:sp>
      <p:sp>
        <p:nvSpPr>
          <p:cNvPr id="38" name="[p2] Forma"/>
          <p:cNvSpPr/>
          <p:nvPr/>
        </p:nvSpPr>
        <p:spPr>
          <a:xfrm>
            <a:off x="612648" y="4137660"/>
            <a:ext cx="10966399" cy="1008126"/>
          </a:xfrm>
          <a:prstGeom prst="roundRect">
            <a:avLst>
              <a:gd name="adj" fmla="val 10884"/>
            </a:avLst>
          </a:prstGeom>
          <a:solidFill>
            <a:srgbClr val="F7F9FC"/>
          </a:solidFill>
          <a:ln w="12700">
            <a:solidFill>
              <a:srgbClr val="CCD0D8"/>
            </a:solidFill>
            <a:prstDash val="solid"/>
          </a:ln>
        </p:spPr>
      </p:sp>
      <p:sp>
        <p:nvSpPr>
          <p:cNvPr id="39" name="[p2] Forma"/>
          <p:cNvSpPr/>
          <p:nvPr/>
        </p:nvSpPr>
        <p:spPr>
          <a:xfrm>
            <a:off x="612648" y="4137660"/>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40" name="[p2] Forma"/>
          <p:cNvSpPr/>
          <p:nvPr/>
        </p:nvSpPr>
        <p:spPr>
          <a:xfrm>
            <a:off x="2395728"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1" name="[p2] Forma"/>
          <p:cNvSpPr/>
          <p:nvPr/>
        </p:nvSpPr>
        <p:spPr>
          <a:xfrm>
            <a:off x="2542032" y="4358259"/>
            <a:ext cx="566928" cy="566928"/>
          </a:xfrm>
          <a:prstGeom prst="ellipse">
            <a:avLst/>
          </a:prstGeom>
          <a:solidFill>
            <a:srgbClr val="F4F7FB"/>
          </a:solidFill>
          <a:ln w="12700">
            <a:solidFill>
              <a:srgbClr val="F4F7FB"/>
            </a:solidFill>
            <a:prstDash val="solid"/>
          </a:ln>
        </p:spPr>
      </p:sp>
      <p:sp>
        <p:nvSpPr>
          <p:cNvPr id="42" name="[p2] Icono database"/>
          <p:cNvSpPr/>
          <p:nvPr/>
        </p:nvSpPr>
        <p:spPr>
          <a:xfrm>
            <a:off x="2678095"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3"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db-solicitudes</a:t>
            </a:r>
            <a:endParaRPr lang="en-US" sz="1500" dirty="0"/>
          </a:p>
        </p:txBody>
      </p:sp>
      <p:sp>
        <p:nvSpPr>
          <p:cNvPr id="44"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solicitud y evento</a:t>
            </a:r>
            <a:endParaRPr lang="en-US" sz="1200" dirty="0"/>
          </a:p>
        </p:txBody>
      </p:sp>
      <p:sp>
        <p:nvSpPr>
          <p:cNvPr id="45" name="[p2] Forma"/>
          <p:cNvSpPr/>
          <p:nvPr/>
        </p:nvSpPr>
        <p:spPr>
          <a:xfrm>
            <a:off x="7001104" y="4229100"/>
            <a:ext cx="4440784"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46" name="[p2] Forma"/>
          <p:cNvSpPr/>
          <p:nvPr/>
        </p:nvSpPr>
        <p:spPr>
          <a:xfrm>
            <a:off x="7147408" y="4358259"/>
            <a:ext cx="566928" cy="566928"/>
          </a:xfrm>
          <a:prstGeom prst="ellipse">
            <a:avLst/>
          </a:prstGeom>
          <a:solidFill>
            <a:srgbClr val="F4F7FB"/>
          </a:solidFill>
          <a:ln w="12700">
            <a:solidFill>
              <a:srgbClr val="F4F7FB"/>
            </a:solidFill>
            <a:prstDash val="solid"/>
          </a:ln>
        </p:spPr>
      </p:sp>
      <p:sp>
        <p:nvSpPr>
          <p:cNvPr id="47" name="[p2] Icono database"/>
          <p:cNvSpPr/>
          <p:nvPr/>
        </p:nvSpPr>
        <p:spPr>
          <a:xfrm>
            <a:off x="7283470" y="4494322"/>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55627E"/>
            </a:solidFill>
            <a:prstDash val="solid"/>
            <a:round/>
          </a:ln>
        </p:spPr>
      </p:sp>
      <p:sp>
        <p:nvSpPr>
          <p:cNvPr id="48"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db-notificaciones</a:t>
            </a:r>
            <a:endParaRPr lang="en-US" sz="1500" dirty="0"/>
          </a:p>
        </p:txBody>
      </p:sp>
      <p:sp>
        <p:nvSpPr>
          <p:cNvPr id="49"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PostgreSQL 17 · evento_procesado</a:t>
            </a:r>
            <a:endParaRPr lang="en-US" sz="1200" dirty="0"/>
          </a:p>
        </p:txBody>
      </p:sp>
      <p:sp>
        <p:nvSpPr>
          <p:cNvPr id="50" name="[p3] Forma"/>
          <p:cNvSpPr/>
          <p:nvPr/>
        </p:nvSpPr>
        <p:spPr>
          <a:xfrm>
            <a:off x="1412748" y="5127498"/>
            <a:ext cx="0" cy="237744"/>
          </a:xfrm>
          <a:prstGeom prst="line">
            <a:avLst/>
          </a:prstGeom>
          <a:noFill/>
          <a:ln w="31750">
            <a:solidFill>
              <a:srgbClr val="0B2350"/>
            </a:solidFill>
            <a:prstDash val="solid"/>
            <a:tailEnd type="triangle"/>
          </a:ln>
        </p:spPr>
      </p:sp>
      <p:sp>
        <p:nvSpPr>
          <p:cNvPr id="51" name="[p3] Forma"/>
          <p:cNvSpPr/>
          <p:nvPr/>
        </p:nvSpPr>
        <p:spPr>
          <a:xfrm>
            <a:off x="612648" y="5346954"/>
            <a:ext cx="10966399" cy="1008126"/>
          </a:xfrm>
          <a:prstGeom prst="roundRect">
            <a:avLst>
              <a:gd name="adj" fmla="val 10884"/>
            </a:avLst>
          </a:prstGeom>
          <a:solidFill>
            <a:srgbClr val="E9F5EF"/>
          </a:solidFill>
          <a:ln w="12700">
            <a:solidFill>
              <a:srgbClr val="B6D1C8"/>
            </a:solidFill>
            <a:prstDash val="solid"/>
          </a:ln>
        </p:spPr>
      </p:sp>
      <p:sp>
        <p:nvSpPr>
          <p:cNvPr id="52" name="[p3] Forma"/>
          <p:cNvSpPr/>
          <p:nvPr/>
        </p:nvSpPr>
        <p:spPr>
          <a:xfrm>
            <a:off x="612648" y="5346954"/>
            <a:ext cx="1600200" cy="1008126"/>
          </a:xfrm>
          <a:prstGeom prst="roundRect">
            <a:avLst>
              <a:gd name="adj" fmla="val 10884"/>
            </a:avLst>
          </a:prstGeom>
          <a:solidFill>
            <a:srgbClr val="0A6648"/>
          </a:solidFill>
          <a:ln>
            <a:solidFill>
              <a:srgbClr val="0A6648"/>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PLATAFORMA</a:t>
            </a:r>
            <a:endParaRPr lang="en-US" sz="1300" dirty="0"/>
          </a:p>
        </p:txBody>
      </p:sp>
      <p:sp>
        <p:nvSpPr>
          <p:cNvPr id="53" name="[p3] Forma"/>
          <p:cNvSpPr/>
          <p:nvPr/>
        </p:nvSpPr>
        <p:spPr>
          <a:xfrm>
            <a:off x="239572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54" name="[p3] Forma"/>
          <p:cNvSpPr/>
          <p:nvPr/>
        </p:nvSpPr>
        <p:spPr>
          <a:xfrm>
            <a:off x="2542032" y="5567553"/>
            <a:ext cx="566928" cy="566928"/>
          </a:xfrm>
          <a:prstGeom prst="ellipse">
            <a:avLst/>
          </a:prstGeom>
          <a:solidFill>
            <a:srgbClr val="E1F1EA"/>
          </a:solidFill>
          <a:ln w="12700">
            <a:solidFill>
              <a:srgbClr val="E1F1EA"/>
            </a:solidFill>
            <a:prstDash val="solid"/>
          </a:ln>
        </p:spPr>
      </p:sp>
      <p:sp>
        <p:nvSpPr>
          <p:cNvPr id="55" name="[p3] Icono ship-wheel"/>
          <p:cNvSpPr/>
          <p:nvPr/>
        </p:nvSpPr>
        <p:spPr>
          <a:xfrm>
            <a:off x="2678095" y="5703616"/>
            <a:ext cx="294803" cy="294803"/>
          </a:xfrm>
          <a:custGeom>
            <a:avLst/>
            <a:gdLst/>
            <a:ahLst/>
            <a:cxnLst/>
            <a:rect l="l" t="t" r="r" b="b"/>
            <a:pathLst>
              <a:path w="294803" h="294803">
                <a:moveTo>
                  <a:pt x="245669" y="147401"/>
                </a:moveTo>
                <a:cubicBezTo>
                  <a:pt x="245669" y="201673"/>
                  <a:pt x="201673" y="245669"/>
                  <a:pt x="147401" y="245669"/>
                </a:cubicBezTo>
                <a:cubicBezTo>
                  <a:pt x="93130" y="245669"/>
                  <a:pt x="49134" y="201673"/>
                  <a:pt x="49134" y="147401"/>
                </a:cubicBezTo>
                <a:cubicBezTo>
                  <a:pt x="49134" y="93130"/>
                  <a:pt x="93130" y="49134"/>
                  <a:pt x="147401" y="49134"/>
                </a:cubicBezTo>
                <a:cubicBezTo>
                  <a:pt x="201673" y="49134"/>
                  <a:pt x="245669" y="93130"/>
                  <a:pt x="245669" y="147401"/>
                </a:cubicBezTo>
                <a:close/>
                <a:moveTo>
                  <a:pt x="147401" y="24567"/>
                </a:moveTo>
                <a:lnTo>
                  <a:pt x="147401" y="116693"/>
                </a:lnTo>
                <a:moveTo>
                  <a:pt x="233385" y="61417"/>
                </a:moveTo>
                <a:lnTo>
                  <a:pt x="169143" y="125660"/>
                </a:lnTo>
                <a:moveTo>
                  <a:pt x="270236" y="147401"/>
                </a:moveTo>
                <a:lnTo>
                  <a:pt x="178110" y="147401"/>
                </a:lnTo>
                <a:moveTo>
                  <a:pt x="233385" y="233385"/>
                </a:moveTo>
                <a:lnTo>
                  <a:pt x="169143" y="169143"/>
                </a:lnTo>
                <a:moveTo>
                  <a:pt x="147401" y="178110"/>
                </a:moveTo>
                <a:lnTo>
                  <a:pt x="147401" y="270236"/>
                </a:lnTo>
                <a:moveTo>
                  <a:pt x="125660" y="169143"/>
                </a:moveTo>
                <a:lnTo>
                  <a:pt x="61417" y="233385"/>
                </a:lnTo>
                <a:moveTo>
                  <a:pt x="116693" y="147401"/>
                </a:moveTo>
                <a:lnTo>
                  <a:pt x="24567" y="147401"/>
                </a:lnTo>
                <a:moveTo>
                  <a:pt x="125660" y="125660"/>
                </a:moveTo>
                <a:lnTo>
                  <a:pt x="61417" y="61417"/>
                </a:lnTo>
                <a:moveTo>
                  <a:pt x="178110" y="147401"/>
                </a:moveTo>
                <a:cubicBezTo>
                  <a:pt x="178110" y="164361"/>
                  <a:pt x="164361" y="178110"/>
                  <a:pt x="147401" y="178110"/>
                </a:cubicBezTo>
                <a:cubicBezTo>
                  <a:pt x="130441" y="178110"/>
                  <a:pt x="116693" y="164361"/>
                  <a:pt x="116693" y="147401"/>
                </a:cubicBezTo>
                <a:cubicBezTo>
                  <a:pt x="116693" y="130441"/>
                  <a:pt x="130441" y="116693"/>
                  <a:pt x="147401" y="116693"/>
                </a:cubicBezTo>
                <a:cubicBezTo>
                  <a:pt x="164361" y="116693"/>
                  <a:pt x="178110" y="130441"/>
                  <a:pt x="178110" y="147401"/>
                </a:cubicBezTo>
                <a:close/>
              </a:path>
            </a:pathLst>
          </a:custGeom>
          <a:noFill/>
          <a:ln w="24567" cap="rnd">
            <a:solidFill>
              <a:srgbClr val="0A6648"/>
            </a:solidFill>
            <a:prstDash val="solid"/>
            <a:round/>
          </a:ln>
        </p:spPr>
      </p:sp>
      <p:sp>
        <p:nvSpPr>
          <p:cNvPr id="56" name="[p3] Forma"/>
          <p:cNvSpPr/>
          <p:nvPr/>
        </p:nvSpPr>
        <p:spPr>
          <a:xfrm>
            <a:off x="3255264" y="5474970"/>
            <a:ext cx="1954682" cy="394335"/>
          </a:xfrm>
          <a:prstGeom prst="rect">
            <a:avLst/>
          </a:prstGeom>
          <a:noFill/>
          <a:ln/>
        </p:spPr>
        <p:txBody>
          <a:bodyPr wrap="square" lIns="0" tIns="0" rIns="0" bIns="0" rtlCol="0" anchor="b">
            <a:normAutofit/>
          </a:bodyPr>
          <a:lstStyle/>
          <a:p>
            <a:pPr algn="l" indent="0" marL="0">
              <a:buNone/>
            </a:pPr>
            <a:r>
              <a:rPr lang="en-US" sz="1300" b="1" dirty="0">
                <a:solidFill>
                  <a:srgbClr val="0A6648"/>
                </a:solidFill>
                <a:latin typeface="Segoe UI Semibold" pitchFamily="34" charset="0"/>
                <a:ea typeface="Segoe UI Semibold" pitchFamily="34" charset="-122"/>
                <a:cs typeface="Segoe UI Semibold" pitchFamily="34" charset="-120"/>
              </a:rPr>
              <a:t>Compose o Kubernetes</a:t>
            </a:r>
            <a:endParaRPr lang="en-US" sz="1300" dirty="0"/>
          </a:p>
        </p:txBody>
      </p:sp>
      <p:sp>
        <p:nvSpPr>
          <p:cNvPr id="57" name="[p3] Forma"/>
          <p:cNvSpPr/>
          <p:nvPr/>
        </p:nvSpPr>
        <p:spPr>
          <a:xfrm>
            <a:off x="325526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Dónde corre</a:t>
            </a:r>
            <a:endParaRPr lang="en-US" sz="1200" dirty="0"/>
          </a:p>
        </p:txBody>
      </p:sp>
      <p:sp>
        <p:nvSpPr>
          <p:cNvPr id="58" name="[p3] Forma"/>
          <p:cNvSpPr/>
          <p:nvPr/>
        </p:nvSpPr>
        <p:spPr>
          <a:xfrm>
            <a:off x="5465978" y="5438394"/>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59" name="[p3] Forma"/>
          <p:cNvSpPr/>
          <p:nvPr/>
        </p:nvSpPr>
        <p:spPr>
          <a:xfrm>
            <a:off x="5612282" y="5567553"/>
            <a:ext cx="566928" cy="566928"/>
          </a:xfrm>
          <a:prstGeom prst="ellipse">
            <a:avLst/>
          </a:prstGeom>
          <a:solidFill>
            <a:srgbClr val="E1F1EA"/>
          </a:solidFill>
          <a:ln w="12700">
            <a:solidFill>
              <a:srgbClr val="E1F1EA"/>
            </a:solidFill>
            <a:prstDash val="solid"/>
          </a:ln>
        </p:spPr>
      </p:sp>
      <p:sp>
        <p:nvSpPr>
          <p:cNvPr id="60" name="[p3] Icono workflow"/>
          <p:cNvSpPr/>
          <p:nvPr/>
        </p:nvSpPr>
        <p:spPr>
          <a:xfrm>
            <a:off x="5748345" y="5703616"/>
            <a:ext cx="294803" cy="294803"/>
          </a:xfrm>
          <a:custGeom>
            <a:avLst/>
            <a:gdLst/>
            <a:ahLst/>
            <a:cxnLst/>
            <a:rect l="l" t="t" r="r" b="b"/>
            <a:pathLst>
              <a:path w="294803" h="294803">
                <a:moveTo>
                  <a:pt x="61417" y="36850"/>
                </a:moveTo>
                <a:lnTo>
                  <a:pt x="110551" y="36850"/>
                </a:lnTo>
                <a:cubicBezTo>
                  <a:pt x="124119" y="36850"/>
                  <a:pt x="135118" y="47849"/>
                  <a:pt x="135118" y="61417"/>
                </a:cubicBezTo>
                <a:lnTo>
                  <a:pt x="135118" y="110551"/>
                </a:lnTo>
                <a:cubicBezTo>
                  <a:pt x="135118" y="124119"/>
                  <a:pt x="124119" y="135118"/>
                  <a:pt x="110551" y="135118"/>
                </a:cubicBezTo>
                <a:lnTo>
                  <a:pt x="61417" y="135118"/>
                </a:lnTo>
                <a:cubicBezTo>
                  <a:pt x="47849" y="135118"/>
                  <a:pt x="36850" y="124119"/>
                  <a:pt x="36850" y="110551"/>
                </a:cubicBezTo>
                <a:lnTo>
                  <a:pt x="36850" y="61417"/>
                </a:lnTo>
                <a:cubicBezTo>
                  <a:pt x="36850" y="47849"/>
                  <a:pt x="47849" y="36850"/>
                  <a:pt x="61417" y="36850"/>
                </a:cubicBezTo>
                <a:close/>
                <a:moveTo>
                  <a:pt x="85984" y="135118"/>
                </a:moveTo>
                <a:lnTo>
                  <a:pt x="85984" y="184252"/>
                </a:lnTo>
                <a:cubicBezTo>
                  <a:pt x="85984" y="197820"/>
                  <a:pt x="96983" y="208818"/>
                  <a:pt x="110551" y="208818"/>
                </a:cubicBezTo>
                <a:lnTo>
                  <a:pt x="159685" y="208818"/>
                </a:lnTo>
                <a:moveTo>
                  <a:pt x="184252" y="159685"/>
                </a:moveTo>
                <a:lnTo>
                  <a:pt x="233385" y="159685"/>
                </a:lnTo>
                <a:cubicBezTo>
                  <a:pt x="246953" y="159685"/>
                  <a:pt x="257952" y="170684"/>
                  <a:pt x="257952" y="184252"/>
                </a:cubicBezTo>
                <a:lnTo>
                  <a:pt x="257952" y="233385"/>
                </a:lnTo>
                <a:cubicBezTo>
                  <a:pt x="257952" y="246953"/>
                  <a:pt x="246953" y="257952"/>
                  <a:pt x="233385" y="257952"/>
                </a:cubicBezTo>
                <a:lnTo>
                  <a:pt x="184252" y="257952"/>
                </a:lnTo>
                <a:cubicBezTo>
                  <a:pt x="170684" y="257952"/>
                  <a:pt x="159685" y="246953"/>
                  <a:pt x="159685" y="233385"/>
                </a:cubicBezTo>
                <a:lnTo>
                  <a:pt x="159685" y="184252"/>
                </a:lnTo>
                <a:cubicBezTo>
                  <a:pt x="159685" y="170684"/>
                  <a:pt x="170684" y="159685"/>
                  <a:pt x="184252" y="159685"/>
                </a:cubicBezTo>
                <a:close/>
              </a:path>
            </a:pathLst>
          </a:custGeom>
          <a:noFill/>
          <a:ln w="24567" cap="rnd">
            <a:solidFill>
              <a:srgbClr val="0A6648"/>
            </a:solidFill>
            <a:prstDash val="solid"/>
            <a:round/>
          </a:ln>
        </p:spPr>
      </p:sp>
      <p:sp>
        <p:nvSpPr>
          <p:cNvPr id="61" name="[p3] Forma"/>
          <p:cNvSpPr/>
          <p:nvPr/>
        </p:nvSpPr>
        <p:spPr>
          <a:xfrm>
            <a:off x="6325514"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GitHub Actions</a:t>
            </a:r>
            <a:endParaRPr lang="en-US" sz="1500" dirty="0"/>
          </a:p>
        </p:txBody>
      </p:sp>
      <p:sp>
        <p:nvSpPr>
          <p:cNvPr id="62" name="[p3] Forma"/>
          <p:cNvSpPr/>
          <p:nvPr/>
        </p:nvSpPr>
        <p:spPr>
          <a:xfrm>
            <a:off x="6325514"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Prueba y publica</a:t>
            </a:r>
            <a:endParaRPr lang="en-US" sz="1200" dirty="0"/>
          </a:p>
        </p:txBody>
      </p:sp>
      <p:sp>
        <p:nvSpPr>
          <p:cNvPr id="63" name="[p3] Forma"/>
          <p:cNvSpPr/>
          <p:nvPr/>
        </p:nvSpPr>
        <p:spPr>
          <a:xfrm>
            <a:off x="8536229" y="5438394"/>
            <a:ext cx="2905658"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64" name="[p3] Forma"/>
          <p:cNvSpPr/>
          <p:nvPr/>
        </p:nvSpPr>
        <p:spPr>
          <a:xfrm>
            <a:off x="8682533" y="5567553"/>
            <a:ext cx="566928" cy="566928"/>
          </a:xfrm>
          <a:prstGeom prst="ellipse">
            <a:avLst/>
          </a:prstGeom>
          <a:solidFill>
            <a:srgbClr val="FCEFD6"/>
          </a:solidFill>
          <a:ln w="12700">
            <a:solidFill>
              <a:srgbClr val="FCEFD6"/>
            </a:solidFill>
            <a:prstDash val="solid"/>
          </a:ln>
        </p:spPr>
      </p:sp>
      <p:sp>
        <p:nvSpPr>
          <p:cNvPr id="65" name="[p3] Icono chart-line"/>
          <p:cNvSpPr/>
          <p:nvPr/>
        </p:nvSpPr>
        <p:spPr>
          <a:xfrm>
            <a:off x="8818596" y="5703616"/>
            <a:ext cx="294803" cy="294803"/>
          </a:xfrm>
          <a:custGeom>
            <a:avLst/>
            <a:gdLst/>
            <a:ahLst/>
            <a:cxnLst/>
            <a:rect l="l" t="t" r="r" b="b"/>
            <a:pathLst>
              <a:path w="294803" h="294803">
                <a:moveTo>
                  <a:pt x="36850" y="36850"/>
                </a:moveTo>
                <a:lnTo>
                  <a:pt x="36850" y="233385"/>
                </a:lnTo>
                <a:cubicBezTo>
                  <a:pt x="36850" y="246953"/>
                  <a:pt x="47849" y="257952"/>
                  <a:pt x="61417" y="257952"/>
                </a:cubicBezTo>
                <a:lnTo>
                  <a:pt x="257952" y="257952"/>
                </a:lnTo>
                <a:moveTo>
                  <a:pt x="233385" y="110551"/>
                </a:moveTo>
                <a:lnTo>
                  <a:pt x="171968" y="171968"/>
                </a:lnTo>
                <a:lnTo>
                  <a:pt x="122834" y="122834"/>
                </a:lnTo>
                <a:lnTo>
                  <a:pt x="85984" y="159685"/>
                </a:lnTo>
              </a:path>
            </a:pathLst>
          </a:custGeom>
          <a:noFill/>
          <a:ln w="24567" cap="rnd">
            <a:solidFill>
              <a:srgbClr val="8A4B06"/>
            </a:solidFill>
            <a:prstDash val="solid"/>
            <a:round/>
          </a:ln>
        </p:spPr>
      </p:sp>
      <p:sp>
        <p:nvSpPr>
          <p:cNvPr id="66" name="[p3] Forma"/>
          <p:cNvSpPr/>
          <p:nvPr/>
        </p:nvSpPr>
        <p:spPr>
          <a:xfrm>
            <a:off x="9395765" y="5474970"/>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Loki y Grafana</a:t>
            </a:r>
            <a:endParaRPr lang="en-US" sz="1500" dirty="0"/>
          </a:p>
        </p:txBody>
      </p:sp>
      <p:sp>
        <p:nvSpPr>
          <p:cNvPr id="67" name="[p3] Forma"/>
          <p:cNvSpPr/>
          <p:nvPr/>
        </p:nvSpPr>
        <p:spPr>
          <a:xfrm>
            <a:off x="9395765" y="5887593"/>
            <a:ext cx="1954682"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Logs en un solo lugar</a:t>
            </a:r>
            <a:endParaRPr lang="en-US" sz="1200" dirty="0"/>
          </a:p>
        </p:txBody>
      </p:sp>
      <p:sp>
        <p:nvSpPr>
          <p:cNvPr id="68" name="Text 6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6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400"/>
                                        <p:tgtEl>
                                          <p:spTgt spid="2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400"/>
                                        <p:tgtEl>
                                          <p:spTgt spid="2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40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400"/>
                                        <p:tgtEl>
                                          <p:spTgt spid="3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4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400"/>
                                        <p:tgtEl>
                                          <p:spTgt spid="36"/>
                                        </p:tgtEl>
                                      </p:cBhvr>
                                    </p:animEffect>
                                  </p:childTnLst>
                                </p:cTn>
                              </p:par>
                            </p:childTnLst>
                          </p:cTn>
                        </p:par>
                      </p:childTnLst>
                    </p:cTn>
                  </p:par>
                  <p:par>
                    <p:cTn id="83" fill="hold">
                      <p:stCondLst>
                        <p:cond delay="indefinite"/>
                      </p:stCondLst>
                      <p:childTnLst>
                        <p:par>
                          <p:cTn id="84"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4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400"/>
                                        <p:tgtEl>
                                          <p:spTgt spid="3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400"/>
                                        <p:tgtEl>
                                          <p:spTgt spid="3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400"/>
                                        <p:tgtEl>
                                          <p:spTgt spid="4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4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4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400"/>
                                        <p:tgtEl>
                                          <p:spTgt spid="4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400"/>
                                        <p:tgtEl>
                                          <p:spTgt spid="4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400"/>
                                        <p:tgtEl>
                                          <p:spTgt spid="4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fade">
                                      <p:cBhvr>
                                        <p:cTn id="73" dur="400"/>
                                        <p:tgtEl>
                                          <p:spTgt spid="4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400"/>
                                        <p:tgtEl>
                                          <p:spTgt spid="4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fade">
                                      <p:cBhvr>
                                        <p:cTn id="79" dur="400"/>
                                        <p:tgtEl>
                                          <p:spTgt spid="4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fade">
                                      <p:cBhvr>
                                        <p:cTn id="82" dur="400"/>
                                        <p:tgtEl>
                                          <p:spTgt spid="49"/>
                                        </p:tgtEl>
                                      </p:cBhvr>
                                    </p:animEffect>
                                  </p:childTnLst>
                                </p:cTn>
                              </p:par>
                            </p:childTnLst>
                          </p:cTn>
                        </p:par>
                      </p:childTnLst>
                    </p:cTn>
                  </p:par>
                  <p:par>
                    <p:cTn id="139" fill="hold">
                      <p:stCondLst>
                        <p:cond delay="indefinite"/>
                      </p:stCondLst>
                      <p:childTnLst>
                        <p:par>
                          <p:cTn id="140"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400"/>
                                        <p:tgtEl>
                                          <p:spTgt spid="5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400"/>
                                        <p:tgtEl>
                                          <p:spTgt spid="5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fade">
                                      <p:cBhvr>
                                        <p:cTn id="93" dur="400"/>
                                        <p:tgtEl>
                                          <p:spTgt spid="5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3"/>
                                        </p:tgtEl>
                                        <p:attrNameLst>
                                          <p:attrName>style.visibility</p:attrName>
                                        </p:attrNameLst>
                                      </p:cBhvr>
                                      <p:to>
                                        <p:strVal val="visible"/>
                                      </p:to>
                                    </p:set>
                                    <p:animEffect transition="in" filter="fade">
                                      <p:cBhvr>
                                        <p:cTn id="96" dur="400"/>
                                        <p:tgtEl>
                                          <p:spTgt spid="5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animEffect transition="in" filter="fade">
                                      <p:cBhvr>
                                        <p:cTn id="99" dur="400"/>
                                        <p:tgtEl>
                                          <p:spTgt spid="5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400"/>
                                        <p:tgtEl>
                                          <p:spTgt spid="5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6"/>
                                        </p:tgtEl>
                                        <p:attrNameLst>
                                          <p:attrName>style.visibility</p:attrName>
                                        </p:attrNameLst>
                                      </p:cBhvr>
                                      <p:to>
                                        <p:strVal val="visible"/>
                                      </p:to>
                                    </p:set>
                                    <p:animEffect transition="in" filter="fade">
                                      <p:cBhvr>
                                        <p:cTn id="105" dur="400"/>
                                        <p:tgtEl>
                                          <p:spTgt spid="5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7"/>
                                        </p:tgtEl>
                                        <p:attrNameLst>
                                          <p:attrName>style.visibility</p:attrName>
                                        </p:attrNameLst>
                                      </p:cBhvr>
                                      <p:to>
                                        <p:strVal val="visible"/>
                                      </p:to>
                                    </p:set>
                                    <p:animEffect transition="in" filter="fade">
                                      <p:cBhvr>
                                        <p:cTn id="108" dur="400"/>
                                        <p:tgtEl>
                                          <p:spTgt spid="5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8"/>
                                        </p:tgtEl>
                                        <p:attrNameLst>
                                          <p:attrName>style.visibility</p:attrName>
                                        </p:attrNameLst>
                                      </p:cBhvr>
                                      <p:to>
                                        <p:strVal val="visible"/>
                                      </p:to>
                                    </p:set>
                                    <p:animEffect transition="in" filter="fade">
                                      <p:cBhvr>
                                        <p:cTn id="111" dur="400"/>
                                        <p:tgtEl>
                                          <p:spTgt spid="5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Effect transition="in" filter="fade">
                                      <p:cBhvr>
                                        <p:cTn id="114" dur="400"/>
                                        <p:tgtEl>
                                          <p:spTgt spid="5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fade">
                                      <p:cBhvr>
                                        <p:cTn id="117" dur="400"/>
                                        <p:tgtEl>
                                          <p:spTgt spid="6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1"/>
                                        </p:tgtEl>
                                        <p:attrNameLst>
                                          <p:attrName>style.visibility</p:attrName>
                                        </p:attrNameLst>
                                      </p:cBhvr>
                                      <p:to>
                                        <p:strVal val="visible"/>
                                      </p:to>
                                    </p:set>
                                    <p:animEffect transition="in" filter="fade">
                                      <p:cBhvr>
                                        <p:cTn id="120" dur="400"/>
                                        <p:tgtEl>
                                          <p:spTgt spid="6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2"/>
                                        </p:tgtEl>
                                        <p:attrNameLst>
                                          <p:attrName>style.visibility</p:attrName>
                                        </p:attrNameLst>
                                      </p:cBhvr>
                                      <p:to>
                                        <p:strVal val="visible"/>
                                      </p:to>
                                    </p:set>
                                    <p:animEffect transition="in" filter="fade">
                                      <p:cBhvr>
                                        <p:cTn id="123" dur="400"/>
                                        <p:tgtEl>
                                          <p:spTgt spid="6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3"/>
                                        </p:tgtEl>
                                        <p:attrNameLst>
                                          <p:attrName>style.visibility</p:attrName>
                                        </p:attrNameLst>
                                      </p:cBhvr>
                                      <p:to>
                                        <p:strVal val="visible"/>
                                      </p:to>
                                    </p:set>
                                    <p:animEffect transition="in" filter="fade">
                                      <p:cBhvr>
                                        <p:cTn id="126" dur="400"/>
                                        <p:tgtEl>
                                          <p:spTgt spid="6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4"/>
                                        </p:tgtEl>
                                        <p:attrNameLst>
                                          <p:attrName>style.visibility</p:attrName>
                                        </p:attrNameLst>
                                      </p:cBhvr>
                                      <p:to>
                                        <p:strVal val="visible"/>
                                      </p:to>
                                    </p:set>
                                    <p:animEffect transition="in" filter="fade">
                                      <p:cBhvr>
                                        <p:cTn id="129" dur="400"/>
                                        <p:tgtEl>
                                          <p:spTgt spid="64"/>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5"/>
                                        </p:tgtEl>
                                        <p:attrNameLst>
                                          <p:attrName>style.visibility</p:attrName>
                                        </p:attrNameLst>
                                      </p:cBhvr>
                                      <p:to>
                                        <p:strVal val="visible"/>
                                      </p:to>
                                    </p:set>
                                    <p:animEffect transition="in" filter="fade">
                                      <p:cBhvr>
                                        <p:cTn id="132" dur="400"/>
                                        <p:tgtEl>
                                          <p:spTgt spid="6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6"/>
                                        </p:tgtEl>
                                        <p:attrNameLst>
                                          <p:attrName>style.visibility</p:attrName>
                                        </p:attrNameLst>
                                      </p:cBhvr>
                                      <p:to>
                                        <p:strVal val="visible"/>
                                      </p:to>
                                    </p:set>
                                    <p:animEffect transition="in" filter="fade">
                                      <p:cBhvr>
                                        <p:cTn id="135" dur="400"/>
                                        <p:tgtEl>
                                          <p:spTgt spid="6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7"/>
                                        </p:tgtEl>
                                        <p:attrNameLst>
                                          <p:attrName>style.visibility</p:attrName>
                                        </p:attrNameLst>
                                      </p:cBhvr>
                                      <p:to>
                                        <p:strVal val="visible"/>
                                      </p:to>
                                    </p:set>
                                    <p:animEffect transition="in" filter="fade">
                                      <p:cBhvr>
                                        <p:cTn id="138"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en la práctica</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Seis conexiones, y ninguna une las dos bases.</a:t>
            </a:r>
            <a:endParaRPr lang="en-US" sz="1700" dirty="0"/>
          </a:p>
        </p:txBody>
      </p:sp>
      <p:sp>
        <p:nvSpPr>
          <p:cNvPr id="12" name="Shape 10"/>
          <p:cNvSpPr/>
          <p:nvPr/>
        </p:nvSpPr>
        <p:spPr>
          <a:xfrm>
            <a:off x="745236" y="3305556"/>
            <a:ext cx="868680" cy="868680"/>
          </a:xfrm>
          <a:prstGeom prst="ellipse">
            <a:avLst/>
          </a:prstGeom>
          <a:solidFill>
            <a:srgbClr val="F1EEFD"/>
          </a:solidFill>
          <a:ln w="25400">
            <a:solidFill>
              <a:srgbClr val="5B3FC4"/>
            </a:solidFill>
            <a:prstDash val="solid"/>
          </a:ln>
          <a:effectLst>
            <a:outerShdw sx="100000" sy="100000" kx="0" ky="0" algn="bl" rotWithShape="0" blurRad="76200" dist="19050" dir="5400000">
              <a:srgbClr val="0B1F3A">
                <a:alpha val="14000"/>
              </a:srgbClr>
            </a:outerShdw>
          </a:effectLst>
        </p:spPr>
      </p:sp>
      <p:sp>
        <p:nvSpPr>
          <p:cNvPr id="13" name="Icono user"/>
          <p:cNvSpPr/>
          <p:nvPr/>
        </p:nvSpPr>
        <p:spPr>
          <a:xfrm>
            <a:off x="941832" y="3502152"/>
            <a:ext cx="475488" cy="475488"/>
          </a:xfrm>
          <a:custGeom>
            <a:avLst/>
            <a:gdLst/>
            <a:ahLst/>
            <a:cxnLst/>
            <a:rect l="l" t="t" r="r" b="b"/>
            <a:pathLst>
              <a:path w="475488" h="475488">
                <a:moveTo>
                  <a:pt x="376428" y="416052"/>
                </a:moveTo>
                <a:lnTo>
                  <a:pt x="376428" y="376428"/>
                </a:lnTo>
                <a:cubicBezTo>
                  <a:pt x="376428" y="332661"/>
                  <a:pt x="340947" y="297180"/>
                  <a:pt x="297180" y="297180"/>
                </a:cubicBezTo>
                <a:lnTo>
                  <a:pt x="178308" y="297180"/>
                </a:lnTo>
                <a:cubicBezTo>
                  <a:pt x="134541" y="297180"/>
                  <a:pt x="99060" y="332661"/>
                  <a:pt x="99060" y="376428"/>
                </a:cubicBezTo>
                <a:lnTo>
                  <a:pt x="99060" y="416052"/>
                </a:lnTo>
                <a:moveTo>
                  <a:pt x="316992" y="138684"/>
                </a:moveTo>
                <a:cubicBezTo>
                  <a:pt x="316992" y="182451"/>
                  <a:pt x="281511" y="217932"/>
                  <a:pt x="237744" y="217932"/>
                </a:cubicBezTo>
                <a:cubicBezTo>
                  <a:pt x="193977" y="217932"/>
                  <a:pt x="158496" y="182451"/>
                  <a:pt x="158496" y="138684"/>
                </a:cubicBezTo>
                <a:cubicBezTo>
                  <a:pt x="158496" y="94917"/>
                  <a:pt x="193977" y="59436"/>
                  <a:pt x="237744" y="59436"/>
                </a:cubicBezTo>
                <a:cubicBezTo>
                  <a:pt x="281511" y="59436"/>
                  <a:pt x="316992" y="94917"/>
                  <a:pt x="316992" y="138684"/>
                </a:cubicBezTo>
                <a:close/>
              </a:path>
            </a:pathLst>
          </a:custGeom>
          <a:noFill/>
          <a:ln w="34671" cap="rnd">
            <a:solidFill>
              <a:srgbClr val="5B3FC4"/>
            </a:solidFill>
            <a:prstDash val="solid"/>
            <a:round/>
          </a:ln>
        </p:spPr>
      </p:sp>
      <p:sp>
        <p:nvSpPr>
          <p:cNvPr id="14" name="Text 12"/>
          <p:cNvSpPr/>
          <p:nvPr/>
        </p:nvSpPr>
        <p:spPr>
          <a:xfrm>
            <a:off x="612648" y="4229100"/>
            <a:ext cx="1133856" cy="274320"/>
          </a:xfrm>
          <a:prstGeom prst="rect">
            <a:avLst/>
          </a:prstGeom>
          <a:noFill/>
          <a:ln/>
        </p:spPr>
        <p:txBody>
          <a:bodyPr wrap="square" lIns="0" tIns="0" rIns="0" bIns="0" rtlCol="0" anchor="t">
            <a:normAutofit/>
          </a:bodyPr>
          <a:lstStyle/>
          <a:p>
            <a:pPr algn="ctr" indent="0" marL="0">
              <a:buNone/>
            </a:pPr>
            <a:r>
              <a:rPr lang="en-US" sz="1300" b="1" dirty="0">
                <a:solidFill>
                  <a:srgbClr val="0B1A3C"/>
                </a:solidFill>
                <a:latin typeface="Segoe UI Semibold" pitchFamily="34" charset="0"/>
                <a:ea typeface="Segoe UI Semibold" pitchFamily="34" charset="-122"/>
                <a:cs typeface="Segoe UI Semibold" pitchFamily="34" charset="-120"/>
              </a:rPr>
              <a:t>Persona</a:t>
            </a:r>
            <a:endParaRPr lang="en-US" sz="1300" dirty="0"/>
          </a:p>
        </p:txBody>
      </p:sp>
      <p:sp>
        <p:nvSpPr>
          <p:cNvPr id="15" name="Text 13"/>
          <p:cNvSpPr/>
          <p:nvPr/>
        </p:nvSpPr>
        <p:spPr>
          <a:xfrm>
            <a:off x="539496" y="4485132"/>
            <a:ext cx="1280160" cy="256032"/>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En el navegador</a:t>
            </a:r>
            <a:endParaRPr lang="en-US" sz="1050" dirty="0"/>
          </a:p>
        </p:txBody>
      </p:sp>
      <p:sp>
        <p:nvSpPr>
          <p:cNvPr id="16" name="Shape 14"/>
          <p:cNvSpPr/>
          <p:nvPr/>
        </p:nvSpPr>
        <p:spPr>
          <a:xfrm>
            <a:off x="2212848" y="3191256"/>
            <a:ext cx="2148840" cy="1097280"/>
          </a:xfrm>
          <a:prstGeom prst="roundRect">
            <a:avLst>
              <a:gd name="adj" fmla="val 11667"/>
            </a:avLst>
          </a:prstGeom>
          <a:solidFill>
            <a:srgbClr val="FFFFFF"/>
          </a:solidFill>
          <a:ln w="12700">
            <a:solidFill>
              <a:srgbClr val="AD9FE2"/>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2212848" y="3300984"/>
            <a:ext cx="73152" cy="877824"/>
          </a:xfrm>
          <a:prstGeom prst="rect">
            <a:avLst/>
          </a:prstGeom>
          <a:solidFill>
            <a:srgbClr val="5B3FC4"/>
          </a:solidFill>
          <a:ln w="12700">
            <a:solidFill>
              <a:srgbClr val="5B3FC4"/>
            </a:solidFill>
            <a:prstDash val="solid"/>
          </a:ln>
        </p:spPr>
      </p:sp>
      <p:sp>
        <p:nvSpPr>
          <p:cNvPr id="18" name="Shape 16"/>
          <p:cNvSpPr/>
          <p:nvPr/>
        </p:nvSpPr>
        <p:spPr>
          <a:xfrm>
            <a:off x="2414016" y="3419856"/>
            <a:ext cx="640080" cy="640080"/>
          </a:xfrm>
          <a:prstGeom prst="ellipse">
            <a:avLst/>
          </a:prstGeom>
          <a:solidFill>
            <a:srgbClr val="F1EEFD"/>
          </a:solidFill>
          <a:ln w="12700">
            <a:solidFill>
              <a:srgbClr val="F1EEFD"/>
            </a:solidFill>
            <a:prstDash val="solid"/>
          </a:ln>
        </p:spPr>
      </p:sp>
      <p:sp>
        <p:nvSpPr>
          <p:cNvPr id="19" name="Icono monitor"/>
          <p:cNvSpPr/>
          <p:nvPr/>
        </p:nvSpPr>
        <p:spPr>
          <a:xfrm>
            <a:off x="2567635" y="3573475"/>
            <a:ext cx="332842" cy="332842"/>
          </a:xfrm>
          <a:custGeom>
            <a:avLst/>
            <a:gdLst/>
            <a:ahLst/>
            <a:cxnLst/>
            <a:rect l="l" t="t" r="r" b="b"/>
            <a:pathLst>
              <a:path w="332842" h="332842">
                <a:moveTo>
                  <a:pt x="55474" y="41605"/>
                </a:moveTo>
                <a:lnTo>
                  <a:pt x="277368" y="41605"/>
                </a:lnTo>
                <a:cubicBezTo>
                  <a:pt x="292687" y="41605"/>
                  <a:pt x="305105" y="54023"/>
                  <a:pt x="305105" y="69342"/>
                </a:cubicBezTo>
                <a:lnTo>
                  <a:pt x="305105" y="208026"/>
                </a:lnTo>
                <a:cubicBezTo>
                  <a:pt x="305105" y="223345"/>
                  <a:pt x="292687" y="235763"/>
                  <a:pt x="277368" y="235763"/>
                </a:cubicBezTo>
                <a:lnTo>
                  <a:pt x="55474" y="235763"/>
                </a:lnTo>
                <a:cubicBezTo>
                  <a:pt x="40155" y="235763"/>
                  <a:pt x="27737" y="223345"/>
                  <a:pt x="27737" y="208026"/>
                </a:cubicBezTo>
                <a:lnTo>
                  <a:pt x="27737" y="69342"/>
                </a:lnTo>
                <a:cubicBezTo>
                  <a:pt x="27737" y="54023"/>
                  <a:pt x="40155" y="41605"/>
                  <a:pt x="55474" y="41605"/>
                </a:cubicBezTo>
                <a:close/>
                <a:moveTo>
                  <a:pt x="110947" y="291236"/>
                </a:moveTo>
                <a:lnTo>
                  <a:pt x="221894" y="291236"/>
                </a:lnTo>
                <a:moveTo>
                  <a:pt x="166421" y="235763"/>
                </a:moveTo>
                <a:lnTo>
                  <a:pt x="166421" y="291236"/>
                </a:lnTo>
              </a:path>
            </a:pathLst>
          </a:custGeom>
          <a:noFill/>
          <a:ln w="27737" cap="rnd">
            <a:solidFill>
              <a:srgbClr val="5B3FC4"/>
            </a:solidFill>
            <a:prstDash val="solid"/>
            <a:round/>
          </a:ln>
        </p:spPr>
      </p:sp>
      <p:sp>
        <p:nvSpPr>
          <p:cNvPr id="20" name="Text 18"/>
          <p:cNvSpPr/>
          <p:nvPr/>
        </p:nvSpPr>
        <p:spPr>
          <a:xfrm>
            <a:off x="3200400" y="3300984"/>
            <a:ext cx="1051560" cy="475488"/>
          </a:xfrm>
          <a:prstGeom prst="rect">
            <a:avLst/>
          </a:prstGeom>
          <a:noFill/>
          <a:ln/>
        </p:spPr>
        <p:txBody>
          <a:bodyPr wrap="square" lIns="0" tIns="0" rIns="0" bIns="0" rtlCol="0" anchor="b">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La UI</a:t>
            </a:r>
            <a:endParaRPr lang="en-US" sz="1600" dirty="0"/>
          </a:p>
        </p:txBody>
      </p:sp>
      <p:sp>
        <p:nvSpPr>
          <p:cNvPr id="21" name="Text 19"/>
          <p:cNvSpPr/>
          <p:nvPr/>
        </p:nvSpPr>
        <p:spPr>
          <a:xfrm>
            <a:off x="3200400" y="3758184"/>
            <a:ext cx="10515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arka-lite-ui · :8088</a:t>
            </a:r>
            <a:endParaRPr lang="en-US" sz="1250" dirty="0"/>
          </a:p>
        </p:txBody>
      </p:sp>
      <p:sp>
        <p:nvSpPr>
          <p:cNvPr id="22" name="Shape 20"/>
          <p:cNvSpPr/>
          <p:nvPr/>
        </p:nvSpPr>
        <p:spPr>
          <a:xfrm>
            <a:off x="5504688" y="1901952"/>
            <a:ext cx="2606040" cy="1097280"/>
          </a:xfrm>
          <a:prstGeom prst="roundRect">
            <a:avLst>
              <a:gd name="adj" fmla="val 11667"/>
            </a:avLst>
          </a:prstGeom>
          <a:solidFill>
            <a:srgbClr val="FFFFFF"/>
          </a:solidFill>
          <a:ln w="12700">
            <a:solidFill>
              <a:srgbClr val="8591A8"/>
            </a:solidFill>
            <a:prstDash val="solid"/>
          </a:ln>
          <a:effectLst>
            <a:outerShdw sx="100000" sy="100000" kx="0" ky="0" algn="bl" rotWithShape="0" blurRad="76200" dist="19050" dir="5400000">
              <a:srgbClr val="0B1F3A">
                <a:alpha val="14000"/>
              </a:srgbClr>
            </a:outerShdw>
          </a:effectLst>
        </p:spPr>
      </p:sp>
      <p:sp>
        <p:nvSpPr>
          <p:cNvPr id="23" name="Shape 21"/>
          <p:cNvSpPr/>
          <p:nvPr/>
        </p:nvSpPr>
        <p:spPr>
          <a:xfrm>
            <a:off x="5504688" y="2011680"/>
            <a:ext cx="73152" cy="877824"/>
          </a:xfrm>
          <a:prstGeom prst="rect">
            <a:avLst/>
          </a:prstGeom>
          <a:solidFill>
            <a:srgbClr val="0B2350"/>
          </a:solidFill>
          <a:ln w="12700">
            <a:solidFill>
              <a:srgbClr val="0B2350"/>
            </a:solidFill>
            <a:prstDash val="solid"/>
          </a:ln>
        </p:spPr>
      </p:sp>
      <p:sp>
        <p:nvSpPr>
          <p:cNvPr id="24" name="Shape 22"/>
          <p:cNvSpPr/>
          <p:nvPr/>
        </p:nvSpPr>
        <p:spPr>
          <a:xfrm>
            <a:off x="5705856" y="2130552"/>
            <a:ext cx="640080" cy="640080"/>
          </a:xfrm>
          <a:prstGeom prst="ellipse">
            <a:avLst/>
          </a:prstGeom>
          <a:solidFill>
            <a:srgbClr val="E8EEF8"/>
          </a:solidFill>
          <a:ln w="12700">
            <a:solidFill>
              <a:srgbClr val="E8EEF8"/>
            </a:solidFill>
            <a:prstDash val="solid"/>
          </a:ln>
        </p:spPr>
      </p:sp>
      <p:sp>
        <p:nvSpPr>
          <p:cNvPr id="25" name="Icono clipboard-list"/>
          <p:cNvSpPr/>
          <p:nvPr/>
        </p:nvSpPr>
        <p:spPr>
          <a:xfrm>
            <a:off x="5859475" y="2284171"/>
            <a:ext cx="332842" cy="332842"/>
          </a:xfrm>
          <a:custGeom>
            <a:avLst/>
            <a:gdLst/>
            <a:ahLst/>
            <a:cxnLst/>
            <a:rect l="l" t="t" r="r" b="b"/>
            <a:pathLst>
              <a:path w="332842" h="332842">
                <a:moveTo>
                  <a:pt x="124816" y="27737"/>
                </a:moveTo>
                <a:lnTo>
                  <a:pt x="208026" y="27737"/>
                </a:lnTo>
                <a:cubicBezTo>
                  <a:pt x="215685" y="27737"/>
                  <a:pt x="221894" y="33946"/>
                  <a:pt x="221894" y="41605"/>
                </a:cubicBezTo>
                <a:lnTo>
                  <a:pt x="221894" y="69342"/>
                </a:lnTo>
                <a:cubicBezTo>
                  <a:pt x="221894" y="77001"/>
                  <a:pt x="215685" y="83210"/>
                  <a:pt x="208026" y="83210"/>
                </a:cubicBezTo>
                <a:lnTo>
                  <a:pt x="124816" y="83210"/>
                </a:lnTo>
                <a:cubicBezTo>
                  <a:pt x="117156" y="83210"/>
                  <a:pt x="110947" y="77001"/>
                  <a:pt x="110947" y="69342"/>
                </a:cubicBezTo>
                <a:lnTo>
                  <a:pt x="110947" y="41605"/>
                </a:lnTo>
                <a:cubicBezTo>
                  <a:pt x="110947" y="33946"/>
                  <a:pt x="117156" y="27737"/>
                  <a:pt x="124816" y="27737"/>
                </a:cubicBezTo>
                <a:close/>
                <a:moveTo>
                  <a:pt x="221894" y="55474"/>
                </a:moveTo>
                <a:lnTo>
                  <a:pt x="249631" y="55474"/>
                </a:lnTo>
                <a:cubicBezTo>
                  <a:pt x="264950" y="55474"/>
                  <a:pt x="277368" y="67892"/>
                  <a:pt x="277368" y="83210"/>
                </a:cubicBezTo>
                <a:lnTo>
                  <a:pt x="277368" y="277368"/>
                </a:lnTo>
                <a:cubicBezTo>
                  <a:pt x="277368" y="292687"/>
                  <a:pt x="264950" y="305105"/>
                  <a:pt x="249631" y="305105"/>
                </a:cubicBezTo>
                <a:lnTo>
                  <a:pt x="83210" y="305105"/>
                </a:lnTo>
                <a:cubicBezTo>
                  <a:pt x="67892" y="305105"/>
                  <a:pt x="55474" y="292687"/>
                  <a:pt x="55474" y="277368"/>
                </a:cubicBezTo>
                <a:lnTo>
                  <a:pt x="55474" y="83210"/>
                </a:lnTo>
                <a:cubicBezTo>
                  <a:pt x="55474" y="67892"/>
                  <a:pt x="67892" y="55474"/>
                  <a:pt x="83210" y="55474"/>
                </a:cubicBezTo>
                <a:lnTo>
                  <a:pt x="110947" y="55474"/>
                </a:lnTo>
                <a:moveTo>
                  <a:pt x="166421" y="152552"/>
                </a:moveTo>
                <a:lnTo>
                  <a:pt x="221894" y="152552"/>
                </a:lnTo>
                <a:moveTo>
                  <a:pt x="166421" y="221894"/>
                </a:moveTo>
                <a:lnTo>
                  <a:pt x="221894" y="221894"/>
                </a:lnTo>
                <a:moveTo>
                  <a:pt x="110947" y="152552"/>
                </a:moveTo>
                <a:lnTo>
                  <a:pt x="111086" y="152552"/>
                </a:lnTo>
                <a:moveTo>
                  <a:pt x="110947" y="221894"/>
                </a:moveTo>
                <a:lnTo>
                  <a:pt x="111086" y="221894"/>
                </a:lnTo>
              </a:path>
            </a:pathLst>
          </a:custGeom>
          <a:noFill/>
          <a:ln w="27737" cap="rnd">
            <a:solidFill>
              <a:srgbClr val="0B2350"/>
            </a:solidFill>
            <a:prstDash val="solid"/>
            <a:round/>
          </a:ln>
        </p:spPr>
      </p:sp>
      <p:sp>
        <p:nvSpPr>
          <p:cNvPr id="26" name="Text 24"/>
          <p:cNvSpPr/>
          <p:nvPr/>
        </p:nvSpPr>
        <p:spPr>
          <a:xfrm>
            <a:off x="6492240" y="2011680"/>
            <a:ext cx="1508760" cy="47548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Solicitudes</a:t>
            </a:r>
            <a:endParaRPr lang="en-US" sz="1600" dirty="0"/>
          </a:p>
        </p:txBody>
      </p:sp>
      <p:sp>
        <p:nvSpPr>
          <p:cNvPr id="27" name="Text 25"/>
          <p:cNvSpPr/>
          <p:nvPr/>
        </p:nvSpPr>
        <p:spPr>
          <a:xfrm>
            <a:off x="6492240" y="2468880"/>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El trámite y sus estados · :8080</a:t>
            </a:r>
            <a:endParaRPr lang="en-US" sz="1250" dirty="0"/>
          </a:p>
        </p:txBody>
      </p:sp>
      <p:sp>
        <p:nvSpPr>
          <p:cNvPr id="28" name="Shape 26"/>
          <p:cNvSpPr/>
          <p:nvPr/>
        </p:nvSpPr>
        <p:spPr>
          <a:xfrm>
            <a:off x="5504688" y="4480560"/>
            <a:ext cx="2606040" cy="1097280"/>
          </a:xfrm>
          <a:prstGeom prst="roundRect">
            <a:avLst>
              <a:gd name="adj" fmla="val 11667"/>
            </a:avLst>
          </a:prstGeom>
          <a:solidFill>
            <a:srgbClr val="FFFFFF"/>
          </a:solidFill>
          <a:ln w="12700">
            <a:solidFill>
              <a:srgbClr val="85B7C5"/>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5504688" y="4590288"/>
            <a:ext cx="73152" cy="877824"/>
          </a:xfrm>
          <a:prstGeom prst="rect">
            <a:avLst/>
          </a:prstGeom>
          <a:solidFill>
            <a:srgbClr val="0B6E8A"/>
          </a:solidFill>
          <a:ln w="12700">
            <a:solidFill>
              <a:srgbClr val="0B6E8A"/>
            </a:solidFill>
            <a:prstDash val="solid"/>
          </a:ln>
        </p:spPr>
      </p:sp>
      <p:sp>
        <p:nvSpPr>
          <p:cNvPr id="30" name="Shape 28"/>
          <p:cNvSpPr/>
          <p:nvPr/>
        </p:nvSpPr>
        <p:spPr>
          <a:xfrm>
            <a:off x="5705856" y="4709160"/>
            <a:ext cx="640080" cy="640080"/>
          </a:xfrm>
          <a:prstGeom prst="ellipse">
            <a:avLst/>
          </a:prstGeom>
          <a:solidFill>
            <a:srgbClr val="E3F4FA"/>
          </a:solidFill>
          <a:ln w="12700">
            <a:solidFill>
              <a:srgbClr val="E3F4FA"/>
            </a:solidFill>
            <a:prstDash val="solid"/>
          </a:ln>
        </p:spPr>
      </p:sp>
      <p:sp>
        <p:nvSpPr>
          <p:cNvPr id="31" name="Icono bell"/>
          <p:cNvSpPr/>
          <p:nvPr/>
        </p:nvSpPr>
        <p:spPr>
          <a:xfrm>
            <a:off x="5859475" y="4862779"/>
            <a:ext cx="332842" cy="332842"/>
          </a:xfrm>
          <a:custGeom>
            <a:avLst/>
            <a:gdLst/>
            <a:ahLst/>
            <a:cxnLst/>
            <a:rect l="l" t="t" r="r" b="b"/>
            <a:pathLst>
              <a:path w="332842" h="332842">
                <a:moveTo>
                  <a:pt x="142401" y="291236"/>
                </a:moveTo>
                <a:cubicBezTo>
                  <a:pt x="147356" y="299818"/>
                  <a:pt x="156512" y="305104"/>
                  <a:pt x="166421" y="305104"/>
                </a:cubicBezTo>
                <a:cubicBezTo>
                  <a:pt x="176330" y="305104"/>
                  <a:pt x="185486" y="299818"/>
                  <a:pt x="190441" y="291236"/>
                </a:cubicBezTo>
                <a:moveTo>
                  <a:pt x="45239" y="212547"/>
                </a:moveTo>
                <a:cubicBezTo>
                  <a:pt x="41537" y="216604"/>
                  <a:pt x="40578" y="222464"/>
                  <a:pt x="42794" y="227489"/>
                </a:cubicBezTo>
                <a:cubicBezTo>
                  <a:pt x="45009" y="232514"/>
                  <a:pt x="49982" y="235759"/>
                  <a:pt x="55474" y="235763"/>
                </a:cubicBezTo>
                <a:lnTo>
                  <a:pt x="277368" y="235763"/>
                </a:lnTo>
                <a:cubicBezTo>
                  <a:pt x="282859" y="235765"/>
                  <a:pt x="287835" y="232526"/>
                  <a:pt x="290056" y="227504"/>
                </a:cubicBezTo>
                <a:cubicBezTo>
                  <a:pt x="292277" y="222482"/>
                  <a:pt x="291326" y="216623"/>
                  <a:pt x="287631" y="212561"/>
                </a:cubicBezTo>
                <a:cubicBezTo>
                  <a:pt x="269186" y="193547"/>
                  <a:pt x="249631" y="173341"/>
                  <a:pt x="249631" y="110947"/>
                </a:cubicBezTo>
                <a:cubicBezTo>
                  <a:pt x="249631" y="64991"/>
                  <a:pt x="212377" y="27737"/>
                  <a:pt x="166421" y="27737"/>
                </a:cubicBezTo>
                <a:cubicBezTo>
                  <a:pt x="120465" y="27737"/>
                  <a:pt x="83210" y="64991"/>
                  <a:pt x="83210" y="110947"/>
                </a:cubicBezTo>
                <a:cubicBezTo>
                  <a:pt x="83210" y="173341"/>
                  <a:pt x="63642" y="193547"/>
                  <a:pt x="45239" y="212547"/>
                </a:cubicBezTo>
              </a:path>
            </a:pathLst>
          </a:custGeom>
          <a:noFill/>
          <a:ln w="27737" cap="rnd">
            <a:solidFill>
              <a:srgbClr val="0B6E8A"/>
            </a:solidFill>
            <a:prstDash val="solid"/>
            <a:round/>
          </a:ln>
        </p:spPr>
      </p:sp>
      <p:sp>
        <p:nvSpPr>
          <p:cNvPr id="32" name="Text 30"/>
          <p:cNvSpPr/>
          <p:nvPr/>
        </p:nvSpPr>
        <p:spPr>
          <a:xfrm>
            <a:off x="6492240" y="4590288"/>
            <a:ext cx="1508760" cy="475488"/>
          </a:xfrm>
          <a:prstGeom prst="rect">
            <a:avLst/>
          </a:prstGeom>
          <a:noFill/>
          <a:ln/>
        </p:spPr>
        <p:txBody>
          <a:bodyPr wrap="square" lIns="0" tIns="0" rIns="0" bIns="0" rtlCol="0" anchor="b">
            <a:normAutofit/>
          </a:bodyPr>
          <a:lstStyle/>
          <a:p>
            <a:pPr algn="l" indent="0" marL="0">
              <a:buNone/>
            </a:pPr>
            <a:r>
              <a:rPr lang="en-US" sz="1450" b="1" dirty="0">
                <a:solidFill>
                  <a:srgbClr val="0B6E8A"/>
                </a:solidFill>
                <a:latin typeface="Segoe UI Semibold" pitchFamily="34" charset="0"/>
                <a:ea typeface="Segoe UI Semibold" pitchFamily="34" charset="-122"/>
                <a:cs typeface="Segoe UI Semibold" pitchFamily="34" charset="-120"/>
              </a:rPr>
              <a:t>Notificaciones</a:t>
            </a:r>
            <a:endParaRPr lang="en-US" sz="1450" dirty="0"/>
          </a:p>
        </p:txBody>
      </p:sp>
      <p:sp>
        <p:nvSpPr>
          <p:cNvPr id="33" name="Text 31"/>
          <p:cNvSpPr/>
          <p:nvPr/>
        </p:nvSpPr>
        <p:spPr>
          <a:xfrm>
            <a:off x="6492240" y="5047488"/>
            <a:ext cx="1508760" cy="420624"/>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Los avisos · :8081</a:t>
            </a:r>
            <a:endParaRPr lang="en-US" sz="1250" dirty="0"/>
          </a:p>
        </p:txBody>
      </p:sp>
      <p:sp>
        <p:nvSpPr>
          <p:cNvPr id="34" name="Shape 32"/>
          <p:cNvSpPr/>
          <p:nvPr/>
        </p:nvSpPr>
        <p:spPr>
          <a:xfrm>
            <a:off x="9390888" y="1901952"/>
            <a:ext cx="2188159" cy="109728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35" name="Text 33"/>
          <p:cNvSpPr/>
          <p:nvPr/>
        </p:nvSpPr>
        <p:spPr>
          <a:xfrm>
            <a:off x="9482328" y="2275027"/>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36" name="Text 34"/>
          <p:cNvSpPr/>
          <p:nvPr/>
        </p:nvSpPr>
        <p:spPr>
          <a:xfrm>
            <a:off x="9482328" y="2604211"/>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37" name="Shape 35"/>
          <p:cNvSpPr/>
          <p:nvPr/>
        </p:nvSpPr>
        <p:spPr>
          <a:xfrm>
            <a:off x="9390888" y="4480560"/>
            <a:ext cx="2188159" cy="1097280"/>
          </a:xfrm>
          <a:prstGeom prst="can">
            <a:avLst/>
          </a:prstGeom>
          <a:solidFill>
            <a:srgbClr val="E3F4FA"/>
          </a:solidFill>
          <a:ln w="25400">
            <a:solidFill>
              <a:srgbClr val="0B6E8A"/>
            </a:solidFill>
            <a:prstDash val="solid"/>
          </a:ln>
          <a:effectLst>
            <a:outerShdw sx="100000" sy="100000" kx="0" ky="0" algn="bl" rotWithShape="0" blurRad="76200" dist="19050" dir="5400000">
              <a:srgbClr val="0B1F3A">
                <a:alpha val="14000"/>
              </a:srgbClr>
            </a:outerShdw>
          </a:effectLst>
        </p:spPr>
      </p:sp>
      <p:sp>
        <p:nvSpPr>
          <p:cNvPr id="38" name="Text 36"/>
          <p:cNvSpPr/>
          <p:nvPr/>
        </p:nvSpPr>
        <p:spPr>
          <a:xfrm>
            <a:off x="9482328" y="4853635"/>
            <a:ext cx="2005279" cy="329184"/>
          </a:xfrm>
          <a:prstGeom prst="rect">
            <a:avLst/>
          </a:prstGeom>
          <a:noFill/>
          <a:ln/>
        </p:spPr>
        <p:txBody>
          <a:bodyPr wrap="square" lIns="0" tIns="0" rIns="0" bIns="0" rtlCol="0" anchor="ctr">
            <a:normAutofit/>
          </a:bodyPr>
          <a:lstStyle/>
          <a:p>
            <a:pPr algn="ctr" indent="0" marL="0">
              <a:buNone/>
            </a:pPr>
            <a:r>
              <a:rPr lang="en-US" sz="1500" b="1" dirty="0">
                <a:solidFill>
                  <a:srgbClr val="0B6E8A"/>
                </a:solidFill>
                <a:latin typeface="Consolas" pitchFamily="34" charset="0"/>
                <a:ea typeface="Consolas" pitchFamily="34" charset="-122"/>
                <a:cs typeface="Consolas" pitchFamily="34" charset="-120"/>
              </a:rPr>
              <a:t>db-notificaciones</a:t>
            </a:r>
            <a:endParaRPr lang="en-US" sz="1500" dirty="0"/>
          </a:p>
        </p:txBody>
      </p:sp>
      <p:sp>
        <p:nvSpPr>
          <p:cNvPr id="39" name="Text 37"/>
          <p:cNvSpPr/>
          <p:nvPr/>
        </p:nvSpPr>
        <p:spPr>
          <a:xfrm>
            <a:off x="9482328" y="5182819"/>
            <a:ext cx="200527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0" name="[p1] Forma"/>
          <p:cNvSpPr/>
          <p:nvPr/>
        </p:nvSpPr>
        <p:spPr>
          <a:xfrm>
            <a:off x="1668780" y="3739896"/>
            <a:ext cx="489204" cy="0"/>
          </a:xfrm>
          <a:prstGeom prst="line">
            <a:avLst/>
          </a:prstGeom>
          <a:noFill/>
          <a:ln w="31750">
            <a:solidFill>
              <a:srgbClr val="30446A"/>
            </a:solidFill>
            <a:prstDash val="solid"/>
            <a:tailEnd type="triangle"/>
          </a:ln>
        </p:spPr>
      </p:sp>
      <p:sp>
        <p:nvSpPr>
          <p:cNvPr id="41" name="[p1] Forma"/>
          <p:cNvSpPr/>
          <p:nvPr/>
        </p:nvSpPr>
        <p:spPr>
          <a:xfrm>
            <a:off x="1739646" y="3566160"/>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1</a:t>
            </a:r>
            <a:endParaRPr lang="en-US" sz="1250" dirty="0"/>
          </a:p>
        </p:txBody>
      </p:sp>
      <p:sp>
        <p:nvSpPr>
          <p:cNvPr id="42" name="[p1] Forma"/>
          <p:cNvSpPr/>
          <p:nvPr/>
        </p:nvSpPr>
        <p:spPr>
          <a:xfrm>
            <a:off x="1613916" y="3172968"/>
            <a:ext cx="598932" cy="32918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usa</a:t>
            </a:r>
            <a:endParaRPr lang="en-US" sz="1300" dirty="0"/>
          </a:p>
        </p:txBody>
      </p:sp>
      <p:sp>
        <p:nvSpPr>
          <p:cNvPr id="43" name="[p2] Forma"/>
          <p:cNvSpPr/>
          <p:nvPr/>
        </p:nvSpPr>
        <p:spPr>
          <a:xfrm>
            <a:off x="4398264" y="3483864"/>
            <a:ext cx="603504" cy="0"/>
          </a:xfrm>
          <a:prstGeom prst="line">
            <a:avLst/>
          </a:prstGeom>
          <a:noFill/>
          <a:ln w="31750">
            <a:solidFill>
              <a:srgbClr val="30446A"/>
            </a:solidFill>
            <a:prstDash val="solid"/>
          </a:ln>
        </p:spPr>
      </p:sp>
      <p:sp>
        <p:nvSpPr>
          <p:cNvPr id="44" name="[p2] Forma"/>
          <p:cNvSpPr/>
          <p:nvPr/>
        </p:nvSpPr>
        <p:spPr>
          <a:xfrm flipV="1">
            <a:off x="5001768" y="2450592"/>
            <a:ext cx="0" cy="1033272"/>
          </a:xfrm>
          <a:prstGeom prst="line">
            <a:avLst/>
          </a:prstGeom>
          <a:noFill/>
          <a:ln w="31750">
            <a:solidFill>
              <a:srgbClr val="30446A"/>
            </a:solidFill>
            <a:prstDash val="solid"/>
          </a:ln>
        </p:spPr>
      </p:sp>
      <p:sp>
        <p:nvSpPr>
          <p:cNvPr id="45" name="[p2] Forma"/>
          <p:cNvSpPr/>
          <p:nvPr/>
        </p:nvSpPr>
        <p:spPr>
          <a:xfrm>
            <a:off x="5001768" y="2450592"/>
            <a:ext cx="448056" cy="0"/>
          </a:xfrm>
          <a:prstGeom prst="line">
            <a:avLst/>
          </a:prstGeom>
          <a:noFill/>
          <a:ln w="31750">
            <a:solidFill>
              <a:srgbClr val="30446A"/>
            </a:solidFill>
            <a:prstDash val="solid"/>
            <a:tailEnd type="triangle"/>
          </a:ln>
        </p:spPr>
      </p:sp>
      <p:sp>
        <p:nvSpPr>
          <p:cNvPr id="46" name="[p2] Forma"/>
          <p:cNvSpPr/>
          <p:nvPr/>
        </p:nvSpPr>
        <p:spPr>
          <a:xfrm>
            <a:off x="4828032" y="27934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2</a:t>
            </a:r>
            <a:endParaRPr lang="en-US" sz="1250" dirty="0"/>
          </a:p>
        </p:txBody>
      </p:sp>
      <p:sp>
        <p:nvSpPr>
          <p:cNvPr id="47" name="[p2] Forma"/>
          <p:cNvSpPr/>
          <p:nvPr/>
        </p:nvSpPr>
        <p:spPr>
          <a:xfrm>
            <a:off x="2212848" y="2404872"/>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crea, envía y decide</a:t>
            </a:r>
            <a:endParaRPr lang="en-US" sz="1300" dirty="0"/>
          </a:p>
        </p:txBody>
      </p:sp>
      <p:sp>
        <p:nvSpPr>
          <p:cNvPr id="48" name="[p6] Forma"/>
          <p:cNvSpPr/>
          <p:nvPr/>
        </p:nvSpPr>
        <p:spPr>
          <a:xfrm>
            <a:off x="4398264" y="3995928"/>
            <a:ext cx="603504" cy="0"/>
          </a:xfrm>
          <a:prstGeom prst="line">
            <a:avLst/>
          </a:prstGeom>
          <a:noFill/>
          <a:ln w="31750">
            <a:solidFill>
              <a:srgbClr val="30446A"/>
            </a:solidFill>
            <a:prstDash val="solid"/>
          </a:ln>
        </p:spPr>
      </p:sp>
      <p:sp>
        <p:nvSpPr>
          <p:cNvPr id="49" name="[p6] Forma"/>
          <p:cNvSpPr/>
          <p:nvPr/>
        </p:nvSpPr>
        <p:spPr>
          <a:xfrm>
            <a:off x="5001768" y="3995928"/>
            <a:ext cx="0" cy="1033272"/>
          </a:xfrm>
          <a:prstGeom prst="line">
            <a:avLst/>
          </a:prstGeom>
          <a:noFill/>
          <a:ln w="31750">
            <a:solidFill>
              <a:srgbClr val="30446A"/>
            </a:solidFill>
            <a:prstDash val="solid"/>
          </a:ln>
        </p:spPr>
      </p:sp>
      <p:sp>
        <p:nvSpPr>
          <p:cNvPr id="50" name="[p6] Forma"/>
          <p:cNvSpPr/>
          <p:nvPr/>
        </p:nvSpPr>
        <p:spPr>
          <a:xfrm>
            <a:off x="5001768" y="5029200"/>
            <a:ext cx="448056" cy="0"/>
          </a:xfrm>
          <a:prstGeom prst="line">
            <a:avLst/>
          </a:prstGeom>
          <a:noFill/>
          <a:ln w="31750">
            <a:solidFill>
              <a:srgbClr val="30446A"/>
            </a:solidFill>
            <a:prstDash val="solid"/>
            <a:tailEnd type="triangle"/>
          </a:ln>
        </p:spPr>
      </p:sp>
      <p:sp>
        <p:nvSpPr>
          <p:cNvPr id="51" name="[p6] Forma"/>
          <p:cNvSpPr/>
          <p:nvPr/>
        </p:nvSpPr>
        <p:spPr>
          <a:xfrm>
            <a:off x="4828032" y="4338828"/>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6</a:t>
            </a:r>
            <a:endParaRPr lang="en-US" sz="1250" dirty="0"/>
          </a:p>
        </p:txBody>
      </p:sp>
      <p:sp>
        <p:nvSpPr>
          <p:cNvPr id="52" name="[p6] Forma"/>
          <p:cNvSpPr/>
          <p:nvPr/>
        </p:nvSpPr>
        <p:spPr>
          <a:xfrm>
            <a:off x="2212848" y="4617720"/>
            <a:ext cx="2514600" cy="457200"/>
          </a:xfrm>
          <a:prstGeom prst="rect">
            <a:avLst/>
          </a:prstGeom>
          <a:noFill/>
          <a:ln/>
        </p:spPr>
        <p:txBody>
          <a:bodyPr wrap="square" lIns="0" tIns="0" rIns="0" bIns="0" rtlCol="0" anchor="ctr">
            <a:normAutofit/>
          </a:bodyPr>
          <a:lstStyle/>
          <a:p>
            <a:pPr algn="r" indent="0" marL="0">
              <a:buNone/>
            </a:pPr>
            <a:r>
              <a:rPr lang="en-US" sz="1300" b="1" dirty="0">
                <a:solidFill>
                  <a:srgbClr val="0B2350"/>
                </a:solidFill>
                <a:latin typeface="Segoe UI" pitchFamily="34" charset="0"/>
                <a:ea typeface="Segoe UI" pitchFamily="34" charset="-122"/>
                <a:cs typeface="Segoe UI" pitchFamily="34" charset="-120"/>
              </a:rPr>
              <a:t>consulta los avisos</a:t>
            </a:r>
            <a:endParaRPr lang="en-US" sz="1300" dirty="0"/>
          </a:p>
        </p:txBody>
      </p:sp>
      <p:sp>
        <p:nvSpPr>
          <p:cNvPr id="53" name="[p3] Forma"/>
          <p:cNvSpPr/>
          <p:nvPr/>
        </p:nvSpPr>
        <p:spPr>
          <a:xfrm>
            <a:off x="8165592" y="2450592"/>
            <a:ext cx="1170432" cy="0"/>
          </a:xfrm>
          <a:prstGeom prst="line">
            <a:avLst/>
          </a:prstGeom>
          <a:noFill/>
          <a:ln w="31750">
            <a:solidFill>
              <a:srgbClr val="30446A"/>
            </a:solidFill>
            <a:prstDash val="solid"/>
            <a:tailEnd type="triangle"/>
          </a:ln>
        </p:spPr>
      </p:sp>
      <p:sp>
        <p:nvSpPr>
          <p:cNvPr id="54" name="[p3] Forma"/>
          <p:cNvSpPr/>
          <p:nvPr/>
        </p:nvSpPr>
        <p:spPr>
          <a:xfrm>
            <a:off x="8577072" y="227685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3</a:t>
            </a:r>
            <a:endParaRPr lang="en-US" sz="1250" dirty="0"/>
          </a:p>
        </p:txBody>
      </p:sp>
      <p:sp>
        <p:nvSpPr>
          <p:cNvPr id="55" name="[p3] Forma"/>
          <p:cNvSpPr/>
          <p:nvPr/>
        </p:nvSpPr>
        <p:spPr>
          <a:xfrm>
            <a:off x="8156448" y="1737360"/>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guarda</a:t>
            </a:r>
            <a:endParaRPr lang="en-US" sz="1300" dirty="0"/>
          </a:p>
        </p:txBody>
      </p:sp>
      <p:sp>
        <p:nvSpPr>
          <p:cNvPr id="56" name="[p5] Forma"/>
          <p:cNvSpPr/>
          <p:nvPr/>
        </p:nvSpPr>
        <p:spPr>
          <a:xfrm>
            <a:off x="8165592" y="5029200"/>
            <a:ext cx="1170432" cy="0"/>
          </a:xfrm>
          <a:prstGeom prst="line">
            <a:avLst/>
          </a:prstGeom>
          <a:noFill/>
          <a:ln w="31750">
            <a:solidFill>
              <a:srgbClr val="30446A"/>
            </a:solidFill>
            <a:prstDash val="solid"/>
            <a:tailEnd type="triangle"/>
          </a:ln>
        </p:spPr>
      </p:sp>
      <p:sp>
        <p:nvSpPr>
          <p:cNvPr id="57" name="[p5] Forma"/>
          <p:cNvSpPr/>
          <p:nvPr/>
        </p:nvSpPr>
        <p:spPr>
          <a:xfrm>
            <a:off x="8577072" y="485546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5</a:t>
            </a:r>
            <a:endParaRPr lang="en-US" sz="1250" dirty="0"/>
          </a:p>
        </p:txBody>
      </p:sp>
      <p:sp>
        <p:nvSpPr>
          <p:cNvPr id="58" name="[p5] Forma"/>
          <p:cNvSpPr/>
          <p:nvPr/>
        </p:nvSpPr>
        <p:spPr>
          <a:xfrm>
            <a:off x="8156448" y="4315968"/>
            <a:ext cx="1188720" cy="512064"/>
          </a:xfrm>
          <a:prstGeom prst="rect">
            <a:avLst/>
          </a:prstGeom>
          <a:noFill/>
          <a:ln/>
        </p:spPr>
        <p:txBody>
          <a:bodyPr wrap="square" lIns="0" tIns="0" rIns="0" bIns="0" rtlCol="0" anchor="ctr">
            <a:normAutofit/>
          </a:bodyPr>
          <a:lstStyle/>
          <a:p>
            <a:pPr algn="ctr" indent="0" marL="0">
              <a:buNone/>
            </a:pPr>
            <a:r>
              <a:rPr lang="en-US" sz="1300" b="1" dirty="0">
                <a:solidFill>
                  <a:srgbClr val="0B2350"/>
                </a:solidFill>
                <a:latin typeface="Segoe UI" pitchFamily="34" charset="0"/>
                <a:ea typeface="Segoe UI" pitchFamily="34" charset="-122"/>
                <a:cs typeface="Segoe UI" pitchFamily="34" charset="-120"/>
              </a:rPr>
              <a:t>anota lo recibido</a:t>
            </a:r>
            <a:endParaRPr lang="en-US" sz="1300" dirty="0"/>
          </a:p>
        </p:txBody>
      </p:sp>
      <p:sp>
        <p:nvSpPr>
          <p:cNvPr id="59" name="[p4] Forma"/>
          <p:cNvSpPr/>
          <p:nvPr/>
        </p:nvSpPr>
        <p:spPr>
          <a:xfrm>
            <a:off x="6807708" y="3054096"/>
            <a:ext cx="0" cy="1371600"/>
          </a:xfrm>
          <a:prstGeom prst="line">
            <a:avLst/>
          </a:prstGeom>
          <a:noFill/>
          <a:ln w="38100">
            <a:solidFill>
              <a:srgbClr val="0B6E8A"/>
            </a:solidFill>
            <a:prstDash val="dash"/>
            <a:tailEnd type="triangle"/>
          </a:ln>
        </p:spPr>
      </p:sp>
      <p:sp>
        <p:nvSpPr>
          <p:cNvPr id="60" name="[p4] Forma"/>
          <p:cNvSpPr/>
          <p:nvPr/>
        </p:nvSpPr>
        <p:spPr>
          <a:xfrm>
            <a:off x="6633972" y="3566160"/>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50" b="1" dirty="0">
                <a:solidFill>
                  <a:srgbClr val="FFFFFF"/>
                </a:solidFill>
                <a:latin typeface="Segoe UI Semibold" pitchFamily="34" charset="0"/>
                <a:ea typeface="Segoe UI Semibold" pitchFamily="34" charset="-122"/>
                <a:cs typeface="Segoe UI Semibold" pitchFamily="34" charset="-120"/>
              </a:rPr>
              <a:t>4</a:t>
            </a:r>
            <a:endParaRPr lang="en-US" sz="1250" dirty="0"/>
          </a:p>
        </p:txBody>
      </p:sp>
      <p:sp>
        <p:nvSpPr>
          <p:cNvPr id="61" name="[p4] Forma"/>
          <p:cNvSpPr/>
          <p:nvPr/>
        </p:nvSpPr>
        <p:spPr>
          <a:xfrm>
            <a:off x="5276088" y="3575304"/>
            <a:ext cx="1303020" cy="329184"/>
          </a:xfrm>
          <a:prstGeom prst="rect">
            <a:avLst/>
          </a:prstGeom>
          <a:noFill/>
          <a:ln/>
        </p:spPr>
        <p:txBody>
          <a:bodyPr wrap="square" lIns="0" tIns="0" rIns="0" bIns="0" rtlCol="0" anchor="ctr">
            <a:normAutofit/>
          </a:bodyPr>
          <a:lstStyle/>
          <a:p>
            <a:pPr algn="r" indent="0" marL="0">
              <a:buNone/>
            </a:pPr>
            <a:r>
              <a:rPr lang="en-US" sz="1300" b="1" dirty="0">
                <a:solidFill>
                  <a:srgbClr val="0B6E8A"/>
                </a:solidFill>
                <a:latin typeface="Segoe UI" pitchFamily="34" charset="0"/>
                <a:ea typeface="Segoe UI" pitchFamily="34" charset="-122"/>
                <a:cs typeface="Segoe UI" pitchFamily="34" charset="-120"/>
              </a:rPr>
              <a:t>avisa después</a:t>
            </a:r>
            <a:endParaRPr lang="en-US" sz="1300" dirty="0"/>
          </a:p>
        </p:txBody>
      </p:sp>
      <p:sp>
        <p:nvSpPr>
          <p:cNvPr id="62" name="[p4] Forma"/>
          <p:cNvSpPr/>
          <p:nvPr/>
        </p:nvSpPr>
        <p:spPr>
          <a:xfrm>
            <a:off x="7173468" y="3364992"/>
            <a:ext cx="2880360" cy="749808"/>
          </a:xfrm>
          <a:prstGeom prst="roundRect">
            <a:avLst>
              <a:gd name="adj" fmla="val 14634"/>
            </a:avLst>
          </a:prstGeom>
          <a:solidFill>
            <a:srgbClr val="E3F4FA"/>
          </a:solidFill>
          <a:ln w="15875">
            <a:solidFill>
              <a:srgbClr val="2BA6CB"/>
            </a:solidFill>
            <a:prstDash val="dash"/>
          </a:ln>
        </p:spPr>
      </p:sp>
      <p:sp>
        <p:nvSpPr>
          <p:cNvPr id="63" name="[p4] Icono mail"/>
          <p:cNvSpPr/>
          <p:nvPr/>
        </p:nvSpPr>
        <p:spPr>
          <a:xfrm>
            <a:off x="7319772" y="3557016"/>
            <a:ext cx="365760" cy="365760"/>
          </a:xfrm>
          <a:custGeom>
            <a:avLst/>
            <a:gdLst/>
            <a:ahLst/>
            <a:cxnLst/>
            <a:rect l="l" t="t" r="r" b="b"/>
            <a:pathLst>
              <a:path w="365760" h="365760">
                <a:moveTo>
                  <a:pt x="60960" y="60960"/>
                </a:moveTo>
                <a:lnTo>
                  <a:pt x="304800" y="60960"/>
                </a:lnTo>
                <a:cubicBezTo>
                  <a:pt x="321634" y="60960"/>
                  <a:pt x="335280" y="74606"/>
                  <a:pt x="335280" y="91440"/>
                </a:cubicBezTo>
                <a:lnTo>
                  <a:pt x="335280" y="274320"/>
                </a:lnTo>
                <a:cubicBezTo>
                  <a:pt x="335280" y="291154"/>
                  <a:pt x="321634" y="304800"/>
                  <a:pt x="304800" y="304800"/>
                </a:cubicBezTo>
                <a:lnTo>
                  <a:pt x="60960" y="304800"/>
                </a:lnTo>
                <a:cubicBezTo>
                  <a:pt x="44126" y="304800"/>
                  <a:pt x="30480" y="291154"/>
                  <a:pt x="30480" y="274320"/>
                </a:cubicBezTo>
                <a:lnTo>
                  <a:pt x="30480" y="91440"/>
                </a:lnTo>
                <a:cubicBezTo>
                  <a:pt x="30480" y="74606"/>
                  <a:pt x="44126" y="60960"/>
                  <a:pt x="60960" y="60960"/>
                </a:cubicBezTo>
                <a:close/>
                <a:moveTo>
                  <a:pt x="335280" y="106680"/>
                </a:moveTo>
                <a:lnTo>
                  <a:pt x="198577" y="193548"/>
                </a:lnTo>
                <a:cubicBezTo>
                  <a:pt x="188977" y="199563"/>
                  <a:pt x="176783" y="199563"/>
                  <a:pt x="167183" y="193548"/>
                </a:cubicBezTo>
                <a:lnTo>
                  <a:pt x="30480" y="106680"/>
                </a:lnTo>
              </a:path>
            </a:pathLst>
          </a:custGeom>
          <a:noFill/>
          <a:ln w="30480" cap="rnd">
            <a:solidFill>
              <a:srgbClr val="0B6E8A"/>
            </a:solidFill>
            <a:prstDash val="solid"/>
            <a:round/>
          </a:ln>
        </p:spPr>
      </p:sp>
      <p:sp>
        <p:nvSpPr>
          <p:cNvPr id="64" name="[p4] Forma"/>
          <p:cNvSpPr/>
          <p:nvPr/>
        </p:nvSpPr>
        <p:spPr>
          <a:xfrm>
            <a:off x="7795260" y="3438144"/>
            <a:ext cx="2148840" cy="219456"/>
          </a:xfrm>
          <a:prstGeom prst="rect">
            <a:avLst/>
          </a:prstGeom>
          <a:noFill/>
          <a:ln/>
        </p:spPr>
        <p:txBody>
          <a:bodyPr wrap="square" lIns="0" tIns="0" rIns="0" bIns="0" rtlCol="0" anchor="t">
            <a:normAutofit/>
          </a:bodyPr>
          <a:lstStyle/>
          <a:p>
            <a:pPr algn="l" indent="0" marL="0">
              <a:buNone/>
            </a:pPr>
            <a:r>
              <a:rPr lang="en-US" sz="950" b="1" dirty="0">
                <a:solidFill>
                  <a:srgbClr val="0B6E8A"/>
                </a:solidFill>
                <a:latin typeface="Segoe UI" pitchFamily="34" charset="0"/>
                <a:ea typeface="Segoe UI" pitchFamily="34" charset="-122"/>
                <a:cs typeface="Segoe UI" pitchFamily="34" charset="-120"/>
              </a:rPr>
              <a:t>EL DATO QUE VIAJA</a:t>
            </a:r>
            <a:endParaRPr lang="en-US" sz="950" dirty="0"/>
          </a:p>
        </p:txBody>
      </p:sp>
      <p:sp>
        <p:nvSpPr>
          <p:cNvPr id="65" name="[p4] Forma"/>
          <p:cNvSpPr/>
          <p:nvPr/>
        </p:nvSpPr>
        <p:spPr>
          <a:xfrm>
            <a:off x="7795260" y="3639312"/>
            <a:ext cx="2148840" cy="420624"/>
          </a:xfrm>
          <a:prstGeom prst="rect">
            <a:avLst/>
          </a:prstGeom>
          <a:noFill/>
          <a:ln/>
        </p:spPr>
        <p:txBody>
          <a:bodyPr wrap="square" lIns="0" tIns="0" rIns="0" bIns="0" rtlCol="0" anchor="ctr">
            <a:normAutofit/>
          </a:bodyPr>
          <a:lstStyle/>
          <a:p>
            <a:pPr algn="l" indent="0" marL="0">
              <a:buNone/>
            </a:pPr>
            <a:r>
              <a:rPr lang="en-US" sz="1200" dirty="0">
                <a:solidFill>
                  <a:srgbClr val="0B1A3C"/>
                </a:solidFill>
                <a:latin typeface="Segoe UI" pitchFamily="34" charset="0"/>
                <a:ea typeface="Segoe UI" pitchFamily="34" charset="-122"/>
                <a:cs typeface="Segoe UI" pitchFamily="34" charset="-120"/>
              </a:rPr>
              <a:t>SolicitudEnviada: eventoId, id y tipo</a:t>
            </a:r>
            <a:endParaRPr lang="en-US" sz="1200" dirty="0"/>
          </a:p>
        </p:txBody>
      </p:sp>
      <p:sp>
        <p:nvSpPr>
          <p:cNvPr id="66" name="[p7] Forma"/>
          <p:cNvSpPr/>
          <p:nvPr/>
        </p:nvSpPr>
        <p:spPr>
          <a:xfrm>
            <a:off x="10484968" y="3072384"/>
            <a:ext cx="0" cy="1335024"/>
          </a:xfrm>
          <a:prstGeom prst="line">
            <a:avLst/>
          </a:prstGeom>
          <a:noFill/>
          <a:ln w="25400">
            <a:solidFill>
              <a:srgbClr val="DFE6F0"/>
            </a:solidFill>
            <a:prstDash val="sysDot"/>
          </a:ln>
        </p:spPr>
      </p:sp>
      <p:sp>
        <p:nvSpPr>
          <p:cNvPr id="67" name="[p7] Forma"/>
          <p:cNvSpPr/>
          <p:nvPr/>
        </p:nvSpPr>
        <p:spPr>
          <a:xfrm>
            <a:off x="10247224" y="3502152"/>
            <a:ext cx="475488" cy="475488"/>
          </a:xfrm>
          <a:prstGeom prst="ellipse">
            <a:avLst/>
          </a:prstGeom>
          <a:solidFill>
            <a:srgbClr val="F7E3E7"/>
          </a:solidFill>
          <a:ln w="12700">
            <a:solidFill>
              <a:srgbClr val="F7E3E7"/>
            </a:solidFill>
            <a:prstDash val="solid"/>
          </a:ln>
        </p:spPr>
      </p:sp>
      <p:sp>
        <p:nvSpPr>
          <p:cNvPr id="68" name="[p7] Icono ban"/>
          <p:cNvSpPr/>
          <p:nvPr/>
        </p:nvSpPr>
        <p:spPr>
          <a:xfrm>
            <a:off x="10361341" y="3616269"/>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50481" y="50481"/>
                </a:moveTo>
                <a:lnTo>
                  <a:pt x="196773" y="196773"/>
                </a:lnTo>
              </a:path>
            </a:pathLst>
          </a:custGeom>
          <a:noFill/>
          <a:ln w="20604" cap="rnd">
            <a:solidFill>
              <a:srgbClr val="AB243E"/>
            </a:solidFill>
            <a:prstDash val="solid"/>
            <a:round/>
          </a:ln>
        </p:spPr>
      </p:sp>
      <p:sp>
        <p:nvSpPr>
          <p:cNvPr id="69" name="[p7] Forma"/>
          <p:cNvSpPr/>
          <p:nvPr/>
        </p:nvSpPr>
        <p:spPr>
          <a:xfrm>
            <a:off x="612648" y="5897880"/>
            <a:ext cx="10966399" cy="457200"/>
          </a:xfrm>
          <a:prstGeom prst="roundRect">
            <a:avLst>
              <a:gd name="adj" fmla="val 20000"/>
            </a:avLst>
          </a:prstGeom>
          <a:solidFill>
            <a:srgbClr val="F4F7FB"/>
          </a:solidFill>
          <a:ln w="9525">
            <a:solidFill>
              <a:srgbClr val="DFE6F0"/>
            </a:solidFill>
            <a:prstDash val="solid"/>
          </a:ln>
        </p:spPr>
      </p:sp>
      <p:sp>
        <p:nvSpPr>
          <p:cNvPr id="70" name="[p7] Icono shield-check"/>
          <p:cNvSpPr/>
          <p:nvPr/>
        </p:nvSpPr>
        <p:spPr>
          <a:xfrm>
            <a:off x="795528" y="5989320"/>
            <a:ext cx="274320" cy="274320"/>
          </a:xfrm>
          <a:custGeom>
            <a:avLst/>
            <a:gdLst/>
            <a:ahLst/>
            <a:cxnLst/>
            <a:rect l="l" t="t" r="r" b="b"/>
            <a:pathLst>
              <a:path w="274320" h="274320">
                <a:moveTo>
                  <a:pt x="228600" y="148590"/>
                </a:moveTo>
                <a:cubicBezTo>
                  <a:pt x="228600" y="205740"/>
                  <a:pt x="188595" y="234315"/>
                  <a:pt x="141046" y="250888"/>
                </a:cubicBezTo>
                <a:cubicBezTo>
                  <a:pt x="138556" y="251732"/>
                  <a:pt x="135852" y="251692"/>
                  <a:pt x="133388" y="250774"/>
                </a:cubicBezTo>
                <a:cubicBezTo>
                  <a:pt x="85725" y="234315"/>
                  <a:pt x="45720" y="205740"/>
                  <a:pt x="45720" y="148590"/>
                </a:cubicBezTo>
                <a:lnTo>
                  <a:pt x="45720" y="68580"/>
                </a:lnTo>
                <a:cubicBezTo>
                  <a:pt x="45720" y="62267"/>
                  <a:pt x="50837" y="57150"/>
                  <a:pt x="57150" y="57150"/>
                </a:cubicBezTo>
                <a:cubicBezTo>
                  <a:pt x="80010" y="57150"/>
                  <a:pt x="108585" y="43434"/>
                  <a:pt x="128473" y="26060"/>
                </a:cubicBezTo>
                <a:cubicBezTo>
                  <a:pt x="133476" y="21786"/>
                  <a:pt x="140844" y="21786"/>
                  <a:pt x="145847" y="26060"/>
                </a:cubicBezTo>
                <a:cubicBezTo>
                  <a:pt x="165849" y="43548"/>
                  <a:pt x="194310" y="57150"/>
                  <a:pt x="217170" y="57150"/>
                </a:cubicBezTo>
                <a:cubicBezTo>
                  <a:pt x="223483" y="57150"/>
                  <a:pt x="228600" y="62267"/>
                  <a:pt x="228600" y="68580"/>
                </a:cubicBezTo>
                <a:close/>
                <a:moveTo>
                  <a:pt x="102870" y="137160"/>
                </a:moveTo>
                <a:lnTo>
                  <a:pt x="125730" y="160020"/>
                </a:lnTo>
                <a:lnTo>
                  <a:pt x="171450" y="114300"/>
                </a:lnTo>
              </a:path>
            </a:pathLst>
          </a:custGeom>
          <a:noFill/>
          <a:ln w="22860" cap="rnd">
            <a:solidFill>
              <a:srgbClr val="0A6648"/>
            </a:solidFill>
            <a:prstDash val="solid"/>
            <a:round/>
          </a:ln>
        </p:spPr>
      </p:sp>
      <p:sp>
        <p:nvSpPr>
          <p:cNvPr id="71" name="[p7] Forma"/>
          <p:cNvSpPr/>
          <p:nvPr/>
        </p:nvSpPr>
        <p:spPr>
          <a:xfrm>
            <a:off x="1207008" y="5897880"/>
            <a:ext cx="10189159" cy="457200"/>
          </a:xfrm>
          <a:prstGeom prst="rect">
            <a:avLst/>
          </a:prstGeom>
          <a:noFill/>
          <a:ln/>
        </p:spPr>
        <p:txBody>
          <a:bodyPr wrap="square" lIns="0" tIns="0" rIns="0" bIns="0" rtlCol="0" anchor="ctr">
            <a:normAutofit/>
          </a:bodyPr>
          <a:lstStyle/>
          <a:p>
            <a:pPr algn="l" indent="0" marL="0">
              <a:buNone/>
            </a:pPr>
            <a:r>
              <a:rPr lang="en-US" sz="1400" b="1" dirty="0">
                <a:solidFill>
                  <a:srgbClr val="0B1A3C"/>
                </a:solidFill>
                <a:latin typeface="Segoe UI" pitchFamily="34" charset="0"/>
                <a:ea typeface="Segoe UI" pitchFamily="34" charset="-122"/>
                <a:cs typeface="Segoe UI" pitchFamily="34" charset="-120"/>
              </a:rPr>
              <a:t>Ninguna flecha une las dos bases: cada servicio es dueño de sus datos.</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0"/>
                                        </p:tgtEl>
                                        <p:attrNameLst>
                                          <p:attrName>style.visibility</p:attrName>
                                        </p:attrNameLst>
                                      </p:cBhvr>
                                      <p:to>
                                        <p:strVal val="visible"/>
                                      </p:to>
                                    </p:set>
                                    <p:animEffect transition="in" filter="fade">
                                      <p:cBhvr>
                                        <p:cTn id="5" dur="400"/>
                                        <p:tgtEl>
                                          <p:spTgt spid="4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1"/>
                                        </p:tgtEl>
                                        <p:attrNameLst>
                                          <p:attrName>style.visibility</p:attrName>
                                        </p:attrNameLst>
                                      </p:cBhvr>
                                      <p:to>
                                        <p:strVal val="visible"/>
                                      </p:to>
                                    </p:set>
                                    <p:animEffect transition="in" filter="fade">
                                      <p:cBhvr>
                                        <p:cTn id="8" dur="400"/>
                                        <p:tgtEl>
                                          <p:spTgt spid="4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400"/>
                                        <p:tgtEl>
                                          <p:spTgt spid="42"/>
                                        </p:tgtEl>
                                      </p:cBhvr>
                                    </p:animEffect>
                                  </p:childTnLst>
                                </p:cTn>
                              </p:par>
                            </p:childTnLst>
                          </p:cTn>
                        </p:par>
                      </p:childTnLst>
                    </p:cTn>
                  </p:par>
                  <p:par>
                    <p:cTn id="29" fill="hold">
                      <p:stCondLst>
                        <p:cond delay="indefinite"/>
                      </p:stCondLst>
                      <p:childTnLst>
                        <p:par>
                          <p:cTn id="30"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400"/>
                                        <p:tgtEl>
                                          <p:spTgt spid="4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400"/>
                                        <p:tgtEl>
                                          <p:spTgt spid="4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400"/>
                                        <p:tgtEl>
                                          <p:spTgt spid="4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400"/>
                                        <p:tgtEl>
                                          <p:spTgt spid="4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400"/>
                                        <p:tgtEl>
                                          <p:spTgt spid="47"/>
                                        </p:tgtEl>
                                      </p:cBhvr>
                                    </p:animEffect>
                                  </p:childTnLst>
                                </p:cTn>
                              </p:par>
                            </p:childTnLst>
                          </p:cTn>
                        </p:par>
                      </p:childTnLst>
                    </p:cTn>
                  </p:par>
                  <p:par>
                    <p:cTn id="40" fill="hold">
                      <p:stCondLst>
                        <p:cond delay="indefinite"/>
                      </p:stCondLst>
                      <p:childTnLst>
                        <p:par>
                          <p:cTn id="41"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400"/>
                                        <p:tgtEl>
                                          <p:spTgt spid="5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400"/>
                                        <p:tgtEl>
                                          <p:spTgt spid="5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400"/>
                                        <p:tgtEl>
                                          <p:spTgt spid="55"/>
                                        </p:tgtEl>
                                      </p:cBhvr>
                                    </p:animEffect>
                                  </p:childTnLst>
                                </p:cTn>
                              </p:par>
                            </p:childTnLst>
                          </p:cTn>
                        </p:par>
                      </p:childTnLst>
                    </p:cTn>
                  </p:par>
                  <p:par>
                    <p:cTn id="63" fill="hold">
                      <p:stCondLst>
                        <p:cond delay="indefinite"/>
                      </p:stCondLst>
                      <p:childTnLst>
                        <p:par>
                          <p:cTn id="64"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400"/>
                                        <p:tgtEl>
                                          <p:spTgt spid="5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fade">
                                      <p:cBhvr>
                                        <p:cTn id="47" dur="400"/>
                                        <p:tgtEl>
                                          <p:spTgt spid="6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fade">
                                      <p:cBhvr>
                                        <p:cTn id="50" dur="400"/>
                                        <p:tgtEl>
                                          <p:spTgt spid="6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animEffect transition="in" filter="fade">
                                      <p:cBhvr>
                                        <p:cTn id="53" dur="400"/>
                                        <p:tgtEl>
                                          <p:spTgt spid="6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fade">
                                      <p:cBhvr>
                                        <p:cTn id="56" dur="400"/>
                                        <p:tgtEl>
                                          <p:spTgt spid="6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fade">
                                      <p:cBhvr>
                                        <p:cTn id="59" dur="400"/>
                                        <p:tgtEl>
                                          <p:spTgt spid="6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fade">
                                      <p:cBhvr>
                                        <p:cTn id="62" dur="400"/>
                                        <p:tgtEl>
                                          <p:spTgt spid="65"/>
                                        </p:tgtEl>
                                      </p:cBhvr>
                                    </p:animEffect>
                                  </p:childTnLst>
                                </p:cTn>
                              </p:par>
                            </p:childTnLst>
                          </p:cTn>
                        </p:par>
                      </p:childTnLst>
                    </p:cTn>
                  </p:par>
                  <p:par>
                    <p:cTn id="74" fill="hold">
                      <p:stCondLst>
                        <p:cond delay="indefinite"/>
                      </p:stCondLst>
                      <p:childTnLst>
                        <p:par>
                          <p:cTn id="75"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400"/>
                                        <p:tgtEl>
                                          <p:spTgt spid="5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fade">
                                      <p:cBhvr>
                                        <p:cTn id="70" dur="400"/>
                                        <p:tgtEl>
                                          <p:spTgt spid="5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fade">
                                      <p:cBhvr>
                                        <p:cTn id="73" dur="400"/>
                                        <p:tgtEl>
                                          <p:spTgt spid="58"/>
                                        </p:tgtEl>
                                      </p:cBhvr>
                                    </p:animEffect>
                                  </p:childTnLst>
                                </p:cTn>
                              </p:par>
                            </p:childTnLst>
                          </p:cTn>
                        </p:par>
                      </p:childTnLst>
                    </p:cTn>
                  </p:par>
                  <p:par>
                    <p:cTn id="91" fill="hold">
                      <p:stCondLst>
                        <p:cond delay="indefinite"/>
                      </p:stCondLst>
                      <p:childTnLst>
                        <p:par>
                          <p:cTn id="92"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fade">
                                      <p:cBhvr>
                                        <p:cTn id="78" dur="400"/>
                                        <p:tgtEl>
                                          <p:spTgt spid="4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fade">
                                      <p:cBhvr>
                                        <p:cTn id="81" dur="400"/>
                                        <p:tgtEl>
                                          <p:spTgt spid="4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fade">
                                      <p:cBhvr>
                                        <p:cTn id="84" dur="400"/>
                                        <p:tgtEl>
                                          <p:spTgt spid="5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400"/>
                                        <p:tgtEl>
                                          <p:spTgt spid="52"/>
                                        </p:tgtEl>
                                      </p:cBhvr>
                                    </p:animEffect>
                                  </p:childTnLst>
                                </p:cTn>
                              </p:par>
                            </p:childTnLst>
                          </p:cTn>
                        </p:par>
                      </p:childTnLst>
                    </p:cTn>
                  </p:par>
                  <p:par>
                    <p:cTn id="111" fill="hold">
                      <p:stCondLst>
                        <p:cond delay="indefinite"/>
                      </p:stCondLst>
                      <p:childTnLst>
                        <p:par>
                          <p:cTn id="11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6"/>
                                        </p:tgtEl>
                                        <p:attrNameLst>
                                          <p:attrName>style.visibility</p:attrName>
                                        </p:attrNameLst>
                                      </p:cBhvr>
                                      <p:to>
                                        <p:strVal val="visible"/>
                                      </p:to>
                                    </p:set>
                                    <p:animEffect transition="in" filter="fade">
                                      <p:cBhvr>
                                        <p:cTn id="95" dur="400"/>
                                        <p:tgtEl>
                                          <p:spTgt spid="6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7"/>
                                        </p:tgtEl>
                                        <p:attrNameLst>
                                          <p:attrName>style.visibility</p:attrName>
                                        </p:attrNameLst>
                                      </p:cBhvr>
                                      <p:to>
                                        <p:strVal val="visible"/>
                                      </p:to>
                                    </p:set>
                                    <p:animEffect transition="in" filter="fade">
                                      <p:cBhvr>
                                        <p:cTn id="98" dur="400"/>
                                        <p:tgtEl>
                                          <p:spTgt spid="6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animEffect transition="in" filter="fade">
                                      <p:cBhvr>
                                        <p:cTn id="101" dur="400"/>
                                        <p:tgtEl>
                                          <p:spTgt spid="6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9"/>
                                        </p:tgtEl>
                                        <p:attrNameLst>
                                          <p:attrName>style.visibility</p:attrName>
                                        </p:attrNameLst>
                                      </p:cBhvr>
                                      <p:to>
                                        <p:strVal val="visible"/>
                                      </p:to>
                                    </p:set>
                                    <p:animEffect transition="in" filter="fade">
                                      <p:cBhvr>
                                        <p:cTn id="104" dur="400"/>
                                        <p:tgtEl>
                                          <p:spTgt spid="6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fade">
                                      <p:cBhvr>
                                        <p:cTn id="107" dur="400"/>
                                        <p:tgtEl>
                                          <p:spTgt spid="70"/>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71"/>
                                        </p:tgtEl>
                                        <p:attrNameLst>
                                          <p:attrName>style.visibility</p:attrName>
                                        </p:attrNameLst>
                                      </p:cBhvr>
                                      <p:to>
                                        <p:strVal val="visible"/>
                                      </p:to>
                                    </p:set>
                                    <p:animEffect transition="in" filter="fade">
                                      <p:cBhvr>
                                        <p:cTn id="110"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cada servicio: hexagonal</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forma de ordenar el código por dentro; no cambia cómo se despliega.</a:t>
            </a:r>
            <a:endParaRPr lang="en-US" sz="170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plug"/>
          <p:cNvSpPr/>
          <p:nvPr/>
        </p:nvSpPr>
        <p:spPr>
          <a:xfrm>
            <a:off x="900867" y="5911779"/>
            <a:ext cx="228234" cy="228234"/>
          </a:xfrm>
          <a:custGeom>
            <a:avLst/>
            <a:gdLst/>
            <a:ahLst/>
            <a:cxnLst/>
            <a:rect l="l" t="t" r="r" b="b"/>
            <a:pathLst>
              <a:path w="228234" h="228234">
                <a:moveTo>
                  <a:pt x="114117" y="209215"/>
                </a:moveTo>
                <a:lnTo>
                  <a:pt x="114117" y="161666"/>
                </a:lnTo>
                <a:moveTo>
                  <a:pt x="85588" y="76078"/>
                </a:moveTo>
                <a:lnTo>
                  <a:pt x="85588" y="19020"/>
                </a:lnTo>
                <a:moveTo>
                  <a:pt x="142646" y="76078"/>
                </a:moveTo>
                <a:lnTo>
                  <a:pt x="142646" y="19020"/>
                </a:lnTo>
                <a:moveTo>
                  <a:pt x="171176" y="76078"/>
                </a:moveTo>
                <a:lnTo>
                  <a:pt x="171176" y="123627"/>
                </a:lnTo>
                <a:cubicBezTo>
                  <a:pt x="171176" y="144635"/>
                  <a:pt x="154145" y="161666"/>
                  <a:pt x="133137" y="161666"/>
                </a:cubicBezTo>
                <a:lnTo>
                  <a:pt x="95098" y="161666"/>
                </a:lnTo>
                <a:cubicBezTo>
                  <a:pt x="74089" y="161666"/>
                  <a:pt x="57059" y="144635"/>
                  <a:pt x="57059" y="123627"/>
                </a:cubicBezTo>
                <a:lnTo>
                  <a:pt x="57059" y="76078"/>
                </a:lnTo>
                <a:close/>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enchufe: el aparato funciona con cualquier toma que cumpla la norma, sin saber de qué planta viene la electricidad.</a:t>
            </a:r>
            <a:endParaRPr lang="en-US" sz="1450" dirty="0"/>
          </a:p>
        </p:txBody>
      </p:sp>
      <p:sp>
        <p:nvSpPr>
          <p:cNvPr id="16" name="Text 14"/>
          <p:cNvSpPr/>
          <p:nvPr/>
        </p:nvSpPr>
        <p:spPr>
          <a:xfrm>
            <a:off x="612648" y="1719072"/>
            <a:ext cx="228600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ENTRADA</a:t>
            </a:r>
            <a:endParaRPr lang="en-US" sz="1100" dirty="0"/>
          </a:p>
        </p:txBody>
      </p:sp>
      <p:sp>
        <p:nvSpPr>
          <p:cNvPr id="17" name="Text 15"/>
          <p:cNvSpPr/>
          <p:nvPr/>
        </p:nvSpPr>
        <p:spPr>
          <a:xfrm>
            <a:off x="3310128" y="1719072"/>
            <a:ext cx="2599639"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DOMINIO</a:t>
            </a:r>
            <a:endParaRPr lang="en-US" sz="1100" dirty="0"/>
          </a:p>
        </p:txBody>
      </p:sp>
      <p:sp>
        <p:nvSpPr>
          <p:cNvPr id="18" name="Text 16"/>
          <p:cNvSpPr/>
          <p:nvPr/>
        </p:nvSpPr>
        <p:spPr>
          <a:xfrm>
            <a:off x="6092647" y="1719072"/>
            <a:ext cx="260604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PUERTOS</a:t>
            </a:r>
            <a:endParaRPr lang="en-US" sz="1100" dirty="0"/>
          </a:p>
        </p:txBody>
      </p:sp>
      <p:sp>
        <p:nvSpPr>
          <p:cNvPr id="19" name="Text 17"/>
          <p:cNvSpPr/>
          <p:nvPr/>
        </p:nvSpPr>
        <p:spPr>
          <a:xfrm>
            <a:off x="9110167" y="1719072"/>
            <a:ext cx="2468880" cy="274320"/>
          </a:xfrm>
          <a:prstGeom prst="rect">
            <a:avLst/>
          </a:prstGeom>
          <a:noFill/>
          <a:ln/>
        </p:spPr>
        <p:txBody>
          <a:bodyPr wrap="square" lIns="0" tIns="0" rIns="0" bIns="0" rtlCol="0" anchor="t">
            <a:normAutofit/>
          </a:bodyPr>
          <a:lstStyle/>
          <a:p>
            <a:pPr algn="ctr" indent="0" marL="0">
              <a:buNone/>
            </a:pPr>
            <a:r>
              <a:rPr lang="en-US" sz="1100" b="1" dirty="0">
                <a:solidFill>
                  <a:srgbClr val="0B6E8A"/>
                </a:solidFill>
                <a:latin typeface="Segoe UI" pitchFamily="34" charset="0"/>
                <a:ea typeface="Segoe UI" pitchFamily="34" charset="-122"/>
                <a:cs typeface="Segoe UI" pitchFamily="34" charset="-120"/>
              </a:rPr>
              <a:t>SALIDA</a:t>
            </a:r>
            <a:endParaRPr lang="en-US" sz="1100" dirty="0"/>
          </a:p>
        </p:txBody>
      </p:sp>
      <p:sp>
        <p:nvSpPr>
          <p:cNvPr id="20" name="Shape 18"/>
          <p:cNvSpPr/>
          <p:nvPr/>
        </p:nvSpPr>
        <p:spPr>
          <a:xfrm>
            <a:off x="3200400" y="2568623"/>
            <a:ext cx="2819095" cy="2507138"/>
          </a:xfrm>
          <a:prstGeom prst="hexagon">
            <a:avLst/>
          </a:prstGeom>
          <a:solidFill>
            <a:srgbClr val="E3F4FA"/>
          </a:solidFill>
          <a:ln w="19050">
            <a:solidFill>
              <a:srgbClr val="2BA6CB"/>
            </a:solidFill>
            <a:prstDash val="dash"/>
          </a:ln>
        </p:spPr>
      </p:sp>
      <p:sp>
        <p:nvSpPr>
          <p:cNvPr id="21" name="Shape 19"/>
          <p:cNvSpPr/>
          <p:nvPr/>
        </p:nvSpPr>
        <p:spPr>
          <a:xfrm>
            <a:off x="3310128" y="2678351"/>
            <a:ext cx="2599639" cy="2287682"/>
          </a:xfrm>
          <a:prstGeom prst="hexagon">
            <a:avLst/>
          </a:prstGeom>
          <a:solidFill>
            <a:srgbClr val="0B2350"/>
          </a:solidFill>
          <a:ln w="12700">
            <a:solidFill>
              <a:srgbClr val="0B2350"/>
            </a:solidFill>
            <a:prstDash val="solid"/>
          </a:ln>
          <a:effectLst>
            <a:outerShdw sx="100000" sy="100000" kx="0" ky="0" algn="bl" rotWithShape="0" blurRad="76200" dist="19050" dir="5400000">
              <a:srgbClr val="0B1F3A">
                <a:alpha val="14000"/>
              </a:srgbClr>
            </a:outerShdw>
          </a:effectLst>
        </p:spPr>
      </p:sp>
      <p:sp>
        <p:nvSpPr>
          <p:cNvPr id="22" name="Icono puzzle"/>
          <p:cNvSpPr/>
          <p:nvPr/>
        </p:nvSpPr>
        <p:spPr>
          <a:xfrm>
            <a:off x="4266795" y="3090134"/>
            <a:ext cx="686305" cy="686305"/>
          </a:xfrm>
          <a:custGeom>
            <a:avLst/>
            <a:gdLst/>
            <a:ahLst/>
            <a:cxnLst/>
            <a:rect l="l" t="t" r="r" b="b"/>
            <a:pathLst>
              <a:path w="686305" h="686305">
                <a:moveTo>
                  <a:pt x="440093" y="125537"/>
                </a:moveTo>
                <a:cubicBezTo>
                  <a:pt x="447412" y="132863"/>
                  <a:pt x="458121" y="135660"/>
                  <a:pt x="468089" y="132848"/>
                </a:cubicBezTo>
                <a:cubicBezTo>
                  <a:pt x="478056" y="130036"/>
                  <a:pt x="485724" y="122054"/>
                  <a:pt x="488134" y="111982"/>
                </a:cubicBezTo>
                <a:cubicBezTo>
                  <a:pt x="496349" y="77789"/>
                  <a:pt x="528210" y="54648"/>
                  <a:pt x="563267" y="57412"/>
                </a:cubicBezTo>
                <a:cubicBezTo>
                  <a:pt x="598324" y="60177"/>
                  <a:pt x="626164" y="88027"/>
                  <a:pt x="628917" y="123084"/>
                </a:cubicBezTo>
                <a:cubicBezTo>
                  <a:pt x="631670" y="158142"/>
                  <a:pt x="608518" y="189996"/>
                  <a:pt x="574323" y="198199"/>
                </a:cubicBezTo>
                <a:cubicBezTo>
                  <a:pt x="564251" y="200610"/>
                  <a:pt x="556269" y="208277"/>
                  <a:pt x="553457" y="218245"/>
                </a:cubicBezTo>
                <a:cubicBezTo>
                  <a:pt x="550645" y="228212"/>
                  <a:pt x="553441" y="238921"/>
                  <a:pt x="560768" y="246240"/>
                </a:cubicBezTo>
                <a:lnTo>
                  <a:pt x="608895" y="294339"/>
                </a:lnTo>
                <a:cubicBezTo>
                  <a:pt x="621842" y="307285"/>
                  <a:pt x="629115" y="324844"/>
                  <a:pt x="629115" y="343152"/>
                </a:cubicBezTo>
                <a:cubicBezTo>
                  <a:pt x="629115" y="361461"/>
                  <a:pt x="621842" y="379020"/>
                  <a:pt x="608895" y="391966"/>
                </a:cubicBezTo>
                <a:lnTo>
                  <a:pt x="560768" y="440093"/>
                </a:lnTo>
                <a:cubicBezTo>
                  <a:pt x="553449" y="447420"/>
                  <a:pt x="542740" y="450216"/>
                  <a:pt x="532773" y="447404"/>
                </a:cubicBezTo>
                <a:cubicBezTo>
                  <a:pt x="522805" y="444592"/>
                  <a:pt x="515137" y="436610"/>
                  <a:pt x="512727" y="426538"/>
                </a:cubicBezTo>
                <a:cubicBezTo>
                  <a:pt x="504513" y="392345"/>
                  <a:pt x="472651" y="369204"/>
                  <a:pt x="437594" y="371969"/>
                </a:cubicBezTo>
                <a:cubicBezTo>
                  <a:pt x="402537" y="374733"/>
                  <a:pt x="374697" y="402583"/>
                  <a:pt x="371944" y="437641"/>
                </a:cubicBezTo>
                <a:cubicBezTo>
                  <a:pt x="369191" y="472699"/>
                  <a:pt x="392343" y="504553"/>
                  <a:pt x="426538" y="512755"/>
                </a:cubicBezTo>
                <a:cubicBezTo>
                  <a:pt x="436610" y="515166"/>
                  <a:pt x="444592" y="522834"/>
                  <a:pt x="447404" y="532801"/>
                </a:cubicBezTo>
                <a:cubicBezTo>
                  <a:pt x="450216" y="542768"/>
                  <a:pt x="447420" y="553477"/>
                  <a:pt x="440093" y="560797"/>
                </a:cubicBezTo>
                <a:lnTo>
                  <a:pt x="391966" y="608895"/>
                </a:lnTo>
                <a:cubicBezTo>
                  <a:pt x="379020" y="621842"/>
                  <a:pt x="361461" y="629115"/>
                  <a:pt x="343152" y="629115"/>
                </a:cubicBezTo>
                <a:cubicBezTo>
                  <a:pt x="324844" y="629115"/>
                  <a:pt x="307285" y="621842"/>
                  <a:pt x="294339" y="608895"/>
                </a:cubicBezTo>
                <a:lnTo>
                  <a:pt x="246212" y="560768"/>
                </a:lnTo>
                <a:cubicBezTo>
                  <a:pt x="238892" y="553441"/>
                  <a:pt x="228184" y="550645"/>
                  <a:pt x="218216" y="553457"/>
                </a:cubicBezTo>
                <a:cubicBezTo>
                  <a:pt x="208249" y="556269"/>
                  <a:pt x="200581" y="564251"/>
                  <a:pt x="198170" y="574323"/>
                </a:cubicBezTo>
                <a:cubicBezTo>
                  <a:pt x="189956" y="608516"/>
                  <a:pt x="158095" y="631657"/>
                  <a:pt x="123038" y="628892"/>
                </a:cubicBezTo>
                <a:cubicBezTo>
                  <a:pt x="87981" y="626128"/>
                  <a:pt x="60140" y="598278"/>
                  <a:pt x="57387" y="563220"/>
                </a:cubicBezTo>
                <a:cubicBezTo>
                  <a:pt x="54634" y="528162"/>
                  <a:pt x="77786" y="496309"/>
                  <a:pt x="111982" y="488106"/>
                </a:cubicBezTo>
                <a:cubicBezTo>
                  <a:pt x="122054" y="485695"/>
                  <a:pt x="130036" y="478027"/>
                  <a:pt x="132848" y="468060"/>
                </a:cubicBezTo>
                <a:cubicBezTo>
                  <a:pt x="135660" y="458093"/>
                  <a:pt x="132863" y="447384"/>
                  <a:pt x="125537" y="440064"/>
                </a:cubicBezTo>
                <a:lnTo>
                  <a:pt x="77409" y="391966"/>
                </a:lnTo>
                <a:cubicBezTo>
                  <a:pt x="64463" y="379020"/>
                  <a:pt x="57190" y="361461"/>
                  <a:pt x="57190" y="343152"/>
                </a:cubicBezTo>
                <a:cubicBezTo>
                  <a:pt x="57190" y="324844"/>
                  <a:pt x="64463" y="307285"/>
                  <a:pt x="77409" y="294339"/>
                </a:cubicBezTo>
                <a:lnTo>
                  <a:pt x="125537" y="246212"/>
                </a:lnTo>
                <a:cubicBezTo>
                  <a:pt x="132856" y="238885"/>
                  <a:pt x="143565" y="236088"/>
                  <a:pt x="153532" y="238900"/>
                </a:cubicBezTo>
                <a:cubicBezTo>
                  <a:pt x="163500" y="241713"/>
                  <a:pt x="171167" y="249694"/>
                  <a:pt x="173578" y="259766"/>
                </a:cubicBezTo>
                <a:cubicBezTo>
                  <a:pt x="181792" y="293959"/>
                  <a:pt x="213654" y="317101"/>
                  <a:pt x="248711" y="314336"/>
                </a:cubicBezTo>
                <a:cubicBezTo>
                  <a:pt x="283768" y="311571"/>
                  <a:pt x="311608" y="283722"/>
                  <a:pt x="314361" y="248664"/>
                </a:cubicBezTo>
                <a:cubicBezTo>
                  <a:pt x="317114" y="213606"/>
                  <a:pt x="293962" y="181752"/>
                  <a:pt x="259766" y="173549"/>
                </a:cubicBezTo>
                <a:cubicBezTo>
                  <a:pt x="249694" y="171139"/>
                  <a:pt x="241713" y="163471"/>
                  <a:pt x="238900" y="153504"/>
                </a:cubicBezTo>
                <a:cubicBezTo>
                  <a:pt x="236088" y="143536"/>
                  <a:pt x="238885" y="132827"/>
                  <a:pt x="246212" y="125508"/>
                </a:cubicBezTo>
                <a:lnTo>
                  <a:pt x="294339" y="77409"/>
                </a:lnTo>
                <a:cubicBezTo>
                  <a:pt x="307285" y="64463"/>
                  <a:pt x="324844" y="57190"/>
                  <a:pt x="343152" y="57190"/>
                </a:cubicBezTo>
                <a:cubicBezTo>
                  <a:pt x="361461" y="57190"/>
                  <a:pt x="379020" y="64463"/>
                  <a:pt x="391966" y="77409"/>
                </a:cubicBezTo>
                <a:close/>
              </a:path>
            </a:pathLst>
          </a:custGeom>
          <a:noFill/>
          <a:ln w="50043" cap="rnd">
            <a:solidFill>
              <a:srgbClr val="2BA6CB"/>
            </a:solidFill>
            <a:prstDash val="solid"/>
            <a:round/>
          </a:ln>
        </p:spPr>
      </p:sp>
      <p:sp>
        <p:nvSpPr>
          <p:cNvPr id="23" name="Text 21"/>
          <p:cNvSpPr/>
          <p:nvPr/>
        </p:nvSpPr>
        <p:spPr>
          <a:xfrm>
            <a:off x="3584448" y="3849590"/>
            <a:ext cx="2050999" cy="457200"/>
          </a:xfrm>
          <a:prstGeom prst="rect">
            <a:avLst/>
          </a:prstGeom>
          <a:noFill/>
          <a:ln/>
        </p:spPr>
        <p:txBody>
          <a:bodyPr wrap="square" lIns="0" tIns="0" rIns="0" bIns="0" rtlCol="0" anchor="t">
            <a:normAutofit/>
          </a:bodyP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Reglas del negocio</a:t>
            </a:r>
            <a:endParaRPr lang="en-US" sz="1550" dirty="0"/>
          </a:p>
        </p:txBody>
      </p:sp>
      <p:sp>
        <p:nvSpPr>
          <p:cNvPr id="24" name="Text 22"/>
          <p:cNvSpPr/>
          <p:nvPr/>
        </p:nvSpPr>
        <p:spPr>
          <a:xfrm>
            <a:off x="3830056" y="4325078"/>
            <a:ext cx="1559784" cy="503795"/>
          </a:xfrm>
          <a:prstGeom prst="rect">
            <a:avLst/>
          </a:prstGeom>
          <a:noFill/>
          <a:ln/>
        </p:spPr>
        <p:txBody>
          <a:bodyPr wrap="square" lIns="0" tIns="0" rIns="0" bIns="0" rtlCol="0" anchor="t">
            <a:normAutofit/>
          </a:bodyPr>
          <a:lstStyle/>
          <a:p>
            <a:pPr algn="ctr" indent="0" marL="0">
              <a:buNone/>
            </a:pPr>
            <a:r>
              <a:rPr lang="en-US" sz="1200" dirty="0">
                <a:solidFill>
                  <a:srgbClr val="9FBEE0"/>
                </a:solidFill>
                <a:latin typeface="Segoe UI" pitchFamily="34" charset="0"/>
                <a:ea typeface="Segoe UI" pitchFamily="34" charset="-122"/>
                <a:cs typeface="Segoe UI" pitchFamily="34" charset="-120"/>
              </a:rPr>
              <a:t>La solicitud y sus estados</a:t>
            </a:r>
            <a:endParaRPr lang="en-US" sz="1200" dirty="0"/>
          </a:p>
        </p:txBody>
      </p:sp>
      <p:sp>
        <p:nvSpPr>
          <p:cNvPr id="25" name="[p1] Forma"/>
          <p:cNvSpPr/>
          <p:nvPr/>
        </p:nvSpPr>
        <p:spPr>
          <a:xfrm>
            <a:off x="612648" y="2834640"/>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26" name="[p1] Forma"/>
          <p:cNvSpPr/>
          <p:nvPr/>
        </p:nvSpPr>
        <p:spPr>
          <a:xfrm>
            <a:off x="740664" y="3054096"/>
            <a:ext cx="475488" cy="475488"/>
          </a:xfrm>
          <a:prstGeom prst="ellipse">
            <a:avLst/>
          </a:prstGeom>
          <a:solidFill>
            <a:srgbClr val="F1EEFD"/>
          </a:solidFill>
          <a:ln w="12700">
            <a:solidFill>
              <a:srgbClr val="F1EEFD"/>
            </a:solidFill>
            <a:prstDash val="solid"/>
          </a:ln>
        </p:spPr>
      </p:sp>
      <p:sp>
        <p:nvSpPr>
          <p:cNvPr id="27" name="[p1] Icono globe"/>
          <p:cNvSpPr/>
          <p:nvPr/>
        </p:nvSpPr>
        <p:spPr>
          <a:xfrm>
            <a:off x="854781" y="3168213"/>
            <a:ext cx="247254" cy="247254"/>
          </a:xfrm>
          <a:custGeom>
            <a:avLst/>
            <a:gdLst/>
            <a:ahLst/>
            <a:cxnLst/>
            <a:rect l="l" t="t" r="r" b="b"/>
            <a:pathLst>
              <a:path w="247254" h="247254">
                <a:moveTo>
                  <a:pt x="226649" y="123627"/>
                </a:moveTo>
                <a:cubicBezTo>
                  <a:pt x="226649" y="180525"/>
                  <a:pt x="180525" y="226649"/>
                  <a:pt x="123627" y="226649"/>
                </a:cubicBezTo>
                <a:cubicBezTo>
                  <a:pt x="66729" y="226649"/>
                  <a:pt x="20604" y="180525"/>
                  <a:pt x="20604" y="123627"/>
                </a:cubicBezTo>
                <a:cubicBezTo>
                  <a:pt x="20604" y="66729"/>
                  <a:pt x="66729" y="20604"/>
                  <a:pt x="123627" y="20604"/>
                </a:cubicBezTo>
                <a:cubicBezTo>
                  <a:pt x="180525" y="20604"/>
                  <a:pt x="226649" y="66729"/>
                  <a:pt x="226649" y="123627"/>
                </a:cubicBezTo>
                <a:close/>
                <a:moveTo>
                  <a:pt x="123627" y="20604"/>
                </a:moveTo>
                <a:cubicBezTo>
                  <a:pt x="68682" y="78297"/>
                  <a:pt x="68682" y="168957"/>
                  <a:pt x="123627" y="226649"/>
                </a:cubicBezTo>
                <a:cubicBezTo>
                  <a:pt x="178572" y="168957"/>
                  <a:pt x="178572" y="78297"/>
                  <a:pt x="123627" y="20604"/>
                </a:cubicBezTo>
                <a:moveTo>
                  <a:pt x="20604" y="123627"/>
                </a:moveTo>
                <a:lnTo>
                  <a:pt x="226649" y="123627"/>
                </a:lnTo>
              </a:path>
            </a:pathLst>
          </a:custGeom>
          <a:noFill/>
          <a:ln w="20604" cap="rnd">
            <a:solidFill>
              <a:srgbClr val="5B3FC4"/>
            </a:solidFill>
            <a:prstDash val="solid"/>
            <a:round/>
          </a:ln>
        </p:spPr>
      </p:sp>
      <p:sp>
        <p:nvSpPr>
          <p:cNvPr id="28" name="[p1] Forma"/>
          <p:cNvSpPr/>
          <p:nvPr/>
        </p:nvSpPr>
        <p:spPr>
          <a:xfrm>
            <a:off x="1325880" y="2907792"/>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API REST</a:t>
            </a:r>
            <a:endParaRPr lang="en-US" sz="1350" dirty="0"/>
          </a:p>
        </p:txBody>
      </p:sp>
      <p:sp>
        <p:nvSpPr>
          <p:cNvPr id="29" name="[p1] Forma"/>
          <p:cNvSpPr/>
          <p:nvPr/>
        </p:nvSpPr>
        <p:spPr>
          <a:xfrm>
            <a:off x="1325880" y="3310128"/>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web entra aquí</a:t>
            </a:r>
            <a:endParaRPr lang="en-US" sz="1100" dirty="0"/>
          </a:p>
        </p:txBody>
      </p:sp>
      <p:sp>
        <p:nvSpPr>
          <p:cNvPr id="30" name="[p1] Forma"/>
          <p:cNvSpPr/>
          <p:nvPr/>
        </p:nvSpPr>
        <p:spPr>
          <a:xfrm>
            <a:off x="612648" y="3895344"/>
            <a:ext cx="2286000" cy="914400"/>
          </a:xfrm>
          <a:prstGeom prst="roundRect">
            <a:avLst>
              <a:gd name="adj" fmla="val 14000"/>
            </a:avLst>
          </a:prstGeom>
          <a:solidFill>
            <a:srgbClr val="FFFFFF"/>
          </a:solidFill>
          <a:ln w="12700">
            <a:solidFill>
              <a:srgbClr val="B5A9E4"/>
            </a:solidFill>
            <a:prstDash val="solid"/>
          </a:ln>
          <a:effectLst>
            <a:outerShdw sx="100000" sy="100000" kx="0" ky="0" algn="bl" rotWithShape="0" blurRad="76200" dist="19050" dir="5400000">
              <a:srgbClr val="0B1F3A">
                <a:alpha val="14000"/>
              </a:srgbClr>
            </a:outerShdw>
          </a:effectLst>
        </p:spPr>
      </p:sp>
      <p:sp>
        <p:nvSpPr>
          <p:cNvPr id="31" name="[p1] Forma"/>
          <p:cNvSpPr/>
          <p:nvPr/>
        </p:nvSpPr>
        <p:spPr>
          <a:xfrm>
            <a:off x="740664" y="4114800"/>
            <a:ext cx="475488" cy="475488"/>
          </a:xfrm>
          <a:prstGeom prst="ellipse">
            <a:avLst/>
          </a:prstGeom>
          <a:solidFill>
            <a:srgbClr val="F1EEFD"/>
          </a:solidFill>
          <a:ln w="12700">
            <a:solidFill>
              <a:srgbClr val="F1EEFD"/>
            </a:solidFill>
            <a:prstDash val="solid"/>
          </a:ln>
        </p:spPr>
      </p:sp>
      <p:sp>
        <p:nvSpPr>
          <p:cNvPr id="32" name="[p1] Icono shield-alert"/>
          <p:cNvSpPr/>
          <p:nvPr/>
        </p:nvSpPr>
        <p:spPr>
          <a:xfrm>
            <a:off x="854781" y="4228917"/>
            <a:ext cx="247254" cy="247254"/>
          </a:xfrm>
          <a:custGeom>
            <a:avLst/>
            <a:gdLst/>
            <a:ahLst/>
            <a:cxnLst/>
            <a:rect l="l" t="t" r="r" b="b"/>
            <a:pathLst>
              <a:path w="247254" h="247254">
                <a:moveTo>
                  <a:pt x="206045" y="133929"/>
                </a:moveTo>
                <a:cubicBezTo>
                  <a:pt x="206045" y="185440"/>
                  <a:pt x="169987" y="211196"/>
                  <a:pt x="127130" y="226134"/>
                </a:cubicBezTo>
                <a:cubicBezTo>
                  <a:pt x="124885" y="226895"/>
                  <a:pt x="122448" y="226858"/>
                  <a:pt x="120227" y="226031"/>
                </a:cubicBezTo>
                <a:cubicBezTo>
                  <a:pt x="77267" y="211196"/>
                  <a:pt x="41209" y="185440"/>
                  <a:pt x="41209" y="133929"/>
                </a:cubicBezTo>
                <a:lnTo>
                  <a:pt x="41209" y="61813"/>
                </a:lnTo>
                <a:cubicBezTo>
                  <a:pt x="41209" y="56124"/>
                  <a:pt x="45821" y="51511"/>
                  <a:pt x="51511" y="51511"/>
                </a:cubicBezTo>
                <a:cubicBezTo>
                  <a:pt x="72116" y="51511"/>
                  <a:pt x="97871" y="39149"/>
                  <a:pt x="115797" y="23489"/>
                </a:cubicBezTo>
                <a:cubicBezTo>
                  <a:pt x="120306" y="19637"/>
                  <a:pt x="126948" y="19637"/>
                  <a:pt x="131457" y="23489"/>
                </a:cubicBezTo>
                <a:cubicBezTo>
                  <a:pt x="149486" y="39252"/>
                  <a:pt x="175138" y="51511"/>
                  <a:pt x="195743" y="51511"/>
                </a:cubicBezTo>
                <a:cubicBezTo>
                  <a:pt x="201432" y="51511"/>
                  <a:pt x="206045" y="56124"/>
                  <a:pt x="206045" y="61813"/>
                </a:cubicBezTo>
                <a:close/>
                <a:moveTo>
                  <a:pt x="123627" y="82418"/>
                </a:moveTo>
                <a:lnTo>
                  <a:pt x="123627" y="123627"/>
                </a:lnTo>
                <a:moveTo>
                  <a:pt x="123627" y="164836"/>
                </a:moveTo>
                <a:lnTo>
                  <a:pt x="123730" y="164836"/>
                </a:lnTo>
              </a:path>
            </a:pathLst>
          </a:custGeom>
          <a:noFill/>
          <a:ln w="20604" cap="rnd">
            <a:solidFill>
              <a:srgbClr val="5B3FC4"/>
            </a:solidFill>
            <a:prstDash val="solid"/>
            <a:round/>
          </a:ln>
        </p:spPr>
      </p:sp>
      <p:sp>
        <p:nvSpPr>
          <p:cNvPr id="33" name="[p1] Forma"/>
          <p:cNvSpPr/>
          <p:nvPr/>
        </p:nvSpPr>
        <p:spPr>
          <a:xfrm>
            <a:off x="1325880" y="3968496"/>
            <a:ext cx="1499616" cy="420624"/>
          </a:xfrm>
          <a:prstGeom prst="rect">
            <a:avLst/>
          </a:prstGeom>
          <a:noFill/>
          <a:ln/>
        </p:spPr>
        <p:txBody>
          <a:bodyPr wrap="square" lIns="0" tIns="0" rIns="0" bIns="0" rtlCol="0" anchor="b">
            <a:normAutofit/>
          </a:bodyPr>
          <a:lstStyle/>
          <a:p>
            <a:pPr algn="l" indent="0" marL="0">
              <a:buNone/>
            </a:pPr>
            <a:r>
              <a:rPr lang="en-US" sz="1350" b="1" dirty="0">
                <a:solidFill>
                  <a:srgbClr val="5B3FC4"/>
                </a:solidFill>
                <a:latin typeface="Segoe UI Semibold" pitchFamily="34" charset="0"/>
                <a:ea typeface="Segoe UI Semibold" pitchFamily="34" charset="-122"/>
                <a:cs typeface="Segoe UI Semibold" pitchFamily="34" charset="-120"/>
              </a:rPr>
              <a:t>Errores claros</a:t>
            </a:r>
            <a:endParaRPr lang="en-US" sz="1350" dirty="0"/>
          </a:p>
        </p:txBody>
      </p:sp>
      <p:sp>
        <p:nvSpPr>
          <p:cNvPr id="34" name="[p1] Forma"/>
          <p:cNvSpPr/>
          <p:nvPr/>
        </p:nvSpPr>
        <p:spPr>
          <a:xfrm>
            <a:off x="1325880" y="4370832"/>
            <a:ext cx="1499616" cy="365760"/>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400 · 404 · 409</a:t>
            </a:r>
            <a:endParaRPr lang="en-US" sz="1100" dirty="0"/>
          </a:p>
        </p:txBody>
      </p:sp>
      <p:sp>
        <p:nvSpPr>
          <p:cNvPr id="35" name="[p1] Forma"/>
          <p:cNvSpPr/>
          <p:nvPr/>
        </p:nvSpPr>
        <p:spPr>
          <a:xfrm>
            <a:off x="2953512" y="3291840"/>
            <a:ext cx="210312" cy="72816"/>
          </a:xfrm>
          <a:prstGeom prst="line">
            <a:avLst/>
          </a:prstGeom>
          <a:noFill/>
          <a:ln w="28575">
            <a:solidFill>
              <a:srgbClr val="2E6DB4"/>
            </a:solidFill>
            <a:prstDash val="solid"/>
            <a:tailEnd type="triangle"/>
          </a:ln>
        </p:spPr>
      </p:sp>
      <p:sp>
        <p:nvSpPr>
          <p:cNvPr id="36" name="[p1] Forma"/>
          <p:cNvSpPr/>
          <p:nvPr/>
        </p:nvSpPr>
        <p:spPr>
          <a:xfrm flipV="1">
            <a:off x="2953512" y="4279728"/>
            <a:ext cx="210312" cy="72816"/>
          </a:xfrm>
          <a:prstGeom prst="line">
            <a:avLst/>
          </a:prstGeom>
          <a:noFill/>
          <a:ln w="28575">
            <a:solidFill>
              <a:srgbClr val="2E6DB4"/>
            </a:solidFill>
            <a:prstDash val="solid"/>
            <a:tailEnd type="triangle"/>
          </a:ln>
        </p:spPr>
      </p:sp>
      <p:sp>
        <p:nvSpPr>
          <p:cNvPr id="37" name="Shape 35"/>
          <p:cNvSpPr/>
          <p:nvPr/>
        </p:nvSpPr>
        <p:spPr>
          <a:xfrm>
            <a:off x="6092647" y="2825496"/>
            <a:ext cx="2606040" cy="566928"/>
          </a:xfrm>
          <a:prstGeom prst="roundRect">
            <a:avLst>
              <a:gd name="adj" fmla="val 12903"/>
            </a:avLst>
          </a:prstGeom>
          <a:solidFill>
            <a:srgbClr val="FFFFFF"/>
          </a:solidFill>
          <a:ln w="19050">
            <a:solidFill>
              <a:srgbClr val="2BA6CB"/>
            </a:solidFill>
            <a:prstDash val="dash"/>
          </a:ln>
        </p:spPr>
      </p:sp>
      <p:sp>
        <p:nvSpPr>
          <p:cNvPr id="38" name="Text 36"/>
          <p:cNvSpPr/>
          <p:nvPr/>
        </p:nvSpPr>
        <p:spPr>
          <a:xfrm>
            <a:off x="6165799" y="2825496"/>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Guardar solicitudes</a:t>
            </a:r>
            <a:endParaRPr lang="en-US" sz="850" dirty="0"/>
          </a:p>
        </p:txBody>
      </p:sp>
      <p:sp>
        <p:nvSpPr>
          <p:cNvPr id="39" name="Shape 37"/>
          <p:cNvSpPr/>
          <p:nvPr/>
        </p:nvSpPr>
        <p:spPr>
          <a:xfrm>
            <a:off x="5772607" y="3108960"/>
            <a:ext cx="301752" cy="0"/>
          </a:xfrm>
          <a:prstGeom prst="line">
            <a:avLst/>
          </a:prstGeom>
          <a:noFill/>
          <a:ln w="19050">
            <a:solidFill>
              <a:srgbClr val="2BA6CB"/>
            </a:solidFill>
            <a:prstDash val="solid"/>
            <a:tailEnd type="triangle"/>
          </a:ln>
        </p:spPr>
      </p:sp>
      <p:sp>
        <p:nvSpPr>
          <p:cNvPr id="40" name="Shape 38"/>
          <p:cNvSpPr/>
          <p:nvPr/>
        </p:nvSpPr>
        <p:spPr>
          <a:xfrm>
            <a:off x="6092647" y="3538728"/>
            <a:ext cx="2606040" cy="566928"/>
          </a:xfrm>
          <a:prstGeom prst="roundRect">
            <a:avLst>
              <a:gd name="adj" fmla="val 12903"/>
            </a:avLst>
          </a:prstGeom>
          <a:solidFill>
            <a:srgbClr val="FFFFFF"/>
          </a:solidFill>
          <a:ln w="19050">
            <a:solidFill>
              <a:srgbClr val="2BA6CB"/>
            </a:solidFill>
            <a:prstDash val="dash"/>
          </a:ln>
        </p:spPr>
      </p:sp>
      <p:sp>
        <p:nvSpPr>
          <p:cNvPr id="41" name="Text 39"/>
          <p:cNvSpPr/>
          <p:nvPr/>
        </p:nvSpPr>
        <p:spPr>
          <a:xfrm>
            <a:off x="6165799" y="3538728"/>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Anotar el evento</a:t>
            </a:r>
            <a:endParaRPr lang="en-US" sz="850" dirty="0"/>
          </a:p>
        </p:txBody>
      </p:sp>
      <p:sp>
        <p:nvSpPr>
          <p:cNvPr id="42" name="Shape 40"/>
          <p:cNvSpPr/>
          <p:nvPr/>
        </p:nvSpPr>
        <p:spPr>
          <a:xfrm>
            <a:off x="5772607" y="3822192"/>
            <a:ext cx="301752" cy="0"/>
          </a:xfrm>
          <a:prstGeom prst="line">
            <a:avLst/>
          </a:prstGeom>
          <a:noFill/>
          <a:ln w="19050">
            <a:solidFill>
              <a:srgbClr val="2BA6CB"/>
            </a:solidFill>
            <a:prstDash val="solid"/>
            <a:tailEnd type="triangle"/>
          </a:ln>
        </p:spPr>
      </p:sp>
      <p:sp>
        <p:nvSpPr>
          <p:cNvPr id="43" name="Shape 41"/>
          <p:cNvSpPr/>
          <p:nvPr/>
        </p:nvSpPr>
        <p:spPr>
          <a:xfrm>
            <a:off x="6092647" y="4251960"/>
            <a:ext cx="2606040" cy="566928"/>
          </a:xfrm>
          <a:prstGeom prst="roundRect">
            <a:avLst>
              <a:gd name="adj" fmla="val 12903"/>
            </a:avLst>
          </a:prstGeom>
          <a:solidFill>
            <a:srgbClr val="FFFFFF"/>
          </a:solidFill>
          <a:ln w="19050">
            <a:solidFill>
              <a:srgbClr val="2BA6CB"/>
            </a:solidFill>
            <a:prstDash val="dash"/>
          </a:ln>
        </p:spPr>
      </p:sp>
      <p:sp>
        <p:nvSpPr>
          <p:cNvPr id="44" name="Text 42"/>
          <p:cNvSpPr/>
          <p:nvPr/>
        </p:nvSpPr>
        <p:spPr>
          <a:xfrm>
            <a:off x="6165799" y="4251960"/>
            <a:ext cx="2459736" cy="566928"/>
          </a:xfrm>
          <a:prstGeom prst="rect">
            <a:avLst/>
          </a:prstGeom>
          <a:noFill/>
          <a:ln/>
        </p:spPr>
        <p:txBody>
          <a:bodyPr wrap="square" lIns="0" tIns="0" rIns="0" bIns="0" rtlCol="0" anchor="ctr">
            <a:normAutofit/>
          </a:bodyPr>
          <a:lstStyle/>
          <a:p>
            <a:pPr algn="ctr" indent="0" marL="0">
              <a:buNone/>
            </a:pPr>
            <a:r>
              <a:rPr lang="en-US" sz="850" i="1" dirty="0">
                <a:solidFill>
                  <a:srgbClr val="55627E"/>
                </a:solidFill>
                <a:latin typeface="Segoe UI" pitchFamily="34" charset="0"/>
                <a:ea typeface="Segoe UI" pitchFamily="34" charset="-122"/>
                <a:cs typeface="Segoe UI" pitchFamily="34" charset="-120"/>
              </a:rPr>
              <a:t>«puerto»</a:t>
            </a:r>
            <a:endParaRPr lang="en-US" sz="850" dirty="0"/>
          </a:p>
          <a:p>
            <a:pPr algn="ctr" indent="0" marL="0">
              <a:buNone/>
            </a:pPr>
            <a:r>
              <a:rPr lang="en-US" sz="1100" b="1" dirty="0">
                <a:solidFill>
                  <a:srgbClr val="0B6E8A"/>
                </a:solidFill>
                <a:latin typeface="Consolas" pitchFamily="34" charset="0"/>
                <a:ea typeface="Consolas" pitchFamily="34" charset="-122"/>
                <a:cs typeface="Consolas" pitchFamily="34" charset="-120"/>
              </a:rPr>
              <a:t>Avisar a otros</a:t>
            </a:r>
            <a:endParaRPr lang="en-US" sz="850" dirty="0"/>
          </a:p>
        </p:txBody>
      </p:sp>
      <p:sp>
        <p:nvSpPr>
          <p:cNvPr id="45" name="Shape 43"/>
          <p:cNvSpPr/>
          <p:nvPr/>
        </p:nvSpPr>
        <p:spPr>
          <a:xfrm>
            <a:off x="5772607" y="4535424"/>
            <a:ext cx="301752" cy="0"/>
          </a:xfrm>
          <a:prstGeom prst="line">
            <a:avLst/>
          </a:prstGeom>
          <a:noFill/>
          <a:ln w="19050">
            <a:solidFill>
              <a:srgbClr val="2BA6CB"/>
            </a:solidFill>
            <a:prstDash val="solid"/>
            <a:tailEnd type="triangle"/>
          </a:ln>
        </p:spPr>
      </p:sp>
      <p:sp>
        <p:nvSpPr>
          <p:cNvPr id="46" name="[p2] Forma"/>
          <p:cNvSpPr/>
          <p:nvPr/>
        </p:nvSpPr>
        <p:spPr>
          <a:xfrm>
            <a:off x="9110167" y="2130552"/>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7" name="[p2] Forma"/>
          <p:cNvSpPr/>
          <p:nvPr/>
        </p:nvSpPr>
        <p:spPr>
          <a:xfrm>
            <a:off x="9238183" y="2260854"/>
            <a:ext cx="475488" cy="475488"/>
          </a:xfrm>
          <a:prstGeom prst="ellipse">
            <a:avLst/>
          </a:prstGeom>
          <a:solidFill>
            <a:srgbClr val="E8EEF8"/>
          </a:solidFill>
          <a:ln w="12700">
            <a:solidFill>
              <a:srgbClr val="E8EEF8"/>
            </a:solidFill>
            <a:prstDash val="solid"/>
          </a:ln>
        </p:spPr>
      </p:sp>
      <p:sp>
        <p:nvSpPr>
          <p:cNvPr id="48" name="[p2] Icono database"/>
          <p:cNvSpPr/>
          <p:nvPr/>
        </p:nvSpPr>
        <p:spPr>
          <a:xfrm>
            <a:off x="9352300" y="2374971"/>
            <a:ext cx="247254" cy="247254"/>
          </a:xfrm>
          <a:custGeom>
            <a:avLst/>
            <a:gdLst/>
            <a:ahLst/>
            <a:cxnLst/>
            <a:rect l="l" t="t" r="r" b="b"/>
            <a:pathLst>
              <a:path w="247254" h="247254">
                <a:moveTo>
                  <a:pt x="216347" y="51511"/>
                </a:moveTo>
                <a:cubicBezTo>
                  <a:pt x="216347" y="68581"/>
                  <a:pt x="174835" y="82418"/>
                  <a:pt x="123627" y="82418"/>
                </a:cubicBezTo>
                <a:cubicBezTo>
                  <a:pt x="72419" y="82418"/>
                  <a:pt x="30907" y="68581"/>
                  <a:pt x="30907" y="51511"/>
                </a:cubicBezTo>
                <a:cubicBezTo>
                  <a:pt x="30907" y="34442"/>
                  <a:pt x="72419" y="20604"/>
                  <a:pt x="123627" y="20604"/>
                </a:cubicBezTo>
                <a:cubicBezTo>
                  <a:pt x="174835" y="20604"/>
                  <a:pt x="216347" y="34442"/>
                  <a:pt x="216347" y="51511"/>
                </a:cubicBezTo>
                <a:close/>
                <a:moveTo>
                  <a:pt x="30907" y="51511"/>
                </a:moveTo>
                <a:lnTo>
                  <a:pt x="30907" y="195743"/>
                </a:lnTo>
                <a:cubicBezTo>
                  <a:pt x="30907" y="212812"/>
                  <a:pt x="72419" y="226649"/>
                  <a:pt x="123627" y="226649"/>
                </a:cubicBezTo>
                <a:cubicBezTo>
                  <a:pt x="174835" y="226649"/>
                  <a:pt x="216347" y="212812"/>
                  <a:pt x="216347" y="195743"/>
                </a:cubicBezTo>
                <a:lnTo>
                  <a:pt x="216347" y="51511"/>
                </a:lnTo>
                <a:moveTo>
                  <a:pt x="30907" y="123627"/>
                </a:moveTo>
                <a:cubicBezTo>
                  <a:pt x="30907" y="140696"/>
                  <a:pt x="72419" y="154534"/>
                  <a:pt x="123627" y="154534"/>
                </a:cubicBezTo>
                <a:cubicBezTo>
                  <a:pt x="174835" y="154534"/>
                  <a:pt x="216347" y="140696"/>
                  <a:pt x="216347" y="123627"/>
                </a:cubicBezTo>
              </a:path>
            </a:pathLst>
          </a:custGeom>
          <a:noFill/>
          <a:ln w="20604" cap="rnd">
            <a:solidFill>
              <a:srgbClr val="0B2350"/>
            </a:solidFill>
            <a:prstDash val="solid"/>
            <a:round/>
          </a:ln>
        </p:spPr>
      </p:sp>
      <p:sp>
        <p:nvSpPr>
          <p:cNvPr id="49" name="[p2] Forma"/>
          <p:cNvSpPr/>
          <p:nvPr/>
        </p:nvSpPr>
        <p:spPr>
          <a:xfrm>
            <a:off x="9823399" y="2203704"/>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2350"/>
                </a:solidFill>
                <a:latin typeface="Segoe UI Semibold" pitchFamily="34" charset="0"/>
                <a:ea typeface="Segoe UI Semibold" pitchFamily="34" charset="-122"/>
                <a:cs typeface="Segoe UI Semibold" pitchFamily="34" charset="-120"/>
              </a:rPr>
              <a:t>PostgreSQL</a:t>
            </a:r>
            <a:endParaRPr lang="en-US" sz="1350" dirty="0"/>
          </a:p>
        </p:txBody>
      </p:sp>
      <p:sp>
        <p:nvSpPr>
          <p:cNvPr id="50" name="[p2] Forma"/>
          <p:cNvSpPr/>
          <p:nvPr/>
        </p:nvSpPr>
        <p:spPr>
          <a:xfrm>
            <a:off x="9823399" y="2516886"/>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Con el ORM</a:t>
            </a:r>
            <a:endParaRPr lang="en-US" sz="1100" dirty="0"/>
          </a:p>
        </p:txBody>
      </p:sp>
      <p:sp>
        <p:nvSpPr>
          <p:cNvPr id="51" name="[p2] Forma"/>
          <p:cNvSpPr/>
          <p:nvPr/>
        </p:nvSpPr>
        <p:spPr>
          <a:xfrm>
            <a:off x="9110167" y="3012948"/>
            <a:ext cx="2468880" cy="736092"/>
          </a:xfrm>
          <a:prstGeom prst="roundRect">
            <a:avLst>
              <a:gd name="adj" fmla="val 17391"/>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52" name="[p2] Forma"/>
          <p:cNvSpPr/>
          <p:nvPr/>
        </p:nvSpPr>
        <p:spPr>
          <a:xfrm>
            <a:off x="9238183" y="3143250"/>
            <a:ext cx="475488" cy="475488"/>
          </a:xfrm>
          <a:prstGeom prst="ellipse">
            <a:avLst/>
          </a:prstGeom>
          <a:solidFill>
            <a:srgbClr val="E8EEF8"/>
          </a:solidFill>
          <a:ln w="12700">
            <a:solidFill>
              <a:srgbClr val="E8EEF8"/>
            </a:solidFill>
            <a:prstDash val="solid"/>
          </a:ln>
        </p:spPr>
      </p:sp>
      <p:sp>
        <p:nvSpPr>
          <p:cNvPr id="53" name="[p2] Icono inbox"/>
          <p:cNvSpPr/>
          <p:nvPr/>
        </p:nvSpPr>
        <p:spPr>
          <a:xfrm>
            <a:off x="9352300" y="3257367"/>
            <a:ext cx="247254" cy="247254"/>
          </a:xfrm>
          <a:custGeom>
            <a:avLst/>
            <a:gdLst/>
            <a:ahLst/>
            <a:cxnLst/>
            <a:rect l="l" t="t" r="r" b="b"/>
            <a:pathLst>
              <a:path w="247254" h="247254">
                <a:moveTo>
                  <a:pt x="226649" y="123627"/>
                </a:moveTo>
                <a:lnTo>
                  <a:pt x="164836" y="123627"/>
                </a:lnTo>
                <a:lnTo>
                  <a:pt x="144231" y="154534"/>
                </a:lnTo>
                <a:lnTo>
                  <a:pt x="103022" y="154534"/>
                </a:lnTo>
                <a:lnTo>
                  <a:pt x="82418" y="123627"/>
                </a:lnTo>
                <a:lnTo>
                  <a:pt x="20604" y="123627"/>
                </a:lnTo>
                <a:moveTo>
                  <a:pt x="56147" y="52644"/>
                </a:moveTo>
                <a:lnTo>
                  <a:pt x="20604" y="123627"/>
                </a:lnTo>
                <a:lnTo>
                  <a:pt x="20604" y="185440"/>
                </a:lnTo>
                <a:cubicBezTo>
                  <a:pt x="20604" y="196820"/>
                  <a:pt x="29829" y="206045"/>
                  <a:pt x="41209" y="206045"/>
                </a:cubicBezTo>
                <a:lnTo>
                  <a:pt x="206045" y="206045"/>
                </a:lnTo>
                <a:cubicBezTo>
                  <a:pt x="217424" y="206045"/>
                  <a:pt x="226649" y="196820"/>
                  <a:pt x="226649" y="185440"/>
                </a:cubicBezTo>
                <a:lnTo>
                  <a:pt x="226649" y="123627"/>
                </a:lnTo>
                <a:lnTo>
                  <a:pt x="191107" y="52644"/>
                </a:lnTo>
                <a:cubicBezTo>
                  <a:pt x="187627" y="45642"/>
                  <a:pt x="180484" y="41213"/>
                  <a:pt x="172666" y="41209"/>
                </a:cubicBezTo>
                <a:lnTo>
                  <a:pt x="74588" y="41209"/>
                </a:lnTo>
                <a:cubicBezTo>
                  <a:pt x="66769" y="41213"/>
                  <a:pt x="59627" y="45642"/>
                  <a:pt x="56147" y="52644"/>
                </a:cubicBezTo>
                <a:close/>
              </a:path>
            </a:pathLst>
          </a:custGeom>
          <a:noFill/>
          <a:ln w="20604" cap="rnd">
            <a:solidFill>
              <a:srgbClr val="0B2350"/>
            </a:solidFill>
            <a:prstDash val="solid"/>
            <a:round/>
          </a:ln>
        </p:spPr>
      </p:sp>
      <p:sp>
        <p:nvSpPr>
          <p:cNvPr id="54" name="[p2] Forma"/>
          <p:cNvSpPr/>
          <p:nvPr/>
        </p:nvSpPr>
        <p:spPr>
          <a:xfrm>
            <a:off x="9823399" y="3086100"/>
            <a:ext cx="1682496" cy="331470"/>
          </a:xfrm>
          <a:prstGeom prst="rect">
            <a:avLst/>
          </a:prstGeom>
          <a:noFill/>
          <a:ln/>
        </p:spPr>
        <p:txBody>
          <a:bodyPr wrap="square" lIns="0" tIns="0" rIns="0" bIns="0" rtlCol="0" anchor="b">
            <a:normAutofit/>
          </a:bodyPr>
          <a:lstStyle/>
          <a:p>
            <a:pPr algn="l" indent="0" marL="0">
              <a:buNone/>
            </a:pPr>
            <a:r>
              <a:rPr lang="en-US" sz="1300" b="1" dirty="0">
                <a:solidFill>
                  <a:srgbClr val="0B2350"/>
                </a:solidFill>
                <a:latin typeface="Segoe UI Semibold" pitchFamily="34" charset="0"/>
                <a:ea typeface="Segoe UI Semibold" pitchFamily="34" charset="-122"/>
                <a:cs typeface="Segoe UI Semibold" pitchFamily="34" charset="-120"/>
              </a:rPr>
              <a:t>Bandeja de salida</a:t>
            </a:r>
            <a:endParaRPr lang="en-US" sz="1300" dirty="0"/>
          </a:p>
        </p:txBody>
      </p:sp>
      <p:sp>
        <p:nvSpPr>
          <p:cNvPr id="55" name="[p2] Forma"/>
          <p:cNvSpPr/>
          <p:nvPr/>
        </p:nvSpPr>
        <p:spPr>
          <a:xfrm>
            <a:off x="9823399" y="3399282"/>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Tabla evento</a:t>
            </a:r>
            <a:endParaRPr lang="en-US" sz="1100" dirty="0"/>
          </a:p>
        </p:txBody>
      </p:sp>
      <p:sp>
        <p:nvSpPr>
          <p:cNvPr id="56" name="[p2] Forma"/>
          <p:cNvSpPr/>
          <p:nvPr/>
        </p:nvSpPr>
        <p:spPr>
          <a:xfrm>
            <a:off x="9110167" y="3895344"/>
            <a:ext cx="2468880" cy="736092"/>
          </a:xfrm>
          <a:prstGeom prst="roundRect">
            <a:avLst>
              <a:gd name="adj" fmla="val 17391"/>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7" name="[p2] Forma"/>
          <p:cNvSpPr/>
          <p:nvPr/>
        </p:nvSpPr>
        <p:spPr>
          <a:xfrm>
            <a:off x="9238183" y="4025646"/>
            <a:ext cx="475488" cy="475488"/>
          </a:xfrm>
          <a:prstGeom prst="ellipse">
            <a:avLst/>
          </a:prstGeom>
          <a:solidFill>
            <a:srgbClr val="E3F4FA"/>
          </a:solidFill>
          <a:ln w="12700">
            <a:solidFill>
              <a:srgbClr val="E3F4FA"/>
            </a:solidFill>
            <a:prstDash val="solid"/>
          </a:ln>
        </p:spPr>
      </p:sp>
      <p:sp>
        <p:nvSpPr>
          <p:cNvPr id="58" name="[p2] Icono send"/>
          <p:cNvSpPr/>
          <p:nvPr/>
        </p:nvSpPr>
        <p:spPr>
          <a:xfrm>
            <a:off x="9352300" y="4139763"/>
            <a:ext cx="247254" cy="247254"/>
          </a:xfrm>
          <a:custGeom>
            <a:avLst/>
            <a:gdLst/>
            <a:ahLst/>
            <a:cxnLst/>
            <a:rect l="l" t="t" r="r" b="b"/>
            <a:pathLst>
              <a:path w="247254" h="247254">
                <a:moveTo>
                  <a:pt x="149753" y="223414"/>
                </a:moveTo>
                <a:cubicBezTo>
                  <a:pt x="150555" y="225412"/>
                  <a:pt x="152514" y="226701"/>
                  <a:pt x="154666" y="226646"/>
                </a:cubicBezTo>
                <a:cubicBezTo>
                  <a:pt x="156818" y="226590"/>
                  <a:pt x="158708" y="225203"/>
                  <a:pt x="159407" y="223167"/>
                </a:cubicBezTo>
                <a:lnTo>
                  <a:pt x="226371" y="27425"/>
                </a:lnTo>
                <a:cubicBezTo>
                  <a:pt x="227044" y="25561"/>
                  <a:pt x="226579" y="23476"/>
                  <a:pt x="225178" y="22075"/>
                </a:cubicBezTo>
                <a:cubicBezTo>
                  <a:pt x="223777" y="20674"/>
                  <a:pt x="221693" y="20210"/>
                  <a:pt x="219829" y="20883"/>
                </a:cubicBezTo>
                <a:lnTo>
                  <a:pt x="24087" y="87847"/>
                </a:lnTo>
                <a:cubicBezTo>
                  <a:pt x="22051" y="88545"/>
                  <a:pt x="20663" y="90436"/>
                  <a:pt x="20608" y="92588"/>
                </a:cubicBezTo>
                <a:cubicBezTo>
                  <a:pt x="20553" y="94740"/>
                  <a:pt x="21842" y="96699"/>
                  <a:pt x="23839" y="97500"/>
                </a:cubicBezTo>
                <a:lnTo>
                  <a:pt x="105536" y="130262"/>
                </a:lnTo>
                <a:cubicBezTo>
                  <a:pt x="110755" y="132351"/>
                  <a:pt x="114893" y="136482"/>
                  <a:pt x="116992" y="141697"/>
                </a:cubicBezTo>
                <a:close/>
                <a:moveTo>
                  <a:pt x="225145" y="22119"/>
                </a:moveTo>
                <a:lnTo>
                  <a:pt x="112439" y="134815"/>
                </a:lnTo>
              </a:path>
            </a:pathLst>
          </a:custGeom>
          <a:noFill/>
          <a:ln w="20604" cap="rnd">
            <a:solidFill>
              <a:srgbClr val="0B6E8A"/>
            </a:solidFill>
            <a:prstDash val="solid"/>
            <a:round/>
          </a:ln>
        </p:spPr>
      </p:sp>
      <p:sp>
        <p:nvSpPr>
          <p:cNvPr id="59" name="[p2] Forma"/>
          <p:cNvSpPr/>
          <p:nvPr/>
        </p:nvSpPr>
        <p:spPr>
          <a:xfrm>
            <a:off x="9823399" y="3968496"/>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HTTP</a:t>
            </a:r>
            <a:endParaRPr lang="en-US" sz="1350" dirty="0"/>
          </a:p>
        </p:txBody>
      </p:sp>
      <p:sp>
        <p:nvSpPr>
          <p:cNvPr id="60" name="[p2] Forma"/>
          <p:cNvSpPr/>
          <p:nvPr/>
        </p:nvSpPr>
        <p:spPr>
          <a:xfrm>
            <a:off x="9823399" y="4281678"/>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Hacia notificaciones</a:t>
            </a:r>
            <a:endParaRPr lang="en-US" sz="1100" dirty="0"/>
          </a:p>
        </p:txBody>
      </p:sp>
      <p:sp>
        <p:nvSpPr>
          <p:cNvPr id="61" name="[p2] Forma"/>
          <p:cNvSpPr/>
          <p:nvPr/>
        </p:nvSpPr>
        <p:spPr>
          <a:xfrm>
            <a:off x="9110167" y="4777740"/>
            <a:ext cx="2468880" cy="736092"/>
          </a:xfrm>
          <a:prstGeom prst="roundRect">
            <a:avLst>
              <a:gd name="adj" fmla="val 17391"/>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62" name="[p2] Forma"/>
          <p:cNvSpPr/>
          <p:nvPr/>
        </p:nvSpPr>
        <p:spPr>
          <a:xfrm>
            <a:off x="9238183" y="4908042"/>
            <a:ext cx="475488" cy="475488"/>
          </a:xfrm>
          <a:prstGeom prst="ellipse">
            <a:avLst/>
          </a:prstGeom>
          <a:solidFill>
            <a:srgbClr val="F4F7FB"/>
          </a:solidFill>
          <a:ln w="12700">
            <a:solidFill>
              <a:srgbClr val="F4F7FB"/>
            </a:solidFill>
            <a:prstDash val="solid"/>
          </a:ln>
        </p:spPr>
      </p:sp>
      <p:sp>
        <p:nvSpPr>
          <p:cNvPr id="63" name="[p2] Icono flask-conical"/>
          <p:cNvSpPr/>
          <p:nvPr/>
        </p:nvSpPr>
        <p:spPr>
          <a:xfrm>
            <a:off x="9352300" y="5022159"/>
            <a:ext cx="247254" cy="247254"/>
          </a:xfrm>
          <a:custGeom>
            <a:avLst/>
            <a:gdLst/>
            <a:ahLst/>
            <a:cxnLst/>
            <a:rect l="l" t="t" r="r" b="b"/>
            <a:pathLst>
              <a:path w="247254" h="247254">
                <a:moveTo>
                  <a:pt x="144231" y="20604"/>
                </a:moveTo>
                <a:lnTo>
                  <a:pt x="144231" y="82418"/>
                </a:lnTo>
                <a:cubicBezTo>
                  <a:pt x="144230" y="85874"/>
                  <a:pt x="145098" y="89275"/>
                  <a:pt x="146755" y="92308"/>
                </a:cubicBezTo>
                <a:lnTo>
                  <a:pt x="203521" y="196155"/>
                </a:lnTo>
                <a:cubicBezTo>
                  <a:pt x="207014" y="202539"/>
                  <a:pt x="206880" y="210293"/>
                  <a:pt x="203169" y="216553"/>
                </a:cubicBezTo>
                <a:cubicBezTo>
                  <a:pt x="199457" y="222813"/>
                  <a:pt x="192718" y="226651"/>
                  <a:pt x="185440" y="226649"/>
                </a:cubicBezTo>
                <a:lnTo>
                  <a:pt x="61813" y="226649"/>
                </a:lnTo>
                <a:cubicBezTo>
                  <a:pt x="54536" y="226651"/>
                  <a:pt x="47797" y="222813"/>
                  <a:pt x="44085" y="216553"/>
                </a:cubicBezTo>
                <a:cubicBezTo>
                  <a:pt x="40374" y="210293"/>
                  <a:pt x="40240" y="202539"/>
                  <a:pt x="43733" y="196155"/>
                </a:cubicBezTo>
                <a:lnTo>
                  <a:pt x="100498" y="92308"/>
                </a:lnTo>
                <a:cubicBezTo>
                  <a:pt x="102156" y="89275"/>
                  <a:pt x="103024" y="85874"/>
                  <a:pt x="103022" y="82418"/>
                </a:cubicBezTo>
                <a:lnTo>
                  <a:pt x="103022" y="20604"/>
                </a:lnTo>
                <a:moveTo>
                  <a:pt x="66480" y="154534"/>
                </a:moveTo>
                <a:lnTo>
                  <a:pt x="180773" y="154534"/>
                </a:lnTo>
                <a:moveTo>
                  <a:pt x="87569" y="20604"/>
                </a:moveTo>
                <a:lnTo>
                  <a:pt x="159685" y="20604"/>
                </a:lnTo>
              </a:path>
            </a:pathLst>
          </a:custGeom>
          <a:noFill/>
          <a:ln w="20604" cap="rnd">
            <a:solidFill>
              <a:srgbClr val="55627E"/>
            </a:solidFill>
            <a:prstDash val="solid"/>
            <a:round/>
          </a:ln>
        </p:spPr>
      </p:sp>
      <p:sp>
        <p:nvSpPr>
          <p:cNvPr id="64" name="[p2] Forma"/>
          <p:cNvSpPr/>
          <p:nvPr/>
        </p:nvSpPr>
        <p:spPr>
          <a:xfrm>
            <a:off x="9823399" y="4850892"/>
            <a:ext cx="1682496" cy="331470"/>
          </a:xfrm>
          <a:prstGeom prst="rect">
            <a:avLst/>
          </a:prstGeom>
          <a:noFill/>
          <a:ln/>
        </p:spPr>
        <p:txBody>
          <a:bodyPr wrap="square" lIns="0" tIns="0" rIns="0" bIns="0" rtlCol="0" anchor="b">
            <a:normAutofit/>
          </a:bodyPr>
          <a:lstStyle/>
          <a:p>
            <a:pPr algn="l" indent="0" marL="0">
              <a:buNone/>
            </a:pPr>
            <a:r>
              <a:rPr lang="en-US" sz="1350" b="1" dirty="0">
                <a:solidFill>
                  <a:srgbClr val="55627E"/>
                </a:solidFill>
                <a:latin typeface="Segoe UI Semibold" pitchFamily="34" charset="0"/>
                <a:ea typeface="Segoe UI Semibold" pitchFamily="34" charset="-122"/>
                <a:cs typeface="Segoe UI Semibold" pitchFamily="34" charset="-120"/>
              </a:rPr>
              <a:t>En memoria</a:t>
            </a:r>
            <a:endParaRPr lang="en-US" sz="1350" dirty="0"/>
          </a:p>
        </p:txBody>
      </p:sp>
      <p:sp>
        <p:nvSpPr>
          <p:cNvPr id="65" name="[p2] Forma"/>
          <p:cNvSpPr/>
          <p:nvPr/>
        </p:nvSpPr>
        <p:spPr>
          <a:xfrm>
            <a:off x="9823399" y="5164074"/>
            <a:ext cx="1682496" cy="276606"/>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Para las pruebas</a:t>
            </a:r>
            <a:endParaRPr lang="en-US" sz="1100" dirty="0"/>
          </a:p>
        </p:txBody>
      </p:sp>
      <p:sp>
        <p:nvSpPr>
          <p:cNvPr id="66" name="[p2] Forma"/>
          <p:cNvSpPr/>
          <p:nvPr/>
        </p:nvSpPr>
        <p:spPr>
          <a:xfrm flipH="1">
            <a:off x="8753551" y="2498598"/>
            <a:ext cx="301752" cy="418338"/>
          </a:xfrm>
          <a:prstGeom prst="line">
            <a:avLst/>
          </a:prstGeom>
          <a:noFill/>
          <a:ln w="19050">
            <a:solidFill>
              <a:srgbClr val="55627E"/>
            </a:solidFill>
            <a:prstDash val="dash"/>
            <a:tailEnd type="triangle"/>
          </a:ln>
        </p:spPr>
      </p:sp>
      <p:sp>
        <p:nvSpPr>
          <p:cNvPr id="67" name="[p2] Forma"/>
          <p:cNvSpPr/>
          <p:nvPr/>
        </p:nvSpPr>
        <p:spPr>
          <a:xfrm flipH="1">
            <a:off x="8753551" y="3380994"/>
            <a:ext cx="301752" cy="0"/>
          </a:xfrm>
          <a:prstGeom prst="line">
            <a:avLst/>
          </a:prstGeom>
          <a:noFill/>
          <a:ln w="19050">
            <a:solidFill>
              <a:srgbClr val="55627E"/>
            </a:solidFill>
            <a:prstDash val="dash"/>
            <a:tailEnd type="triangle"/>
          </a:ln>
        </p:spPr>
      </p:sp>
      <p:sp>
        <p:nvSpPr>
          <p:cNvPr id="68" name="[p2] Forma"/>
          <p:cNvSpPr/>
          <p:nvPr/>
        </p:nvSpPr>
        <p:spPr>
          <a:xfrm flipH="1">
            <a:off x="8753551" y="4263390"/>
            <a:ext cx="301752" cy="0"/>
          </a:xfrm>
          <a:prstGeom prst="line">
            <a:avLst/>
          </a:prstGeom>
          <a:noFill/>
          <a:ln w="19050">
            <a:solidFill>
              <a:srgbClr val="55627E"/>
            </a:solidFill>
            <a:prstDash val="dash"/>
            <a:tailEnd type="triangle"/>
          </a:ln>
        </p:spPr>
      </p:sp>
      <p:sp>
        <p:nvSpPr>
          <p:cNvPr id="69" name="[p2] Forma"/>
          <p:cNvSpPr/>
          <p:nvPr/>
        </p:nvSpPr>
        <p:spPr>
          <a:xfrm flipH="1" flipV="1">
            <a:off x="8753551" y="4727448"/>
            <a:ext cx="301752" cy="418338"/>
          </a:xfrm>
          <a:prstGeom prst="line">
            <a:avLst/>
          </a:prstGeom>
          <a:noFill/>
          <a:ln w="19050">
            <a:solidFill>
              <a:srgbClr val="55627E"/>
            </a:solidFill>
            <a:prstDash val="dash"/>
            <a:tailEnd type="triangle"/>
          </a:ln>
        </p:spPr>
      </p:sp>
      <p:sp>
        <p:nvSpPr>
          <p:cNvPr id="70" name="Text 6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7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childTnLst>
                          </p:cTn>
                        </p:par>
                      </p:childTnLst>
                    </p:cTn>
                  </p:par>
                  <p:par>
                    <p:cTn id="113" fill="hold">
                      <p:stCondLst>
                        <p:cond delay="indefinite"/>
                      </p:stCondLst>
                      <p:childTnLst>
                        <p:par>
                          <p:cTn id="11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400"/>
                                        <p:tgtEl>
                                          <p:spTgt spid="4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400"/>
                                        <p:tgtEl>
                                          <p:spTgt spid="4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400"/>
                                        <p:tgtEl>
                                          <p:spTgt spid="4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400"/>
                                        <p:tgtEl>
                                          <p:spTgt spid="4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400"/>
                                        <p:tgtEl>
                                          <p:spTgt spid="5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400"/>
                                        <p:tgtEl>
                                          <p:spTgt spid="5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400"/>
                                        <p:tgtEl>
                                          <p:spTgt spid="5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fade">
                                      <p:cBhvr>
                                        <p:cTn id="64" dur="400"/>
                                        <p:tgtEl>
                                          <p:spTgt spid="5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400"/>
                                        <p:tgtEl>
                                          <p:spTgt spid="5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400"/>
                                        <p:tgtEl>
                                          <p:spTgt spid="5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fade">
                                      <p:cBhvr>
                                        <p:cTn id="73" dur="400"/>
                                        <p:tgtEl>
                                          <p:spTgt spid="5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7"/>
                                        </p:tgtEl>
                                        <p:attrNameLst>
                                          <p:attrName>style.visibility</p:attrName>
                                        </p:attrNameLst>
                                      </p:cBhvr>
                                      <p:to>
                                        <p:strVal val="visible"/>
                                      </p:to>
                                    </p:set>
                                    <p:animEffect transition="in" filter="fade">
                                      <p:cBhvr>
                                        <p:cTn id="76" dur="400"/>
                                        <p:tgtEl>
                                          <p:spTgt spid="5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animEffect transition="in" filter="fade">
                                      <p:cBhvr>
                                        <p:cTn id="79" dur="400"/>
                                        <p:tgtEl>
                                          <p:spTgt spid="5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fade">
                                      <p:cBhvr>
                                        <p:cTn id="82" dur="400"/>
                                        <p:tgtEl>
                                          <p:spTgt spid="5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fade">
                                      <p:cBhvr>
                                        <p:cTn id="85" dur="400"/>
                                        <p:tgtEl>
                                          <p:spTgt spid="6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fade">
                                      <p:cBhvr>
                                        <p:cTn id="88" dur="400"/>
                                        <p:tgtEl>
                                          <p:spTgt spid="6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2"/>
                                        </p:tgtEl>
                                        <p:attrNameLst>
                                          <p:attrName>style.visibility</p:attrName>
                                        </p:attrNameLst>
                                      </p:cBhvr>
                                      <p:to>
                                        <p:strVal val="visible"/>
                                      </p:to>
                                    </p:set>
                                    <p:animEffect transition="in" filter="fade">
                                      <p:cBhvr>
                                        <p:cTn id="91" dur="400"/>
                                        <p:tgtEl>
                                          <p:spTgt spid="6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fade">
                                      <p:cBhvr>
                                        <p:cTn id="94" dur="400"/>
                                        <p:tgtEl>
                                          <p:spTgt spid="6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4"/>
                                        </p:tgtEl>
                                        <p:attrNameLst>
                                          <p:attrName>style.visibility</p:attrName>
                                        </p:attrNameLst>
                                      </p:cBhvr>
                                      <p:to>
                                        <p:strVal val="visible"/>
                                      </p:to>
                                    </p:set>
                                    <p:animEffect transition="in" filter="fade">
                                      <p:cBhvr>
                                        <p:cTn id="97" dur="400"/>
                                        <p:tgtEl>
                                          <p:spTgt spid="6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fade">
                                      <p:cBhvr>
                                        <p:cTn id="100" dur="400"/>
                                        <p:tgtEl>
                                          <p:spTgt spid="6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fade">
                                      <p:cBhvr>
                                        <p:cTn id="103" dur="400"/>
                                        <p:tgtEl>
                                          <p:spTgt spid="6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fade">
                                      <p:cBhvr>
                                        <p:cTn id="106" dur="400"/>
                                        <p:tgtEl>
                                          <p:spTgt spid="6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8"/>
                                        </p:tgtEl>
                                        <p:attrNameLst>
                                          <p:attrName>style.visibility</p:attrName>
                                        </p:attrNameLst>
                                      </p:cBhvr>
                                      <p:to>
                                        <p:strVal val="visible"/>
                                      </p:to>
                                    </p:set>
                                    <p:animEffect transition="in" filter="fade">
                                      <p:cBhvr>
                                        <p:cTn id="109" dur="400"/>
                                        <p:tgtEl>
                                          <p:spTgt spid="6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ARQUITECTURA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Arquitectura: lo que aprendimos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2BA6CB"/>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DFE6F0"/>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886968" y="1645920"/>
            <a:ext cx="713232" cy="713232"/>
          </a:xfrm>
          <a:prstGeom prst="ellipse">
            <a:avLst/>
          </a:prstGeom>
          <a:solidFill>
            <a:srgbClr val="2BA6CB"/>
          </a:solidFill>
          <a:ln w="12700">
            <a:solidFill>
              <a:srgbClr val="2BA6CB"/>
            </a:solidFill>
            <a:prstDash val="solid"/>
          </a:ln>
        </p:spPr>
      </p:sp>
      <p:sp>
        <p:nvSpPr>
          <p:cNvPr id="13" name="Icono network"/>
          <p:cNvSpPr/>
          <p:nvPr/>
        </p:nvSpPr>
        <p:spPr>
          <a:xfrm>
            <a:off x="1058144" y="1817096"/>
            <a:ext cx="370881" cy="370881"/>
          </a:xfrm>
          <a:custGeom>
            <a:avLst/>
            <a:gdLst/>
            <a:ahLst/>
            <a:cxnLst/>
            <a:rect l="l" t="t" r="r" b="b"/>
            <a:pathLst>
              <a:path w="370881" h="370881">
                <a:moveTo>
                  <a:pt x="262707" y="247254"/>
                </a:moveTo>
                <a:lnTo>
                  <a:pt x="324521" y="247254"/>
                </a:lnTo>
                <a:cubicBezTo>
                  <a:pt x="333055" y="247254"/>
                  <a:pt x="339974" y="254172"/>
                  <a:pt x="339974" y="262707"/>
                </a:cubicBezTo>
                <a:lnTo>
                  <a:pt x="339974" y="324521"/>
                </a:lnTo>
                <a:cubicBezTo>
                  <a:pt x="339974" y="333055"/>
                  <a:pt x="333055" y="339974"/>
                  <a:pt x="324521" y="339974"/>
                </a:cubicBezTo>
                <a:lnTo>
                  <a:pt x="262707" y="339974"/>
                </a:lnTo>
                <a:cubicBezTo>
                  <a:pt x="254172" y="339974"/>
                  <a:pt x="247254" y="333055"/>
                  <a:pt x="247254" y="324521"/>
                </a:cubicBezTo>
                <a:lnTo>
                  <a:pt x="247254" y="262707"/>
                </a:lnTo>
                <a:cubicBezTo>
                  <a:pt x="247254" y="254172"/>
                  <a:pt x="254172" y="247254"/>
                  <a:pt x="262707" y="247254"/>
                </a:cubicBezTo>
                <a:close/>
                <a:moveTo>
                  <a:pt x="46360" y="247254"/>
                </a:moveTo>
                <a:lnTo>
                  <a:pt x="108174" y="247254"/>
                </a:lnTo>
                <a:cubicBezTo>
                  <a:pt x="116708" y="247254"/>
                  <a:pt x="123627" y="254172"/>
                  <a:pt x="123627" y="262707"/>
                </a:cubicBezTo>
                <a:lnTo>
                  <a:pt x="123627" y="324521"/>
                </a:lnTo>
                <a:cubicBezTo>
                  <a:pt x="123627" y="333055"/>
                  <a:pt x="116708" y="339974"/>
                  <a:pt x="108174" y="339974"/>
                </a:cubicBezTo>
                <a:lnTo>
                  <a:pt x="46360" y="339974"/>
                </a:lnTo>
                <a:cubicBezTo>
                  <a:pt x="37825" y="339974"/>
                  <a:pt x="30907" y="333055"/>
                  <a:pt x="30907" y="324521"/>
                </a:cubicBezTo>
                <a:lnTo>
                  <a:pt x="30907" y="262707"/>
                </a:lnTo>
                <a:cubicBezTo>
                  <a:pt x="30907" y="254172"/>
                  <a:pt x="37825" y="247254"/>
                  <a:pt x="46360" y="247254"/>
                </a:cubicBezTo>
                <a:close/>
                <a:moveTo>
                  <a:pt x="154534" y="30907"/>
                </a:moveTo>
                <a:lnTo>
                  <a:pt x="216347" y="30907"/>
                </a:lnTo>
                <a:cubicBezTo>
                  <a:pt x="224882" y="30907"/>
                  <a:pt x="231800" y="37825"/>
                  <a:pt x="231800" y="46360"/>
                </a:cubicBezTo>
                <a:lnTo>
                  <a:pt x="231800" y="108174"/>
                </a:lnTo>
                <a:cubicBezTo>
                  <a:pt x="231800" y="116708"/>
                  <a:pt x="224882" y="123627"/>
                  <a:pt x="216347" y="123627"/>
                </a:cubicBezTo>
                <a:lnTo>
                  <a:pt x="154534" y="123627"/>
                </a:lnTo>
                <a:cubicBezTo>
                  <a:pt x="145999" y="123627"/>
                  <a:pt x="139080" y="116708"/>
                  <a:pt x="139080" y="108174"/>
                </a:cubicBezTo>
                <a:lnTo>
                  <a:pt x="139080" y="46360"/>
                </a:lnTo>
                <a:cubicBezTo>
                  <a:pt x="139080" y="37825"/>
                  <a:pt x="145999" y="30907"/>
                  <a:pt x="154534" y="30907"/>
                </a:cubicBezTo>
                <a:close/>
                <a:moveTo>
                  <a:pt x="77267" y="247254"/>
                </a:moveTo>
                <a:lnTo>
                  <a:pt x="77267" y="200894"/>
                </a:lnTo>
                <a:cubicBezTo>
                  <a:pt x="77267" y="192359"/>
                  <a:pt x="84186" y="185440"/>
                  <a:pt x="92720" y="185440"/>
                </a:cubicBezTo>
                <a:lnTo>
                  <a:pt x="278160" y="185440"/>
                </a:lnTo>
                <a:cubicBezTo>
                  <a:pt x="286695" y="185440"/>
                  <a:pt x="293614" y="192359"/>
                  <a:pt x="293614" y="200894"/>
                </a:cubicBezTo>
                <a:lnTo>
                  <a:pt x="293614" y="247254"/>
                </a:lnTo>
                <a:moveTo>
                  <a:pt x="185440" y="185440"/>
                </a:moveTo>
                <a:lnTo>
                  <a:pt x="185440" y="123627"/>
                </a:lnTo>
              </a:path>
            </a:pathLst>
          </a:custGeom>
          <a:noFill/>
          <a:ln w="30907" cap="rnd">
            <a:solidFill>
              <a:srgbClr val="0B1F3A"/>
            </a:solidFill>
            <a:prstDash val="solid"/>
            <a:round/>
          </a:ln>
        </p:spPr>
      </p:sp>
      <p:sp>
        <p:nvSpPr>
          <p:cNvPr id="14" name="Text 12"/>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5" name="Text 13"/>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2</a:t>
            </a:r>
            <a:endParaRPr lang="en-US" sz="4700" dirty="0"/>
          </a:p>
        </p:txBody>
      </p:sp>
      <p:sp>
        <p:nvSpPr>
          <p:cNvPr id="16" name="Text 14"/>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servicios, cada uno con su base</a:t>
            </a:r>
            <a:endParaRPr lang="en-US" sz="1300" dirty="0"/>
          </a:p>
        </p:txBody>
      </p:sp>
      <p:sp>
        <p:nvSpPr>
          <p:cNvPr id="17" name="Shape 15"/>
          <p:cNvSpPr/>
          <p:nvPr/>
        </p:nvSpPr>
        <p:spPr>
          <a:xfrm>
            <a:off x="886968" y="4489704"/>
            <a:ext cx="2423160" cy="0"/>
          </a:xfrm>
          <a:prstGeom prst="line">
            <a:avLst/>
          </a:prstGeom>
          <a:noFill/>
          <a:ln w="9525">
            <a:solidFill>
              <a:srgbClr val="3C4C61"/>
            </a:solidFill>
            <a:prstDash val="solid"/>
          </a:ln>
        </p:spPr>
      </p:sp>
      <p:sp>
        <p:nvSpPr>
          <p:cNvPr id="18" name="Text 16"/>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9" name="Text 17"/>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tablas compartidas entre servicios</a:t>
            </a:r>
            <a:endParaRPr lang="en-US" sz="1300" dirty="0"/>
          </a:p>
        </p:txBody>
      </p:sp>
      <p:sp>
        <p:nvSpPr>
          <p:cNvPr id="20"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2" name="[p1] Icono database"/>
          <p:cNvSpPr/>
          <p:nvPr/>
        </p:nvSpPr>
        <p:spPr>
          <a:xfrm>
            <a:off x="4258544" y="1740515"/>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2350"/>
            </a:solidFill>
            <a:prstDash val="solid"/>
            <a:round/>
          </a:ln>
        </p:spPr>
      </p:sp>
      <p:sp>
        <p:nvSpPr>
          <p:cNvPr id="23"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Cada servicio, dueño de sus datos</a:t>
            </a:r>
            <a:endParaRPr lang="en-US" sz="1500" dirty="0"/>
          </a:p>
        </p:txBody>
      </p:sp>
      <p:sp>
        <p:nvSpPr>
          <p:cNvPr id="24"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Nadie lee ni escribe en la base del otro.</a:t>
            </a:r>
            <a:endParaRPr lang="en-US" sz="1150" dirty="0"/>
          </a:p>
        </p:txBody>
      </p:sp>
      <p:sp>
        <p:nvSpPr>
          <p:cNvPr id="25"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6"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7"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8"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Cada uno cambia sin romper al otro.</a:t>
            </a:r>
            <a:endParaRPr lang="en-US" sz="1350" dirty="0"/>
          </a:p>
        </p:txBody>
      </p:sp>
      <p:sp>
        <p:nvSpPr>
          <p:cNvPr id="29"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1" name="[p2] Icono send"/>
          <p:cNvSpPr/>
          <p:nvPr/>
        </p:nvSpPr>
        <p:spPr>
          <a:xfrm>
            <a:off x="4258544" y="303210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32"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Entre servicios viajan datos</a:t>
            </a:r>
            <a:endParaRPr lang="en-US" sz="1550" dirty="0"/>
          </a:p>
        </p:txBody>
      </p:sp>
      <p:sp>
        <p:nvSpPr>
          <p:cNvPr id="33"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evento pequeño con su número: SolicitudEnviada.</a:t>
            </a:r>
            <a:endParaRPr lang="en-US" sz="1150" dirty="0"/>
          </a:p>
        </p:txBody>
      </p:sp>
      <p:sp>
        <p:nvSpPr>
          <p:cNvPr id="34"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5"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6"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7"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acuerdo claro y fácil de revisar.</a:t>
            </a:r>
            <a:endParaRPr lang="en-US" sz="1350" dirty="0"/>
          </a:p>
        </p:txBody>
      </p:sp>
      <p:sp>
        <p:nvSpPr>
          <p:cNvPr id="38"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0" name="[p3] Icono hexagon"/>
          <p:cNvSpPr/>
          <p:nvPr/>
        </p:nvSpPr>
        <p:spPr>
          <a:xfrm>
            <a:off x="4258544" y="4323695"/>
            <a:ext cx="370881" cy="370881"/>
          </a:xfrm>
          <a:custGeom>
            <a:avLst/>
            <a:gdLst/>
            <a:ahLst/>
            <a:cxnLst/>
            <a:rect l="l" t="t" r="r" b="b"/>
            <a:pathLst>
              <a:path w="370881" h="370881">
                <a:moveTo>
                  <a:pt x="324521" y="247254"/>
                </a:move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lnTo>
                  <a:pt x="169987" y="335802"/>
                </a:lnTo>
                <a:cubicBezTo>
                  <a:pt x="179550" y="341322"/>
                  <a:pt x="191331" y="341322"/>
                  <a:pt x="200894" y="335802"/>
                </a:cubicBezTo>
                <a:lnTo>
                  <a:pt x="309067" y="273988"/>
                </a:lnTo>
                <a:cubicBezTo>
                  <a:pt x="318620" y="268473"/>
                  <a:pt x="324509" y="258284"/>
                  <a:pt x="324521" y="247254"/>
                </a:cubicBezTo>
                <a:close/>
              </a:path>
            </a:pathLst>
          </a:custGeom>
          <a:noFill/>
          <a:ln w="30907" cap="rnd">
            <a:solidFill>
              <a:srgbClr val="0B2350"/>
            </a:solidFill>
            <a:prstDash val="solid"/>
            <a:round/>
          </a:ln>
        </p:spPr>
      </p:sp>
      <p:sp>
        <p:nvSpPr>
          <p:cNvPr id="41"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600" b="1" dirty="0">
                <a:solidFill>
                  <a:srgbClr val="0B2350"/>
                </a:solidFill>
                <a:latin typeface="Segoe UI Semibold" pitchFamily="34" charset="0"/>
                <a:ea typeface="Segoe UI Semibold" pitchFamily="34" charset="-122"/>
                <a:cs typeface="Segoe UI Semibold" pitchFamily="34" charset="-120"/>
              </a:rPr>
              <a:t>Hexagonal ordena por dentro</a:t>
            </a:r>
            <a:endParaRPr lang="en-US" sz="1600" dirty="0"/>
          </a:p>
        </p:txBody>
      </p:sp>
      <p:sp>
        <p:nvSpPr>
          <p:cNvPr id="42"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No cambia el despliegue: un contenedor por servicio.</a:t>
            </a:r>
            <a:endParaRPr lang="en-US" sz="1150" dirty="0"/>
          </a:p>
        </p:txBody>
      </p:sp>
      <p:sp>
        <p:nvSpPr>
          <p:cNvPr id="43"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4"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5"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6"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la base o la web sin tocar las reglas.</a:t>
            </a:r>
            <a:endParaRPr lang="en-US" sz="1350" dirty="0"/>
          </a:p>
        </p:txBody>
      </p:sp>
      <p:sp>
        <p:nvSpPr>
          <p:cNvPr id="47"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49" name="[p4] Icono scale"/>
          <p:cNvSpPr/>
          <p:nvPr/>
        </p:nvSpPr>
        <p:spPr>
          <a:xfrm>
            <a:off x="4258544" y="5615285"/>
            <a:ext cx="370881" cy="370881"/>
          </a:xfrm>
          <a:custGeom>
            <a:avLst/>
            <a:gdLst/>
            <a:ahLst/>
            <a:cxnLst/>
            <a:rect l="l" t="t" r="r" b="b"/>
            <a:pathLst>
              <a:path w="370881" h="370881">
                <a:moveTo>
                  <a:pt x="247254" y="247254"/>
                </a:moveTo>
                <a:lnTo>
                  <a:pt x="293614" y="123627"/>
                </a:lnTo>
                <a:lnTo>
                  <a:pt x="339974" y="247254"/>
                </a:lnTo>
                <a:cubicBezTo>
                  <a:pt x="326529" y="257298"/>
                  <a:pt x="310303" y="262707"/>
                  <a:pt x="293614" y="262707"/>
                </a:cubicBezTo>
                <a:cubicBezTo>
                  <a:pt x="276924" y="262707"/>
                  <a:pt x="260698" y="257298"/>
                  <a:pt x="247254" y="247254"/>
                </a:cubicBezTo>
                <a:close/>
                <a:moveTo>
                  <a:pt x="30907" y="247254"/>
                </a:moveTo>
                <a:lnTo>
                  <a:pt x="77267" y="123627"/>
                </a:lnTo>
                <a:lnTo>
                  <a:pt x="123627" y="247254"/>
                </a:lnTo>
                <a:cubicBezTo>
                  <a:pt x="110182" y="257298"/>
                  <a:pt x="93956" y="262707"/>
                  <a:pt x="77267" y="262707"/>
                </a:cubicBezTo>
                <a:cubicBezTo>
                  <a:pt x="60577" y="262707"/>
                  <a:pt x="44351" y="257298"/>
                  <a:pt x="30907" y="247254"/>
                </a:cubicBezTo>
                <a:close/>
                <a:moveTo>
                  <a:pt x="108174" y="324521"/>
                </a:moveTo>
                <a:lnTo>
                  <a:pt x="262707" y="324521"/>
                </a:lnTo>
                <a:moveTo>
                  <a:pt x="185440" y="46360"/>
                </a:moveTo>
                <a:lnTo>
                  <a:pt x="185440" y="324521"/>
                </a:lnTo>
                <a:moveTo>
                  <a:pt x="46360" y="108174"/>
                </a:moveTo>
                <a:lnTo>
                  <a:pt x="77267" y="108174"/>
                </a:lnTo>
                <a:cubicBezTo>
                  <a:pt x="108174" y="108174"/>
                  <a:pt x="154534" y="92720"/>
                  <a:pt x="185440" y="77267"/>
                </a:cubicBezTo>
                <a:cubicBezTo>
                  <a:pt x="216347" y="92720"/>
                  <a:pt x="262707" y="108174"/>
                  <a:pt x="293614" y="108174"/>
                </a:cubicBezTo>
                <a:lnTo>
                  <a:pt x="324521" y="108174"/>
                </a:lnTo>
              </a:path>
            </a:pathLst>
          </a:custGeom>
          <a:noFill/>
          <a:ln w="30907" cap="rnd">
            <a:solidFill>
              <a:srgbClr val="0B2350"/>
            </a:solidFill>
            <a:prstDash val="solid"/>
            <a:round/>
          </a:ln>
        </p:spPr>
      </p:sp>
      <p:sp>
        <p:nvSpPr>
          <p:cNvPr id="50"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Separar tiene un costo</a:t>
            </a:r>
            <a:endParaRPr lang="en-US" sz="1700" dirty="0"/>
          </a:p>
        </p:txBody>
      </p:sp>
      <p:sp>
        <p:nvSpPr>
          <p:cNvPr id="51"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250" dirty="0">
                <a:solidFill>
                  <a:srgbClr val="55627E"/>
                </a:solidFill>
                <a:latin typeface="Segoe UI" pitchFamily="34" charset="0"/>
                <a:ea typeface="Segoe UI" pitchFamily="34" charset="-122"/>
                <a:cs typeface="Segoe UI" pitchFamily="34" charset="-120"/>
              </a:rPr>
              <a:t>Más red, dos bases y fallas parciales.</a:t>
            </a:r>
            <a:endParaRPr lang="en-US" sz="1250" dirty="0"/>
          </a:p>
        </p:txBody>
      </p:sp>
      <p:sp>
        <p:nvSpPr>
          <p:cNvPr id="52"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3"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4"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5"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Separar solo cuando el negocio lo pide.</a:t>
            </a:r>
            <a:endParaRPr lang="en-US" sz="135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ARQUITECTURA</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4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fade">
                                      <p:cBhvr>
                                        <p:cTn id="98" dur="400"/>
                                        <p:tgtEl>
                                          <p:spTgt spid="4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fade">
                                      <p:cBhvr>
                                        <p:cTn id="101" dur="400"/>
                                        <p:tgtEl>
                                          <p:spTgt spid="5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400"/>
                                        <p:tgtEl>
                                          <p:spTgt spid="5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fade">
                                      <p:cBhvr>
                                        <p:cTn id="107" dur="400"/>
                                        <p:tgtEl>
                                          <p:spTgt spid="5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fade">
                                      <p:cBhvr>
                                        <p:cTn id="110" dur="400"/>
                                        <p:tgtEl>
                                          <p:spTgt spid="5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fade">
                                      <p:cBhvr>
                                        <p:cTn id="113" dur="400"/>
                                        <p:tgtEl>
                                          <p:spTgt spid="5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Dos bases, una por servicio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microservicio tiene su propia base, y las dos corren en PostgreSQL.</a:t>
            </a:r>
            <a:endParaRPr lang="en-US" sz="1700" dirty="0"/>
          </a:p>
        </p:txBody>
      </p:sp>
      <p:sp>
        <p:nvSpPr>
          <p:cNvPr id="12" name="Shape 10"/>
          <p:cNvSpPr/>
          <p:nvPr/>
        </p:nvSpPr>
        <p:spPr>
          <a:xfrm>
            <a:off x="612648"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740664" y="2482596"/>
            <a:ext cx="2320976" cy="64008"/>
          </a:xfrm>
          <a:prstGeom prst="rect">
            <a:avLst/>
          </a:prstGeom>
          <a:solidFill>
            <a:srgbClr val="0B2350"/>
          </a:solidFill>
          <a:ln w="12700">
            <a:solidFill>
              <a:srgbClr val="0B2350"/>
            </a:solidFill>
            <a:prstDash val="solid"/>
          </a:ln>
        </p:spPr>
      </p:sp>
      <p:sp>
        <p:nvSpPr>
          <p:cNvPr id="14" name="Shape 12"/>
          <p:cNvSpPr/>
          <p:nvPr/>
        </p:nvSpPr>
        <p:spPr>
          <a:xfrm>
            <a:off x="2403272" y="2720340"/>
            <a:ext cx="566928" cy="566928"/>
          </a:xfrm>
          <a:prstGeom prst="ellipse">
            <a:avLst/>
          </a:prstGeom>
          <a:solidFill>
            <a:srgbClr val="E8EEF8"/>
          </a:solidFill>
          <a:ln w="12700">
            <a:solidFill>
              <a:srgbClr val="E8EEF8"/>
            </a:solidFill>
            <a:prstDash val="solid"/>
          </a:ln>
        </p:spPr>
      </p:sp>
      <p:sp>
        <p:nvSpPr>
          <p:cNvPr id="15" name="Icono database"/>
          <p:cNvSpPr/>
          <p:nvPr/>
        </p:nvSpPr>
        <p:spPr>
          <a:xfrm>
            <a:off x="2539335" y="2856403"/>
            <a:ext cx="294803" cy="294803"/>
          </a:xfrm>
          <a:custGeom>
            <a:avLst/>
            <a:gdLst/>
            <a:ahLst/>
            <a:cxnLst/>
            <a:rect l="l" t="t" r="r" b="b"/>
            <a:pathLst>
              <a:path w="294803" h="294803">
                <a:moveTo>
                  <a:pt x="257952" y="61417"/>
                </a:moveTo>
                <a:cubicBezTo>
                  <a:pt x="257952" y="81769"/>
                  <a:pt x="208457" y="98268"/>
                  <a:pt x="147401" y="98268"/>
                </a:cubicBezTo>
                <a:cubicBezTo>
                  <a:pt x="86346" y="98268"/>
                  <a:pt x="36850" y="81769"/>
                  <a:pt x="36850" y="61417"/>
                </a:cubicBezTo>
                <a:cubicBezTo>
                  <a:pt x="36850" y="41065"/>
                  <a:pt x="86346" y="24567"/>
                  <a:pt x="147401" y="24567"/>
                </a:cubicBezTo>
                <a:cubicBezTo>
                  <a:pt x="208457" y="24567"/>
                  <a:pt x="257952" y="41065"/>
                  <a:pt x="257952" y="61417"/>
                </a:cubicBezTo>
                <a:close/>
                <a:moveTo>
                  <a:pt x="36850" y="61417"/>
                </a:moveTo>
                <a:lnTo>
                  <a:pt x="36850" y="233385"/>
                </a:lnTo>
                <a:cubicBezTo>
                  <a:pt x="36850" y="253737"/>
                  <a:pt x="86346" y="270236"/>
                  <a:pt x="147401" y="270236"/>
                </a:cubicBezTo>
                <a:cubicBezTo>
                  <a:pt x="208457" y="270236"/>
                  <a:pt x="257952" y="253737"/>
                  <a:pt x="257952" y="233385"/>
                </a:cubicBezTo>
                <a:lnTo>
                  <a:pt x="257952" y="61417"/>
                </a:lnTo>
                <a:moveTo>
                  <a:pt x="36850" y="147401"/>
                </a:moveTo>
                <a:cubicBezTo>
                  <a:pt x="36850" y="167753"/>
                  <a:pt x="86346" y="184252"/>
                  <a:pt x="147401" y="184252"/>
                </a:cubicBezTo>
                <a:cubicBezTo>
                  <a:pt x="208457" y="184252"/>
                  <a:pt x="257952" y="167753"/>
                  <a:pt x="257952" y="147401"/>
                </a:cubicBezTo>
              </a:path>
            </a:pathLst>
          </a:custGeom>
          <a:noFill/>
          <a:ln w="24567" cap="rnd">
            <a:solidFill>
              <a:srgbClr val="0B2350"/>
            </a:solidFill>
            <a:prstDash val="solid"/>
            <a:round/>
          </a:ln>
        </p:spPr>
      </p:sp>
      <p:sp>
        <p:nvSpPr>
          <p:cNvPr id="16" name="Text 14"/>
          <p:cNvSpPr/>
          <p:nvPr/>
        </p:nvSpPr>
        <p:spPr>
          <a:xfrm>
            <a:off x="868680"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2350"/>
                </a:solidFill>
                <a:latin typeface="Segoe UI Semibold" pitchFamily="34" charset="0"/>
                <a:ea typeface="Segoe UI Semibold" pitchFamily="34" charset="-122"/>
                <a:cs typeface="Segoe UI Semibold" pitchFamily="34" charset="-120"/>
              </a:rPr>
              <a:t>2</a:t>
            </a:r>
            <a:endParaRPr lang="en-US" sz="5600" dirty="0"/>
          </a:p>
        </p:txBody>
      </p:sp>
      <p:sp>
        <p:nvSpPr>
          <p:cNvPr id="17" name="Text 15"/>
          <p:cNvSpPr/>
          <p:nvPr/>
        </p:nvSpPr>
        <p:spPr>
          <a:xfrm>
            <a:off x="868680"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bases de datos</a:t>
            </a:r>
            <a:endParaRPr lang="en-US" sz="1800" dirty="0"/>
          </a:p>
        </p:txBody>
      </p:sp>
      <p:sp>
        <p:nvSpPr>
          <p:cNvPr id="18" name="Text 16"/>
          <p:cNvSpPr/>
          <p:nvPr/>
        </p:nvSpPr>
        <p:spPr>
          <a:xfrm>
            <a:off x="868680"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db-solicitudes y db-notificaciones: una por servicio.</a:t>
            </a:r>
            <a:endParaRPr lang="en-US" sz="1500" dirty="0"/>
          </a:p>
        </p:txBody>
      </p:sp>
      <p:sp>
        <p:nvSpPr>
          <p:cNvPr id="19" name="[p1] Forma"/>
          <p:cNvSpPr/>
          <p:nvPr/>
        </p:nvSpPr>
        <p:spPr>
          <a:xfrm>
            <a:off x="3409112"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3537128" y="2482596"/>
            <a:ext cx="2320976" cy="64008"/>
          </a:xfrm>
          <a:prstGeom prst="rect">
            <a:avLst/>
          </a:prstGeom>
          <a:solidFill>
            <a:srgbClr val="0B6E8A"/>
          </a:solidFill>
          <a:ln w="12700">
            <a:solidFill>
              <a:srgbClr val="0B6E8A"/>
            </a:solidFill>
            <a:prstDash val="solid"/>
          </a:ln>
        </p:spPr>
      </p:sp>
      <p:sp>
        <p:nvSpPr>
          <p:cNvPr id="21" name="[p1] Forma"/>
          <p:cNvSpPr/>
          <p:nvPr/>
        </p:nvSpPr>
        <p:spPr>
          <a:xfrm>
            <a:off x="5199736" y="2720340"/>
            <a:ext cx="566928" cy="566928"/>
          </a:xfrm>
          <a:prstGeom prst="ellipse">
            <a:avLst/>
          </a:prstGeom>
          <a:solidFill>
            <a:srgbClr val="E3F4FA"/>
          </a:solidFill>
          <a:ln w="12700">
            <a:solidFill>
              <a:srgbClr val="E3F4FA"/>
            </a:solidFill>
            <a:prstDash val="solid"/>
          </a:ln>
        </p:spPr>
      </p:sp>
      <p:sp>
        <p:nvSpPr>
          <p:cNvPr id="22" name="[p1] Icono server"/>
          <p:cNvSpPr/>
          <p:nvPr/>
        </p:nvSpPr>
        <p:spPr>
          <a:xfrm>
            <a:off x="5335798" y="2856403"/>
            <a:ext cx="294803" cy="294803"/>
          </a:xfrm>
          <a:custGeom>
            <a:avLst/>
            <a:gdLst/>
            <a:ahLst/>
            <a:cxnLst/>
            <a:rect l="l" t="t" r="r" b="b"/>
            <a:pathLst>
              <a:path w="294803" h="294803">
                <a:moveTo>
                  <a:pt x="49134" y="24567"/>
                </a:moveTo>
                <a:lnTo>
                  <a:pt x="245669" y="24567"/>
                </a:lnTo>
                <a:cubicBezTo>
                  <a:pt x="259237" y="24567"/>
                  <a:pt x="270236" y="35566"/>
                  <a:pt x="270236" y="49134"/>
                </a:cubicBezTo>
                <a:lnTo>
                  <a:pt x="270236" y="98268"/>
                </a:lnTo>
                <a:cubicBezTo>
                  <a:pt x="270236" y="111835"/>
                  <a:pt x="259237" y="122834"/>
                  <a:pt x="245669" y="122834"/>
                </a:cubicBezTo>
                <a:lnTo>
                  <a:pt x="49134" y="122834"/>
                </a:lnTo>
                <a:cubicBezTo>
                  <a:pt x="35566" y="122834"/>
                  <a:pt x="24567" y="111835"/>
                  <a:pt x="24567" y="98268"/>
                </a:cubicBezTo>
                <a:lnTo>
                  <a:pt x="24567" y="49134"/>
                </a:lnTo>
                <a:cubicBezTo>
                  <a:pt x="24567" y="35566"/>
                  <a:pt x="35566" y="24567"/>
                  <a:pt x="49134" y="24567"/>
                </a:cubicBezTo>
                <a:close/>
                <a:moveTo>
                  <a:pt x="49134" y="171968"/>
                </a:moveTo>
                <a:lnTo>
                  <a:pt x="245669" y="171968"/>
                </a:lnTo>
                <a:cubicBezTo>
                  <a:pt x="259237" y="171968"/>
                  <a:pt x="270236" y="182967"/>
                  <a:pt x="270236" y="196535"/>
                </a:cubicBezTo>
                <a:lnTo>
                  <a:pt x="270236" y="245669"/>
                </a:lnTo>
                <a:cubicBezTo>
                  <a:pt x="270236" y="259237"/>
                  <a:pt x="259237" y="270236"/>
                  <a:pt x="245669" y="270236"/>
                </a:cubicBezTo>
                <a:lnTo>
                  <a:pt x="49134" y="270236"/>
                </a:lnTo>
                <a:cubicBezTo>
                  <a:pt x="35566" y="270236"/>
                  <a:pt x="24567" y="259237"/>
                  <a:pt x="24567" y="245669"/>
                </a:cubicBezTo>
                <a:lnTo>
                  <a:pt x="24567" y="196535"/>
                </a:lnTo>
                <a:cubicBezTo>
                  <a:pt x="24567" y="182967"/>
                  <a:pt x="35566" y="171968"/>
                  <a:pt x="49134" y="171968"/>
                </a:cubicBezTo>
                <a:close/>
                <a:moveTo>
                  <a:pt x="73701" y="73701"/>
                </a:moveTo>
                <a:lnTo>
                  <a:pt x="73823" y="73701"/>
                </a:lnTo>
                <a:moveTo>
                  <a:pt x="73701" y="221102"/>
                </a:moveTo>
                <a:lnTo>
                  <a:pt x="73823" y="221102"/>
                </a:lnTo>
              </a:path>
            </a:pathLst>
          </a:custGeom>
          <a:noFill/>
          <a:ln w="24567" cap="rnd">
            <a:solidFill>
              <a:srgbClr val="0B6E8A"/>
            </a:solidFill>
            <a:prstDash val="solid"/>
            <a:round/>
          </a:ln>
        </p:spPr>
      </p:sp>
      <p:sp>
        <p:nvSpPr>
          <p:cNvPr id="23" name="[p1] Forma"/>
          <p:cNvSpPr/>
          <p:nvPr/>
        </p:nvSpPr>
        <p:spPr>
          <a:xfrm>
            <a:off x="3665144"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B6E8A"/>
                </a:solidFill>
                <a:latin typeface="Segoe UI Semibold" pitchFamily="34" charset="0"/>
                <a:ea typeface="Segoe UI Semibold" pitchFamily="34" charset="-122"/>
                <a:cs typeface="Segoe UI Semibold" pitchFamily="34" charset="-120"/>
              </a:rPr>
              <a:t>17</a:t>
            </a:r>
            <a:endParaRPr lang="en-US" sz="5600" dirty="0"/>
          </a:p>
        </p:txBody>
      </p:sp>
      <p:sp>
        <p:nvSpPr>
          <p:cNvPr id="24" name="[p1] Forma"/>
          <p:cNvSpPr/>
          <p:nvPr/>
        </p:nvSpPr>
        <p:spPr>
          <a:xfrm>
            <a:off x="3665144"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25" name="[p1] Forma"/>
          <p:cNvSpPr/>
          <p:nvPr/>
        </p:nvSpPr>
        <p:spPr>
          <a:xfrm>
            <a:off x="3665144"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El mismo motor y la misma versión en las dos.</a:t>
            </a:r>
            <a:endParaRPr lang="en-US" sz="1500" dirty="0"/>
          </a:p>
        </p:txBody>
      </p:sp>
      <p:sp>
        <p:nvSpPr>
          <p:cNvPr id="26" name="[p2] Forma"/>
          <p:cNvSpPr/>
          <p:nvPr/>
        </p:nvSpPr>
        <p:spPr>
          <a:xfrm>
            <a:off x="6205576"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7" name="[p2] Forma"/>
          <p:cNvSpPr/>
          <p:nvPr/>
        </p:nvSpPr>
        <p:spPr>
          <a:xfrm>
            <a:off x="6333592" y="2482596"/>
            <a:ext cx="2320976" cy="64008"/>
          </a:xfrm>
          <a:prstGeom prst="rect">
            <a:avLst/>
          </a:prstGeom>
          <a:solidFill>
            <a:srgbClr val="AB243E"/>
          </a:solidFill>
          <a:ln w="12700">
            <a:solidFill>
              <a:srgbClr val="AB243E"/>
            </a:solidFill>
            <a:prstDash val="solid"/>
          </a:ln>
        </p:spPr>
      </p:sp>
      <p:sp>
        <p:nvSpPr>
          <p:cNvPr id="28" name="[p2] Forma"/>
          <p:cNvSpPr/>
          <p:nvPr/>
        </p:nvSpPr>
        <p:spPr>
          <a:xfrm>
            <a:off x="7996199" y="2720340"/>
            <a:ext cx="566928" cy="566928"/>
          </a:xfrm>
          <a:prstGeom prst="ellipse">
            <a:avLst/>
          </a:prstGeom>
          <a:solidFill>
            <a:srgbClr val="F7E3E7"/>
          </a:solidFill>
          <a:ln w="12700">
            <a:solidFill>
              <a:srgbClr val="F7E3E7"/>
            </a:solidFill>
            <a:prstDash val="solid"/>
          </a:ln>
        </p:spPr>
      </p:sp>
      <p:sp>
        <p:nvSpPr>
          <p:cNvPr id="29" name="[p2] Icono ban"/>
          <p:cNvSpPr/>
          <p:nvPr/>
        </p:nvSpPr>
        <p:spPr>
          <a:xfrm>
            <a:off x="8132262" y="2856403"/>
            <a:ext cx="294803" cy="294803"/>
          </a:xfrm>
          <a:custGeom>
            <a:avLst/>
            <a:gdLst/>
            <a:ahLst/>
            <a:cxnLst/>
            <a:rect l="l" t="t" r="r" b="b"/>
            <a:pathLst>
              <a:path w="294803" h="294803">
                <a:moveTo>
                  <a:pt x="270236" y="147401"/>
                </a:moveTo>
                <a:cubicBezTo>
                  <a:pt x="270236" y="215241"/>
                  <a:pt x="215241" y="270236"/>
                  <a:pt x="147401" y="270236"/>
                </a:cubicBezTo>
                <a:cubicBezTo>
                  <a:pt x="79562" y="270236"/>
                  <a:pt x="24567" y="215241"/>
                  <a:pt x="24567" y="147401"/>
                </a:cubicBezTo>
                <a:cubicBezTo>
                  <a:pt x="24567" y="79562"/>
                  <a:pt x="79562" y="24567"/>
                  <a:pt x="147401" y="24567"/>
                </a:cubicBezTo>
                <a:cubicBezTo>
                  <a:pt x="215241" y="24567"/>
                  <a:pt x="270236" y="79562"/>
                  <a:pt x="270236" y="147401"/>
                </a:cubicBezTo>
                <a:close/>
                <a:moveTo>
                  <a:pt x="60189" y="60189"/>
                </a:moveTo>
                <a:lnTo>
                  <a:pt x="234614" y="234614"/>
                </a:lnTo>
              </a:path>
            </a:pathLst>
          </a:custGeom>
          <a:noFill/>
          <a:ln w="24567" cap="rnd">
            <a:solidFill>
              <a:srgbClr val="AB243E"/>
            </a:solidFill>
            <a:prstDash val="solid"/>
            <a:round/>
          </a:ln>
        </p:spPr>
      </p:sp>
      <p:sp>
        <p:nvSpPr>
          <p:cNvPr id="30" name="[p2] Forma"/>
          <p:cNvSpPr/>
          <p:nvPr/>
        </p:nvSpPr>
        <p:spPr>
          <a:xfrm>
            <a:off x="6461608"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AB243E"/>
                </a:solidFill>
                <a:latin typeface="Segoe UI Semibold" pitchFamily="34" charset="0"/>
                <a:ea typeface="Segoe UI Semibold" pitchFamily="34" charset="-122"/>
                <a:cs typeface="Segoe UI Semibold" pitchFamily="34" charset="-120"/>
              </a:rPr>
              <a:t>0</a:t>
            </a:r>
            <a:endParaRPr lang="en-US" sz="5600" dirty="0"/>
          </a:p>
        </p:txBody>
      </p:sp>
      <p:sp>
        <p:nvSpPr>
          <p:cNvPr id="31" name="[p2] Forma"/>
          <p:cNvSpPr/>
          <p:nvPr/>
        </p:nvSpPr>
        <p:spPr>
          <a:xfrm>
            <a:off x="6461608"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JOIN entre bases</a:t>
            </a:r>
            <a:endParaRPr lang="en-US" sz="1800" dirty="0"/>
          </a:p>
        </p:txBody>
      </p:sp>
      <p:sp>
        <p:nvSpPr>
          <p:cNvPr id="32" name="[p2] Forma"/>
          <p:cNvSpPr/>
          <p:nvPr/>
        </p:nvSpPr>
        <p:spPr>
          <a:xfrm>
            <a:off x="6461608"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Ni consultas ni llaves foráneas que crucen de una a otra.</a:t>
            </a:r>
            <a:endParaRPr lang="en-US" sz="1500" dirty="0"/>
          </a:p>
        </p:txBody>
      </p:sp>
      <p:sp>
        <p:nvSpPr>
          <p:cNvPr id="33" name="[p3] Forma"/>
          <p:cNvSpPr/>
          <p:nvPr/>
        </p:nvSpPr>
        <p:spPr>
          <a:xfrm>
            <a:off x="9002039" y="2482596"/>
            <a:ext cx="2577008" cy="3108960"/>
          </a:xfrm>
          <a:prstGeom prst="roundRect">
            <a:avLst>
              <a:gd name="adj" fmla="val 496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p3] Forma"/>
          <p:cNvSpPr/>
          <p:nvPr/>
        </p:nvSpPr>
        <p:spPr>
          <a:xfrm>
            <a:off x="9130055" y="2482596"/>
            <a:ext cx="2320976" cy="64008"/>
          </a:xfrm>
          <a:prstGeom prst="rect">
            <a:avLst/>
          </a:prstGeom>
          <a:solidFill>
            <a:srgbClr val="0A6648"/>
          </a:solidFill>
          <a:ln w="12700">
            <a:solidFill>
              <a:srgbClr val="0A6648"/>
            </a:solidFill>
            <a:prstDash val="solid"/>
          </a:ln>
        </p:spPr>
      </p:sp>
      <p:sp>
        <p:nvSpPr>
          <p:cNvPr id="35" name="[p3] Forma"/>
          <p:cNvSpPr/>
          <p:nvPr/>
        </p:nvSpPr>
        <p:spPr>
          <a:xfrm>
            <a:off x="10792663" y="2720340"/>
            <a:ext cx="566928" cy="566928"/>
          </a:xfrm>
          <a:prstGeom prst="ellipse">
            <a:avLst/>
          </a:prstGeom>
          <a:solidFill>
            <a:srgbClr val="E1F1EA"/>
          </a:solidFill>
          <a:ln w="12700">
            <a:solidFill>
              <a:srgbClr val="E1F1EA"/>
            </a:solidFill>
            <a:prstDash val="solid"/>
          </a:ln>
        </p:spPr>
      </p:sp>
      <p:sp>
        <p:nvSpPr>
          <p:cNvPr id="36" name="[p3] Icono hard-drive"/>
          <p:cNvSpPr/>
          <p:nvPr/>
        </p:nvSpPr>
        <p:spPr>
          <a:xfrm>
            <a:off x="10928726" y="2856403"/>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0A6648"/>
            </a:solidFill>
            <a:prstDash val="solid"/>
            <a:round/>
          </a:ln>
        </p:spPr>
      </p:sp>
      <p:sp>
        <p:nvSpPr>
          <p:cNvPr id="37" name="[p3] Forma"/>
          <p:cNvSpPr/>
          <p:nvPr/>
        </p:nvSpPr>
        <p:spPr>
          <a:xfrm>
            <a:off x="9258071" y="2665476"/>
            <a:ext cx="1479728" cy="871728"/>
          </a:xfrm>
          <a:prstGeom prst="rect">
            <a:avLst/>
          </a:prstGeom>
          <a:noFill/>
          <a:ln/>
        </p:spPr>
        <p:txBody>
          <a:bodyPr wrap="square" lIns="0" tIns="0" rIns="0" bIns="0" rtlCol="0" anchor="ctr">
            <a:normAutofit/>
          </a:bodyPr>
          <a:lstStyle/>
          <a:p>
            <a:pPr algn="l" indent="0" marL="0">
              <a:buNone/>
            </a:pPr>
            <a:r>
              <a:rPr lang="en-US" sz="5600" b="1" dirty="0">
                <a:solidFill>
                  <a:srgbClr val="0A6648"/>
                </a:solidFill>
                <a:latin typeface="Segoe UI Semibold" pitchFamily="34" charset="0"/>
                <a:ea typeface="Segoe UI Semibold" pitchFamily="34" charset="-122"/>
                <a:cs typeface="Segoe UI Semibold" pitchFamily="34" charset="-120"/>
              </a:rPr>
              <a:t>1</a:t>
            </a:r>
            <a:endParaRPr lang="en-US" sz="5600" dirty="0"/>
          </a:p>
        </p:txBody>
      </p:sp>
      <p:sp>
        <p:nvSpPr>
          <p:cNvPr id="38" name="[p3] Forma"/>
          <p:cNvSpPr/>
          <p:nvPr/>
        </p:nvSpPr>
        <p:spPr>
          <a:xfrm>
            <a:off x="9258071" y="3518916"/>
            <a:ext cx="2119808" cy="457200"/>
          </a:xfrm>
          <a:prstGeom prst="rect">
            <a:avLst/>
          </a:prstGeom>
          <a:noFill/>
          <a:ln/>
        </p:spPr>
        <p:txBody>
          <a:bodyPr wrap="square" lIns="0" tIns="0" rIns="0" bIns="0" rtlCol="0" anchor="t">
            <a:normAutofit/>
          </a:bodyPr>
          <a:lstStyle/>
          <a:p>
            <a:pPr algn="l" indent="0" marL="0">
              <a:buNone/>
            </a:pPr>
            <a:r>
              <a:rPr lang="en-US" sz="1800" b="1" dirty="0">
                <a:solidFill>
                  <a:srgbClr val="0B1A3C"/>
                </a:solidFill>
                <a:latin typeface="Segoe UI Semibold" pitchFamily="34" charset="0"/>
                <a:ea typeface="Segoe UI Semibold" pitchFamily="34" charset="-122"/>
                <a:cs typeface="Segoe UI Semibold" pitchFamily="34" charset="-120"/>
              </a:rPr>
              <a:t>disco por base</a:t>
            </a:r>
            <a:endParaRPr lang="en-US" sz="1800" dirty="0"/>
          </a:p>
        </p:txBody>
      </p:sp>
      <p:sp>
        <p:nvSpPr>
          <p:cNvPr id="39" name="[p3] Forma"/>
          <p:cNvSpPr/>
          <p:nvPr/>
        </p:nvSpPr>
        <p:spPr>
          <a:xfrm>
            <a:off x="9258071" y="4021836"/>
            <a:ext cx="2119808" cy="1478280"/>
          </a:xfrm>
          <a:prstGeom prst="rect">
            <a:avLst/>
          </a:prstGeom>
          <a:noFill/>
          <a:ln/>
        </p:spPr>
        <p:txBody>
          <a:bodyPr wrap="square" lIns="0" tIns="0" rIns="0" bIns="0" rtlCol="0" anchor="t">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En Kubernetes, los datos sobreviven aunque el contenedor se reinicie.</a:t>
            </a:r>
            <a:endParaRPr lang="en-US" sz="1500" dirty="0"/>
          </a:p>
        </p:txBody>
      </p:sp>
      <p:sp>
        <p:nvSpPr>
          <p:cNvPr id="40" name="Text 3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4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00"/>
                                        <p:tgtEl>
                                          <p:spTgt spid="3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estructura de las bases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Tres tablas en dos bases, y una sola cosa cruza la frontera: el número del evento.</a:t>
            </a:r>
            <a:endParaRPr lang="en-US" sz="1700" dirty="0"/>
          </a:p>
        </p:txBody>
      </p:sp>
      <p:sp>
        <p:nvSpPr>
          <p:cNvPr id="12" name="Shape 10"/>
          <p:cNvSpPr/>
          <p:nvPr/>
        </p:nvSpPr>
        <p:spPr>
          <a:xfrm>
            <a:off x="612648" y="1755648"/>
            <a:ext cx="6152693" cy="4041648"/>
          </a:xfrm>
          <a:prstGeom prst="roundRect">
            <a:avLst>
              <a:gd name="adj" fmla="val 3167"/>
            </a:avLst>
          </a:prstGeom>
          <a:solidFill>
            <a:srgbClr val="F0F4FA"/>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2648" y="1755648"/>
            <a:ext cx="6152693" cy="749808"/>
          </a:xfrm>
          <a:prstGeom prst="roundRect">
            <a:avLst>
              <a:gd name="adj" fmla="val 17073"/>
            </a:avLst>
          </a:prstGeom>
          <a:solidFill>
            <a:srgbClr val="0B2350"/>
          </a:solidFill>
          <a:ln w="12700">
            <a:solidFill>
              <a:srgbClr val="0B2350"/>
            </a:solidFill>
            <a:prstDash val="solid"/>
          </a:ln>
        </p:spPr>
      </p:sp>
      <p:sp>
        <p:nvSpPr>
          <p:cNvPr id="14" name="Shape 12"/>
          <p:cNvSpPr/>
          <p:nvPr/>
        </p:nvSpPr>
        <p:spPr>
          <a:xfrm>
            <a:off x="612648" y="2212848"/>
            <a:ext cx="6152693" cy="292608"/>
          </a:xfrm>
          <a:prstGeom prst="rect">
            <a:avLst/>
          </a:prstGeom>
          <a:solidFill>
            <a:srgbClr val="0B2350"/>
          </a:solidFill>
          <a:ln w="12700">
            <a:solidFill>
              <a:srgbClr val="0B2350"/>
            </a:solidFill>
            <a:prstDash val="solid"/>
          </a:ln>
        </p:spPr>
      </p:sp>
      <p:sp>
        <p:nvSpPr>
          <p:cNvPr id="15" name="Icono database"/>
          <p:cNvSpPr/>
          <p:nvPr/>
        </p:nvSpPr>
        <p:spPr>
          <a:xfrm>
            <a:off x="832104" y="1938528"/>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16" name="Text 14"/>
          <p:cNvSpPr/>
          <p:nvPr/>
        </p:nvSpPr>
        <p:spPr>
          <a:xfrm>
            <a:off x="1362456" y="1828800"/>
            <a:ext cx="5238293"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Segoe UI Semibold" pitchFamily="34" charset="0"/>
                <a:ea typeface="Segoe UI Semibold" pitchFamily="34" charset="-122"/>
                <a:cs typeface="Segoe UI Semibold" pitchFamily="34" charset="-120"/>
              </a:rPr>
              <a:t>db-solicitudes</a:t>
            </a:r>
            <a:endParaRPr lang="en-US" sz="1800" dirty="0"/>
          </a:p>
        </p:txBody>
      </p:sp>
      <p:sp>
        <p:nvSpPr>
          <p:cNvPr id="17" name="Text 15"/>
          <p:cNvSpPr/>
          <p:nvPr/>
        </p:nvSpPr>
        <p:spPr>
          <a:xfrm>
            <a:off x="1362456" y="2176272"/>
            <a:ext cx="5238293"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schema.sql</a:t>
            </a:r>
            <a:endParaRPr lang="en-US" sz="1150" dirty="0"/>
          </a:p>
        </p:txBody>
      </p:sp>
      <p:sp>
        <p:nvSpPr>
          <p:cNvPr id="18" name="Shape 16"/>
          <p:cNvSpPr/>
          <p:nvPr/>
        </p:nvSpPr>
        <p:spPr>
          <a:xfrm>
            <a:off x="841248" y="2715768"/>
            <a:ext cx="2733446" cy="2852928"/>
          </a:xfrm>
          <a:prstGeom prst="roundRect">
            <a:avLst>
              <a:gd name="adj" fmla="val 46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841248" y="2715768"/>
            <a:ext cx="2733446" cy="512064"/>
          </a:xfrm>
          <a:prstGeom prst="roundRect">
            <a:avLst>
              <a:gd name="adj" fmla="val 25000"/>
            </a:avLst>
          </a:prstGeom>
          <a:solidFill>
            <a:srgbClr val="E8EEF8"/>
          </a:solidFill>
          <a:ln w="12700">
            <a:solidFill>
              <a:srgbClr val="E8EEF8"/>
            </a:solidFill>
            <a:prstDash val="solid"/>
          </a:ln>
        </p:spPr>
      </p:sp>
      <p:sp>
        <p:nvSpPr>
          <p:cNvPr id="20" name="Shape 18"/>
          <p:cNvSpPr/>
          <p:nvPr/>
        </p:nvSpPr>
        <p:spPr>
          <a:xfrm>
            <a:off x="841248" y="3044952"/>
            <a:ext cx="2733446" cy="182880"/>
          </a:xfrm>
          <a:prstGeom prst="rect">
            <a:avLst/>
          </a:prstGeom>
          <a:solidFill>
            <a:srgbClr val="E8EEF8"/>
          </a:solidFill>
          <a:ln w="12700">
            <a:solidFill>
              <a:srgbClr val="E8EEF8"/>
            </a:solidFill>
            <a:prstDash val="solid"/>
          </a:ln>
        </p:spPr>
      </p:sp>
      <p:sp>
        <p:nvSpPr>
          <p:cNvPr id="21" name="Icono table"/>
          <p:cNvSpPr/>
          <p:nvPr/>
        </p:nvSpPr>
        <p:spPr>
          <a:xfrm>
            <a:off x="987552"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22" name="Text 20"/>
          <p:cNvSpPr/>
          <p:nvPr/>
        </p:nvSpPr>
        <p:spPr>
          <a:xfrm>
            <a:off x="1353312" y="2770632"/>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solicitud</a:t>
            </a:r>
            <a:endParaRPr lang="en-US" sz="1500" dirty="0"/>
          </a:p>
        </p:txBody>
      </p:sp>
      <p:sp>
        <p:nvSpPr>
          <p:cNvPr id="23" name="Icono key-round"/>
          <p:cNvSpPr/>
          <p:nvPr/>
        </p:nvSpPr>
        <p:spPr>
          <a:xfrm>
            <a:off x="996696"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24" name="Text 22"/>
          <p:cNvSpPr/>
          <p:nvPr/>
        </p:nvSpPr>
        <p:spPr>
          <a:xfrm>
            <a:off x="1280160" y="3264408"/>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 · VARCHAR(20)</a:t>
            </a:r>
            <a:endParaRPr lang="en-US" sz="1400" dirty="0"/>
          </a:p>
        </p:txBody>
      </p:sp>
      <p:sp>
        <p:nvSpPr>
          <p:cNvPr id="25" name="Shape 23"/>
          <p:cNvSpPr/>
          <p:nvPr/>
        </p:nvSpPr>
        <p:spPr>
          <a:xfrm>
            <a:off x="978408" y="3710635"/>
            <a:ext cx="2459126" cy="0"/>
          </a:xfrm>
          <a:prstGeom prst="line">
            <a:avLst/>
          </a:prstGeom>
          <a:noFill/>
          <a:ln w="9525">
            <a:solidFill>
              <a:srgbClr val="DFE6F0"/>
            </a:solidFill>
            <a:prstDash val="solid"/>
          </a:ln>
        </p:spPr>
      </p:sp>
      <p:sp>
        <p:nvSpPr>
          <p:cNvPr id="26" name="Icono hash"/>
          <p:cNvSpPr/>
          <p:nvPr/>
        </p:nvSpPr>
        <p:spPr>
          <a:xfrm>
            <a:off x="996696" y="3820363"/>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27" name="Text 25"/>
          <p:cNvSpPr/>
          <p:nvPr/>
        </p:nvSpPr>
        <p:spPr>
          <a:xfrm>
            <a:off x="1280160" y="3710635"/>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pPr indent="0" marL="0">
              <a:buNone/>
            </a:pPr>
            <a:r>
              <a:rPr lang="en-US" sz="1400" dirty="0">
                <a:solidFill>
                  <a:srgbClr val="55627E"/>
                </a:solidFill>
                <a:latin typeface="Segoe UI" pitchFamily="34" charset="0"/>
                <a:ea typeface="Segoe UI" pitchFamily="34" charset="-122"/>
                <a:cs typeface="Segoe UI" pitchFamily="34" charset="-120"/>
              </a:rPr>
              <a:t>  VARCHAR(20)</a:t>
            </a:r>
            <a:endParaRPr lang="en-US" sz="1400" dirty="0"/>
          </a:p>
        </p:txBody>
      </p:sp>
      <p:sp>
        <p:nvSpPr>
          <p:cNvPr id="28" name="Shape 26"/>
          <p:cNvSpPr/>
          <p:nvPr/>
        </p:nvSpPr>
        <p:spPr>
          <a:xfrm>
            <a:off x="978408" y="4156862"/>
            <a:ext cx="2459126" cy="0"/>
          </a:xfrm>
          <a:prstGeom prst="line">
            <a:avLst/>
          </a:prstGeom>
          <a:noFill/>
          <a:ln w="9525">
            <a:solidFill>
              <a:srgbClr val="DFE6F0"/>
            </a:solidFill>
            <a:prstDash val="solid"/>
          </a:ln>
        </p:spPr>
      </p:sp>
      <p:sp>
        <p:nvSpPr>
          <p:cNvPr id="29" name="Icono hash"/>
          <p:cNvSpPr/>
          <p:nvPr/>
        </p:nvSpPr>
        <p:spPr>
          <a:xfrm>
            <a:off x="996696" y="426659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30" name="Text 28"/>
          <p:cNvSpPr/>
          <p:nvPr/>
        </p:nvSpPr>
        <p:spPr>
          <a:xfrm>
            <a:off x="1280160" y="4156862"/>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estado</a:t>
            </a:r>
            <a:pPr indent="0" marL="0">
              <a:buNone/>
            </a:pPr>
            <a:r>
              <a:rPr lang="en-US" sz="1300" dirty="0">
                <a:solidFill>
                  <a:srgbClr val="55627E"/>
                </a:solidFill>
                <a:latin typeface="Segoe UI" pitchFamily="34" charset="0"/>
                <a:ea typeface="Segoe UI" pitchFamily="34" charset="-122"/>
                <a:cs typeface="Segoe UI" pitchFamily="34" charset="-120"/>
              </a:rPr>
              <a:t>  CHECK: 4 estados</a:t>
            </a:r>
            <a:endParaRPr lang="en-US" sz="1300" dirty="0"/>
          </a:p>
        </p:txBody>
      </p:sp>
      <p:sp>
        <p:nvSpPr>
          <p:cNvPr id="31" name="[p1] Forma"/>
          <p:cNvSpPr/>
          <p:nvPr/>
        </p:nvSpPr>
        <p:spPr>
          <a:xfrm>
            <a:off x="3803294" y="2715768"/>
            <a:ext cx="2733446" cy="2852928"/>
          </a:xfrm>
          <a:prstGeom prst="roundRect">
            <a:avLst>
              <a:gd name="adj" fmla="val 46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2" name="[p1] Forma"/>
          <p:cNvSpPr/>
          <p:nvPr/>
        </p:nvSpPr>
        <p:spPr>
          <a:xfrm>
            <a:off x="3803294" y="2715768"/>
            <a:ext cx="2733446" cy="512064"/>
          </a:xfrm>
          <a:prstGeom prst="roundRect">
            <a:avLst>
              <a:gd name="adj" fmla="val 25000"/>
            </a:avLst>
          </a:prstGeom>
          <a:solidFill>
            <a:srgbClr val="E8EEF8"/>
          </a:solidFill>
          <a:ln w="12700">
            <a:solidFill>
              <a:srgbClr val="E8EEF8"/>
            </a:solidFill>
            <a:prstDash val="solid"/>
          </a:ln>
        </p:spPr>
      </p:sp>
      <p:sp>
        <p:nvSpPr>
          <p:cNvPr id="33" name="[p1] Forma"/>
          <p:cNvSpPr/>
          <p:nvPr/>
        </p:nvSpPr>
        <p:spPr>
          <a:xfrm>
            <a:off x="3803294" y="3044952"/>
            <a:ext cx="2733446" cy="182880"/>
          </a:xfrm>
          <a:prstGeom prst="rect">
            <a:avLst/>
          </a:prstGeom>
          <a:solidFill>
            <a:srgbClr val="E8EEF8"/>
          </a:solidFill>
          <a:ln w="12700">
            <a:solidFill>
              <a:srgbClr val="E8EEF8"/>
            </a:solidFill>
            <a:prstDash val="solid"/>
          </a:ln>
        </p:spPr>
      </p:sp>
      <p:sp>
        <p:nvSpPr>
          <p:cNvPr id="34" name="[p1] Icono table"/>
          <p:cNvSpPr/>
          <p:nvPr/>
        </p:nvSpPr>
        <p:spPr>
          <a:xfrm>
            <a:off x="3949598"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2350"/>
            </a:solidFill>
            <a:prstDash val="solid"/>
            <a:round/>
          </a:ln>
        </p:spPr>
      </p:sp>
      <p:sp>
        <p:nvSpPr>
          <p:cNvPr id="35" name="[p1] Forma"/>
          <p:cNvSpPr/>
          <p:nvPr/>
        </p:nvSpPr>
        <p:spPr>
          <a:xfrm>
            <a:off x="4315358" y="2770632"/>
            <a:ext cx="2093366" cy="402336"/>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evento</a:t>
            </a:r>
            <a:endParaRPr lang="en-US" sz="1500" dirty="0"/>
          </a:p>
        </p:txBody>
      </p:sp>
      <p:sp>
        <p:nvSpPr>
          <p:cNvPr id="36" name="[p1] Icono key-round"/>
          <p:cNvSpPr/>
          <p:nvPr/>
        </p:nvSpPr>
        <p:spPr>
          <a:xfrm>
            <a:off x="3958742"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37" name="[p1] Forma"/>
          <p:cNvSpPr/>
          <p:nvPr/>
        </p:nvSpPr>
        <p:spPr>
          <a:xfrm>
            <a:off x="4242206" y="3264408"/>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id</a:t>
            </a:r>
            <a:pPr indent="0" marL="0">
              <a:buNone/>
            </a:pPr>
            <a:r>
              <a:rPr lang="en-US" sz="1400" dirty="0">
                <a:solidFill>
                  <a:srgbClr val="55627E"/>
                </a:solidFill>
                <a:latin typeface="Segoe UI" pitchFamily="34" charset="0"/>
                <a:ea typeface="Segoe UI" pitchFamily="34" charset="-122"/>
                <a:cs typeface="Segoe UI" pitchFamily="34" charset="-120"/>
              </a:rPr>
              <a:t>  PK · BIGSERIAL</a:t>
            </a:r>
            <a:endParaRPr lang="en-US" sz="1400" dirty="0"/>
          </a:p>
        </p:txBody>
      </p:sp>
      <p:sp>
        <p:nvSpPr>
          <p:cNvPr id="38" name="[p1] Forma"/>
          <p:cNvSpPr/>
          <p:nvPr/>
        </p:nvSpPr>
        <p:spPr>
          <a:xfrm>
            <a:off x="3940454" y="3710635"/>
            <a:ext cx="2459126" cy="0"/>
          </a:xfrm>
          <a:prstGeom prst="line">
            <a:avLst/>
          </a:prstGeom>
          <a:noFill/>
          <a:ln w="9525">
            <a:solidFill>
              <a:srgbClr val="DFE6F0"/>
            </a:solidFill>
            <a:prstDash val="solid"/>
          </a:ln>
        </p:spPr>
      </p:sp>
      <p:sp>
        <p:nvSpPr>
          <p:cNvPr id="39" name="[p1] Icono key-round"/>
          <p:cNvSpPr/>
          <p:nvPr/>
        </p:nvSpPr>
        <p:spPr>
          <a:xfrm>
            <a:off x="3958742" y="3820363"/>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40" name="[p1] Forma"/>
          <p:cNvSpPr/>
          <p:nvPr/>
        </p:nvSpPr>
        <p:spPr>
          <a:xfrm>
            <a:off x="4242206" y="3710635"/>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solicitud_id</a:t>
            </a:r>
            <a:pPr indent="0" marL="0">
              <a:buNone/>
            </a:pPr>
            <a:r>
              <a:rPr lang="en-US" sz="1300" dirty="0">
                <a:solidFill>
                  <a:srgbClr val="55627E"/>
                </a:solidFill>
                <a:latin typeface="Segoe UI" pitchFamily="34" charset="0"/>
                <a:ea typeface="Segoe UI" pitchFamily="34" charset="-122"/>
                <a:cs typeface="Segoe UI" pitchFamily="34" charset="-120"/>
              </a:rPr>
              <a:t>  FK a solicitud</a:t>
            </a:r>
            <a:endParaRPr lang="en-US" sz="1300" dirty="0"/>
          </a:p>
        </p:txBody>
      </p:sp>
      <p:sp>
        <p:nvSpPr>
          <p:cNvPr id="41" name="[p1] Forma"/>
          <p:cNvSpPr/>
          <p:nvPr/>
        </p:nvSpPr>
        <p:spPr>
          <a:xfrm>
            <a:off x="3940454" y="4156862"/>
            <a:ext cx="2459126" cy="0"/>
          </a:xfrm>
          <a:prstGeom prst="line">
            <a:avLst/>
          </a:prstGeom>
          <a:noFill/>
          <a:ln w="9525">
            <a:solidFill>
              <a:srgbClr val="DFE6F0"/>
            </a:solidFill>
            <a:prstDash val="solid"/>
          </a:ln>
        </p:spPr>
      </p:sp>
      <p:sp>
        <p:nvSpPr>
          <p:cNvPr id="42" name="[p1] Icono hash"/>
          <p:cNvSpPr/>
          <p:nvPr/>
        </p:nvSpPr>
        <p:spPr>
          <a:xfrm>
            <a:off x="3958742" y="4266590"/>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3" name="[p1] Forma"/>
          <p:cNvSpPr/>
          <p:nvPr/>
        </p:nvSpPr>
        <p:spPr>
          <a:xfrm>
            <a:off x="4242206" y="4156862"/>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tipo</a:t>
            </a:r>
            <a:pPr indent="0" marL="0">
              <a:buNone/>
            </a:pPr>
            <a:r>
              <a:rPr lang="en-US" sz="1400" dirty="0">
                <a:solidFill>
                  <a:srgbClr val="55627E"/>
                </a:solidFill>
                <a:latin typeface="Segoe UI" pitchFamily="34" charset="0"/>
                <a:ea typeface="Segoe UI" pitchFamily="34" charset="-122"/>
                <a:cs typeface="Segoe UI" pitchFamily="34" charset="-120"/>
              </a:rPr>
              <a:t>  SolicitudEnviada</a:t>
            </a:r>
            <a:endParaRPr lang="en-US" sz="1400" dirty="0"/>
          </a:p>
        </p:txBody>
      </p:sp>
      <p:sp>
        <p:nvSpPr>
          <p:cNvPr id="44" name="[p1] Forma"/>
          <p:cNvSpPr/>
          <p:nvPr/>
        </p:nvSpPr>
        <p:spPr>
          <a:xfrm>
            <a:off x="3940454" y="4603090"/>
            <a:ext cx="2459126" cy="0"/>
          </a:xfrm>
          <a:prstGeom prst="line">
            <a:avLst/>
          </a:prstGeom>
          <a:noFill/>
          <a:ln w="9525">
            <a:solidFill>
              <a:srgbClr val="DFE6F0"/>
            </a:solidFill>
            <a:prstDash val="solid"/>
          </a:ln>
        </p:spPr>
      </p:sp>
      <p:sp>
        <p:nvSpPr>
          <p:cNvPr id="45" name="[p1] Icono hash"/>
          <p:cNvSpPr/>
          <p:nvPr/>
        </p:nvSpPr>
        <p:spPr>
          <a:xfrm>
            <a:off x="3958742" y="4712818"/>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6" name="[p1] Forma"/>
          <p:cNvSpPr/>
          <p:nvPr/>
        </p:nvSpPr>
        <p:spPr>
          <a:xfrm>
            <a:off x="4242206" y="4603090"/>
            <a:ext cx="22030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UUID</a:t>
            </a:r>
            <a:endParaRPr lang="en-US" sz="1400" dirty="0"/>
          </a:p>
        </p:txBody>
      </p:sp>
      <p:sp>
        <p:nvSpPr>
          <p:cNvPr id="47" name="[p1] Forma"/>
          <p:cNvSpPr/>
          <p:nvPr/>
        </p:nvSpPr>
        <p:spPr>
          <a:xfrm>
            <a:off x="3940454" y="5049317"/>
            <a:ext cx="2459126" cy="0"/>
          </a:xfrm>
          <a:prstGeom prst="line">
            <a:avLst/>
          </a:prstGeom>
          <a:noFill/>
          <a:ln w="9525">
            <a:solidFill>
              <a:srgbClr val="DFE6F0"/>
            </a:solidFill>
            <a:prstDash val="solid"/>
          </a:ln>
        </p:spPr>
      </p:sp>
      <p:sp>
        <p:nvSpPr>
          <p:cNvPr id="48" name="[p1] Icono hash"/>
          <p:cNvSpPr/>
          <p:nvPr/>
        </p:nvSpPr>
        <p:spPr>
          <a:xfrm>
            <a:off x="3958742" y="5159045"/>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49" name="[p1] Forma"/>
          <p:cNvSpPr/>
          <p:nvPr/>
        </p:nvSpPr>
        <p:spPr>
          <a:xfrm>
            <a:off x="4242206" y="5049317"/>
            <a:ext cx="2203094" cy="446227"/>
          </a:xfrm>
          <a:prstGeom prst="rect">
            <a:avLst/>
          </a:prstGeom>
          <a:noFill/>
          <a:ln/>
        </p:spPr>
        <p:txBody>
          <a:bodyPr wrap="square" lIns="0" tIns="0" rIns="0" bIns="0" rtlCol="0" anchor="ctr">
            <a:normAutofit/>
          </a:bodyPr>
          <a:lstStyle/>
          <a:p>
            <a:pPr indent="0" marL="0">
              <a:buNone/>
            </a:pPr>
            <a:r>
              <a:rPr lang="en-US" sz="1300" b="1" dirty="0">
                <a:solidFill>
                  <a:srgbClr val="0B1A3C"/>
                </a:solidFill>
                <a:latin typeface="Consolas" pitchFamily="34" charset="0"/>
                <a:ea typeface="Consolas" pitchFamily="34" charset="-122"/>
                <a:cs typeface="Consolas" pitchFamily="34" charset="-120"/>
              </a:rPr>
              <a:t>procesado</a:t>
            </a:r>
            <a:pPr indent="0" marL="0">
              <a:buNone/>
            </a:pPr>
            <a:r>
              <a:rPr lang="en-US" sz="1300" dirty="0">
                <a:solidFill>
                  <a:srgbClr val="55627E"/>
                </a:solidFill>
                <a:latin typeface="Segoe UI" pitchFamily="34" charset="0"/>
                <a:ea typeface="Segoe UI" pitchFamily="34" charset="-122"/>
                <a:cs typeface="Segoe UI" pitchFamily="34" charset="-120"/>
              </a:rPr>
              <a:t>  false = pendiente</a:t>
            </a:r>
            <a:endParaRPr lang="en-US" sz="1300" dirty="0"/>
          </a:p>
        </p:txBody>
      </p:sp>
      <p:sp>
        <p:nvSpPr>
          <p:cNvPr id="50" name="[p2] Forma"/>
          <p:cNvSpPr/>
          <p:nvPr/>
        </p:nvSpPr>
        <p:spPr>
          <a:xfrm>
            <a:off x="8502701" y="1755648"/>
            <a:ext cx="3076346" cy="4041648"/>
          </a:xfrm>
          <a:prstGeom prst="roundRect">
            <a:avLst>
              <a:gd name="adj" fmla="val 4161"/>
            </a:avLst>
          </a:prstGeom>
          <a:solidFill>
            <a:srgbClr val="EDF8FC"/>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1" name="[p2] Forma"/>
          <p:cNvSpPr/>
          <p:nvPr/>
        </p:nvSpPr>
        <p:spPr>
          <a:xfrm>
            <a:off x="8502701" y="1755648"/>
            <a:ext cx="3076346" cy="749808"/>
          </a:xfrm>
          <a:prstGeom prst="roundRect">
            <a:avLst>
              <a:gd name="adj" fmla="val 17073"/>
            </a:avLst>
          </a:prstGeom>
          <a:solidFill>
            <a:srgbClr val="0B6E8A"/>
          </a:solidFill>
          <a:ln w="12700">
            <a:solidFill>
              <a:srgbClr val="0B6E8A"/>
            </a:solidFill>
            <a:prstDash val="solid"/>
          </a:ln>
        </p:spPr>
      </p:sp>
      <p:sp>
        <p:nvSpPr>
          <p:cNvPr id="52" name="[p2] Forma"/>
          <p:cNvSpPr/>
          <p:nvPr/>
        </p:nvSpPr>
        <p:spPr>
          <a:xfrm>
            <a:off x="8502701" y="2212848"/>
            <a:ext cx="3076346" cy="292608"/>
          </a:xfrm>
          <a:prstGeom prst="rect">
            <a:avLst/>
          </a:prstGeom>
          <a:solidFill>
            <a:srgbClr val="0B6E8A"/>
          </a:solidFill>
          <a:ln w="12700">
            <a:solidFill>
              <a:srgbClr val="0B6E8A"/>
            </a:solidFill>
            <a:prstDash val="solid"/>
          </a:ln>
        </p:spPr>
      </p:sp>
      <p:sp>
        <p:nvSpPr>
          <p:cNvPr id="53" name="[p2] Icono database"/>
          <p:cNvSpPr/>
          <p:nvPr/>
        </p:nvSpPr>
        <p:spPr>
          <a:xfrm>
            <a:off x="8722157" y="1938528"/>
            <a:ext cx="402336" cy="402336"/>
          </a:xfrm>
          <a:custGeom>
            <a:avLst/>
            <a:gdLst/>
            <a:ahLst/>
            <a:cxnLst/>
            <a:rect l="l" t="t" r="r" b="b"/>
            <a:pathLst>
              <a:path w="402336" h="402336">
                <a:moveTo>
                  <a:pt x="352044" y="83820"/>
                </a:moveTo>
                <a:cubicBezTo>
                  <a:pt x="352044" y="111596"/>
                  <a:pt x="284495" y="134112"/>
                  <a:pt x="201168" y="134112"/>
                </a:cubicBezTo>
                <a:cubicBezTo>
                  <a:pt x="117841" y="134112"/>
                  <a:pt x="50292" y="111596"/>
                  <a:pt x="50292" y="83820"/>
                </a:cubicBezTo>
                <a:cubicBezTo>
                  <a:pt x="50292" y="56044"/>
                  <a:pt x="117841" y="33528"/>
                  <a:pt x="201168" y="33528"/>
                </a:cubicBezTo>
                <a:cubicBezTo>
                  <a:pt x="284495" y="33528"/>
                  <a:pt x="352044" y="56044"/>
                  <a:pt x="352044" y="83820"/>
                </a:cubicBezTo>
                <a:close/>
                <a:moveTo>
                  <a:pt x="50292" y="83820"/>
                </a:moveTo>
                <a:lnTo>
                  <a:pt x="50292" y="318516"/>
                </a:lnTo>
                <a:cubicBezTo>
                  <a:pt x="50292" y="346292"/>
                  <a:pt x="117841" y="368808"/>
                  <a:pt x="201168" y="368808"/>
                </a:cubicBezTo>
                <a:cubicBezTo>
                  <a:pt x="284495" y="368808"/>
                  <a:pt x="352044" y="346292"/>
                  <a:pt x="352044" y="318516"/>
                </a:cubicBezTo>
                <a:lnTo>
                  <a:pt x="352044" y="83820"/>
                </a:lnTo>
                <a:moveTo>
                  <a:pt x="50292" y="201168"/>
                </a:moveTo>
                <a:cubicBezTo>
                  <a:pt x="50292" y="228944"/>
                  <a:pt x="117841" y="251460"/>
                  <a:pt x="201168" y="251460"/>
                </a:cubicBezTo>
                <a:cubicBezTo>
                  <a:pt x="284495" y="251460"/>
                  <a:pt x="352044" y="228944"/>
                  <a:pt x="352044" y="201168"/>
                </a:cubicBezTo>
              </a:path>
            </a:pathLst>
          </a:custGeom>
          <a:noFill/>
          <a:ln w="33528" cap="rnd">
            <a:solidFill>
              <a:srgbClr val="FFFFFF"/>
            </a:solidFill>
            <a:prstDash val="solid"/>
            <a:round/>
          </a:ln>
        </p:spPr>
      </p:sp>
      <p:sp>
        <p:nvSpPr>
          <p:cNvPr id="54" name="[p2] Forma"/>
          <p:cNvSpPr/>
          <p:nvPr/>
        </p:nvSpPr>
        <p:spPr>
          <a:xfrm>
            <a:off x="9252509" y="1828800"/>
            <a:ext cx="2161946" cy="36576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Segoe UI Semibold" pitchFamily="34" charset="0"/>
                <a:ea typeface="Segoe UI Semibold" pitchFamily="34" charset="-122"/>
                <a:cs typeface="Segoe UI Semibold" pitchFamily="34" charset="-120"/>
              </a:rPr>
              <a:t>db-notificaciones</a:t>
            </a:r>
            <a:endParaRPr lang="en-US" sz="1700" dirty="0"/>
          </a:p>
        </p:txBody>
      </p:sp>
      <p:sp>
        <p:nvSpPr>
          <p:cNvPr id="55" name="[p2] Forma"/>
          <p:cNvSpPr/>
          <p:nvPr/>
        </p:nvSpPr>
        <p:spPr>
          <a:xfrm>
            <a:off x="9252509" y="2176272"/>
            <a:ext cx="2161946" cy="256032"/>
          </a:xfrm>
          <a:prstGeom prst="rect">
            <a:avLst/>
          </a:prstGeom>
          <a:noFill/>
          <a:ln/>
        </p:spPr>
        <p:txBody>
          <a:bodyPr wrap="square" lIns="0" tIns="0" rIns="0" bIns="0" rtlCol="0" anchor="t">
            <a:normAutofit/>
          </a:bodyPr>
          <a:lstStyle/>
          <a:p>
            <a:pPr algn="l" indent="0" marL="0">
              <a:buNone/>
            </a:pPr>
            <a:r>
              <a:rPr lang="en-US" sz="1150" dirty="0">
                <a:solidFill>
                  <a:srgbClr val="9FBEE0"/>
                </a:solidFill>
                <a:latin typeface="Segoe UI" pitchFamily="34" charset="0"/>
                <a:ea typeface="Segoe UI" pitchFamily="34" charset="-122"/>
                <a:cs typeface="Segoe UI" pitchFamily="34" charset="-120"/>
              </a:rPr>
              <a:t>PostgreSQL 17 · Hibernate</a:t>
            </a:r>
            <a:endParaRPr lang="en-US" sz="1150" dirty="0"/>
          </a:p>
        </p:txBody>
      </p:sp>
      <p:sp>
        <p:nvSpPr>
          <p:cNvPr id="56" name="[p2] Forma"/>
          <p:cNvSpPr/>
          <p:nvPr/>
        </p:nvSpPr>
        <p:spPr>
          <a:xfrm>
            <a:off x="8731301" y="2715768"/>
            <a:ext cx="2619146" cy="2852928"/>
          </a:xfrm>
          <a:prstGeom prst="roundRect">
            <a:avLst>
              <a:gd name="adj" fmla="val 488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7" name="[p2] Forma"/>
          <p:cNvSpPr/>
          <p:nvPr/>
        </p:nvSpPr>
        <p:spPr>
          <a:xfrm>
            <a:off x="8731301" y="2715768"/>
            <a:ext cx="2619146" cy="512064"/>
          </a:xfrm>
          <a:prstGeom prst="roundRect">
            <a:avLst>
              <a:gd name="adj" fmla="val 25000"/>
            </a:avLst>
          </a:prstGeom>
          <a:solidFill>
            <a:srgbClr val="E3F4FA"/>
          </a:solidFill>
          <a:ln w="12700">
            <a:solidFill>
              <a:srgbClr val="E3F4FA"/>
            </a:solidFill>
            <a:prstDash val="solid"/>
          </a:ln>
        </p:spPr>
      </p:sp>
      <p:sp>
        <p:nvSpPr>
          <p:cNvPr id="58" name="[p2] Forma"/>
          <p:cNvSpPr/>
          <p:nvPr/>
        </p:nvSpPr>
        <p:spPr>
          <a:xfrm>
            <a:off x="8731301" y="3044952"/>
            <a:ext cx="2619146" cy="182880"/>
          </a:xfrm>
          <a:prstGeom prst="rect">
            <a:avLst/>
          </a:prstGeom>
          <a:solidFill>
            <a:srgbClr val="E3F4FA"/>
          </a:solidFill>
          <a:ln w="12700">
            <a:solidFill>
              <a:srgbClr val="E3F4FA"/>
            </a:solidFill>
            <a:prstDash val="solid"/>
          </a:ln>
        </p:spPr>
      </p:sp>
      <p:sp>
        <p:nvSpPr>
          <p:cNvPr id="59" name="[p2] Icono table"/>
          <p:cNvSpPr/>
          <p:nvPr/>
        </p:nvSpPr>
        <p:spPr>
          <a:xfrm>
            <a:off x="8877605" y="2843784"/>
            <a:ext cx="274320" cy="274320"/>
          </a:xfrm>
          <a:custGeom>
            <a:avLst/>
            <a:gdLst/>
            <a:ahLst/>
            <a:cxnLst/>
            <a:rect l="l" t="t" r="r" b="b"/>
            <a:pathLst>
              <a:path w="274320" h="274320">
                <a:moveTo>
                  <a:pt x="137160" y="34290"/>
                </a:moveTo>
                <a:lnTo>
                  <a:pt x="137160" y="240030"/>
                </a:lnTo>
                <a:moveTo>
                  <a:pt x="57150" y="34290"/>
                </a:moveTo>
                <a:lnTo>
                  <a:pt x="217170" y="34290"/>
                </a:lnTo>
                <a:cubicBezTo>
                  <a:pt x="229795" y="34290"/>
                  <a:pt x="240030" y="44525"/>
                  <a:pt x="240030" y="57150"/>
                </a:cubicBezTo>
                <a:lnTo>
                  <a:pt x="240030" y="217170"/>
                </a:lnTo>
                <a:cubicBezTo>
                  <a:pt x="240030" y="229795"/>
                  <a:pt x="229795" y="240030"/>
                  <a:pt x="217170" y="240030"/>
                </a:cubicBezTo>
                <a:lnTo>
                  <a:pt x="57150" y="240030"/>
                </a:lnTo>
                <a:cubicBezTo>
                  <a:pt x="44525" y="240030"/>
                  <a:pt x="34290" y="229795"/>
                  <a:pt x="34290" y="217170"/>
                </a:cubicBezTo>
                <a:lnTo>
                  <a:pt x="34290" y="57150"/>
                </a:lnTo>
                <a:cubicBezTo>
                  <a:pt x="34290" y="44525"/>
                  <a:pt x="44525" y="34290"/>
                  <a:pt x="57150" y="34290"/>
                </a:cubicBezTo>
                <a:close/>
                <a:moveTo>
                  <a:pt x="34290" y="102870"/>
                </a:moveTo>
                <a:lnTo>
                  <a:pt x="240030" y="102870"/>
                </a:lnTo>
                <a:moveTo>
                  <a:pt x="34290" y="171450"/>
                </a:moveTo>
                <a:lnTo>
                  <a:pt x="240030" y="171450"/>
                </a:lnTo>
              </a:path>
            </a:pathLst>
          </a:custGeom>
          <a:noFill/>
          <a:ln w="22860" cap="rnd">
            <a:solidFill>
              <a:srgbClr val="0B6E8A"/>
            </a:solidFill>
            <a:prstDash val="solid"/>
            <a:round/>
          </a:ln>
        </p:spPr>
      </p:sp>
      <p:sp>
        <p:nvSpPr>
          <p:cNvPr id="60" name="[p2] Forma"/>
          <p:cNvSpPr/>
          <p:nvPr/>
        </p:nvSpPr>
        <p:spPr>
          <a:xfrm>
            <a:off x="9243365" y="2770632"/>
            <a:ext cx="1979066" cy="402336"/>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Consolas" pitchFamily="34" charset="0"/>
                <a:ea typeface="Consolas" pitchFamily="34" charset="-122"/>
                <a:cs typeface="Consolas" pitchFamily="34" charset="-120"/>
              </a:rPr>
              <a:t>evento_procesado</a:t>
            </a:r>
            <a:endParaRPr lang="en-US" sz="1500" dirty="0"/>
          </a:p>
        </p:txBody>
      </p:sp>
      <p:sp>
        <p:nvSpPr>
          <p:cNvPr id="61" name="[p2] Icono key-round"/>
          <p:cNvSpPr/>
          <p:nvPr/>
        </p:nvSpPr>
        <p:spPr>
          <a:xfrm>
            <a:off x="8886749" y="3374136"/>
            <a:ext cx="201168" cy="201168"/>
          </a:xfrm>
          <a:custGeom>
            <a:avLst/>
            <a:gdLst/>
            <a:ahLst/>
            <a:cxnLst/>
            <a:rect l="l" t="t" r="r" b="b"/>
            <a:pathLst>
              <a:path w="201168" h="201168">
                <a:moveTo>
                  <a:pt x="21676" y="145964"/>
                </a:moveTo>
                <a:cubicBezTo>
                  <a:pt x="18532" y="149107"/>
                  <a:pt x="16765" y="153371"/>
                  <a:pt x="16764" y="157816"/>
                </a:cubicBezTo>
                <a:lnTo>
                  <a:pt x="16764" y="176022"/>
                </a:lnTo>
                <a:cubicBezTo>
                  <a:pt x="16764" y="180651"/>
                  <a:pt x="20517" y="184404"/>
                  <a:pt x="25146" y="184404"/>
                </a:cubicBezTo>
                <a:lnTo>
                  <a:pt x="50292" y="184404"/>
                </a:lnTo>
                <a:cubicBezTo>
                  <a:pt x="54921" y="184404"/>
                  <a:pt x="58674" y="180651"/>
                  <a:pt x="58674" y="176022"/>
                </a:cubicBezTo>
                <a:lnTo>
                  <a:pt x="58674" y="167640"/>
                </a:lnTo>
                <a:cubicBezTo>
                  <a:pt x="58674" y="163011"/>
                  <a:pt x="62427" y="159258"/>
                  <a:pt x="67056" y="159258"/>
                </a:cubicBezTo>
                <a:lnTo>
                  <a:pt x="75438" y="159258"/>
                </a:lnTo>
                <a:cubicBezTo>
                  <a:pt x="80067" y="159258"/>
                  <a:pt x="83820" y="155505"/>
                  <a:pt x="83820" y="150876"/>
                </a:cubicBezTo>
                <a:lnTo>
                  <a:pt x="83820" y="142494"/>
                </a:lnTo>
                <a:cubicBezTo>
                  <a:pt x="83820" y="137865"/>
                  <a:pt x="87573" y="134112"/>
                  <a:pt x="92202" y="134112"/>
                </a:cubicBezTo>
                <a:lnTo>
                  <a:pt x="93644" y="134112"/>
                </a:lnTo>
                <a:cubicBezTo>
                  <a:pt x="98089" y="134111"/>
                  <a:pt x="102353" y="132344"/>
                  <a:pt x="105496" y="129200"/>
                </a:cubicBezTo>
                <a:lnTo>
                  <a:pt x="112319" y="122377"/>
                </a:lnTo>
                <a:cubicBezTo>
                  <a:pt x="136310" y="130734"/>
                  <a:pt x="162893" y="121401"/>
                  <a:pt x="176394" y="99881"/>
                </a:cubicBezTo>
                <a:cubicBezTo>
                  <a:pt x="189895" y="78360"/>
                  <a:pt x="186731" y="50365"/>
                  <a:pt x="168767" y="32401"/>
                </a:cubicBezTo>
                <a:cubicBezTo>
                  <a:pt x="150803" y="14437"/>
                  <a:pt x="122808" y="11273"/>
                  <a:pt x="101287" y="24774"/>
                </a:cubicBezTo>
                <a:cubicBezTo>
                  <a:pt x="79767" y="38275"/>
                  <a:pt x="70434" y="64858"/>
                  <a:pt x="78791" y="88849"/>
                </a:cubicBezTo>
                <a:close/>
                <a:moveTo>
                  <a:pt x="142494" y="62865"/>
                </a:moveTo>
                <a:cubicBezTo>
                  <a:pt x="142494" y="65180"/>
                  <a:pt x="140618" y="67056"/>
                  <a:pt x="138303" y="67056"/>
                </a:cubicBezTo>
                <a:cubicBezTo>
                  <a:pt x="135988" y="67056"/>
                  <a:pt x="134112" y="65180"/>
                  <a:pt x="134112" y="62865"/>
                </a:cubicBezTo>
                <a:cubicBezTo>
                  <a:pt x="134112" y="60550"/>
                  <a:pt x="135988" y="58674"/>
                  <a:pt x="138303" y="58674"/>
                </a:cubicBezTo>
                <a:cubicBezTo>
                  <a:pt x="140618" y="58674"/>
                  <a:pt x="142494" y="60550"/>
                  <a:pt x="142494" y="62865"/>
                </a:cubicBezTo>
                <a:close/>
              </a:path>
            </a:pathLst>
          </a:custGeom>
          <a:noFill/>
          <a:ln w="16764" cap="rnd">
            <a:solidFill>
              <a:srgbClr val="A85D08"/>
            </a:solidFill>
            <a:prstDash val="solid"/>
            <a:round/>
          </a:ln>
        </p:spPr>
      </p:sp>
      <p:sp>
        <p:nvSpPr>
          <p:cNvPr id="62" name="[p2] Forma"/>
          <p:cNvSpPr/>
          <p:nvPr/>
        </p:nvSpPr>
        <p:spPr>
          <a:xfrm>
            <a:off x="9170213" y="3264408"/>
            <a:ext cx="2088794" cy="446227"/>
          </a:xfrm>
          <a:prstGeom prst="rect">
            <a:avLst/>
          </a:prstGeom>
          <a:noFill/>
          <a:ln/>
        </p:spPr>
        <p:txBody>
          <a:bodyPr wrap="square" lIns="0" tIns="0" rIns="0" bIns="0" rtlCol="0" anchor="ctr">
            <a:normAutofit/>
          </a:bodyPr>
          <a:lstStyle/>
          <a:p>
            <a:pPr indent="0" marL="0">
              <a:buNone/>
            </a:pPr>
            <a:r>
              <a:rPr lang="en-US" sz="1400" b="1" dirty="0">
                <a:solidFill>
                  <a:srgbClr val="0B1A3C"/>
                </a:solidFill>
                <a:latin typeface="Consolas" pitchFamily="34" charset="0"/>
                <a:ea typeface="Consolas" pitchFamily="34" charset="-122"/>
                <a:cs typeface="Consolas" pitchFamily="34" charset="-120"/>
              </a:rPr>
              <a:t>evento_id</a:t>
            </a:r>
            <a:pPr indent="0" marL="0">
              <a:buNone/>
            </a:pPr>
            <a:r>
              <a:rPr lang="en-US" sz="1400" dirty="0">
                <a:solidFill>
                  <a:srgbClr val="55627E"/>
                </a:solidFill>
                <a:latin typeface="Segoe UI" pitchFamily="34" charset="0"/>
                <a:ea typeface="Segoe UI" pitchFamily="34" charset="-122"/>
                <a:cs typeface="Segoe UI" pitchFamily="34" charset="-120"/>
              </a:rPr>
              <a:t>  PK</a:t>
            </a:r>
            <a:endParaRPr lang="en-US" sz="1400" dirty="0"/>
          </a:p>
        </p:txBody>
      </p:sp>
      <p:sp>
        <p:nvSpPr>
          <p:cNvPr id="63" name="[p2] Forma"/>
          <p:cNvSpPr/>
          <p:nvPr/>
        </p:nvSpPr>
        <p:spPr>
          <a:xfrm>
            <a:off x="8868461" y="3710635"/>
            <a:ext cx="2344826" cy="0"/>
          </a:xfrm>
          <a:prstGeom prst="line">
            <a:avLst/>
          </a:prstGeom>
          <a:noFill/>
          <a:ln w="9525">
            <a:solidFill>
              <a:srgbClr val="DFE6F0"/>
            </a:solidFill>
            <a:prstDash val="solid"/>
          </a:ln>
        </p:spPr>
      </p:sp>
      <p:sp>
        <p:nvSpPr>
          <p:cNvPr id="64" name="[p2] Icono hash"/>
          <p:cNvSpPr/>
          <p:nvPr/>
        </p:nvSpPr>
        <p:spPr>
          <a:xfrm>
            <a:off x="8886749" y="3820363"/>
            <a:ext cx="201168" cy="201168"/>
          </a:xfrm>
          <a:custGeom>
            <a:avLst/>
            <a:gdLst/>
            <a:ahLst/>
            <a:cxnLst/>
            <a:rect l="l" t="t" r="r" b="b"/>
            <a:pathLst>
              <a:path w="201168" h="201168">
                <a:moveTo>
                  <a:pt x="33528" y="75438"/>
                </a:moveTo>
                <a:lnTo>
                  <a:pt x="167640" y="75438"/>
                </a:lnTo>
                <a:moveTo>
                  <a:pt x="33528" y="125730"/>
                </a:moveTo>
                <a:lnTo>
                  <a:pt x="167640" y="125730"/>
                </a:lnTo>
                <a:moveTo>
                  <a:pt x="83820" y="25146"/>
                </a:moveTo>
                <a:lnTo>
                  <a:pt x="67056" y="176022"/>
                </a:lnTo>
                <a:moveTo>
                  <a:pt x="134112" y="25146"/>
                </a:moveTo>
                <a:lnTo>
                  <a:pt x="117348" y="176022"/>
                </a:lnTo>
              </a:path>
            </a:pathLst>
          </a:custGeom>
          <a:noFill/>
          <a:ln w="16764" cap="rnd">
            <a:solidFill>
              <a:srgbClr val="55627E"/>
            </a:solidFill>
            <a:prstDash val="solid"/>
            <a:round/>
          </a:ln>
        </p:spPr>
      </p:sp>
      <p:sp>
        <p:nvSpPr>
          <p:cNvPr id="65" name="[p2] Forma"/>
          <p:cNvSpPr/>
          <p:nvPr/>
        </p:nvSpPr>
        <p:spPr>
          <a:xfrm>
            <a:off x="9170213" y="3710635"/>
            <a:ext cx="2088794" cy="446227"/>
          </a:xfrm>
          <a:prstGeom prst="rect">
            <a:avLst/>
          </a:prstGeom>
          <a:noFill/>
          <a:ln/>
        </p:spPr>
        <p:txBody>
          <a:bodyPr wrap="square" lIns="0" tIns="0" rIns="0" bIns="0" rtlCol="0" anchor="ctr">
            <a:normAutofit/>
          </a:bodyPr>
          <a:lstStyle/>
          <a:p>
            <a:pPr indent="0" marL="0">
              <a:buNone/>
            </a:pPr>
            <a:r>
              <a:rPr lang="en-US" sz="1350" b="1" dirty="0">
                <a:solidFill>
                  <a:srgbClr val="0B1A3C"/>
                </a:solidFill>
                <a:latin typeface="Consolas" pitchFamily="34" charset="0"/>
                <a:ea typeface="Consolas" pitchFamily="34" charset="-122"/>
                <a:cs typeface="Consolas" pitchFamily="34" charset="-120"/>
              </a:rPr>
              <a:t>uno por evento recibido</a:t>
            </a:r>
            <a:endParaRPr lang="en-US" sz="1350" dirty="0"/>
          </a:p>
        </p:txBody>
      </p:sp>
      <p:sp>
        <p:nvSpPr>
          <p:cNvPr id="66" name="[p3] Forma"/>
          <p:cNvSpPr/>
          <p:nvPr/>
        </p:nvSpPr>
        <p:spPr>
          <a:xfrm>
            <a:off x="6838493" y="4142232"/>
            <a:ext cx="1591056" cy="0"/>
          </a:xfrm>
          <a:prstGeom prst="line">
            <a:avLst/>
          </a:prstGeom>
          <a:noFill/>
          <a:ln w="31750">
            <a:solidFill>
              <a:srgbClr val="0B6E8A"/>
            </a:solidFill>
            <a:prstDash val="dash"/>
            <a:tailEnd type="triangle"/>
          </a:ln>
        </p:spPr>
      </p:sp>
      <p:sp>
        <p:nvSpPr>
          <p:cNvPr id="67" name="[p3] Forma"/>
          <p:cNvSpPr/>
          <p:nvPr/>
        </p:nvSpPr>
        <p:spPr>
          <a:xfrm>
            <a:off x="6838493" y="3575304"/>
            <a:ext cx="1591056" cy="512064"/>
          </a:xfrm>
          <a:prstGeom prst="rect">
            <a:avLst/>
          </a:prstGeom>
          <a:noFill/>
          <a:ln/>
        </p:spPr>
        <p:txBody>
          <a:bodyPr wrap="square" lIns="0" tIns="0" rIns="0" bIns="0" rtlCol="0" anchor="b">
            <a:normAutofit/>
          </a:bodyPr>
          <a:lstStyle/>
          <a:p>
            <a:pPr algn="ctr" indent="0" marL="0">
              <a:buNone/>
            </a:pPr>
            <a:r>
              <a:rPr lang="en-US" sz="1200" b="1" dirty="0">
                <a:solidFill>
                  <a:srgbClr val="0B6E8A"/>
                </a:solidFill>
                <a:latin typeface="Segoe UI" pitchFamily="34" charset="0"/>
                <a:ea typeface="Segoe UI" pitchFamily="34" charset="-122"/>
                <a:cs typeface="Segoe UI" pitchFamily="34" charset="-120"/>
              </a:rPr>
              <a:t>evento_id por HTTP</a:t>
            </a:r>
            <a:endParaRPr lang="en-US" sz="1200" dirty="0"/>
          </a:p>
        </p:txBody>
      </p:sp>
      <p:sp>
        <p:nvSpPr>
          <p:cNvPr id="68" name="[p3] Forma"/>
          <p:cNvSpPr/>
          <p:nvPr/>
        </p:nvSpPr>
        <p:spPr>
          <a:xfrm>
            <a:off x="6838493" y="4215384"/>
            <a:ext cx="1591056" cy="457200"/>
          </a:xfrm>
          <a:prstGeom prst="rect">
            <a:avLst/>
          </a:prstGeom>
          <a:noFill/>
          <a:ln/>
        </p:spPr>
        <p:txBody>
          <a:bodyPr wrap="square" lIns="0" tIns="0" rIns="0" bIns="0" rtlCol="0" anchor="t">
            <a:normAutofit/>
          </a:bodyPr>
          <a:lstStyle/>
          <a:p>
            <a:pPr algn="ctr" indent="0" marL="0">
              <a:buNone/>
            </a:pPr>
            <a:r>
              <a:rPr lang="en-US" sz="1050" dirty="0">
                <a:solidFill>
                  <a:srgbClr val="55627E"/>
                </a:solidFill>
                <a:latin typeface="Segoe UI" pitchFamily="34" charset="0"/>
                <a:ea typeface="Segoe UI" pitchFamily="34" charset="-122"/>
                <a:cs typeface="Segoe UI" pitchFamily="34" charset="-120"/>
              </a:rPr>
              <a:t>sin llaves foráneas entre bases</a:t>
            </a:r>
            <a:endParaRPr lang="en-US" sz="1050" dirty="0"/>
          </a:p>
        </p:txBody>
      </p:sp>
      <p:sp>
        <p:nvSpPr>
          <p:cNvPr id="69" name="Shape 67"/>
          <p:cNvSpPr/>
          <p:nvPr/>
        </p:nvSpPr>
        <p:spPr>
          <a:xfrm>
            <a:off x="0" y="5961888"/>
            <a:ext cx="12191695" cy="475488"/>
          </a:xfrm>
          <a:prstGeom prst="rect">
            <a:avLst/>
          </a:prstGeom>
          <a:solidFill>
            <a:srgbClr val="0B2350"/>
          </a:solidFill>
          <a:ln w="12700">
            <a:solidFill>
              <a:srgbClr val="0B2350"/>
            </a:solidFill>
            <a:prstDash val="solid"/>
          </a:ln>
        </p:spPr>
      </p:sp>
      <p:sp>
        <p:nvSpPr>
          <p:cNvPr id="70"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71" name="Text 69"/>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Cada servicio cambia su esquema sin coordinarse con el otro; solo el número del evento es compartido.</a:t>
            </a:r>
            <a:endParaRPr lang="en-US" sz="1400" dirty="0"/>
          </a:p>
        </p:txBody>
      </p:sp>
      <p:sp>
        <p:nvSpPr>
          <p:cNvPr id="72" name="Text 7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73"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1"/>
                                        </p:tgtEl>
                                        <p:attrNameLst>
                                          <p:attrName>style.visibility</p:attrName>
                                        </p:attrNameLst>
                                      </p:cBhvr>
                                      <p:to>
                                        <p:strVal val="visible"/>
                                      </p:to>
                                    </p:set>
                                    <p:animEffect transition="in" filter="fade">
                                      <p:cBhvr>
                                        <p:cTn id="5" dur="400"/>
                                        <p:tgtEl>
                                          <p:spTgt spid="3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2"/>
                                        </p:tgtEl>
                                        <p:attrNameLst>
                                          <p:attrName>style.visibility</p:attrName>
                                        </p:attrNameLst>
                                      </p:cBhvr>
                                      <p:to>
                                        <p:strVal val="visible"/>
                                      </p:to>
                                    </p:set>
                                    <p:animEffect transition="in" filter="fade">
                                      <p:cBhvr>
                                        <p:cTn id="8" dur="400"/>
                                        <p:tgtEl>
                                          <p:spTgt spid="3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40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4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400"/>
                                        <p:tgtEl>
                                          <p:spTgt spid="3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4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4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400"/>
                                        <p:tgtEl>
                                          <p:spTgt spid="4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400"/>
                                        <p:tgtEl>
                                          <p:spTgt spid="4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fade">
                                      <p:cBhvr>
                                        <p:cTn id="50" dur="400"/>
                                        <p:tgtEl>
                                          <p:spTgt spid="4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400"/>
                                        <p:tgtEl>
                                          <p:spTgt spid="4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400"/>
                                        <p:tgtEl>
                                          <p:spTgt spid="4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fade">
                                      <p:cBhvr>
                                        <p:cTn id="59" dur="400"/>
                                        <p:tgtEl>
                                          <p:spTgt spid="49"/>
                                        </p:tgtEl>
                                      </p:cBhvr>
                                    </p:animEffect>
                                  </p:childTnLst>
                                </p:cTn>
                              </p:par>
                            </p:childTnLst>
                          </p:cTn>
                        </p:par>
                      </p:childTnLst>
                    </p:cTn>
                  </p:par>
                  <p:par>
                    <p:cTn id="110" fill="hold">
                      <p:stCondLst>
                        <p:cond delay="indefinite"/>
                      </p:stCondLst>
                      <p:childTnLst>
                        <p:par>
                          <p:cTn id="11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400"/>
                                        <p:tgtEl>
                                          <p:spTgt spid="5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400"/>
                                        <p:tgtEl>
                                          <p:spTgt spid="5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fade">
                                      <p:cBhvr>
                                        <p:cTn id="70" dur="400"/>
                                        <p:tgtEl>
                                          <p:spTgt spid="5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fade">
                                      <p:cBhvr>
                                        <p:cTn id="73" dur="400"/>
                                        <p:tgtEl>
                                          <p:spTgt spid="5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4"/>
                                        </p:tgtEl>
                                        <p:attrNameLst>
                                          <p:attrName>style.visibility</p:attrName>
                                        </p:attrNameLst>
                                      </p:cBhvr>
                                      <p:to>
                                        <p:strVal val="visible"/>
                                      </p:to>
                                    </p:set>
                                    <p:animEffect transition="in" filter="fade">
                                      <p:cBhvr>
                                        <p:cTn id="76" dur="400"/>
                                        <p:tgtEl>
                                          <p:spTgt spid="5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400"/>
                                        <p:tgtEl>
                                          <p:spTgt spid="5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400"/>
                                        <p:tgtEl>
                                          <p:spTgt spid="5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400"/>
                                        <p:tgtEl>
                                          <p:spTgt spid="5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8"/>
                                        </p:tgtEl>
                                        <p:attrNameLst>
                                          <p:attrName>style.visibility</p:attrName>
                                        </p:attrNameLst>
                                      </p:cBhvr>
                                      <p:to>
                                        <p:strVal val="visible"/>
                                      </p:to>
                                    </p:set>
                                    <p:animEffect transition="in" filter="fade">
                                      <p:cBhvr>
                                        <p:cTn id="88" dur="400"/>
                                        <p:tgtEl>
                                          <p:spTgt spid="5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400"/>
                                        <p:tgtEl>
                                          <p:spTgt spid="5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0"/>
                                        </p:tgtEl>
                                        <p:attrNameLst>
                                          <p:attrName>style.visibility</p:attrName>
                                        </p:attrNameLst>
                                      </p:cBhvr>
                                      <p:to>
                                        <p:strVal val="visible"/>
                                      </p:to>
                                    </p:set>
                                    <p:animEffect transition="in" filter="fade">
                                      <p:cBhvr>
                                        <p:cTn id="94" dur="400"/>
                                        <p:tgtEl>
                                          <p:spTgt spid="6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400"/>
                                        <p:tgtEl>
                                          <p:spTgt spid="6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2"/>
                                        </p:tgtEl>
                                        <p:attrNameLst>
                                          <p:attrName>style.visibility</p:attrName>
                                        </p:attrNameLst>
                                      </p:cBhvr>
                                      <p:to>
                                        <p:strVal val="visible"/>
                                      </p:to>
                                    </p:set>
                                    <p:animEffect transition="in" filter="fade">
                                      <p:cBhvr>
                                        <p:cTn id="100" dur="400"/>
                                        <p:tgtEl>
                                          <p:spTgt spid="6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3"/>
                                        </p:tgtEl>
                                        <p:attrNameLst>
                                          <p:attrName>style.visibility</p:attrName>
                                        </p:attrNameLst>
                                      </p:cBhvr>
                                      <p:to>
                                        <p:strVal val="visible"/>
                                      </p:to>
                                    </p:set>
                                    <p:animEffect transition="in" filter="fade">
                                      <p:cBhvr>
                                        <p:cTn id="103" dur="400"/>
                                        <p:tgtEl>
                                          <p:spTgt spid="6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4"/>
                                        </p:tgtEl>
                                        <p:attrNameLst>
                                          <p:attrName>style.visibility</p:attrName>
                                        </p:attrNameLst>
                                      </p:cBhvr>
                                      <p:to>
                                        <p:strVal val="visible"/>
                                      </p:to>
                                    </p:set>
                                    <p:animEffect transition="in" filter="fade">
                                      <p:cBhvr>
                                        <p:cTn id="106" dur="400"/>
                                        <p:tgtEl>
                                          <p:spTgt spid="6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5"/>
                                        </p:tgtEl>
                                        <p:attrNameLst>
                                          <p:attrName>style.visibility</p:attrName>
                                        </p:attrNameLst>
                                      </p:cBhvr>
                                      <p:to>
                                        <p:strVal val="visible"/>
                                      </p:to>
                                    </p:set>
                                    <p:animEffect transition="in" filter="fade">
                                      <p:cBhvr>
                                        <p:cTn id="109" dur="400"/>
                                        <p:tgtEl>
                                          <p:spTgt spid="65"/>
                                        </p:tgtEl>
                                      </p:cBhvr>
                                    </p:animEffect>
                                  </p:childTnLst>
                                </p:cTn>
                              </p:par>
                            </p:childTnLst>
                          </p:cTn>
                        </p:par>
                      </p:childTnLst>
                    </p:cTn>
                  </p:par>
                  <p:par>
                    <p:cTn id="121" fill="hold">
                      <p:stCondLst>
                        <p:cond delay="indefinite"/>
                      </p:stCondLst>
                      <p:childTnLst>
                        <p:par>
                          <p:cTn id="122"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400"/>
                                        <p:tgtEl>
                                          <p:spTgt spid="6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7"/>
                                        </p:tgtEl>
                                        <p:attrNameLst>
                                          <p:attrName>style.visibility</p:attrName>
                                        </p:attrNameLst>
                                      </p:cBhvr>
                                      <p:to>
                                        <p:strVal val="visible"/>
                                      </p:to>
                                    </p:set>
                                    <p:animEffect transition="in" filter="fade">
                                      <p:cBhvr>
                                        <p:cTn id="117" dur="400"/>
                                        <p:tgtEl>
                                          <p:spTgt spid="6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8"/>
                                        </p:tgtEl>
                                        <p:attrNameLst>
                                          <p:attrName>style.visibility</p:attrName>
                                        </p:attrNameLst>
                                      </p:cBhvr>
                                      <p:to>
                                        <p:strVal val="visible"/>
                                      </p:to>
                                    </p:set>
                                    <p:animEffect transition="in" filter="fade">
                                      <p:cBhvr>
                                        <p:cTn id="120"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procedimiento almacenado al ORM</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diferencia no es la base de datos: es dónde vive la regla del negocio.</a:t>
            </a:r>
            <a:endParaRPr lang="en-US" sz="1700" dirty="0"/>
          </a:p>
        </p:txBody>
      </p:sp>
      <p:sp>
        <p:nvSpPr>
          <p:cNvPr id="12" name="Shape 10"/>
          <p:cNvSpPr/>
          <p:nvPr/>
        </p:nvSpPr>
        <p:spPr>
          <a:xfrm>
            <a:off x="612648" y="1719072"/>
            <a:ext cx="10966399" cy="1897380"/>
          </a:xfrm>
          <a:prstGeom prst="roundRect">
            <a:avLst>
              <a:gd name="adj" fmla="val 6747"/>
            </a:avLst>
          </a:prstGeom>
          <a:solidFill>
            <a:srgbClr val="F8FAFC"/>
          </a:solidFill>
          <a:ln w="12700">
            <a:solidFill>
              <a:srgbClr val="C4C8D2"/>
            </a:solidFill>
            <a:prstDash val="solid"/>
          </a:ln>
        </p:spPr>
      </p:sp>
      <p:sp>
        <p:nvSpPr>
          <p:cNvPr id="13" name="Text 11"/>
          <p:cNvSpPr/>
          <p:nvPr/>
        </p:nvSpPr>
        <p:spPr>
          <a:xfrm>
            <a:off x="612648" y="1719072"/>
            <a:ext cx="1874520" cy="1897380"/>
          </a:xfrm>
          <a:prstGeom prst="roundRect">
            <a:avLst>
              <a:gd name="adj" fmla="val 6829"/>
            </a:avLst>
          </a:prstGeom>
          <a:solidFill>
            <a:srgbClr val="55627E"/>
          </a:solidFill>
          <a:ln>
            <a:solidFill>
              <a:srgbClr val="55627E"/>
            </a:solidFill>
          </a:ln>
        </p:spPr>
        <p:txBody>
          <a:bodyPr wrap="square" lIns="101600" tIns="101600" rIns="101600" bIns="101600" rtlCol="0" anchor="ctr"/>
          <a:lstStyle/>
          <a:p>
            <a:pPr algn="ctr" indent="0" marL="0">
              <a:buNone/>
            </a:pPr>
            <a:r>
              <a:rPr lang="en-US" sz="1550" b="1" dirty="0">
                <a:solidFill>
                  <a:srgbClr val="FFFFFF"/>
                </a:solidFill>
                <a:latin typeface="Segoe UI Semibold" pitchFamily="34" charset="0"/>
                <a:ea typeface="Segoe UI Semibold" pitchFamily="34" charset="-122"/>
                <a:cs typeface="Segoe UI Semibold" pitchFamily="34" charset="-120"/>
              </a:rPr>
              <a:t>Hoy: procedimientos almacenados</a:t>
            </a:r>
            <a:endParaRPr lang="en-US" sz="1550" dirty="0"/>
          </a:p>
        </p:txBody>
      </p:sp>
      <p:sp>
        <p:nvSpPr>
          <p:cNvPr id="14" name="Shape 12"/>
          <p:cNvSpPr/>
          <p:nvPr/>
        </p:nvSpPr>
        <p:spPr>
          <a:xfrm>
            <a:off x="2761488"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3575761" y="2263140"/>
            <a:ext cx="457200" cy="457200"/>
          </a:xfrm>
          <a:prstGeom prst="ellipse">
            <a:avLst/>
          </a:prstGeom>
          <a:solidFill>
            <a:srgbClr val="F4F7FB"/>
          </a:solidFill>
          <a:ln w="12700">
            <a:solidFill>
              <a:srgbClr val="F4F7FB"/>
            </a:solidFill>
            <a:prstDash val="solid"/>
          </a:ln>
        </p:spPr>
      </p:sp>
      <p:sp>
        <p:nvSpPr>
          <p:cNvPr id="16" name="Icono monitor"/>
          <p:cNvSpPr/>
          <p:nvPr/>
        </p:nvSpPr>
        <p:spPr>
          <a:xfrm>
            <a:off x="3685489" y="237286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55627E"/>
            </a:solidFill>
            <a:prstDash val="solid"/>
            <a:round/>
          </a:ln>
        </p:spPr>
      </p:sp>
      <p:sp>
        <p:nvSpPr>
          <p:cNvPr id="17" name="Text 15"/>
          <p:cNvSpPr/>
          <p:nvPr/>
        </p:nvSpPr>
        <p:spPr>
          <a:xfrm>
            <a:off x="2834640"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Pantalla</a:t>
            </a:r>
            <a:endParaRPr lang="en-US" sz="1400" dirty="0"/>
          </a:p>
        </p:txBody>
      </p:sp>
      <p:sp>
        <p:nvSpPr>
          <p:cNvPr id="18" name="Text 16"/>
          <p:cNvSpPr/>
          <p:nvPr/>
        </p:nvSpPr>
        <p:spPr>
          <a:xfrm>
            <a:off x="2852928" y="3049524"/>
            <a:ext cx="1902866"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La persona pulsa Enviar.</a:t>
            </a:r>
            <a:endParaRPr lang="en-US" sz="1150" dirty="0"/>
          </a:p>
        </p:txBody>
      </p:sp>
      <p:sp>
        <p:nvSpPr>
          <p:cNvPr id="19" name="Shape 17"/>
          <p:cNvSpPr/>
          <p:nvPr/>
        </p:nvSpPr>
        <p:spPr>
          <a:xfrm>
            <a:off x="4920386" y="2811780"/>
            <a:ext cx="1042416" cy="0"/>
          </a:xfrm>
          <a:prstGeom prst="line">
            <a:avLst/>
          </a:prstGeom>
          <a:noFill/>
          <a:ln w="31750">
            <a:solidFill>
              <a:srgbClr val="55627E"/>
            </a:solidFill>
            <a:prstDash val="solid"/>
            <a:tailEnd type="triangle"/>
          </a:ln>
        </p:spPr>
      </p:sp>
      <p:sp>
        <p:nvSpPr>
          <p:cNvPr id="20" name="Text 18"/>
          <p:cNvSpPr/>
          <p:nvPr/>
        </p:nvSpPr>
        <p:spPr>
          <a:xfrm>
            <a:off x="4883810"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clic</a:t>
            </a:r>
            <a:endParaRPr lang="en-US" sz="1150" dirty="0"/>
          </a:p>
        </p:txBody>
      </p:sp>
      <p:sp>
        <p:nvSpPr>
          <p:cNvPr id="21" name="Shape 19"/>
          <p:cNvSpPr/>
          <p:nvPr/>
        </p:nvSpPr>
        <p:spPr>
          <a:xfrm>
            <a:off x="6035954" y="2171700"/>
            <a:ext cx="2085746" cy="1280160"/>
          </a:xfrm>
          <a:prstGeom prst="roundRect">
            <a:avLst>
              <a:gd name="adj" fmla="val 10000"/>
            </a:avLst>
          </a:prstGeom>
          <a:solidFill>
            <a:srgbClr val="FFFFFF"/>
          </a:solidFill>
          <a:ln w="12700">
            <a:solidFill>
              <a:srgbClr val="B3B8C5"/>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6850228" y="2263140"/>
            <a:ext cx="457200" cy="457200"/>
          </a:xfrm>
          <a:prstGeom prst="ellipse">
            <a:avLst/>
          </a:prstGeom>
          <a:solidFill>
            <a:srgbClr val="F4F7FB"/>
          </a:solidFill>
          <a:ln w="12700">
            <a:solidFill>
              <a:srgbClr val="F4F7FB"/>
            </a:solidFill>
            <a:prstDash val="solid"/>
          </a:ln>
        </p:spPr>
      </p:sp>
      <p:sp>
        <p:nvSpPr>
          <p:cNvPr id="23" name="Icono server"/>
          <p:cNvSpPr/>
          <p:nvPr/>
        </p:nvSpPr>
        <p:spPr>
          <a:xfrm>
            <a:off x="6959956" y="2372868"/>
            <a:ext cx="237744" cy="237744"/>
          </a:xfrm>
          <a:custGeom>
            <a:avLst/>
            <a:gdLst/>
            <a:ahLst/>
            <a:cxnLst/>
            <a:rect l="l" t="t" r="r" b="b"/>
            <a:pathLst>
              <a:path w="237744" h="237744">
                <a:moveTo>
                  <a:pt x="39624" y="19812"/>
                </a:moveTo>
                <a:lnTo>
                  <a:pt x="198120" y="19812"/>
                </a:lnTo>
                <a:cubicBezTo>
                  <a:pt x="209062" y="19812"/>
                  <a:pt x="217932" y="28682"/>
                  <a:pt x="217932" y="39624"/>
                </a:cubicBezTo>
                <a:lnTo>
                  <a:pt x="217932" y="79248"/>
                </a:lnTo>
                <a:cubicBezTo>
                  <a:pt x="217932" y="90190"/>
                  <a:pt x="209062" y="99060"/>
                  <a:pt x="198120" y="99060"/>
                </a:cubicBezTo>
                <a:lnTo>
                  <a:pt x="39624" y="99060"/>
                </a:lnTo>
                <a:cubicBezTo>
                  <a:pt x="28682" y="99060"/>
                  <a:pt x="19812" y="90190"/>
                  <a:pt x="19812" y="79248"/>
                </a:cubicBezTo>
                <a:lnTo>
                  <a:pt x="19812" y="39624"/>
                </a:lnTo>
                <a:cubicBezTo>
                  <a:pt x="19812" y="28682"/>
                  <a:pt x="28682" y="19812"/>
                  <a:pt x="39624" y="19812"/>
                </a:cubicBezTo>
                <a:close/>
                <a:moveTo>
                  <a:pt x="39624" y="138684"/>
                </a:moveTo>
                <a:lnTo>
                  <a:pt x="198120" y="138684"/>
                </a:lnTo>
                <a:cubicBezTo>
                  <a:pt x="209062" y="138684"/>
                  <a:pt x="217932" y="147554"/>
                  <a:pt x="217932" y="158496"/>
                </a:cubicBezTo>
                <a:lnTo>
                  <a:pt x="217932" y="198120"/>
                </a:lnTo>
                <a:cubicBezTo>
                  <a:pt x="217932" y="209062"/>
                  <a:pt x="209062" y="217932"/>
                  <a:pt x="198120" y="217932"/>
                </a:cubicBezTo>
                <a:lnTo>
                  <a:pt x="39624" y="217932"/>
                </a:lnTo>
                <a:cubicBezTo>
                  <a:pt x="28682" y="217932"/>
                  <a:pt x="19812" y="209062"/>
                  <a:pt x="19812" y="198120"/>
                </a:cubicBezTo>
                <a:lnTo>
                  <a:pt x="19812" y="158496"/>
                </a:lnTo>
                <a:cubicBezTo>
                  <a:pt x="19812" y="147554"/>
                  <a:pt x="28682" y="138684"/>
                  <a:pt x="39624" y="138684"/>
                </a:cubicBezTo>
                <a:close/>
                <a:moveTo>
                  <a:pt x="59436" y="59436"/>
                </a:moveTo>
                <a:lnTo>
                  <a:pt x="59535" y="59436"/>
                </a:lnTo>
                <a:moveTo>
                  <a:pt x="59436" y="178308"/>
                </a:moveTo>
                <a:lnTo>
                  <a:pt x="59535" y="178308"/>
                </a:lnTo>
              </a:path>
            </a:pathLst>
          </a:custGeom>
          <a:noFill/>
          <a:ln w="19812" cap="rnd">
            <a:solidFill>
              <a:srgbClr val="55627E"/>
            </a:solidFill>
            <a:prstDash val="solid"/>
            <a:round/>
          </a:ln>
        </p:spPr>
      </p:sp>
      <p:sp>
        <p:nvSpPr>
          <p:cNvPr id="24" name="Text 22"/>
          <p:cNvSpPr/>
          <p:nvPr/>
        </p:nvSpPr>
        <p:spPr>
          <a:xfrm>
            <a:off x="6109106"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55627E"/>
                </a:solidFill>
                <a:latin typeface="Segoe UI Semibold" pitchFamily="34" charset="0"/>
                <a:ea typeface="Segoe UI Semibold" pitchFamily="34" charset="-122"/>
                <a:cs typeface="Segoe UI Semibold" pitchFamily="34" charset="-120"/>
              </a:rPr>
              <a:t>Aplicación</a:t>
            </a:r>
            <a:endParaRPr lang="en-US" sz="1400" dirty="0"/>
          </a:p>
        </p:txBody>
      </p:sp>
      <p:sp>
        <p:nvSpPr>
          <p:cNvPr id="25" name="Text 23"/>
          <p:cNvSpPr/>
          <p:nvPr/>
        </p:nvSpPr>
        <p:spPr>
          <a:xfrm>
            <a:off x="6127394"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Solo pasa los parámetros.</a:t>
            </a:r>
            <a:endParaRPr lang="en-US" sz="1100" dirty="0"/>
          </a:p>
        </p:txBody>
      </p:sp>
      <p:sp>
        <p:nvSpPr>
          <p:cNvPr id="26" name="Shape 24"/>
          <p:cNvSpPr/>
          <p:nvPr/>
        </p:nvSpPr>
        <p:spPr>
          <a:xfrm>
            <a:off x="8194853" y="2811780"/>
            <a:ext cx="1042416" cy="0"/>
          </a:xfrm>
          <a:prstGeom prst="line">
            <a:avLst/>
          </a:prstGeom>
          <a:noFill/>
          <a:ln w="31750">
            <a:solidFill>
              <a:srgbClr val="55627E"/>
            </a:solidFill>
            <a:prstDash val="solid"/>
            <a:tailEnd type="triangle"/>
          </a:ln>
        </p:spPr>
      </p:sp>
      <p:sp>
        <p:nvSpPr>
          <p:cNvPr id="27" name="Text 25"/>
          <p:cNvSpPr/>
          <p:nvPr/>
        </p:nvSpPr>
        <p:spPr>
          <a:xfrm>
            <a:off x="8158277" y="2244852"/>
            <a:ext cx="1115568" cy="512064"/>
          </a:xfrm>
          <a:prstGeom prst="rect">
            <a:avLst/>
          </a:prstGeom>
          <a:noFill/>
          <a:ln/>
        </p:spPr>
        <p:txBody>
          <a:bodyPr wrap="square" lIns="0" tIns="0" rIns="0" bIns="0" rtlCol="0" anchor="b"/>
          <a:lstStyle/>
          <a:p>
            <a:pPr algn="ctr" indent="0" marL="0">
              <a:buNone/>
            </a:pPr>
            <a:r>
              <a:rPr lang="en-US" sz="1150" b="1" dirty="0">
                <a:solidFill>
                  <a:srgbClr val="55627E"/>
                </a:solidFill>
                <a:latin typeface="Consolas" pitchFamily="34" charset="0"/>
                <a:ea typeface="Consolas" pitchFamily="34" charset="-122"/>
                <a:cs typeface="Consolas" pitchFamily="34" charset="-120"/>
              </a:rPr>
              <a:t>EXEC sp_enviar @id</a:t>
            </a:r>
            <a:endParaRPr lang="en-US" sz="1150" dirty="0"/>
          </a:p>
        </p:txBody>
      </p:sp>
      <p:sp>
        <p:nvSpPr>
          <p:cNvPr id="28" name="Shape 26"/>
          <p:cNvSpPr/>
          <p:nvPr/>
        </p:nvSpPr>
        <p:spPr>
          <a:xfrm>
            <a:off x="9310421" y="2171700"/>
            <a:ext cx="2085746" cy="1280160"/>
          </a:xfrm>
          <a:prstGeom prst="roundRect">
            <a:avLst>
              <a:gd name="adj" fmla="val 10000"/>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29" name="Shape 27"/>
          <p:cNvSpPr/>
          <p:nvPr/>
        </p:nvSpPr>
        <p:spPr>
          <a:xfrm>
            <a:off x="9310421" y="2171700"/>
            <a:ext cx="2085746" cy="1280160"/>
          </a:xfrm>
          <a:prstGeom prst="roundRect">
            <a:avLst>
              <a:gd name="adj" fmla="val 10000"/>
            </a:avLst>
          </a:prstGeom>
          <a:solidFill>
            <a:srgbClr val="FCEFD6">
              <a:alpha val="0"/>
            </a:srgbClr>
          </a:solidFill>
          <a:ln w="31750">
            <a:solidFill>
              <a:srgbClr val="8A4B06"/>
            </a:solidFill>
            <a:prstDash val="solid"/>
          </a:ln>
        </p:spPr>
      </p:sp>
      <p:sp>
        <p:nvSpPr>
          <p:cNvPr id="30" name="Text 28"/>
          <p:cNvSpPr/>
          <p:nvPr/>
        </p:nvSpPr>
        <p:spPr>
          <a:xfrm>
            <a:off x="9393174" y="184251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31" name="Shape 29"/>
          <p:cNvSpPr/>
          <p:nvPr/>
        </p:nvSpPr>
        <p:spPr>
          <a:xfrm>
            <a:off x="10124694" y="2263140"/>
            <a:ext cx="457200" cy="457200"/>
          </a:xfrm>
          <a:prstGeom prst="ellipse">
            <a:avLst/>
          </a:prstGeom>
          <a:solidFill>
            <a:srgbClr val="FFFFFF"/>
          </a:solidFill>
          <a:ln w="12700">
            <a:solidFill>
              <a:srgbClr val="FFFFFF"/>
            </a:solidFill>
            <a:prstDash val="solid"/>
          </a:ln>
        </p:spPr>
      </p:sp>
      <p:sp>
        <p:nvSpPr>
          <p:cNvPr id="32" name="Icono database"/>
          <p:cNvSpPr/>
          <p:nvPr/>
        </p:nvSpPr>
        <p:spPr>
          <a:xfrm>
            <a:off x="10234422" y="237286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8A4B06"/>
            </a:solidFill>
            <a:prstDash val="solid"/>
            <a:round/>
          </a:ln>
        </p:spPr>
      </p:sp>
      <p:sp>
        <p:nvSpPr>
          <p:cNvPr id="33" name="Text 31"/>
          <p:cNvSpPr/>
          <p:nvPr/>
        </p:nvSpPr>
        <p:spPr>
          <a:xfrm>
            <a:off x="9383573" y="2756916"/>
            <a:ext cx="1939442" cy="292608"/>
          </a:xfrm>
          <a:prstGeom prst="rect">
            <a:avLst/>
          </a:prstGeom>
          <a:noFill/>
          <a:ln/>
        </p:spPr>
        <p:txBody>
          <a:bodyPr wrap="square" lIns="0" tIns="0" rIns="0" bIns="0" rtlCol="0" anchor="ctr">
            <a:normAutofit/>
          </a:bodyPr>
          <a:lstStyle/>
          <a:p>
            <a:pPr algn="ctr" indent="0" marL="0">
              <a:buNone/>
            </a:pPr>
            <a:r>
              <a:rPr lang="en-US" sz="1400" b="1" dirty="0">
                <a:solidFill>
                  <a:srgbClr val="8A4B06"/>
                </a:solidFill>
                <a:latin typeface="Segoe UI Semibold" pitchFamily="34" charset="0"/>
                <a:ea typeface="Segoe UI Semibold" pitchFamily="34" charset="-122"/>
                <a:cs typeface="Segoe UI Semibold" pitchFamily="34" charset="-120"/>
              </a:rPr>
              <a:t>Base de datos</a:t>
            </a:r>
            <a:endParaRPr lang="en-US" sz="1400" dirty="0"/>
          </a:p>
        </p:txBody>
      </p:sp>
      <p:sp>
        <p:nvSpPr>
          <p:cNvPr id="34" name="Text 32"/>
          <p:cNvSpPr/>
          <p:nvPr/>
        </p:nvSpPr>
        <p:spPr>
          <a:xfrm>
            <a:off x="9401861" y="3049524"/>
            <a:ext cx="1902866"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procedimiento decide y guarda.</a:t>
            </a:r>
            <a:endParaRPr lang="en-US" sz="1100" dirty="0"/>
          </a:p>
        </p:txBody>
      </p:sp>
      <p:sp>
        <p:nvSpPr>
          <p:cNvPr id="35" name="[p1] Forma"/>
          <p:cNvSpPr/>
          <p:nvPr/>
        </p:nvSpPr>
        <p:spPr>
          <a:xfrm>
            <a:off x="612648" y="3936492"/>
            <a:ext cx="10966399" cy="1897380"/>
          </a:xfrm>
          <a:prstGeom prst="roundRect">
            <a:avLst>
              <a:gd name="adj" fmla="val 6747"/>
            </a:avLst>
          </a:prstGeom>
          <a:solidFill>
            <a:srgbClr val="EDF8FC"/>
          </a:solidFill>
          <a:ln w="12700">
            <a:solidFill>
              <a:srgbClr val="AACCD6"/>
            </a:solidFill>
            <a:prstDash val="solid"/>
          </a:ln>
        </p:spPr>
      </p:sp>
      <p:sp>
        <p:nvSpPr>
          <p:cNvPr id="36" name="[p1] Forma"/>
          <p:cNvSpPr/>
          <p:nvPr/>
        </p:nvSpPr>
        <p:spPr>
          <a:xfrm>
            <a:off x="612648" y="3936492"/>
            <a:ext cx="1874520" cy="1897380"/>
          </a:xfrm>
          <a:prstGeom prst="roundRect">
            <a:avLst>
              <a:gd name="adj" fmla="val 6829"/>
            </a:avLst>
          </a:prstGeom>
          <a:solidFill>
            <a:srgbClr val="0B6E8A"/>
          </a:solidFill>
          <a:ln>
            <a:solidFill>
              <a:srgbClr val="0B6E8A"/>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un ORM</a:t>
            </a:r>
            <a:endParaRPr lang="en-US" sz="1600" dirty="0"/>
          </a:p>
        </p:txBody>
      </p:sp>
      <p:sp>
        <p:nvSpPr>
          <p:cNvPr id="37" name="[p1] Forma"/>
          <p:cNvSpPr/>
          <p:nvPr/>
        </p:nvSpPr>
        <p:spPr>
          <a:xfrm>
            <a:off x="27614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38" name="[p1] Forma"/>
          <p:cNvSpPr/>
          <p:nvPr/>
        </p:nvSpPr>
        <p:spPr>
          <a:xfrm>
            <a:off x="3166453" y="4480560"/>
            <a:ext cx="457200" cy="457200"/>
          </a:xfrm>
          <a:prstGeom prst="ellipse">
            <a:avLst/>
          </a:prstGeom>
          <a:solidFill>
            <a:srgbClr val="E3F4FA"/>
          </a:solidFill>
          <a:ln w="12700">
            <a:solidFill>
              <a:srgbClr val="E3F4FA"/>
            </a:solidFill>
            <a:prstDash val="solid"/>
          </a:ln>
        </p:spPr>
      </p:sp>
      <p:sp>
        <p:nvSpPr>
          <p:cNvPr id="39" name="[p1] Icono monitor"/>
          <p:cNvSpPr/>
          <p:nvPr/>
        </p:nvSpPr>
        <p:spPr>
          <a:xfrm>
            <a:off x="3276181" y="4590288"/>
            <a:ext cx="237744" cy="237744"/>
          </a:xfrm>
          <a:custGeom>
            <a:avLst/>
            <a:gdLst/>
            <a:ahLst/>
            <a:cxnLst/>
            <a:rect l="l" t="t" r="r" b="b"/>
            <a:pathLst>
              <a:path w="237744" h="237744">
                <a:moveTo>
                  <a:pt x="39624" y="29718"/>
                </a:moveTo>
                <a:lnTo>
                  <a:pt x="198120" y="29718"/>
                </a:lnTo>
                <a:cubicBezTo>
                  <a:pt x="209062" y="29718"/>
                  <a:pt x="217932" y="38588"/>
                  <a:pt x="217932" y="49530"/>
                </a:cubicBezTo>
                <a:lnTo>
                  <a:pt x="217932" y="148590"/>
                </a:lnTo>
                <a:cubicBezTo>
                  <a:pt x="217932" y="159532"/>
                  <a:pt x="209062" y="168402"/>
                  <a:pt x="198120" y="168402"/>
                </a:cubicBezTo>
                <a:lnTo>
                  <a:pt x="39624" y="168402"/>
                </a:lnTo>
                <a:cubicBezTo>
                  <a:pt x="28682" y="168402"/>
                  <a:pt x="19812" y="159532"/>
                  <a:pt x="19812" y="148590"/>
                </a:cubicBezTo>
                <a:lnTo>
                  <a:pt x="19812" y="49530"/>
                </a:lnTo>
                <a:cubicBezTo>
                  <a:pt x="19812" y="38588"/>
                  <a:pt x="28682" y="29718"/>
                  <a:pt x="39624" y="29718"/>
                </a:cubicBezTo>
                <a:close/>
                <a:moveTo>
                  <a:pt x="79248" y="208026"/>
                </a:moveTo>
                <a:lnTo>
                  <a:pt x="158496" y="208026"/>
                </a:lnTo>
                <a:moveTo>
                  <a:pt x="118872" y="168402"/>
                </a:moveTo>
                <a:lnTo>
                  <a:pt x="118872" y="208026"/>
                </a:lnTo>
              </a:path>
            </a:pathLst>
          </a:custGeom>
          <a:noFill/>
          <a:ln w="19812" cap="rnd">
            <a:solidFill>
              <a:srgbClr val="0B6E8A"/>
            </a:solidFill>
            <a:prstDash val="solid"/>
            <a:round/>
          </a:ln>
        </p:spPr>
      </p:sp>
      <p:sp>
        <p:nvSpPr>
          <p:cNvPr id="40" name="[p1] Forma"/>
          <p:cNvSpPr/>
          <p:nvPr/>
        </p:nvSpPr>
        <p:spPr>
          <a:xfrm>
            <a:off x="28346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Pantalla</a:t>
            </a:r>
            <a:endParaRPr lang="en-US" sz="1400" dirty="0"/>
          </a:p>
        </p:txBody>
      </p:sp>
      <p:sp>
        <p:nvSpPr>
          <p:cNvPr id="41" name="[p1] Forma"/>
          <p:cNvSpPr/>
          <p:nvPr/>
        </p:nvSpPr>
        <p:spPr>
          <a:xfrm>
            <a:off x="28529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persona pulsa Enviar.</a:t>
            </a:r>
            <a:endParaRPr lang="en-US" sz="1100" dirty="0"/>
          </a:p>
        </p:txBody>
      </p:sp>
      <p:sp>
        <p:nvSpPr>
          <p:cNvPr id="42" name="[p1] Forma"/>
          <p:cNvSpPr/>
          <p:nvPr/>
        </p:nvSpPr>
        <p:spPr>
          <a:xfrm>
            <a:off x="4101770" y="5029200"/>
            <a:ext cx="1042416" cy="0"/>
          </a:xfrm>
          <a:prstGeom prst="line">
            <a:avLst/>
          </a:prstGeom>
          <a:noFill/>
          <a:ln w="31750">
            <a:solidFill>
              <a:srgbClr val="0B6E8A"/>
            </a:solidFill>
            <a:prstDash val="solid"/>
            <a:tailEnd type="triangle"/>
          </a:ln>
        </p:spPr>
      </p:sp>
      <p:sp>
        <p:nvSpPr>
          <p:cNvPr id="43" name="[p1] Forma"/>
          <p:cNvSpPr/>
          <p:nvPr/>
        </p:nvSpPr>
        <p:spPr>
          <a:xfrm>
            <a:off x="406519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POST /enviar</a:t>
            </a:r>
            <a:endParaRPr lang="en-US" sz="1150" dirty="0"/>
          </a:p>
        </p:txBody>
      </p:sp>
      <p:sp>
        <p:nvSpPr>
          <p:cNvPr id="44" name="[p1] Forma"/>
          <p:cNvSpPr/>
          <p:nvPr/>
        </p:nvSpPr>
        <p:spPr>
          <a:xfrm>
            <a:off x="5217338" y="4389120"/>
            <a:ext cx="1267130" cy="1280160"/>
          </a:xfrm>
          <a:prstGeom prst="roundRect">
            <a:avLst>
              <a:gd name="adj" fmla="val 10103"/>
            </a:avLst>
          </a:prstGeom>
          <a:solidFill>
            <a:srgbClr val="FCEFD6"/>
          </a:solidFill>
          <a:ln w="12700">
            <a:solidFill>
              <a:srgbClr val="8A4B06"/>
            </a:solidFill>
            <a:prstDash val="solid"/>
          </a:ln>
          <a:effectLst>
            <a:outerShdw sx="100000" sy="100000" kx="0" ky="0" algn="bl" rotWithShape="0" blurRad="76200" dist="19050" dir="5400000">
              <a:srgbClr val="0B1F3A">
                <a:alpha val="14000"/>
              </a:srgbClr>
            </a:outerShdw>
          </a:effectLst>
        </p:spPr>
      </p:sp>
      <p:sp>
        <p:nvSpPr>
          <p:cNvPr id="45" name="[p1] Forma"/>
          <p:cNvSpPr/>
          <p:nvPr/>
        </p:nvSpPr>
        <p:spPr>
          <a:xfrm>
            <a:off x="5217338" y="4389120"/>
            <a:ext cx="1267130" cy="1280160"/>
          </a:xfrm>
          <a:prstGeom prst="roundRect">
            <a:avLst>
              <a:gd name="adj" fmla="val 10103"/>
            </a:avLst>
          </a:prstGeom>
          <a:solidFill>
            <a:srgbClr val="FCEFD6">
              <a:alpha val="0"/>
            </a:srgbClr>
          </a:solidFill>
          <a:ln w="31750">
            <a:solidFill>
              <a:srgbClr val="8A4B06"/>
            </a:solidFill>
            <a:prstDash val="solid"/>
          </a:ln>
        </p:spPr>
      </p:sp>
      <p:sp>
        <p:nvSpPr>
          <p:cNvPr id="46" name="[p1] Forma"/>
          <p:cNvSpPr/>
          <p:nvPr/>
        </p:nvSpPr>
        <p:spPr>
          <a:xfrm>
            <a:off x="4890783" y="4059936"/>
            <a:ext cx="1920240"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950" b="1" spc="100" kern="0" dirty="0">
                <a:solidFill>
                  <a:srgbClr val="FFFFFF"/>
                </a:solidFill>
                <a:latin typeface="Segoe UI" pitchFamily="34" charset="0"/>
                <a:ea typeface="Segoe UI" pitchFamily="34" charset="-122"/>
                <a:cs typeface="Segoe UI" pitchFamily="34" charset="-120"/>
              </a:rPr>
              <a:t>AQUÍ VIVE LA REGLA</a:t>
            </a:r>
            <a:endParaRPr lang="en-US" sz="950" dirty="0"/>
          </a:p>
        </p:txBody>
      </p:sp>
      <p:sp>
        <p:nvSpPr>
          <p:cNvPr id="47" name="[p1] Forma"/>
          <p:cNvSpPr/>
          <p:nvPr/>
        </p:nvSpPr>
        <p:spPr>
          <a:xfrm>
            <a:off x="5622303" y="4480560"/>
            <a:ext cx="457200" cy="457200"/>
          </a:xfrm>
          <a:prstGeom prst="ellipse">
            <a:avLst/>
          </a:prstGeom>
          <a:solidFill>
            <a:srgbClr val="FFFFFF"/>
          </a:solidFill>
          <a:ln w="12700">
            <a:solidFill>
              <a:srgbClr val="FFFFFF"/>
            </a:solidFill>
            <a:prstDash val="solid"/>
          </a:ln>
        </p:spPr>
      </p:sp>
      <p:sp>
        <p:nvSpPr>
          <p:cNvPr id="48" name="[p1] Icono code"/>
          <p:cNvSpPr/>
          <p:nvPr/>
        </p:nvSpPr>
        <p:spPr>
          <a:xfrm>
            <a:off x="5732031" y="4590288"/>
            <a:ext cx="237744" cy="237744"/>
          </a:xfrm>
          <a:custGeom>
            <a:avLst/>
            <a:gdLst/>
            <a:ahLst/>
            <a:cxnLst/>
            <a:rect l="l" t="t" r="r" b="b"/>
            <a:pathLst>
              <a:path w="237744" h="237744">
                <a:moveTo>
                  <a:pt x="158496" y="178308"/>
                </a:moveTo>
                <a:lnTo>
                  <a:pt x="217932" y="118872"/>
                </a:lnTo>
                <a:lnTo>
                  <a:pt x="158496" y="59436"/>
                </a:lnTo>
                <a:moveTo>
                  <a:pt x="79248" y="59436"/>
                </a:moveTo>
                <a:lnTo>
                  <a:pt x="19812" y="118872"/>
                </a:lnTo>
                <a:lnTo>
                  <a:pt x="79248" y="178308"/>
                </a:lnTo>
              </a:path>
            </a:pathLst>
          </a:custGeom>
          <a:noFill/>
          <a:ln w="19812" cap="rnd">
            <a:solidFill>
              <a:srgbClr val="8A4B06"/>
            </a:solidFill>
            <a:prstDash val="solid"/>
            <a:round/>
          </a:ln>
        </p:spPr>
      </p:sp>
      <p:sp>
        <p:nvSpPr>
          <p:cNvPr id="49" name="[p1] Forma"/>
          <p:cNvSpPr/>
          <p:nvPr/>
        </p:nvSpPr>
        <p:spPr>
          <a:xfrm>
            <a:off x="5290490" y="4974336"/>
            <a:ext cx="1120826" cy="292608"/>
          </a:xfrm>
          <a:prstGeom prst="rect">
            <a:avLst/>
          </a:prstGeom>
          <a:noFill/>
          <a:ln/>
        </p:spPr>
        <p:txBody>
          <a:bodyPr wrap="square" lIns="0" tIns="0" rIns="0" bIns="0" rtlCol="0" anchor="ctr">
            <a:normAutofit/>
          </a:bodyPr>
          <a:lstStyle/>
          <a:p>
            <a:pPr algn="ctr" indent="0" marL="0">
              <a:buNone/>
            </a:pPr>
            <a:r>
              <a:rPr lang="en-US" sz="1150" b="1" dirty="0">
                <a:solidFill>
                  <a:srgbClr val="8A4B06"/>
                </a:solidFill>
                <a:latin typeface="Segoe UI Semibold" pitchFamily="34" charset="0"/>
                <a:ea typeface="Segoe UI Semibold" pitchFamily="34" charset="-122"/>
                <a:cs typeface="Segoe UI Semibold" pitchFamily="34" charset="-120"/>
              </a:rPr>
              <a:t>Servicio Java</a:t>
            </a:r>
            <a:endParaRPr lang="en-US" sz="1150" dirty="0"/>
          </a:p>
        </p:txBody>
      </p:sp>
      <p:sp>
        <p:nvSpPr>
          <p:cNvPr id="50" name="[p1] Forma"/>
          <p:cNvSpPr/>
          <p:nvPr/>
        </p:nvSpPr>
        <p:spPr>
          <a:xfrm>
            <a:off x="530877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Decide, con su prueba.</a:t>
            </a:r>
            <a:endParaRPr lang="en-US" sz="1100" dirty="0"/>
          </a:p>
        </p:txBody>
      </p:sp>
      <p:sp>
        <p:nvSpPr>
          <p:cNvPr id="51" name="[p1] Forma"/>
          <p:cNvSpPr/>
          <p:nvPr/>
        </p:nvSpPr>
        <p:spPr>
          <a:xfrm>
            <a:off x="6557620" y="5029200"/>
            <a:ext cx="1042416" cy="0"/>
          </a:xfrm>
          <a:prstGeom prst="line">
            <a:avLst/>
          </a:prstGeom>
          <a:noFill/>
          <a:ln w="31750">
            <a:solidFill>
              <a:srgbClr val="0B6E8A"/>
            </a:solidFill>
            <a:prstDash val="solid"/>
            <a:tailEnd type="triangle"/>
          </a:ln>
        </p:spPr>
      </p:sp>
      <p:sp>
        <p:nvSpPr>
          <p:cNvPr id="52" name="[p1] Forma"/>
          <p:cNvSpPr/>
          <p:nvPr/>
        </p:nvSpPr>
        <p:spPr>
          <a:xfrm>
            <a:off x="6521044"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save(…)</a:t>
            </a:r>
            <a:endParaRPr lang="en-US" sz="1150" dirty="0"/>
          </a:p>
        </p:txBody>
      </p:sp>
      <p:sp>
        <p:nvSpPr>
          <p:cNvPr id="53" name="[p1] Forma"/>
          <p:cNvSpPr/>
          <p:nvPr/>
        </p:nvSpPr>
        <p:spPr>
          <a:xfrm>
            <a:off x="7673188"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54" name="[p1] Forma"/>
          <p:cNvSpPr/>
          <p:nvPr/>
        </p:nvSpPr>
        <p:spPr>
          <a:xfrm>
            <a:off x="8078153" y="4480560"/>
            <a:ext cx="457200" cy="457200"/>
          </a:xfrm>
          <a:prstGeom prst="ellipse">
            <a:avLst/>
          </a:prstGeom>
          <a:solidFill>
            <a:srgbClr val="E3F4FA"/>
          </a:solidFill>
          <a:ln w="12700">
            <a:solidFill>
              <a:srgbClr val="E3F4FA"/>
            </a:solidFill>
            <a:prstDash val="solid"/>
          </a:ln>
        </p:spPr>
      </p:sp>
      <p:sp>
        <p:nvSpPr>
          <p:cNvPr id="55" name="[p1] Icono table"/>
          <p:cNvSpPr/>
          <p:nvPr/>
        </p:nvSpPr>
        <p:spPr>
          <a:xfrm>
            <a:off x="8187881" y="4590288"/>
            <a:ext cx="237744" cy="237744"/>
          </a:xfrm>
          <a:custGeom>
            <a:avLst/>
            <a:gdLst/>
            <a:ahLst/>
            <a:cxnLst/>
            <a:rect l="l" t="t" r="r" b="b"/>
            <a:pathLst>
              <a:path w="237744" h="237744">
                <a:moveTo>
                  <a:pt x="118872" y="29718"/>
                </a:moveTo>
                <a:lnTo>
                  <a:pt x="118872" y="208026"/>
                </a:lnTo>
                <a:moveTo>
                  <a:pt x="49530" y="29718"/>
                </a:moveTo>
                <a:lnTo>
                  <a:pt x="188214" y="29718"/>
                </a:lnTo>
                <a:cubicBezTo>
                  <a:pt x="199156" y="29718"/>
                  <a:pt x="208026" y="38588"/>
                  <a:pt x="208026" y="49530"/>
                </a:cubicBezTo>
                <a:lnTo>
                  <a:pt x="208026" y="188214"/>
                </a:lnTo>
                <a:cubicBezTo>
                  <a:pt x="208026" y="199156"/>
                  <a:pt x="199156" y="208026"/>
                  <a:pt x="188214" y="208026"/>
                </a:cubicBezTo>
                <a:lnTo>
                  <a:pt x="49530" y="208026"/>
                </a:lnTo>
                <a:cubicBezTo>
                  <a:pt x="38588" y="208026"/>
                  <a:pt x="29718" y="199156"/>
                  <a:pt x="29718" y="188214"/>
                </a:cubicBezTo>
                <a:lnTo>
                  <a:pt x="29718" y="49530"/>
                </a:lnTo>
                <a:cubicBezTo>
                  <a:pt x="29718" y="38588"/>
                  <a:pt x="38588" y="29718"/>
                  <a:pt x="49530" y="29718"/>
                </a:cubicBezTo>
                <a:close/>
                <a:moveTo>
                  <a:pt x="29718" y="89154"/>
                </a:moveTo>
                <a:lnTo>
                  <a:pt x="208026" y="89154"/>
                </a:lnTo>
                <a:moveTo>
                  <a:pt x="29718" y="148590"/>
                </a:moveTo>
                <a:lnTo>
                  <a:pt x="208026" y="148590"/>
                </a:lnTo>
              </a:path>
            </a:pathLst>
          </a:custGeom>
          <a:noFill/>
          <a:ln w="19812" cap="rnd">
            <a:solidFill>
              <a:srgbClr val="0B6E8A"/>
            </a:solidFill>
            <a:prstDash val="solid"/>
            <a:round/>
          </a:ln>
        </p:spPr>
      </p:sp>
      <p:sp>
        <p:nvSpPr>
          <p:cNvPr id="56" name="[p1] Forma"/>
          <p:cNvSpPr/>
          <p:nvPr/>
        </p:nvSpPr>
        <p:spPr>
          <a:xfrm>
            <a:off x="7746340"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Hibernate</a:t>
            </a:r>
            <a:endParaRPr lang="en-US" sz="1400" dirty="0"/>
          </a:p>
        </p:txBody>
      </p:sp>
      <p:sp>
        <p:nvSpPr>
          <p:cNvPr id="57" name="[p1] Forma"/>
          <p:cNvSpPr/>
          <p:nvPr/>
        </p:nvSpPr>
        <p:spPr>
          <a:xfrm>
            <a:off x="7764628" y="5266944"/>
            <a:ext cx="108425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Escribe el SQL.</a:t>
            </a:r>
            <a:endParaRPr lang="en-US" sz="1100" dirty="0"/>
          </a:p>
        </p:txBody>
      </p:sp>
      <p:sp>
        <p:nvSpPr>
          <p:cNvPr id="58" name="[p1] Forma"/>
          <p:cNvSpPr/>
          <p:nvPr/>
        </p:nvSpPr>
        <p:spPr>
          <a:xfrm>
            <a:off x="9013469" y="5029200"/>
            <a:ext cx="1042416" cy="0"/>
          </a:xfrm>
          <a:prstGeom prst="line">
            <a:avLst/>
          </a:prstGeom>
          <a:noFill/>
          <a:ln w="31750">
            <a:solidFill>
              <a:srgbClr val="0B6E8A"/>
            </a:solidFill>
            <a:prstDash val="solid"/>
            <a:tailEnd type="triangle"/>
          </a:ln>
        </p:spPr>
      </p:sp>
      <p:sp>
        <p:nvSpPr>
          <p:cNvPr id="59" name="[p1] Forma"/>
          <p:cNvSpPr/>
          <p:nvPr/>
        </p:nvSpPr>
        <p:spPr>
          <a:xfrm>
            <a:off x="8976893" y="4462272"/>
            <a:ext cx="1115568" cy="512064"/>
          </a:xfrm>
          <a:prstGeom prst="rect">
            <a:avLst/>
          </a:prstGeom>
          <a:noFill/>
          <a:ln/>
        </p:spPr>
        <p:txBody>
          <a:bodyPr wrap="square" lIns="0" tIns="0" rIns="0" bIns="0" rtlCol="0" anchor="b"/>
          <a:lstStyle/>
          <a:p>
            <a:pPr algn="ctr" indent="0" marL="0">
              <a:buNone/>
            </a:pPr>
            <a:r>
              <a:rPr lang="en-US" sz="1150" b="1" dirty="0">
                <a:solidFill>
                  <a:srgbClr val="0B6E8A"/>
                </a:solidFill>
                <a:latin typeface="Consolas" pitchFamily="34" charset="0"/>
                <a:ea typeface="Consolas" pitchFamily="34" charset="-122"/>
                <a:cs typeface="Consolas" pitchFamily="34" charset="-120"/>
              </a:rPr>
              <a:t>UPDATE + INSERT</a:t>
            </a:r>
            <a:endParaRPr lang="en-US" sz="1150" dirty="0"/>
          </a:p>
        </p:txBody>
      </p:sp>
      <p:sp>
        <p:nvSpPr>
          <p:cNvPr id="60" name="[p1] Forma"/>
          <p:cNvSpPr/>
          <p:nvPr/>
        </p:nvSpPr>
        <p:spPr>
          <a:xfrm>
            <a:off x="10129037" y="4389120"/>
            <a:ext cx="1267130" cy="1280160"/>
          </a:xfrm>
          <a:prstGeom prst="roundRect">
            <a:avLst>
              <a:gd name="adj" fmla="val 10103"/>
            </a:avLst>
          </a:prstGeom>
          <a:solidFill>
            <a:srgbClr val="FFFFFF"/>
          </a:solidFill>
          <a:ln w="12700">
            <a:solidFill>
              <a:srgbClr val="91BECA"/>
            </a:solidFill>
            <a:prstDash val="solid"/>
          </a:ln>
          <a:effectLst>
            <a:outerShdw sx="100000" sy="100000" kx="0" ky="0" algn="bl" rotWithShape="0" blurRad="76200" dist="19050" dir="5400000">
              <a:srgbClr val="0B1F3A">
                <a:alpha val="14000"/>
              </a:srgbClr>
            </a:outerShdw>
          </a:effectLst>
        </p:spPr>
      </p:sp>
      <p:sp>
        <p:nvSpPr>
          <p:cNvPr id="61" name="[p1] Forma"/>
          <p:cNvSpPr/>
          <p:nvPr/>
        </p:nvSpPr>
        <p:spPr>
          <a:xfrm>
            <a:off x="10534002" y="4480560"/>
            <a:ext cx="457200" cy="457200"/>
          </a:xfrm>
          <a:prstGeom prst="ellipse">
            <a:avLst/>
          </a:prstGeom>
          <a:solidFill>
            <a:srgbClr val="E3F4FA"/>
          </a:solidFill>
          <a:ln w="12700">
            <a:solidFill>
              <a:srgbClr val="E3F4FA"/>
            </a:solidFill>
            <a:prstDash val="solid"/>
          </a:ln>
        </p:spPr>
      </p:sp>
      <p:sp>
        <p:nvSpPr>
          <p:cNvPr id="62" name="[p1] Icono database"/>
          <p:cNvSpPr/>
          <p:nvPr/>
        </p:nvSpPr>
        <p:spPr>
          <a:xfrm>
            <a:off x="10643730" y="4590288"/>
            <a:ext cx="237744" cy="237744"/>
          </a:xfrm>
          <a:custGeom>
            <a:avLst/>
            <a:gdLst/>
            <a:ahLst/>
            <a:cxnLst/>
            <a:rect l="l" t="t" r="r" b="b"/>
            <a:pathLst>
              <a:path w="237744" h="237744">
                <a:moveTo>
                  <a:pt x="208026" y="49530"/>
                </a:moveTo>
                <a:cubicBezTo>
                  <a:pt x="208026" y="65943"/>
                  <a:pt x="168110" y="79248"/>
                  <a:pt x="118872" y="79248"/>
                </a:cubicBezTo>
                <a:cubicBezTo>
                  <a:pt x="69634" y="79248"/>
                  <a:pt x="29718" y="65943"/>
                  <a:pt x="29718" y="49530"/>
                </a:cubicBezTo>
                <a:cubicBezTo>
                  <a:pt x="29718" y="33117"/>
                  <a:pt x="69634" y="19812"/>
                  <a:pt x="118872" y="19812"/>
                </a:cubicBezTo>
                <a:cubicBezTo>
                  <a:pt x="168110" y="19812"/>
                  <a:pt x="208026" y="33117"/>
                  <a:pt x="208026" y="49530"/>
                </a:cubicBezTo>
                <a:close/>
                <a:moveTo>
                  <a:pt x="29718" y="49530"/>
                </a:moveTo>
                <a:lnTo>
                  <a:pt x="29718" y="188214"/>
                </a:lnTo>
                <a:cubicBezTo>
                  <a:pt x="29718" y="204627"/>
                  <a:pt x="69634" y="217932"/>
                  <a:pt x="118872" y="217932"/>
                </a:cubicBezTo>
                <a:cubicBezTo>
                  <a:pt x="168110" y="217932"/>
                  <a:pt x="208026" y="204627"/>
                  <a:pt x="208026" y="188214"/>
                </a:cubicBezTo>
                <a:lnTo>
                  <a:pt x="208026" y="49530"/>
                </a:lnTo>
                <a:moveTo>
                  <a:pt x="29718" y="118872"/>
                </a:moveTo>
                <a:cubicBezTo>
                  <a:pt x="29718" y="135285"/>
                  <a:pt x="69634" y="148590"/>
                  <a:pt x="118872" y="148590"/>
                </a:cubicBezTo>
                <a:cubicBezTo>
                  <a:pt x="168110" y="148590"/>
                  <a:pt x="208026" y="135285"/>
                  <a:pt x="208026" y="118872"/>
                </a:cubicBezTo>
              </a:path>
            </a:pathLst>
          </a:custGeom>
          <a:noFill/>
          <a:ln w="19812" cap="rnd">
            <a:solidFill>
              <a:srgbClr val="0B6E8A"/>
            </a:solidFill>
            <a:prstDash val="solid"/>
            <a:round/>
          </a:ln>
        </p:spPr>
      </p:sp>
      <p:sp>
        <p:nvSpPr>
          <p:cNvPr id="63" name="[p1] Forma"/>
          <p:cNvSpPr/>
          <p:nvPr/>
        </p:nvSpPr>
        <p:spPr>
          <a:xfrm>
            <a:off x="10202189" y="4974336"/>
            <a:ext cx="1120826" cy="292608"/>
          </a:xfrm>
          <a:prstGeom prst="rect">
            <a:avLst/>
          </a:prstGeom>
          <a:noFill/>
          <a:ln/>
        </p:spPr>
        <p:txBody>
          <a:bodyPr wrap="square" lIns="0" tIns="0" rIns="0" bIns="0" rtlCol="0" anchor="ctr">
            <a:normAutofit/>
          </a:bodyPr>
          <a:lstStyle/>
          <a:p>
            <a:pPr algn="ctr" indent="0" marL="0">
              <a:buNone/>
            </a:pPr>
            <a:r>
              <a:rPr lang="en-US" sz="1400" b="1" dirty="0">
                <a:solidFill>
                  <a:srgbClr val="0B6E8A"/>
                </a:solidFill>
                <a:latin typeface="Segoe UI Semibold" pitchFamily="34" charset="0"/>
                <a:ea typeface="Segoe UI Semibold" pitchFamily="34" charset="-122"/>
                <a:cs typeface="Segoe UI Semibold" pitchFamily="34" charset="-120"/>
              </a:rPr>
              <a:t>PostgreSQL</a:t>
            </a:r>
            <a:endParaRPr lang="en-US" sz="1400" dirty="0"/>
          </a:p>
        </p:txBody>
      </p:sp>
      <p:sp>
        <p:nvSpPr>
          <p:cNvPr id="64" name="[p1] Forma"/>
          <p:cNvSpPr/>
          <p:nvPr/>
        </p:nvSpPr>
        <p:spPr>
          <a:xfrm>
            <a:off x="10220477" y="5266944"/>
            <a:ext cx="1084250"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Guarda y cuida llaves e índices.</a:t>
            </a:r>
            <a:endParaRPr lang="en-US" sz="900" dirty="0"/>
          </a:p>
        </p:txBody>
      </p:sp>
      <p:sp>
        <p:nvSpPr>
          <p:cNvPr id="65" name="Shape 63"/>
          <p:cNvSpPr/>
          <p:nvPr/>
        </p:nvSpPr>
        <p:spPr>
          <a:xfrm>
            <a:off x="0" y="5961888"/>
            <a:ext cx="12191695" cy="475488"/>
          </a:xfrm>
          <a:prstGeom prst="rect">
            <a:avLst/>
          </a:prstGeom>
          <a:solidFill>
            <a:srgbClr val="0B2350"/>
          </a:solidFill>
          <a:ln w="12700">
            <a:solidFill>
              <a:srgbClr val="0B2350"/>
            </a:solidFill>
            <a:prstDash val="solid"/>
          </a:ln>
        </p:spPr>
      </p:sp>
      <p:sp>
        <p:nvSpPr>
          <p:cNvPr id="66"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67" name="Text 65"/>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No es todo o nada: las reglas van al código y los reportes o consultas pesadas pueden seguir en SQL.</a:t>
            </a:r>
            <a:endParaRPr lang="en-US" sz="1400" dirty="0"/>
          </a:p>
        </p:txBody>
      </p:sp>
      <p:sp>
        <p:nvSpPr>
          <p:cNvPr id="68" name="Text 6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6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3" fill="hold">
                      <p:stCondLst>
                        <p:cond delay="indefinite"/>
                      </p:stCondLst>
                      <p:childTnLst>
                        <p:par>
                          <p:cTn id="9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5"/>
                                        </p:tgtEl>
                                        <p:attrNameLst>
                                          <p:attrName>style.visibility</p:attrName>
                                        </p:attrNameLst>
                                      </p:cBhvr>
                                      <p:to>
                                        <p:strVal val="visible"/>
                                      </p:to>
                                    </p:set>
                                    <p:animEffect transition="in" filter="fade">
                                      <p:cBhvr>
                                        <p:cTn id="5" dur="400"/>
                                        <p:tgtEl>
                                          <p:spTgt spid="3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6"/>
                                        </p:tgtEl>
                                        <p:attrNameLst>
                                          <p:attrName>style.visibility</p:attrName>
                                        </p:attrNameLst>
                                      </p:cBhvr>
                                      <p:to>
                                        <p:strVal val="visible"/>
                                      </p:to>
                                    </p:set>
                                    <p:animEffect transition="in" filter="fade">
                                      <p:cBhvr>
                                        <p:cTn id="8" dur="400"/>
                                        <p:tgtEl>
                                          <p:spTgt spid="3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00"/>
                                        <p:tgtEl>
                                          <p:spTgt spid="3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400"/>
                                        <p:tgtEl>
                                          <p:spTgt spid="3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400"/>
                                        <p:tgtEl>
                                          <p:spTgt spid="4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400"/>
                                        <p:tgtEl>
                                          <p:spTgt spid="4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400"/>
                                        <p:tgtEl>
                                          <p:spTgt spid="4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4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fade">
                                      <p:cBhvr>
                                        <p:cTn id="35" dur="400"/>
                                        <p:tgtEl>
                                          <p:spTgt spid="4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400"/>
                                        <p:tgtEl>
                                          <p:spTgt spid="4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400"/>
                                        <p:tgtEl>
                                          <p:spTgt spid="4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400"/>
                                        <p:tgtEl>
                                          <p:spTgt spid="4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fade">
                                      <p:cBhvr>
                                        <p:cTn id="50" dur="400"/>
                                        <p:tgtEl>
                                          <p:spTgt spid="5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fade">
                                      <p:cBhvr>
                                        <p:cTn id="53" dur="400"/>
                                        <p:tgtEl>
                                          <p:spTgt spid="5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fade">
                                      <p:cBhvr>
                                        <p:cTn id="56" dur="400"/>
                                        <p:tgtEl>
                                          <p:spTgt spid="5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Effect transition="in" filter="fade">
                                      <p:cBhvr>
                                        <p:cTn id="59" dur="400"/>
                                        <p:tgtEl>
                                          <p:spTgt spid="5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4"/>
                                        </p:tgtEl>
                                        <p:attrNameLst>
                                          <p:attrName>style.visibility</p:attrName>
                                        </p:attrNameLst>
                                      </p:cBhvr>
                                      <p:to>
                                        <p:strVal val="visible"/>
                                      </p:to>
                                    </p:set>
                                    <p:animEffect transition="in" filter="fade">
                                      <p:cBhvr>
                                        <p:cTn id="62" dur="400"/>
                                        <p:tgtEl>
                                          <p:spTgt spid="5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400"/>
                                        <p:tgtEl>
                                          <p:spTgt spid="5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6"/>
                                        </p:tgtEl>
                                        <p:attrNameLst>
                                          <p:attrName>style.visibility</p:attrName>
                                        </p:attrNameLst>
                                      </p:cBhvr>
                                      <p:to>
                                        <p:strVal val="visible"/>
                                      </p:to>
                                    </p:set>
                                    <p:animEffect transition="in" filter="fade">
                                      <p:cBhvr>
                                        <p:cTn id="68" dur="400"/>
                                        <p:tgtEl>
                                          <p:spTgt spid="5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400"/>
                                        <p:tgtEl>
                                          <p:spTgt spid="5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8"/>
                                        </p:tgtEl>
                                        <p:attrNameLst>
                                          <p:attrName>style.visibility</p:attrName>
                                        </p:attrNameLst>
                                      </p:cBhvr>
                                      <p:to>
                                        <p:strVal val="visible"/>
                                      </p:to>
                                    </p:set>
                                    <p:animEffect transition="in" filter="fade">
                                      <p:cBhvr>
                                        <p:cTn id="74" dur="400"/>
                                        <p:tgtEl>
                                          <p:spTgt spid="5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fade">
                                      <p:cBhvr>
                                        <p:cTn id="77" dur="400"/>
                                        <p:tgtEl>
                                          <p:spTgt spid="5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fade">
                                      <p:cBhvr>
                                        <p:cTn id="80" dur="400"/>
                                        <p:tgtEl>
                                          <p:spTgt spid="6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1"/>
                                        </p:tgtEl>
                                        <p:attrNameLst>
                                          <p:attrName>style.visibility</p:attrName>
                                        </p:attrNameLst>
                                      </p:cBhvr>
                                      <p:to>
                                        <p:strVal val="visible"/>
                                      </p:to>
                                    </p:set>
                                    <p:animEffect transition="in" filter="fade">
                                      <p:cBhvr>
                                        <p:cTn id="83" dur="400"/>
                                        <p:tgtEl>
                                          <p:spTgt spid="6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animEffect transition="in" filter="fade">
                                      <p:cBhvr>
                                        <p:cTn id="86" dur="400"/>
                                        <p:tgtEl>
                                          <p:spTgt spid="6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3"/>
                                        </p:tgtEl>
                                        <p:attrNameLst>
                                          <p:attrName>style.visibility</p:attrName>
                                        </p:attrNameLst>
                                      </p:cBhvr>
                                      <p:to>
                                        <p:strVal val="visible"/>
                                      </p:to>
                                    </p:set>
                                    <p:animEffect transition="in" filter="fade">
                                      <p:cBhvr>
                                        <p:cTn id="89" dur="400"/>
                                        <p:tgtEl>
                                          <p:spTgt spid="6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4"/>
                                        </p:tgtEl>
                                        <p:attrNameLst>
                                          <p:attrName>style.visibility</p:attrName>
                                        </p:attrNameLst>
                                      </p:cBhvr>
                                      <p:to>
                                        <p:strVal val="visible"/>
                                      </p:to>
                                    </p:set>
                                    <p:animEffect transition="in" filter="fade">
                                      <p:cBhvr>
                                        <p:cTn id="92"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misma regla, escrita de las dos formas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Regla del negocio: solo se puede enviar una solicitud que está en borrador.</a:t>
            </a:r>
            <a:endParaRPr lang="en-US" sz="1700" dirty="0"/>
          </a:p>
        </p:txBody>
      </p:sp>
      <p:sp>
        <p:nvSpPr>
          <p:cNvPr id="12" name="Shape 10"/>
          <p:cNvSpPr/>
          <p:nvPr/>
        </p:nvSpPr>
        <p:spPr>
          <a:xfrm>
            <a:off x="612648" y="1719072"/>
            <a:ext cx="525460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2648" y="1719072"/>
            <a:ext cx="5254600" cy="566928"/>
          </a:xfrm>
          <a:prstGeom prst="roundRect">
            <a:avLst>
              <a:gd name="adj" fmla="val 22581"/>
            </a:avLst>
          </a:prstGeom>
          <a:solidFill>
            <a:srgbClr val="55627E"/>
          </a:solidFill>
          <a:ln w="12700">
            <a:solidFill>
              <a:srgbClr val="55627E"/>
            </a:solidFill>
            <a:prstDash val="solid"/>
          </a:ln>
        </p:spPr>
      </p:sp>
      <p:sp>
        <p:nvSpPr>
          <p:cNvPr id="14" name="Shape 12"/>
          <p:cNvSpPr/>
          <p:nvPr/>
        </p:nvSpPr>
        <p:spPr>
          <a:xfrm>
            <a:off x="612648" y="2103120"/>
            <a:ext cx="5254600" cy="182880"/>
          </a:xfrm>
          <a:prstGeom prst="rect">
            <a:avLst/>
          </a:prstGeom>
          <a:solidFill>
            <a:srgbClr val="55627E"/>
          </a:solidFill>
          <a:ln w="12700">
            <a:solidFill>
              <a:srgbClr val="55627E"/>
            </a:solidFill>
            <a:prstDash val="solid"/>
          </a:ln>
        </p:spPr>
      </p:sp>
      <p:sp>
        <p:nvSpPr>
          <p:cNvPr id="15" name="Shape 13"/>
          <p:cNvSpPr/>
          <p:nvPr/>
        </p:nvSpPr>
        <p:spPr>
          <a:xfrm>
            <a:off x="758952" y="1792224"/>
            <a:ext cx="420624" cy="420624"/>
          </a:xfrm>
          <a:prstGeom prst="ellipse">
            <a:avLst/>
          </a:prstGeom>
          <a:solidFill>
            <a:srgbClr val="FFFFFF"/>
          </a:solidFill>
          <a:ln w="12700">
            <a:solidFill>
              <a:srgbClr val="FFFFFF"/>
            </a:solidFill>
            <a:prstDash val="solid"/>
          </a:ln>
        </p:spPr>
      </p:sp>
      <p:sp>
        <p:nvSpPr>
          <p:cNvPr id="16" name="Icono database"/>
          <p:cNvSpPr/>
          <p:nvPr/>
        </p:nvSpPr>
        <p:spPr>
          <a:xfrm>
            <a:off x="859902" y="1893174"/>
            <a:ext cx="218724" cy="218724"/>
          </a:xfrm>
          <a:custGeom>
            <a:avLst/>
            <a:gdLst/>
            <a:ahLst/>
            <a:cxnLst/>
            <a:rect l="l" t="t" r="r" b="b"/>
            <a:pathLst>
              <a:path w="218724" h="218724">
                <a:moveTo>
                  <a:pt x="191384" y="45568"/>
                </a:moveTo>
                <a:cubicBezTo>
                  <a:pt x="191384" y="60667"/>
                  <a:pt x="154662" y="72908"/>
                  <a:pt x="109362" y="72908"/>
                </a:cubicBezTo>
                <a:cubicBezTo>
                  <a:pt x="64063" y="72908"/>
                  <a:pt x="27341" y="60667"/>
                  <a:pt x="27341" y="45568"/>
                </a:cubicBezTo>
                <a:cubicBezTo>
                  <a:pt x="27341" y="30468"/>
                  <a:pt x="64063" y="18227"/>
                  <a:pt x="109362" y="18227"/>
                </a:cubicBezTo>
                <a:cubicBezTo>
                  <a:pt x="154662" y="18227"/>
                  <a:pt x="191384" y="30468"/>
                  <a:pt x="191384" y="45568"/>
                </a:cubicBezTo>
                <a:close/>
                <a:moveTo>
                  <a:pt x="27341" y="45568"/>
                </a:moveTo>
                <a:lnTo>
                  <a:pt x="27341" y="173157"/>
                </a:lnTo>
                <a:cubicBezTo>
                  <a:pt x="27341" y="188257"/>
                  <a:pt x="64063" y="200497"/>
                  <a:pt x="109362" y="200497"/>
                </a:cubicBezTo>
                <a:cubicBezTo>
                  <a:pt x="154662" y="200497"/>
                  <a:pt x="191384" y="188257"/>
                  <a:pt x="191384" y="173157"/>
                </a:cubicBezTo>
                <a:lnTo>
                  <a:pt x="191384" y="45568"/>
                </a:lnTo>
                <a:moveTo>
                  <a:pt x="27341" y="109362"/>
                </a:moveTo>
                <a:cubicBezTo>
                  <a:pt x="27341" y="124462"/>
                  <a:pt x="64063" y="136703"/>
                  <a:pt x="109362" y="136703"/>
                </a:cubicBezTo>
                <a:cubicBezTo>
                  <a:pt x="154662" y="136703"/>
                  <a:pt x="191384" y="124462"/>
                  <a:pt x="191384" y="109362"/>
                </a:cubicBezTo>
              </a:path>
            </a:pathLst>
          </a:custGeom>
          <a:noFill/>
          <a:ln w="18227" cap="rnd">
            <a:solidFill>
              <a:srgbClr val="55627E"/>
            </a:solidFill>
            <a:prstDash val="solid"/>
            <a:round/>
          </a:ln>
        </p:spPr>
      </p:sp>
      <p:sp>
        <p:nvSpPr>
          <p:cNvPr id="17" name="Text 15"/>
          <p:cNvSpPr/>
          <p:nvPr/>
        </p:nvSpPr>
        <p:spPr>
          <a:xfrm>
            <a:off x="1289304" y="1719072"/>
            <a:ext cx="4431640" cy="56692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Segoe UI Semibold" pitchFamily="34" charset="0"/>
                <a:ea typeface="Segoe UI Semibold" pitchFamily="34" charset="-122"/>
                <a:cs typeface="Segoe UI Semibold" pitchFamily="34" charset="-120"/>
              </a:rPr>
              <a:t>Hoy: en un procedimiento</a:t>
            </a:r>
            <a:endParaRPr lang="en-US" sz="1600" dirty="0"/>
          </a:p>
        </p:txBody>
      </p:sp>
      <p:sp>
        <p:nvSpPr>
          <p:cNvPr id="18" name="Text 16"/>
          <p:cNvSpPr/>
          <p:nvPr/>
        </p:nvSpPr>
        <p:spPr>
          <a:xfrm>
            <a:off x="777240" y="2423160"/>
            <a:ext cx="4925416" cy="2697480"/>
          </a:xfrm>
          <a:prstGeom prst="roundRect">
            <a:avLst>
              <a:gd name="adj" fmla="val 2712"/>
            </a:avLst>
          </a:prstGeom>
          <a:solidFill>
            <a:srgbClr val="0B1F3A"/>
          </a:solidFill>
          <a:ln>
            <a:solidFill>
              <a:srgbClr val="0B1F3A"/>
            </a:solidFill>
          </a:ln>
        </p:spPr>
        <p:txBody>
          <a:bodyPr wrap="square" lIns="127000" tIns="127000" rIns="127000" bIns="127000" rtlCol="0" anchor="ctr"/>
          <a:lstStyle/>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CREATE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PROCEDURE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sp_enviar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VARCHAR</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20</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AS</a:t>
            </a:r>
            <a:endParaRPr lang="en-US" sz="1250" dirty="0"/>
          </a:p>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BEGIN</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SELECT</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estado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FROM</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solicitud</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id =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&lt;&gt;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'BORRADOR'</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50001</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'Solo se envía en BORRADOR'</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1</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UPDATE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solicitud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SET</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250" dirty="0">
                <a:solidFill>
                  <a:srgbClr val="F2C66D"/>
                </a:solidFill>
                <a:latin typeface="Consolas" pitchFamily="34" charset="0"/>
                <a:ea typeface="Consolas" pitchFamily="34" charset="-122"/>
                <a:cs typeface="Consolas" pitchFamily="34" charset="-120"/>
              </a:rPr>
              <a:t>'ENVIADA'</a:t>
            </a:r>
            <a:endParaRPr lang="en-US" sz="1250" dirty="0"/>
          </a:p>
          <a:p>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WHERE</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 id = </a:t>
            </a:r>
            <a:pPr indent="0" marL="0">
              <a:lnSpc>
                <a:spcPct val="110000"/>
              </a:lnSpc>
              <a:buNone/>
            </a:pPr>
            <a:r>
              <a:rPr lang="en-US" sz="1250" dirty="0">
                <a:solidFill>
                  <a:srgbClr val="FFB38A"/>
                </a:solidFill>
                <a:latin typeface="Consolas" pitchFamily="34" charset="0"/>
                <a:ea typeface="Consolas" pitchFamily="34" charset="-122"/>
                <a:cs typeface="Consolas" pitchFamily="34" charset="-120"/>
              </a:rPr>
              <a:t>@id</a:t>
            </a:r>
            <a:pPr indent="0" marL="0">
              <a:lnSpc>
                <a:spcPct val="110000"/>
              </a:lnSpc>
              <a:buNone/>
            </a:pPr>
            <a:r>
              <a:rPr lang="en-US" sz="1250" dirty="0">
                <a:solidFill>
                  <a:srgbClr val="E8EDF8"/>
                </a:solidFill>
                <a:latin typeface="Consolas" pitchFamily="34" charset="0"/>
                <a:ea typeface="Consolas" pitchFamily="34" charset="-122"/>
                <a:cs typeface="Consolas" pitchFamily="34" charset="-120"/>
              </a:rPr>
              <a:t>;</a:t>
            </a:r>
            <a:endParaRPr lang="en-US" sz="1250" dirty="0"/>
          </a:p>
          <a:p>
            <a:pPr indent="0" marL="0">
              <a:lnSpc>
                <a:spcPct val="110000"/>
              </a:lnSpc>
              <a:buNone/>
            </a:pPr>
            <a:r>
              <a:rPr lang="en-US" sz="1250" dirty="0">
                <a:solidFill>
                  <a:srgbClr val="7FD3EA"/>
                </a:solidFill>
                <a:latin typeface="Consolas" pitchFamily="34" charset="0"/>
                <a:ea typeface="Consolas" pitchFamily="34" charset="-122"/>
                <a:cs typeface="Consolas" pitchFamily="34" charset="-120"/>
              </a:rPr>
              <a:t>END</a:t>
            </a:r>
            <a:endParaRPr lang="en-US" sz="1250" dirty="0"/>
          </a:p>
        </p:txBody>
      </p:sp>
      <p:sp>
        <p:nvSpPr>
          <p:cNvPr id="19" name="Icono arrow-right"/>
          <p:cNvSpPr/>
          <p:nvPr/>
        </p:nvSpPr>
        <p:spPr>
          <a:xfrm>
            <a:off x="832104" y="528523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0" name="Text 18"/>
          <p:cNvSpPr/>
          <p:nvPr/>
        </p:nvSpPr>
        <p:spPr>
          <a:xfrm>
            <a:off x="1216152" y="523036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regla y el dato viven juntos en la base</a:t>
            </a:r>
            <a:endParaRPr lang="en-US" sz="1400" dirty="0"/>
          </a:p>
        </p:txBody>
      </p:sp>
      <p:sp>
        <p:nvSpPr>
          <p:cNvPr id="21" name="Icono arrow-right"/>
          <p:cNvSpPr/>
          <p:nvPr/>
        </p:nvSpPr>
        <p:spPr>
          <a:xfrm>
            <a:off x="832104" y="565099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2" name="Text 20"/>
          <p:cNvSpPr/>
          <p:nvPr/>
        </p:nvSpPr>
        <p:spPr>
          <a:xfrm>
            <a:off x="1216152" y="559612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Probarla exige una base con datos</a:t>
            </a:r>
            <a:endParaRPr lang="en-US" sz="1400" dirty="0"/>
          </a:p>
        </p:txBody>
      </p:sp>
      <p:sp>
        <p:nvSpPr>
          <p:cNvPr id="23" name="Icono arrow-right"/>
          <p:cNvSpPr/>
          <p:nvPr/>
        </p:nvSpPr>
        <p:spPr>
          <a:xfrm>
            <a:off x="832104" y="6016752"/>
            <a:ext cx="256032" cy="256032"/>
          </a:xfrm>
          <a:custGeom>
            <a:avLst/>
            <a:gdLst/>
            <a:ahLst/>
            <a:cxnLst/>
            <a:rect l="l" t="t" r="r" b="b"/>
            <a:pathLst>
              <a:path w="256032" h="256032">
                <a:moveTo>
                  <a:pt x="53340" y="128016"/>
                </a:moveTo>
                <a:lnTo>
                  <a:pt x="202692" y="128016"/>
                </a:lnTo>
                <a:moveTo>
                  <a:pt x="128016" y="53340"/>
                </a:moveTo>
                <a:lnTo>
                  <a:pt x="202692" y="128016"/>
                </a:lnTo>
                <a:lnTo>
                  <a:pt x="128016" y="202692"/>
                </a:lnTo>
              </a:path>
            </a:pathLst>
          </a:custGeom>
          <a:noFill/>
          <a:ln w="21336" cap="rnd">
            <a:solidFill>
              <a:srgbClr val="55627E"/>
            </a:solidFill>
            <a:prstDash val="solid"/>
            <a:round/>
          </a:ln>
        </p:spPr>
      </p:sp>
      <p:sp>
        <p:nvSpPr>
          <p:cNvPr id="24" name="Text 22"/>
          <p:cNvSpPr/>
          <p:nvPr/>
        </p:nvSpPr>
        <p:spPr>
          <a:xfrm>
            <a:off x="1216152" y="596188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Cambiarla es desplegar en la base</a:t>
            </a:r>
            <a:endParaRPr lang="en-US" sz="1400" dirty="0"/>
          </a:p>
        </p:txBody>
      </p:sp>
      <p:sp>
        <p:nvSpPr>
          <p:cNvPr id="25" name="[p1] Forma"/>
          <p:cNvSpPr/>
          <p:nvPr/>
        </p:nvSpPr>
        <p:spPr>
          <a:xfrm>
            <a:off x="6324448" y="1719072"/>
            <a:ext cx="5254600" cy="4636008"/>
          </a:xfrm>
          <a:prstGeom prst="roundRect">
            <a:avLst>
              <a:gd name="adj" fmla="val 2761"/>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6" name="[p1] Forma"/>
          <p:cNvSpPr/>
          <p:nvPr/>
        </p:nvSpPr>
        <p:spPr>
          <a:xfrm>
            <a:off x="6324448" y="1719072"/>
            <a:ext cx="5254600" cy="566928"/>
          </a:xfrm>
          <a:prstGeom prst="roundRect">
            <a:avLst>
              <a:gd name="adj" fmla="val 22581"/>
            </a:avLst>
          </a:prstGeom>
          <a:solidFill>
            <a:srgbClr val="0B6E8A"/>
          </a:solidFill>
          <a:ln w="12700">
            <a:solidFill>
              <a:srgbClr val="0B6E8A"/>
            </a:solidFill>
            <a:prstDash val="solid"/>
          </a:ln>
        </p:spPr>
      </p:sp>
      <p:sp>
        <p:nvSpPr>
          <p:cNvPr id="27" name="[p1] Forma"/>
          <p:cNvSpPr/>
          <p:nvPr/>
        </p:nvSpPr>
        <p:spPr>
          <a:xfrm>
            <a:off x="6324448" y="2103120"/>
            <a:ext cx="5254600" cy="182880"/>
          </a:xfrm>
          <a:prstGeom prst="rect">
            <a:avLst/>
          </a:prstGeom>
          <a:solidFill>
            <a:srgbClr val="0B6E8A"/>
          </a:solidFill>
          <a:ln w="12700">
            <a:solidFill>
              <a:srgbClr val="0B6E8A"/>
            </a:solidFill>
            <a:prstDash val="solid"/>
          </a:ln>
        </p:spPr>
      </p:sp>
      <p:sp>
        <p:nvSpPr>
          <p:cNvPr id="28" name="[p1] Forma"/>
          <p:cNvSpPr/>
          <p:nvPr/>
        </p:nvSpPr>
        <p:spPr>
          <a:xfrm>
            <a:off x="6470752" y="1792224"/>
            <a:ext cx="420624" cy="420624"/>
          </a:xfrm>
          <a:prstGeom prst="ellipse">
            <a:avLst/>
          </a:prstGeom>
          <a:solidFill>
            <a:srgbClr val="FFFFFF"/>
          </a:solidFill>
          <a:ln w="12700">
            <a:solidFill>
              <a:srgbClr val="FFFFFF"/>
            </a:solidFill>
            <a:prstDash val="solid"/>
          </a:ln>
        </p:spPr>
      </p:sp>
      <p:sp>
        <p:nvSpPr>
          <p:cNvPr id="29" name="[p1] Icono code"/>
          <p:cNvSpPr/>
          <p:nvPr/>
        </p:nvSpPr>
        <p:spPr>
          <a:xfrm>
            <a:off x="6571701" y="1893174"/>
            <a:ext cx="218724" cy="218724"/>
          </a:xfrm>
          <a:custGeom>
            <a:avLst/>
            <a:gdLst/>
            <a:ahLst/>
            <a:cxnLst/>
            <a:rect l="l" t="t" r="r" b="b"/>
            <a:pathLst>
              <a:path w="218724" h="218724">
                <a:moveTo>
                  <a:pt x="145816" y="164043"/>
                </a:moveTo>
                <a:lnTo>
                  <a:pt x="200497" y="109362"/>
                </a:lnTo>
                <a:lnTo>
                  <a:pt x="145816" y="54681"/>
                </a:lnTo>
                <a:moveTo>
                  <a:pt x="72908" y="54681"/>
                </a:moveTo>
                <a:lnTo>
                  <a:pt x="18227" y="109362"/>
                </a:lnTo>
                <a:lnTo>
                  <a:pt x="72908" y="164043"/>
                </a:lnTo>
              </a:path>
            </a:pathLst>
          </a:custGeom>
          <a:noFill/>
          <a:ln w="18227" cap="rnd">
            <a:solidFill>
              <a:srgbClr val="0B6E8A"/>
            </a:solidFill>
            <a:prstDash val="solid"/>
            <a:round/>
          </a:ln>
        </p:spPr>
      </p:sp>
      <p:sp>
        <p:nvSpPr>
          <p:cNvPr id="30" name="[p1] Forma"/>
          <p:cNvSpPr/>
          <p:nvPr/>
        </p:nvSpPr>
        <p:spPr>
          <a:xfrm>
            <a:off x="7001104" y="1719072"/>
            <a:ext cx="4431640" cy="56692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Segoe UI Semibold" pitchFamily="34" charset="0"/>
                <a:ea typeface="Segoe UI Semibold" pitchFamily="34" charset="-122"/>
                <a:cs typeface="Segoe UI Semibold" pitchFamily="34" charset="-120"/>
              </a:rPr>
              <a:t>ARKA-Lite: en el código</a:t>
            </a:r>
            <a:endParaRPr lang="en-US" sz="1600" dirty="0"/>
          </a:p>
        </p:txBody>
      </p:sp>
      <p:sp>
        <p:nvSpPr>
          <p:cNvPr id="31" name="[p1] Forma"/>
          <p:cNvSpPr/>
          <p:nvPr/>
        </p:nvSpPr>
        <p:spPr>
          <a:xfrm>
            <a:off x="6489040" y="2423160"/>
            <a:ext cx="4925416" cy="2697480"/>
          </a:xfrm>
          <a:prstGeom prst="roundRect">
            <a:avLst>
              <a:gd name="adj" fmla="val 2712"/>
            </a:avLst>
          </a:prstGeom>
          <a:solidFill>
            <a:srgbClr val="0B1F3A"/>
          </a:solidFill>
          <a:ln>
            <a:solidFill>
              <a:srgbClr val="0B1F3A"/>
            </a:solidFill>
          </a:ln>
        </p:spPr>
        <p:txBody>
          <a:bodyPr wrap="square" lIns="127000" tIns="127000" rIns="127000" bIns="127000" rtlCol="0" anchor="ctr"/>
          <a:lstStyle/>
          <a:p>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enviar()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TransicionNoPermitida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F2C66D"/>
                </a:solidFill>
                <a:latin typeface="Consolas" pitchFamily="34" charset="0"/>
                <a:ea typeface="Consolas" pitchFamily="34" charset="-122"/>
                <a:cs typeface="Consolas" pitchFamily="34" charset="-120"/>
              </a:rPr>
              <a:t>"solo se puede enviar en BORRADOR"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Hibernate escribe el SQL:</a:t>
            </a:r>
            <a:endParaRPr lang="en-US" sz="1200" dirty="0"/>
          </a:p>
          <a:p>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UPDATE solicitud SET estado = ? WHERE id = ?</a:t>
            </a:r>
            <a:endParaRPr lang="en-US" sz="1200" dirty="0"/>
          </a:p>
        </p:txBody>
      </p:sp>
      <p:sp>
        <p:nvSpPr>
          <p:cNvPr id="32" name="[p1] Icono circle-check"/>
          <p:cNvSpPr/>
          <p:nvPr/>
        </p:nvSpPr>
        <p:spPr>
          <a:xfrm>
            <a:off x="6543904" y="528523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3" name="[p1] Forma"/>
          <p:cNvSpPr/>
          <p:nvPr/>
        </p:nvSpPr>
        <p:spPr>
          <a:xfrm>
            <a:off x="6927952" y="523036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regla vive en el código, con su prueba</a:t>
            </a:r>
            <a:endParaRPr lang="en-US" sz="1400" dirty="0"/>
          </a:p>
        </p:txBody>
      </p:sp>
      <p:sp>
        <p:nvSpPr>
          <p:cNvPr id="34" name="[p1] Icono circle-check"/>
          <p:cNvSpPr/>
          <p:nvPr/>
        </p:nvSpPr>
        <p:spPr>
          <a:xfrm>
            <a:off x="6543904" y="565099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5" name="[p1] Forma"/>
          <p:cNvSpPr/>
          <p:nvPr/>
        </p:nvSpPr>
        <p:spPr>
          <a:xfrm>
            <a:off x="6927952" y="559612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 prueba en milisegundos, sin base</a:t>
            </a:r>
            <a:endParaRPr lang="en-US" sz="1400" dirty="0"/>
          </a:p>
        </p:txBody>
      </p:sp>
      <p:sp>
        <p:nvSpPr>
          <p:cNvPr id="36" name="[p1] Icono circle-check"/>
          <p:cNvSpPr/>
          <p:nvPr/>
        </p:nvSpPr>
        <p:spPr>
          <a:xfrm>
            <a:off x="6543904" y="6016752"/>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96012" y="128016"/>
                </a:moveTo>
                <a:lnTo>
                  <a:pt x="117348" y="149352"/>
                </a:lnTo>
                <a:lnTo>
                  <a:pt x="160020" y="106680"/>
                </a:lnTo>
              </a:path>
            </a:pathLst>
          </a:custGeom>
          <a:noFill/>
          <a:ln w="21336" cap="rnd">
            <a:solidFill>
              <a:srgbClr val="0B6E8A"/>
            </a:solidFill>
            <a:prstDash val="solid"/>
            <a:round/>
          </a:ln>
        </p:spPr>
      </p:sp>
      <p:sp>
        <p:nvSpPr>
          <p:cNvPr id="37" name="[p1] Forma"/>
          <p:cNvSpPr/>
          <p:nvPr/>
        </p:nvSpPr>
        <p:spPr>
          <a:xfrm>
            <a:off x="6927952" y="5961888"/>
            <a:ext cx="4477360" cy="365760"/>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La base sigue cuidando llaves, CHECK e índices</a:t>
            </a:r>
            <a:endParaRPr lang="en-US" sz="14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39"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stCondLst>
                      <p:childTnLst>
                        <p:par>
                          <p:cTn id="4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4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4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ORM por dentro: una clase es una tabla</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Hibernate lee la clase, sabe a qué columna va cada campo y escribe el SQL.</a:t>
            </a:r>
            <a:endParaRPr lang="en-US" sz="1700" dirty="0"/>
          </a:p>
        </p:txBody>
      </p:sp>
      <p:sp>
        <p:nvSpPr>
          <p:cNvPr id="12" name="Shape 10"/>
          <p:cNvSpPr/>
          <p:nvPr/>
        </p:nvSpPr>
        <p:spPr>
          <a:xfrm>
            <a:off x="612648" y="1719072"/>
            <a:ext cx="4160520" cy="2231136"/>
          </a:xfrm>
          <a:prstGeom prst="roundRect">
            <a:avLst>
              <a:gd name="adj" fmla="val 573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2648" y="1719072"/>
            <a:ext cx="4160520" cy="731520"/>
          </a:xfrm>
          <a:prstGeom prst="roundRect">
            <a:avLst>
              <a:gd name="adj" fmla="val 17500"/>
            </a:avLst>
          </a:prstGeom>
          <a:solidFill>
            <a:srgbClr val="0B2350"/>
          </a:solidFill>
          <a:ln w="12700">
            <a:solidFill>
              <a:srgbClr val="0B2350"/>
            </a:solidFill>
            <a:prstDash val="solid"/>
          </a:ln>
        </p:spPr>
      </p:sp>
      <p:sp>
        <p:nvSpPr>
          <p:cNvPr id="14" name="Shape 12"/>
          <p:cNvSpPr/>
          <p:nvPr/>
        </p:nvSpPr>
        <p:spPr>
          <a:xfrm>
            <a:off x="612648" y="2267712"/>
            <a:ext cx="4160520" cy="182880"/>
          </a:xfrm>
          <a:prstGeom prst="rect">
            <a:avLst/>
          </a:prstGeom>
          <a:solidFill>
            <a:srgbClr val="0B2350"/>
          </a:solidFill>
          <a:ln w="12700">
            <a:solidFill>
              <a:srgbClr val="0B2350"/>
            </a:solidFill>
            <a:prstDash val="solid"/>
          </a:ln>
        </p:spPr>
      </p:sp>
      <p:sp>
        <p:nvSpPr>
          <p:cNvPr id="15" name="Icono code"/>
          <p:cNvSpPr/>
          <p:nvPr/>
        </p:nvSpPr>
        <p:spPr>
          <a:xfrm>
            <a:off x="813816" y="1901952"/>
            <a:ext cx="365760" cy="365760"/>
          </a:xfrm>
          <a:custGeom>
            <a:avLst/>
            <a:gdLst/>
            <a:ahLst/>
            <a:cxnLst/>
            <a:rect l="l" t="t" r="r" b="b"/>
            <a:pathLst>
              <a:path w="365760" h="365760">
                <a:moveTo>
                  <a:pt x="243840" y="274320"/>
                </a:moveTo>
                <a:lnTo>
                  <a:pt x="335280" y="182880"/>
                </a:lnTo>
                <a:lnTo>
                  <a:pt x="243840" y="91440"/>
                </a:lnTo>
                <a:moveTo>
                  <a:pt x="121920" y="91440"/>
                </a:moveTo>
                <a:lnTo>
                  <a:pt x="30480" y="182880"/>
                </a:lnTo>
                <a:lnTo>
                  <a:pt x="121920" y="274320"/>
                </a:lnTo>
              </a:path>
            </a:pathLst>
          </a:custGeom>
          <a:noFill/>
          <a:ln w="30480" cap="rnd">
            <a:solidFill>
              <a:srgbClr val="FFFFFF"/>
            </a:solidFill>
            <a:prstDash val="solid"/>
            <a:round/>
          </a:ln>
        </p:spPr>
      </p:sp>
      <p:sp>
        <p:nvSpPr>
          <p:cNvPr id="16" name="Text 14"/>
          <p:cNvSpPr/>
          <p:nvPr/>
        </p:nvSpPr>
        <p:spPr>
          <a:xfrm>
            <a:off x="1325880" y="1773936"/>
            <a:ext cx="3291840"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onsolas" pitchFamily="34" charset="0"/>
                <a:ea typeface="Consolas" pitchFamily="34" charset="-122"/>
                <a:cs typeface="Consolas" pitchFamily="34" charset="-120"/>
              </a:rPr>
              <a:t>SolicitudEntity</a:t>
            </a:r>
            <a:endParaRPr lang="en-US" sz="1800" dirty="0"/>
          </a:p>
        </p:txBody>
      </p:sp>
      <p:sp>
        <p:nvSpPr>
          <p:cNvPr id="17" name="Text 15"/>
          <p:cNvSpPr/>
          <p:nvPr/>
        </p:nvSpPr>
        <p:spPr>
          <a:xfrm>
            <a:off x="1325880" y="2121408"/>
            <a:ext cx="3291840" cy="274320"/>
          </a:xfrm>
          <a:prstGeom prst="rect">
            <a:avLst/>
          </a:prstGeom>
          <a:noFill/>
          <a:ln/>
        </p:spPr>
        <p:txBody>
          <a:bodyPr wrap="square" lIns="0" tIns="0" rIns="0" bIns="0" rtlCol="0" anchor="t">
            <a:normAutofit/>
          </a:bodyPr>
          <a:lstStyle/>
          <a:p>
            <a:pPr algn="l" indent="0" marL="0">
              <a:buNone/>
            </a:pPr>
            <a:r>
              <a:rPr lang="en-US" sz="1100" dirty="0">
                <a:solidFill>
                  <a:srgbClr val="9FBEE0"/>
                </a:solidFill>
                <a:latin typeface="Segoe UI" pitchFamily="34" charset="0"/>
                <a:ea typeface="Segoe UI" pitchFamily="34" charset="-122"/>
                <a:cs typeface="Segoe UI" pitchFamily="34" charset="-120"/>
              </a:rPr>
              <a:t>Clase Java · @Entity · @Table("solicitud")</a:t>
            </a:r>
            <a:endParaRPr lang="en-US" sz="1100" dirty="0"/>
          </a:p>
        </p:txBody>
      </p:sp>
      <p:sp>
        <p:nvSpPr>
          <p:cNvPr id="18" name="Shape 16"/>
          <p:cNvSpPr/>
          <p:nvPr/>
        </p:nvSpPr>
        <p:spPr>
          <a:xfrm>
            <a:off x="7418527" y="1719072"/>
            <a:ext cx="4160520" cy="2231136"/>
          </a:xfrm>
          <a:prstGeom prst="roundRect">
            <a:avLst>
              <a:gd name="adj" fmla="val 5738"/>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7418527" y="1719072"/>
            <a:ext cx="4160520" cy="731520"/>
          </a:xfrm>
          <a:prstGeom prst="roundRect">
            <a:avLst>
              <a:gd name="adj" fmla="val 17500"/>
            </a:avLst>
          </a:prstGeom>
          <a:solidFill>
            <a:srgbClr val="0B6E8A"/>
          </a:solidFill>
          <a:ln w="12700">
            <a:solidFill>
              <a:srgbClr val="0B6E8A"/>
            </a:solidFill>
            <a:prstDash val="solid"/>
          </a:ln>
        </p:spPr>
      </p:sp>
      <p:sp>
        <p:nvSpPr>
          <p:cNvPr id="20" name="Shape 18"/>
          <p:cNvSpPr/>
          <p:nvPr/>
        </p:nvSpPr>
        <p:spPr>
          <a:xfrm>
            <a:off x="7418527" y="2267712"/>
            <a:ext cx="4160520" cy="182880"/>
          </a:xfrm>
          <a:prstGeom prst="rect">
            <a:avLst/>
          </a:prstGeom>
          <a:solidFill>
            <a:srgbClr val="0B6E8A"/>
          </a:solidFill>
          <a:ln w="12700">
            <a:solidFill>
              <a:srgbClr val="0B6E8A"/>
            </a:solidFill>
            <a:prstDash val="solid"/>
          </a:ln>
        </p:spPr>
      </p:sp>
      <p:sp>
        <p:nvSpPr>
          <p:cNvPr id="21" name="Icono table"/>
          <p:cNvSpPr/>
          <p:nvPr/>
        </p:nvSpPr>
        <p:spPr>
          <a:xfrm>
            <a:off x="7619695" y="1901952"/>
            <a:ext cx="365760" cy="365760"/>
          </a:xfrm>
          <a:custGeom>
            <a:avLst/>
            <a:gdLst/>
            <a:ahLst/>
            <a:cxnLst/>
            <a:rect l="l" t="t" r="r" b="b"/>
            <a:pathLst>
              <a:path w="365760" h="365760">
                <a:moveTo>
                  <a:pt x="182880" y="45720"/>
                </a:moveTo>
                <a:lnTo>
                  <a:pt x="182880" y="320040"/>
                </a:lnTo>
                <a:moveTo>
                  <a:pt x="76200" y="45720"/>
                </a:moveTo>
                <a:lnTo>
                  <a:pt x="289560" y="45720"/>
                </a:lnTo>
                <a:cubicBezTo>
                  <a:pt x="306394" y="45720"/>
                  <a:pt x="320040" y="59366"/>
                  <a:pt x="320040" y="76200"/>
                </a:cubicBezTo>
                <a:lnTo>
                  <a:pt x="320040" y="289560"/>
                </a:lnTo>
                <a:cubicBezTo>
                  <a:pt x="320040" y="306394"/>
                  <a:pt x="306394" y="320040"/>
                  <a:pt x="289560" y="320040"/>
                </a:cubicBezTo>
                <a:lnTo>
                  <a:pt x="76200" y="320040"/>
                </a:lnTo>
                <a:cubicBezTo>
                  <a:pt x="59366" y="320040"/>
                  <a:pt x="45720" y="306394"/>
                  <a:pt x="45720" y="289560"/>
                </a:cubicBezTo>
                <a:lnTo>
                  <a:pt x="45720" y="76200"/>
                </a:lnTo>
                <a:cubicBezTo>
                  <a:pt x="45720" y="59366"/>
                  <a:pt x="59366" y="45720"/>
                  <a:pt x="76200" y="45720"/>
                </a:cubicBezTo>
                <a:close/>
                <a:moveTo>
                  <a:pt x="45720" y="137160"/>
                </a:moveTo>
                <a:lnTo>
                  <a:pt x="320040" y="137160"/>
                </a:lnTo>
                <a:moveTo>
                  <a:pt x="45720" y="228600"/>
                </a:moveTo>
                <a:lnTo>
                  <a:pt x="320040" y="228600"/>
                </a:lnTo>
              </a:path>
            </a:pathLst>
          </a:custGeom>
          <a:noFill/>
          <a:ln w="30480" cap="rnd">
            <a:solidFill>
              <a:srgbClr val="FFFFFF"/>
            </a:solidFill>
            <a:prstDash val="solid"/>
            <a:round/>
          </a:ln>
        </p:spPr>
      </p:sp>
      <p:sp>
        <p:nvSpPr>
          <p:cNvPr id="22" name="Text 20"/>
          <p:cNvSpPr/>
          <p:nvPr/>
        </p:nvSpPr>
        <p:spPr>
          <a:xfrm>
            <a:off x="8131759" y="1773936"/>
            <a:ext cx="3291840" cy="36576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Consolas" pitchFamily="34" charset="0"/>
                <a:ea typeface="Consolas" pitchFamily="34" charset="-122"/>
                <a:cs typeface="Consolas" pitchFamily="34" charset="-120"/>
              </a:rPr>
              <a:t>solicitud</a:t>
            </a:r>
            <a:endParaRPr lang="en-US" sz="1800" dirty="0"/>
          </a:p>
        </p:txBody>
      </p:sp>
      <p:sp>
        <p:nvSpPr>
          <p:cNvPr id="23" name="Text 21"/>
          <p:cNvSpPr/>
          <p:nvPr/>
        </p:nvSpPr>
        <p:spPr>
          <a:xfrm>
            <a:off x="8131759" y="2121408"/>
            <a:ext cx="3291840" cy="274320"/>
          </a:xfrm>
          <a:prstGeom prst="rect">
            <a:avLst/>
          </a:prstGeom>
          <a:noFill/>
          <a:ln/>
        </p:spPr>
        <p:txBody>
          <a:bodyPr wrap="square" lIns="0" tIns="0" rIns="0" bIns="0" rtlCol="0" anchor="t">
            <a:normAutofit/>
          </a:bodyPr>
          <a:lstStyle/>
          <a:p>
            <a:pPr algn="l" indent="0" marL="0">
              <a:buNone/>
            </a:pPr>
            <a:r>
              <a:rPr lang="en-US" sz="1100" dirty="0">
                <a:solidFill>
                  <a:srgbClr val="9FBEE0"/>
                </a:solidFill>
                <a:latin typeface="Segoe UI" pitchFamily="34" charset="0"/>
                <a:ea typeface="Segoe UI" pitchFamily="34" charset="-122"/>
                <a:cs typeface="Segoe UI" pitchFamily="34" charset="-120"/>
              </a:rPr>
              <a:t>Tabla en PostgreSQL</a:t>
            </a:r>
            <a:endParaRPr lang="en-US" sz="1100" dirty="0"/>
          </a:p>
        </p:txBody>
      </p:sp>
      <p:sp>
        <p:nvSpPr>
          <p:cNvPr id="24" name="[p1] Forma"/>
          <p:cNvSpPr/>
          <p:nvPr/>
        </p:nvSpPr>
        <p:spPr>
          <a:xfrm>
            <a:off x="886968" y="25146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@Id String id</a:t>
            </a:r>
            <a:endParaRPr lang="en-US" sz="1500" dirty="0"/>
          </a:p>
        </p:txBody>
      </p:sp>
      <p:sp>
        <p:nvSpPr>
          <p:cNvPr id="25" name="[p1] Icono key-round"/>
          <p:cNvSpPr/>
          <p:nvPr/>
        </p:nvSpPr>
        <p:spPr>
          <a:xfrm>
            <a:off x="7637983" y="2633472"/>
            <a:ext cx="219456" cy="219456"/>
          </a:xfrm>
          <a:custGeom>
            <a:avLst/>
            <a:gdLst/>
            <a:ahLst/>
            <a:cxnLst/>
            <a:rect l="l" t="t" r="r" b="b"/>
            <a:pathLst>
              <a:path w="219456" h="219456">
                <a:moveTo>
                  <a:pt x="23646" y="159234"/>
                </a:moveTo>
                <a:cubicBezTo>
                  <a:pt x="20216" y="162662"/>
                  <a:pt x="18289" y="167313"/>
                  <a:pt x="18288" y="172163"/>
                </a:cubicBezTo>
                <a:lnTo>
                  <a:pt x="18288" y="192024"/>
                </a:lnTo>
                <a:cubicBezTo>
                  <a:pt x="18288" y="197074"/>
                  <a:pt x="22382" y="201168"/>
                  <a:pt x="27432" y="201168"/>
                </a:cubicBezTo>
                <a:lnTo>
                  <a:pt x="54864" y="201168"/>
                </a:lnTo>
                <a:cubicBezTo>
                  <a:pt x="59914" y="201168"/>
                  <a:pt x="64008" y="197074"/>
                  <a:pt x="64008" y="192024"/>
                </a:cubicBezTo>
                <a:lnTo>
                  <a:pt x="64008" y="182880"/>
                </a:lnTo>
                <a:cubicBezTo>
                  <a:pt x="64008" y="177830"/>
                  <a:pt x="68102" y="173736"/>
                  <a:pt x="73152" y="173736"/>
                </a:cubicBezTo>
                <a:lnTo>
                  <a:pt x="82296" y="173736"/>
                </a:lnTo>
                <a:cubicBezTo>
                  <a:pt x="87346" y="173736"/>
                  <a:pt x="91440" y="169642"/>
                  <a:pt x="91440" y="164592"/>
                </a:cubicBezTo>
                <a:lnTo>
                  <a:pt x="91440" y="155448"/>
                </a:lnTo>
                <a:cubicBezTo>
                  <a:pt x="91440" y="150398"/>
                  <a:pt x="95534" y="146304"/>
                  <a:pt x="100584" y="146304"/>
                </a:cubicBezTo>
                <a:lnTo>
                  <a:pt x="102157" y="146304"/>
                </a:lnTo>
                <a:cubicBezTo>
                  <a:pt x="107007" y="146303"/>
                  <a:pt x="111658" y="144376"/>
                  <a:pt x="115086" y="140946"/>
                </a:cubicBezTo>
                <a:lnTo>
                  <a:pt x="122530" y="133502"/>
                </a:lnTo>
                <a:cubicBezTo>
                  <a:pt x="148702" y="142619"/>
                  <a:pt x="177701" y="132438"/>
                  <a:pt x="192430" y="108961"/>
                </a:cubicBezTo>
                <a:cubicBezTo>
                  <a:pt x="207158" y="85484"/>
                  <a:pt x="203706" y="54944"/>
                  <a:pt x="184109" y="35347"/>
                </a:cubicBezTo>
                <a:cubicBezTo>
                  <a:pt x="164512" y="15750"/>
                  <a:pt x="133972" y="12298"/>
                  <a:pt x="110495" y="27026"/>
                </a:cubicBezTo>
                <a:cubicBezTo>
                  <a:pt x="87018" y="41755"/>
                  <a:pt x="76837" y="70754"/>
                  <a:pt x="85954" y="96926"/>
                </a:cubicBezTo>
                <a:close/>
                <a:moveTo>
                  <a:pt x="155448" y="68580"/>
                </a:moveTo>
                <a:cubicBezTo>
                  <a:pt x="155448" y="71105"/>
                  <a:pt x="153401" y="73152"/>
                  <a:pt x="150876" y="73152"/>
                </a:cubicBezTo>
                <a:cubicBezTo>
                  <a:pt x="148351" y="73152"/>
                  <a:pt x="146304" y="71105"/>
                  <a:pt x="146304" y="68580"/>
                </a:cubicBezTo>
                <a:cubicBezTo>
                  <a:pt x="146304" y="66055"/>
                  <a:pt x="148351" y="64008"/>
                  <a:pt x="150876" y="64008"/>
                </a:cubicBezTo>
                <a:cubicBezTo>
                  <a:pt x="153401" y="64008"/>
                  <a:pt x="155448" y="66055"/>
                  <a:pt x="155448" y="68580"/>
                </a:cubicBezTo>
                <a:close/>
              </a:path>
            </a:pathLst>
          </a:custGeom>
          <a:noFill/>
          <a:ln w="18288" cap="rnd">
            <a:solidFill>
              <a:srgbClr val="A85D08"/>
            </a:solidFill>
            <a:prstDash val="solid"/>
            <a:round/>
          </a:ln>
        </p:spPr>
      </p:sp>
      <p:sp>
        <p:nvSpPr>
          <p:cNvPr id="26" name="[p1] Forma"/>
          <p:cNvSpPr/>
          <p:nvPr/>
        </p:nvSpPr>
        <p:spPr>
          <a:xfrm>
            <a:off x="7967167" y="25146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id</a:t>
            </a:r>
            <a:pPr indent="0" marL="0">
              <a:buNone/>
            </a:pPr>
            <a:r>
              <a:rPr lang="en-US" sz="1500" dirty="0">
                <a:solidFill>
                  <a:srgbClr val="55627E"/>
                </a:solidFill>
                <a:latin typeface="Segoe UI" pitchFamily="34" charset="0"/>
                <a:ea typeface="Segoe UI" pitchFamily="34" charset="-122"/>
                <a:cs typeface="Segoe UI" pitchFamily="34" charset="-120"/>
              </a:rPr>
              <a:t>   VARCHAR(20) · PK</a:t>
            </a:r>
            <a:endParaRPr lang="en-US" sz="1500" dirty="0"/>
          </a:p>
        </p:txBody>
      </p:sp>
      <p:sp>
        <p:nvSpPr>
          <p:cNvPr id="27" name="[p1] Forma"/>
          <p:cNvSpPr/>
          <p:nvPr/>
        </p:nvSpPr>
        <p:spPr>
          <a:xfrm>
            <a:off x="4864608" y="2743200"/>
            <a:ext cx="2462479" cy="0"/>
          </a:xfrm>
          <a:prstGeom prst="line">
            <a:avLst/>
          </a:prstGeom>
          <a:noFill/>
          <a:ln w="28575">
            <a:solidFill>
              <a:srgbClr val="2BA6CB"/>
            </a:solidFill>
            <a:prstDash val="solid"/>
            <a:headEnd type="triangle"/>
            <a:tailEnd type="triangle"/>
          </a:ln>
        </p:spPr>
      </p:sp>
      <p:sp>
        <p:nvSpPr>
          <p:cNvPr id="28" name="[p1] Forma"/>
          <p:cNvSpPr/>
          <p:nvPr/>
        </p:nvSpPr>
        <p:spPr>
          <a:xfrm>
            <a:off x="795528" y="2971800"/>
            <a:ext cx="3794760" cy="0"/>
          </a:xfrm>
          <a:prstGeom prst="line">
            <a:avLst/>
          </a:prstGeom>
          <a:noFill/>
          <a:ln w="9525">
            <a:solidFill>
              <a:srgbClr val="DFE6F0"/>
            </a:solidFill>
            <a:prstDash val="solid"/>
          </a:ln>
        </p:spPr>
      </p:sp>
      <p:sp>
        <p:nvSpPr>
          <p:cNvPr id="29" name="[p1] Forma"/>
          <p:cNvSpPr/>
          <p:nvPr/>
        </p:nvSpPr>
        <p:spPr>
          <a:xfrm>
            <a:off x="7601407" y="2971800"/>
            <a:ext cx="3794760" cy="0"/>
          </a:xfrm>
          <a:prstGeom prst="line">
            <a:avLst/>
          </a:prstGeom>
          <a:noFill/>
          <a:ln w="9525">
            <a:solidFill>
              <a:srgbClr val="DFE6F0"/>
            </a:solidFill>
            <a:prstDash val="solid"/>
          </a:ln>
        </p:spPr>
      </p:sp>
      <p:sp>
        <p:nvSpPr>
          <p:cNvPr id="30" name="[p1] Forma"/>
          <p:cNvSpPr/>
          <p:nvPr/>
        </p:nvSpPr>
        <p:spPr>
          <a:xfrm>
            <a:off x="886968" y="29718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String tipo</a:t>
            </a:r>
            <a:endParaRPr lang="en-US" sz="1500" dirty="0"/>
          </a:p>
        </p:txBody>
      </p:sp>
      <p:sp>
        <p:nvSpPr>
          <p:cNvPr id="31" name="[p1] Icono hash"/>
          <p:cNvSpPr/>
          <p:nvPr/>
        </p:nvSpPr>
        <p:spPr>
          <a:xfrm>
            <a:off x="7637983" y="3090672"/>
            <a:ext cx="219456" cy="219456"/>
          </a:xfrm>
          <a:custGeom>
            <a:avLst/>
            <a:gdLst/>
            <a:ahLst/>
            <a:cxnLst/>
            <a:rect l="l" t="t" r="r" b="b"/>
            <a:pathLst>
              <a:path w="219456" h="219456">
                <a:moveTo>
                  <a:pt x="36576" y="82296"/>
                </a:moveTo>
                <a:lnTo>
                  <a:pt x="182880" y="82296"/>
                </a:lnTo>
                <a:moveTo>
                  <a:pt x="36576" y="137160"/>
                </a:moveTo>
                <a:lnTo>
                  <a:pt x="182880" y="137160"/>
                </a:lnTo>
                <a:moveTo>
                  <a:pt x="91440" y="27432"/>
                </a:moveTo>
                <a:lnTo>
                  <a:pt x="73152" y="192024"/>
                </a:lnTo>
                <a:moveTo>
                  <a:pt x="146304" y="27432"/>
                </a:moveTo>
                <a:lnTo>
                  <a:pt x="128016" y="192024"/>
                </a:lnTo>
              </a:path>
            </a:pathLst>
          </a:custGeom>
          <a:noFill/>
          <a:ln w="18288" cap="rnd">
            <a:solidFill>
              <a:srgbClr val="55627E"/>
            </a:solidFill>
            <a:prstDash val="solid"/>
            <a:round/>
          </a:ln>
        </p:spPr>
      </p:sp>
      <p:sp>
        <p:nvSpPr>
          <p:cNvPr id="32" name="[p1] Forma"/>
          <p:cNvSpPr/>
          <p:nvPr/>
        </p:nvSpPr>
        <p:spPr>
          <a:xfrm>
            <a:off x="7967167" y="29718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tipo</a:t>
            </a:r>
            <a:pPr indent="0" marL="0">
              <a:buNone/>
            </a:pPr>
            <a:r>
              <a:rPr lang="en-US" sz="1500" dirty="0">
                <a:solidFill>
                  <a:srgbClr val="55627E"/>
                </a:solidFill>
                <a:latin typeface="Segoe UI" pitchFamily="34" charset="0"/>
                <a:ea typeface="Segoe UI" pitchFamily="34" charset="-122"/>
                <a:cs typeface="Segoe UI" pitchFamily="34" charset="-120"/>
              </a:rPr>
              <a:t>   VARCHAR(20)</a:t>
            </a:r>
            <a:endParaRPr lang="en-US" sz="1500" dirty="0"/>
          </a:p>
        </p:txBody>
      </p:sp>
      <p:sp>
        <p:nvSpPr>
          <p:cNvPr id="33" name="[p1] Forma"/>
          <p:cNvSpPr/>
          <p:nvPr/>
        </p:nvSpPr>
        <p:spPr>
          <a:xfrm>
            <a:off x="4864608" y="3200400"/>
            <a:ext cx="2462479" cy="0"/>
          </a:xfrm>
          <a:prstGeom prst="line">
            <a:avLst/>
          </a:prstGeom>
          <a:noFill/>
          <a:ln w="28575">
            <a:solidFill>
              <a:srgbClr val="2BA6CB"/>
            </a:solidFill>
            <a:prstDash val="solid"/>
            <a:headEnd type="triangle"/>
            <a:tailEnd type="triangle"/>
          </a:ln>
        </p:spPr>
      </p:sp>
      <p:sp>
        <p:nvSpPr>
          <p:cNvPr id="34" name="[p1] Forma"/>
          <p:cNvSpPr/>
          <p:nvPr/>
        </p:nvSpPr>
        <p:spPr>
          <a:xfrm>
            <a:off x="795528" y="3429000"/>
            <a:ext cx="3794760" cy="0"/>
          </a:xfrm>
          <a:prstGeom prst="line">
            <a:avLst/>
          </a:prstGeom>
          <a:noFill/>
          <a:ln w="9525">
            <a:solidFill>
              <a:srgbClr val="DFE6F0"/>
            </a:solidFill>
            <a:prstDash val="solid"/>
          </a:ln>
        </p:spPr>
      </p:sp>
      <p:sp>
        <p:nvSpPr>
          <p:cNvPr id="35" name="[p1] Forma"/>
          <p:cNvSpPr/>
          <p:nvPr/>
        </p:nvSpPr>
        <p:spPr>
          <a:xfrm>
            <a:off x="7601407" y="3429000"/>
            <a:ext cx="3794760" cy="0"/>
          </a:xfrm>
          <a:prstGeom prst="line">
            <a:avLst/>
          </a:prstGeom>
          <a:noFill/>
          <a:ln w="9525">
            <a:solidFill>
              <a:srgbClr val="DFE6F0"/>
            </a:solidFill>
            <a:prstDash val="solid"/>
          </a:ln>
        </p:spPr>
      </p:sp>
      <p:sp>
        <p:nvSpPr>
          <p:cNvPr id="36" name="[p1] Forma"/>
          <p:cNvSpPr/>
          <p:nvPr/>
        </p:nvSpPr>
        <p:spPr>
          <a:xfrm>
            <a:off x="886968" y="3429000"/>
            <a:ext cx="3703320" cy="457200"/>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Consolas" pitchFamily="34" charset="0"/>
                <a:ea typeface="Consolas" pitchFamily="34" charset="-122"/>
                <a:cs typeface="Consolas" pitchFamily="34" charset="-120"/>
              </a:rPr>
              <a:t>String estado</a:t>
            </a:r>
            <a:endParaRPr lang="en-US" sz="1500" dirty="0"/>
          </a:p>
        </p:txBody>
      </p:sp>
      <p:sp>
        <p:nvSpPr>
          <p:cNvPr id="37" name="[p1] Icono hash"/>
          <p:cNvSpPr/>
          <p:nvPr/>
        </p:nvSpPr>
        <p:spPr>
          <a:xfrm>
            <a:off x="7637983" y="3547872"/>
            <a:ext cx="219456" cy="219456"/>
          </a:xfrm>
          <a:custGeom>
            <a:avLst/>
            <a:gdLst/>
            <a:ahLst/>
            <a:cxnLst/>
            <a:rect l="l" t="t" r="r" b="b"/>
            <a:pathLst>
              <a:path w="219456" h="219456">
                <a:moveTo>
                  <a:pt x="36576" y="82296"/>
                </a:moveTo>
                <a:lnTo>
                  <a:pt x="182880" y="82296"/>
                </a:lnTo>
                <a:moveTo>
                  <a:pt x="36576" y="137160"/>
                </a:moveTo>
                <a:lnTo>
                  <a:pt x="182880" y="137160"/>
                </a:lnTo>
                <a:moveTo>
                  <a:pt x="91440" y="27432"/>
                </a:moveTo>
                <a:lnTo>
                  <a:pt x="73152" y="192024"/>
                </a:lnTo>
                <a:moveTo>
                  <a:pt x="146304" y="27432"/>
                </a:moveTo>
                <a:lnTo>
                  <a:pt x="128016" y="192024"/>
                </a:lnTo>
              </a:path>
            </a:pathLst>
          </a:custGeom>
          <a:noFill/>
          <a:ln w="18288" cap="rnd">
            <a:solidFill>
              <a:srgbClr val="55627E"/>
            </a:solidFill>
            <a:prstDash val="solid"/>
            <a:round/>
          </a:ln>
        </p:spPr>
      </p:sp>
      <p:sp>
        <p:nvSpPr>
          <p:cNvPr id="38" name="[p1] Forma"/>
          <p:cNvSpPr/>
          <p:nvPr/>
        </p:nvSpPr>
        <p:spPr>
          <a:xfrm>
            <a:off x="7967167" y="3429000"/>
            <a:ext cx="3474720" cy="457200"/>
          </a:xfrm>
          <a:prstGeom prst="rect">
            <a:avLst/>
          </a:prstGeom>
          <a:noFill/>
          <a:ln/>
        </p:spPr>
        <p:txBody>
          <a:bodyPr wrap="square" lIns="0" tIns="0" rIns="0" bIns="0" rtlCol="0" anchor="ctr">
            <a:normAutofit/>
          </a:bodyPr>
          <a:lstStyle/>
          <a:p>
            <a:pPr indent="0" marL="0">
              <a:buNone/>
            </a:pPr>
            <a:r>
              <a:rPr lang="en-US" sz="1500" b="1" dirty="0">
                <a:solidFill>
                  <a:srgbClr val="0B6E8A"/>
                </a:solidFill>
                <a:latin typeface="Consolas" pitchFamily="34" charset="0"/>
                <a:ea typeface="Consolas" pitchFamily="34" charset="-122"/>
                <a:cs typeface="Consolas" pitchFamily="34" charset="-120"/>
              </a:rPr>
              <a:t>estado</a:t>
            </a:r>
            <a:pPr indent="0" marL="0">
              <a:buNone/>
            </a:pPr>
            <a:r>
              <a:rPr lang="en-US" sz="1500" dirty="0">
                <a:solidFill>
                  <a:srgbClr val="55627E"/>
                </a:solidFill>
                <a:latin typeface="Segoe UI" pitchFamily="34" charset="0"/>
                <a:ea typeface="Segoe UI" pitchFamily="34" charset="-122"/>
                <a:cs typeface="Segoe UI" pitchFamily="34" charset="-120"/>
              </a:rPr>
              <a:t>   VARCHAR(20) · CHECK</a:t>
            </a:r>
            <a:endParaRPr lang="en-US" sz="1500" dirty="0"/>
          </a:p>
        </p:txBody>
      </p:sp>
      <p:sp>
        <p:nvSpPr>
          <p:cNvPr id="39" name="[p1] Forma"/>
          <p:cNvSpPr/>
          <p:nvPr/>
        </p:nvSpPr>
        <p:spPr>
          <a:xfrm>
            <a:off x="4864608" y="3657600"/>
            <a:ext cx="2462479" cy="0"/>
          </a:xfrm>
          <a:prstGeom prst="line">
            <a:avLst/>
          </a:prstGeom>
          <a:noFill/>
          <a:ln w="28575">
            <a:solidFill>
              <a:srgbClr val="2BA6CB"/>
            </a:solidFill>
            <a:prstDash val="solid"/>
            <a:headEnd type="triangle"/>
            <a:tailEnd type="triangle"/>
          </a:ln>
        </p:spPr>
      </p:sp>
      <p:sp>
        <p:nvSpPr>
          <p:cNvPr id="40" name="[p1] Forma"/>
          <p:cNvSpPr/>
          <p:nvPr/>
        </p:nvSpPr>
        <p:spPr>
          <a:xfrm>
            <a:off x="5044288" y="1737360"/>
            <a:ext cx="2103120" cy="676656"/>
          </a:xfrm>
          <a:prstGeom prst="roundRect">
            <a:avLst>
              <a:gd name="adj" fmla="val 16216"/>
            </a:avLst>
          </a:prstGeom>
          <a:solidFill>
            <a:srgbClr val="E3F4FA"/>
          </a:solidFill>
          <a:ln w="12700">
            <a:solidFill>
              <a:srgbClr val="2BA6CB"/>
            </a:solidFill>
          </a:ln>
        </p:spPr>
        <p:txBody>
          <a:bodyPr wrap="square" lIns="0" tIns="0" rIns="0" bIns="0" rtlCol="0" anchor="ctr"/>
          <a:lstStyle/>
          <a:p>
            <a:pPr algn="ctr" indent="0" marL="0">
              <a:buNone/>
            </a:pPr>
            <a:r>
              <a:rPr lang="en-US" sz="1600" b="1" dirty="0">
                <a:solidFill>
                  <a:srgbClr val="0B6E8A"/>
                </a:solidFill>
                <a:latin typeface="Segoe UI Semibold" pitchFamily="34" charset="0"/>
                <a:ea typeface="Segoe UI Semibold" pitchFamily="34" charset="-122"/>
                <a:cs typeface="Segoe UI Semibold" pitchFamily="34" charset="-120"/>
              </a:rPr>
              <a:t>Hibernate</a:t>
            </a:r>
            <a:endParaRPr lang="en-US" sz="1600" dirty="0"/>
          </a:p>
          <a:p>
            <a:pPr algn="ctr" indent="0" marL="0">
              <a:buNone/>
            </a:pPr>
            <a:r>
              <a:rPr lang="en-US" sz="1100" dirty="0">
                <a:solidFill>
                  <a:srgbClr val="55627E"/>
                </a:solidFill>
                <a:latin typeface="Segoe UI" pitchFamily="34" charset="0"/>
                <a:ea typeface="Segoe UI" pitchFamily="34" charset="-122"/>
                <a:cs typeface="Segoe UI" pitchFamily="34" charset="-120"/>
              </a:rPr>
              <a:t>traduce en los dos sentidos</a:t>
            </a:r>
            <a:endParaRPr lang="en-US" sz="1600" dirty="0"/>
          </a:p>
        </p:txBody>
      </p:sp>
      <p:sp>
        <p:nvSpPr>
          <p:cNvPr id="41" name="[p2] Forma"/>
          <p:cNvSpPr/>
          <p:nvPr/>
        </p:nvSpPr>
        <p:spPr>
          <a:xfrm>
            <a:off x="612648" y="4224528"/>
            <a:ext cx="10966399" cy="274320"/>
          </a:xfrm>
          <a:prstGeom prst="rect">
            <a:avLst/>
          </a:prstGeom>
          <a:noFill/>
          <a:ln/>
        </p:spPr>
        <p:txBody>
          <a:bodyPr wrap="square" lIns="0" tIns="0" rIns="0" bIns="0" rtlCol="0" anchor="t">
            <a:normAutofit/>
          </a:bodyPr>
          <a:lstStyle/>
          <a:p>
            <a:pPr algn="l" indent="0" marL="0">
              <a:buNone/>
            </a:pPr>
            <a:r>
              <a:rPr lang="en-US" sz="1100" b="1" dirty="0">
                <a:solidFill>
                  <a:srgbClr val="0B6E8A"/>
                </a:solidFill>
                <a:latin typeface="Segoe UI" pitchFamily="34" charset="0"/>
                <a:ea typeface="Segoe UI" pitchFamily="34" charset="-122"/>
                <a:cs typeface="Segoe UI" pitchFamily="34" charset="-120"/>
              </a:rPr>
              <a:t>LO QUE ESCRIBE EL CÓDIGO  →  EL SQL QUE HIBERNATE ENVÍA A POSTGRESQL</a:t>
            </a:r>
            <a:endParaRPr lang="en-US" sz="1100" dirty="0"/>
          </a:p>
        </p:txBody>
      </p:sp>
      <p:sp>
        <p:nvSpPr>
          <p:cNvPr id="42" name="[p2] Forma"/>
          <p:cNvSpPr/>
          <p:nvPr/>
        </p:nvSpPr>
        <p:spPr>
          <a:xfrm>
            <a:off x="612648" y="4590288"/>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jpa.save(nueva)</a:t>
            </a:r>
            <a:endParaRPr lang="en-US" sz="1400" dirty="0"/>
          </a:p>
        </p:txBody>
      </p:sp>
      <p:sp>
        <p:nvSpPr>
          <p:cNvPr id="43" name="[p2] Forma"/>
          <p:cNvSpPr/>
          <p:nvPr/>
        </p:nvSpPr>
        <p:spPr>
          <a:xfrm>
            <a:off x="3950208" y="4846320"/>
            <a:ext cx="457200" cy="0"/>
          </a:xfrm>
          <a:prstGeom prst="line">
            <a:avLst/>
          </a:prstGeom>
          <a:noFill/>
          <a:ln w="31750">
            <a:solidFill>
              <a:srgbClr val="0B6E8A"/>
            </a:solidFill>
            <a:prstDash val="solid"/>
            <a:tailEnd type="triangle"/>
          </a:ln>
        </p:spPr>
      </p:sp>
      <p:sp>
        <p:nvSpPr>
          <p:cNvPr id="44" name="[p2] Forma"/>
          <p:cNvSpPr/>
          <p:nvPr/>
        </p:nvSpPr>
        <p:spPr>
          <a:xfrm>
            <a:off x="4498848" y="4590288"/>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INSERT INTO solicitud (id, tipo, estado) VALUES (?, ?, ?)</a:t>
            </a:r>
            <a:endParaRPr lang="en-US" sz="1400" dirty="0"/>
          </a:p>
        </p:txBody>
      </p:sp>
      <p:sp>
        <p:nvSpPr>
          <p:cNvPr id="45" name="[p3] Forma"/>
          <p:cNvSpPr/>
          <p:nvPr/>
        </p:nvSpPr>
        <p:spPr>
          <a:xfrm>
            <a:off x="612648" y="5212080"/>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jpa.findById("CAM-002")</a:t>
            </a:r>
            <a:endParaRPr lang="en-US" sz="1400" dirty="0"/>
          </a:p>
        </p:txBody>
      </p:sp>
      <p:sp>
        <p:nvSpPr>
          <p:cNvPr id="46" name="[p3] Forma"/>
          <p:cNvSpPr/>
          <p:nvPr/>
        </p:nvSpPr>
        <p:spPr>
          <a:xfrm>
            <a:off x="3950208" y="5468112"/>
            <a:ext cx="457200" cy="0"/>
          </a:xfrm>
          <a:prstGeom prst="line">
            <a:avLst/>
          </a:prstGeom>
          <a:noFill/>
          <a:ln w="31750">
            <a:solidFill>
              <a:srgbClr val="0B6E8A"/>
            </a:solidFill>
            <a:prstDash val="solid"/>
            <a:tailEnd type="triangle"/>
          </a:ln>
        </p:spPr>
      </p:sp>
      <p:sp>
        <p:nvSpPr>
          <p:cNvPr id="47" name="[p3] Forma"/>
          <p:cNvSpPr/>
          <p:nvPr/>
        </p:nvSpPr>
        <p:spPr>
          <a:xfrm>
            <a:off x="4498848" y="5212080"/>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SELECT id, tipo, estado FROM solicitud WHERE id = ?</a:t>
            </a:r>
            <a:endParaRPr lang="en-US" sz="1400" dirty="0"/>
          </a:p>
        </p:txBody>
      </p:sp>
      <p:sp>
        <p:nvSpPr>
          <p:cNvPr id="48" name="[p4] Forma"/>
          <p:cNvSpPr/>
          <p:nvPr/>
        </p:nvSpPr>
        <p:spPr>
          <a:xfrm>
            <a:off x="612648" y="5833872"/>
            <a:ext cx="3246120" cy="512064"/>
          </a:xfrm>
          <a:prstGeom prst="roundRect">
            <a:avLst>
              <a:gd name="adj" fmla="val 14286"/>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400" b="1" dirty="0">
                <a:solidFill>
                  <a:srgbClr val="2BA6CB"/>
                </a:solidFill>
                <a:latin typeface="Consolas" pitchFamily="34" charset="0"/>
                <a:ea typeface="Consolas" pitchFamily="34" charset="-122"/>
                <a:cs typeface="Consolas" pitchFamily="34" charset="-120"/>
              </a:rPr>
              <a:t>jpa.save(enviada)</a:t>
            </a:r>
            <a:endParaRPr lang="en-US" sz="1400" dirty="0"/>
          </a:p>
        </p:txBody>
      </p:sp>
      <p:sp>
        <p:nvSpPr>
          <p:cNvPr id="49" name="[p4] Forma"/>
          <p:cNvSpPr/>
          <p:nvPr/>
        </p:nvSpPr>
        <p:spPr>
          <a:xfrm>
            <a:off x="3950208" y="6089904"/>
            <a:ext cx="457200" cy="0"/>
          </a:xfrm>
          <a:prstGeom prst="line">
            <a:avLst/>
          </a:prstGeom>
          <a:noFill/>
          <a:ln w="31750">
            <a:solidFill>
              <a:srgbClr val="0B6E8A"/>
            </a:solidFill>
            <a:prstDash val="solid"/>
            <a:tailEnd type="triangle"/>
          </a:ln>
        </p:spPr>
      </p:sp>
      <p:sp>
        <p:nvSpPr>
          <p:cNvPr id="50" name="[p4] Forma"/>
          <p:cNvSpPr/>
          <p:nvPr/>
        </p:nvSpPr>
        <p:spPr>
          <a:xfrm>
            <a:off x="4498848" y="5833872"/>
            <a:ext cx="7080199" cy="512064"/>
          </a:xfrm>
          <a:prstGeom prst="roundRect">
            <a:avLst>
              <a:gd name="adj" fmla="val 14286"/>
            </a:avLst>
          </a:prstGeom>
          <a:solidFill>
            <a:srgbClr val="F4F7FB"/>
          </a:solidFill>
          <a:ln w="9525">
            <a:solidFill>
              <a:srgbClr val="DFE6F0"/>
            </a:solidFill>
          </a:ln>
        </p:spPr>
        <p:txBody>
          <a:bodyPr wrap="square" lIns="101600" tIns="101600" rIns="101600" bIns="101600" rtlCol="0" anchor="ctr">
            <a:normAutofit/>
          </a:bodyPr>
          <a:lstStyle/>
          <a:p>
            <a:pPr indent="0" marL="0">
              <a:buNone/>
            </a:pPr>
            <a:r>
              <a:rPr lang="en-US" sz="1400" dirty="0">
                <a:solidFill>
                  <a:srgbClr val="0B1A3C"/>
                </a:solidFill>
                <a:latin typeface="Consolas" pitchFamily="34" charset="0"/>
                <a:ea typeface="Consolas" pitchFamily="34" charset="-122"/>
                <a:cs typeface="Consolas" pitchFamily="34" charset="-120"/>
              </a:rPr>
              <a:t>UPDATE solicitud SET tipo = ?, estado = ? WHERE id = ?</a:t>
            </a:r>
            <a:endParaRPr lang="en-US" sz="14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400"/>
                                        <p:tgtEl>
                                          <p:spTgt spid="2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400"/>
                                        <p:tgtEl>
                                          <p:spTgt spid="2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40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400"/>
                                        <p:tgtEl>
                                          <p:spTgt spid="3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4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4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400"/>
                                        <p:tgtEl>
                                          <p:spTgt spid="3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400"/>
                                        <p:tgtEl>
                                          <p:spTgt spid="3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400"/>
                                        <p:tgtEl>
                                          <p:spTgt spid="40"/>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4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4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400"/>
                                        <p:tgtEl>
                                          <p:spTgt spid="4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400"/>
                                        <p:tgtEl>
                                          <p:spTgt spid="44"/>
                                        </p:tgtEl>
                                      </p:cBhvr>
                                    </p:animEffect>
                                  </p:childTnLst>
                                </p:cTn>
                              </p:par>
                            </p:childTnLst>
                          </p:cTn>
                        </p:par>
                      </p:childTnLst>
                    </p:cTn>
                  </p:par>
                  <p:par>
                    <p:cTn id="79" fill="hold">
                      <p:stCondLst>
                        <p:cond delay="indefinite"/>
                      </p:stCondLst>
                      <p:childTnLst>
                        <p:par>
                          <p:cTn id="80"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fade">
                                      <p:cBhvr>
                                        <p:cTn id="72" dur="400"/>
                                        <p:tgtEl>
                                          <p:spTgt spid="4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fade">
                                      <p:cBhvr>
                                        <p:cTn id="75" dur="4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fade">
                                      <p:cBhvr>
                                        <p:cTn id="78" dur="400"/>
                                        <p:tgtEl>
                                          <p:spTgt spid="47"/>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fade">
                                      <p:cBhvr>
                                        <p:cTn id="83" dur="400"/>
                                        <p:tgtEl>
                                          <p:spTgt spid="4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9"/>
                                        </p:tgtEl>
                                        <p:attrNameLst>
                                          <p:attrName>style.visibility</p:attrName>
                                        </p:attrNameLst>
                                      </p:cBhvr>
                                      <p:to>
                                        <p:strVal val="visible"/>
                                      </p:to>
                                    </p:set>
                                    <p:animEffect transition="in" filter="fade">
                                      <p:cBhvr>
                                        <p:cTn id="86" dur="400"/>
                                        <p:tgtEl>
                                          <p:spTgt spid="4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fade">
                                      <p:cBhvr>
                                        <p:cTn id="8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viaje de un dato: de la pantalla a la fila</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mismo dato cambia de forma en el camino: JSON, objeto, SQL y fila.</a:t>
            </a:r>
            <a:endParaRPr lang="en-US" sz="170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traductor: el código habla Java, la base habla SQL, y el ORM traduce en los dos sentidos.</a:t>
            </a:r>
            <a:endParaRPr lang="en-US" sz="1450" dirty="0"/>
          </a:p>
        </p:txBody>
      </p:sp>
      <p:sp>
        <p:nvSpPr>
          <p:cNvPr id="16" name="Shape 14"/>
          <p:cNvSpPr/>
          <p:nvPr/>
        </p:nvSpPr>
        <p:spPr>
          <a:xfrm>
            <a:off x="1024128" y="2190628"/>
            <a:ext cx="1370320" cy="137032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17" name="Icono monitor"/>
          <p:cNvSpPr/>
          <p:nvPr/>
        </p:nvSpPr>
        <p:spPr>
          <a:xfrm>
            <a:off x="1339302" y="2505802"/>
            <a:ext cx="739973" cy="739973"/>
          </a:xfrm>
          <a:custGeom>
            <a:avLst/>
            <a:gdLst/>
            <a:ahLst/>
            <a:cxnLst/>
            <a:rect l="l" t="t" r="r" b="b"/>
            <a:pathLst>
              <a:path w="739973" h="739973">
                <a:moveTo>
                  <a:pt x="123329" y="92497"/>
                </a:moveTo>
                <a:lnTo>
                  <a:pt x="616644" y="92497"/>
                </a:lnTo>
                <a:cubicBezTo>
                  <a:pt x="650700" y="92497"/>
                  <a:pt x="678308" y="120105"/>
                  <a:pt x="678308" y="154161"/>
                </a:cubicBezTo>
                <a:lnTo>
                  <a:pt x="678308" y="462483"/>
                </a:lnTo>
                <a:cubicBezTo>
                  <a:pt x="678308" y="496539"/>
                  <a:pt x="650700" y="524147"/>
                  <a:pt x="616644" y="524147"/>
                </a:cubicBezTo>
                <a:lnTo>
                  <a:pt x="123329" y="524147"/>
                </a:lnTo>
                <a:cubicBezTo>
                  <a:pt x="89272" y="524147"/>
                  <a:pt x="61664" y="496539"/>
                  <a:pt x="61664" y="462483"/>
                </a:cubicBezTo>
                <a:lnTo>
                  <a:pt x="61664" y="154161"/>
                </a:lnTo>
                <a:cubicBezTo>
                  <a:pt x="61664" y="120105"/>
                  <a:pt x="89272" y="92497"/>
                  <a:pt x="123329" y="92497"/>
                </a:cubicBezTo>
                <a:close/>
                <a:moveTo>
                  <a:pt x="246658" y="647476"/>
                </a:moveTo>
                <a:lnTo>
                  <a:pt x="493315" y="647476"/>
                </a:lnTo>
                <a:moveTo>
                  <a:pt x="369986" y="524147"/>
                </a:moveTo>
                <a:lnTo>
                  <a:pt x="369986" y="647476"/>
                </a:lnTo>
              </a:path>
            </a:pathLst>
          </a:custGeom>
          <a:noFill/>
          <a:ln w="53956" cap="rnd">
            <a:solidFill>
              <a:srgbClr val="5B3FC4"/>
            </a:solidFill>
            <a:prstDash val="solid"/>
            <a:round/>
          </a:ln>
        </p:spPr>
      </p:sp>
      <p:sp>
        <p:nvSpPr>
          <p:cNvPr id="18" name="Text 16"/>
          <p:cNvSpPr/>
          <p:nvPr/>
        </p:nvSpPr>
        <p:spPr>
          <a:xfrm>
            <a:off x="987552" y="2154052"/>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9" name="Text 17"/>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Pantalla</a:t>
            </a:r>
            <a:endParaRPr lang="en-US" sz="1800" dirty="0"/>
          </a:p>
        </p:txBody>
      </p:sp>
      <p:sp>
        <p:nvSpPr>
          <p:cNvPr id="20" name="Text 18"/>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Manda JSON: SOL-100, tipo Consulta.</a:t>
            </a:r>
            <a:endParaRPr lang="en-US" sz="1400" dirty="0"/>
          </a:p>
        </p:txBody>
      </p:sp>
      <p:sp>
        <p:nvSpPr>
          <p:cNvPr id="21" name="[p1] Forma"/>
          <p:cNvSpPr/>
          <p:nvPr/>
        </p:nvSpPr>
        <p:spPr>
          <a:xfrm>
            <a:off x="2485888" y="2875788"/>
            <a:ext cx="640080" cy="0"/>
          </a:xfrm>
          <a:prstGeom prst="line">
            <a:avLst/>
          </a:prstGeom>
          <a:noFill/>
          <a:ln w="38100">
            <a:solidFill>
              <a:srgbClr val="2BA6CB"/>
            </a:solidFill>
            <a:prstDash val="solid"/>
            <a:tailEnd type="triangle"/>
          </a:ln>
        </p:spPr>
      </p:sp>
      <p:sp>
        <p:nvSpPr>
          <p:cNvPr id="22" name="[p1] Forma"/>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3" name="[p1] Icono code"/>
          <p:cNvSpPr/>
          <p:nvPr/>
        </p:nvSpPr>
        <p:spPr>
          <a:xfrm>
            <a:off x="3532581" y="2505802"/>
            <a:ext cx="739973" cy="739973"/>
          </a:xfrm>
          <a:custGeom>
            <a:avLst/>
            <a:gdLst/>
            <a:ahLst/>
            <a:cxnLst/>
            <a:rect l="l" t="t" r="r" b="b"/>
            <a:pathLst>
              <a:path w="739973" h="739973">
                <a:moveTo>
                  <a:pt x="493315" y="554980"/>
                </a:moveTo>
                <a:lnTo>
                  <a:pt x="678308" y="369986"/>
                </a:lnTo>
                <a:lnTo>
                  <a:pt x="493315" y="184993"/>
                </a:lnTo>
                <a:moveTo>
                  <a:pt x="246658" y="184993"/>
                </a:moveTo>
                <a:lnTo>
                  <a:pt x="61664" y="369986"/>
                </a:lnTo>
                <a:lnTo>
                  <a:pt x="246658" y="554980"/>
                </a:lnTo>
              </a:path>
            </a:pathLst>
          </a:custGeom>
          <a:noFill/>
          <a:ln w="53956" cap="rnd">
            <a:solidFill>
              <a:srgbClr val="0B2350"/>
            </a:solidFill>
            <a:prstDash val="solid"/>
            <a:round/>
          </a:ln>
        </p:spPr>
      </p:sp>
      <p:sp>
        <p:nvSpPr>
          <p:cNvPr id="24" name="[p1] Forma"/>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5" name="[p1] Forma"/>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Controlador</a:t>
            </a:r>
            <a:endParaRPr lang="en-US" sz="1800" dirty="0"/>
          </a:p>
        </p:txBody>
      </p:sp>
      <p:sp>
        <p:nvSpPr>
          <p:cNvPr id="26" name="[p1] Forma"/>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Convierte el JSON en un objeto.</a:t>
            </a:r>
            <a:endParaRPr lang="en-US" sz="1400" dirty="0"/>
          </a:p>
        </p:txBody>
      </p:sp>
      <p:sp>
        <p:nvSpPr>
          <p:cNvPr id="27" name="[p2] Forma"/>
          <p:cNvSpPr/>
          <p:nvPr/>
        </p:nvSpPr>
        <p:spPr>
          <a:xfrm>
            <a:off x="4679168" y="2875788"/>
            <a:ext cx="640080" cy="0"/>
          </a:xfrm>
          <a:prstGeom prst="line">
            <a:avLst/>
          </a:prstGeom>
          <a:noFill/>
          <a:ln w="38100">
            <a:solidFill>
              <a:srgbClr val="2BA6CB"/>
            </a:solidFill>
            <a:prstDash val="solid"/>
            <a:tailEnd type="triangle"/>
          </a:ln>
        </p:spPr>
      </p:sp>
      <p:sp>
        <p:nvSpPr>
          <p:cNvPr id="28" name="[p2] Forma"/>
          <p:cNvSpPr/>
          <p:nvPr/>
        </p:nvSpPr>
        <p:spPr>
          <a:xfrm>
            <a:off x="541068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9" name="[p2] Icono puzzle"/>
          <p:cNvSpPr/>
          <p:nvPr/>
        </p:nvSpPr>
        <p:spPr>
          <a:xfrm>
            <a:off x="5725861" y="2505802"/>
            <a:ext cx="739973" cy="739973"/>
          </a:xfrm>
          <a:custGeom>
            <a:avLst/>
            <a:gdLst/>
            <a:ahLst/>
            <a:cxnLst/>
            <a:rect l="l" t="t" r="r" b="b"/>
            <a:pathLst>
              <a:path w="739973" h="739973">
                <a:moveTo>
                  <a:pt x="474508" y="135353"/>
                </a:moveTo>
                <a:cubicBezTo>
                  <a:pt x="482399" y="143253"/>
                  <a:pt x="493946" y="146269"/>
                  <a:pt x="504692" y="143236"/>
                </a:cubicBezTo>
                <a:cubicBezTo>
                  <a:pt x="515439" y="140204"/>
                  <a:pt x="523707" y="131599"/>
                  <a:pt x="526306" y="120739"/>
                </a:cubicBezTo>
                <a:cubicBezTo>
                  <a:pt x="535162" y="83872"/>
                  <a:pt x="569515" y="58921"/>
                  <a:pt x="607314" y="61902"/>
                </a:cubicBezTo>
                <a:cubicBezTo>
                  <a:pt x="645112" y="64883"/>
                  <a:pt x="675129" y="94910"/>
                  <a:pt x="678098" y="132709"/>
                </a:cubicBezTo>
                <a:cubicBezTo>
                  <a:pt x="681066" y="170509"/>
                  <a:pt x="656104" y="204854"/>
                  <a:pt x="619234" y="213698"/>
                </a:cubicBezTo>
                <a:cubicBezTo>
                  <a:pt x="608374" y="216297"/>
                  <a:pt x="599768" y="224564"/>
                  <a:pt x="596736" y="235311"/>
                </a:cubicBezTo>
                <a:cubicBezTo>
                  <a:pt x="593704" y="246058"/>
                  <a:pt x="596720" y="257604"/>
                  <a:pt x="604619" y="265496"/>
                </a:cubicBezTo>
                <a:lnTo>
                  <a:pt x="656510" y="317356"/>
                </a:lnTo>
                <a:cubicBezTo>
                  <a:pt x="670469" y="331314"/>
                  <a:pt x="678311" y="350246"/>
                  <a:pt x="678311" y="369986"/>
                </a:cubicBezTo>
                <a:cubicBezTo>
                  <a:pt x="678311" y="389727"/>
                  <a:pt x="670469" y="408659"/>
                  <a:pt x="656510" y="422617"/>
                </a:cubicBezTo>
                <a:lnTo>
                  <a:pt x="604619" y="474508"/>
                </a:lnTo>
                <a:cubicBezTo>
                  <a:pt x="596728" y="482407"/>
                  <a:pt x="585181" y="485423"/>
                  <a:pt x="574434" y="482391"/>
                </a:cubicBezTo>
                <a:cubicBezTo>
                  <a:pt x="563688" y="479358"/>
                  <a:pt x="555420" y="470753"/>
                  <a:pt x="552821" y="459893"/>
                </a:cubicBezTo>
                <a:cubicBezTo>
                  <a:pt x="543965" y="423026"/>
                  <a:pt x="509612" y="398075"/>
                  <a:pt x="471813" y="401056"/>
                </a:cubicBezTo>
                <a:cubicBezTo>
                  <a:pt x="434015" y="404037"/>
                  <a:pt x="403998" y="434064"/>
                  <a:pt x="401029" y="471864"/>
                </a:cubicBezTo>
                <a:cubicBezTo>
                  <a:pt x="398061" y="509663"/>
                  <a:pt x="423023" y="544008"/>
                  <a:pt x="459893" y="552852"/>
                </a:cubicBezTo>
                <a:cubicBezTo>
                  <a:pt x="470753" y="555451"/>
                  <a:pt x="479358" y="563719"/>
                  <a:pt x="482391" y="574465"/>
                </a:cubicBezTo>
                <a:cubicBezTo>
                  <a:pt x="485423" y="585212"/>
                  <a:pt x="482407" y="596758"/>
                  <a:pt x="474508" y="604650"/>
                </a:cubicBezTo>
                <a:lnTo>
                  <a:pt x="422617" y="656510"/>
                </a:lnTo>
                <a:cubicBezTo>
                  <a:pt x="408659" y="670469"/>
                  <a:pt x="389727" y="678311"/>
                  <a:pt x="369986" y="678311"/>
                </a:cubicBezTo>
                <a:cubicBezTo>
                  <a:pt x="350246" y="678311"/>
                  <a:pt x="331314" y="670469"/>
                  <a:pt x="317356" y="656510"/>
                </a:cubicBezTo>
                <a:lnTo>
                  <a:pt x="265465" y="604619"/>
                </a:lnTo>
                <a:cubicBezTo>
                  <a:pt x="257573" y="596720"/>
                  <a:pt x="246027" y="593704"/>
                  <a:pt x="235280" y="596736"/>
                </a:cubicBezTo>
                <a:cubicBezTo>
                  <a:pt x="224534" y="599768"/>
                  <a:pt x="216266" y="608374"/>
                  <a:pt x="213667" y="619234"/>
                </a:cubicBezTo>
                <a:cubicBezTo>
                  <a:pt x="204811" y="656101"/>
                  <a:pt x="170457" y="681052"/>
                  <a:pt x="132659" y="678071"/>
                </a:cubicBezTo>
                <a:cubicBezTo>
                  <a:pt x="94861" y="675090"/>
                  <a:pt x="64843" y="645063"/>
                  <a:pt x="61875" y="607263"/>
                </a:cubicBezTo>
                <a:cubicBezTo>
                  <a:pt x="58907" y="569464"/>
                  <a:pt x="83869" y="535119"/>
                  <a:pt x="120739" y="526275"/>
                </a:cubicBezTo>
                <a:cubicBezTo>
                  <a:pt x="131599" y="523676"/>
                  <a:pt x="140204" y="515408"/>
                  <a:pt x="143236" y="504662"/>
                </a:cubicBezTo>
                <a:cubicBezTo>
                  <a:pt x="146269" y="493915"/>
                  <a:pt x="143253" y="482368"/>
                  <a:pt x="135353" y="474477"/>
                </a:cubicBezTo>
                <a:lnTo>
                  <a:pt x="83463" y="422617"/>
                </a:lnTo>
                <a:cubicBezTo>
                  <a:pt x="69504" y="408659"/>
                  <a:pt x="61662" y="389727"/>
                  <a:pt x="61662" y="369986"/>
                </a:cubicBezTo>
                <a:cubicBezTo>
                  <a:pt x="61662" y="350246"/>
                  <a:pt x="69504" y="331314"/>
                  <a:pt x="83463" y="317356"/>
                </a:cubicBezTo>
                <a:lnTo>
                  <a:pt x="135353" y="265465"/>
                </a:lnTo>
                <a:cubicBezTo>
                  <a:pt x="143245" y="257565"/>
                  <a:pt x="154791" y="254550"/>
                  <a:pt x="165538" y="257582"/>
                </a:cubicBezTo>
                <a:cubicBezTo>
                  <a:pt x="176285" y="260614"/>
                  <a:pt x="184552" y="269220"/>
                  <a:pt x="187151" y="280080"/>
                </a:cubicBezTo>
                <a:cubicBezTo>
                  <a:pt x="196008" y="316946"/>
                  <a:pt x="230361" y="341897"/>
                  <a:pt x="268159" y="338917"/>
                </a:cubicBezTo>
                <a:cubicBezTo>
                  <a:pt x="305958" y="335936"/>
                  <a:pt x="335975" y="305908"/>
                  <a:pt x="338943" y="268109"/>
                </a:cubicBezTo>
                <a:cubicBezTo>
                  <a:pt x="341912" y="230310"/>
                  <a:pt x="316949" y="195965"/>
                  <a:pt x="280080" y="187121"/>
                </a:cubicBezTo>
                <a:cubicBezTo>
                  <a:pt x="269220" y="184522"/>
                  <a:pt x="260614" y="176254"/>
                  <a:pt x="257582" y="165507"/>
                </a:cubicBezTo>
                <a:cubicBezTo>
                  <a:pt x="254550" y="154761"/>
                  <a:pt x="257565" y="143214"/>
                  <a:pt x="265465" y="135323"/>
                </a:cubicBezTo>
                <a:lnTo>
                  <a:pt x="317356" y="83463"/>
                </a:lnTo>
                <a:cubicBezTo>
                  <a:pt x="331314" y="69504"/>
                  <a:pt x="350246" y="61662"/>
                  <a:pt x="369986" y="61662"/>
                </a:cubicBezTo>
                <a:cubicBezTo>
                  <a:pt x="389727" y="61662"/>
                  <a:pt x="408659" y="69504"/>
                  <a:pt x="422617" y="83463"/>
                </a:cubicBezTo>
                <a:close/>
              </a:path>
            </a:pathLst>
          </a:custGeom>
          <a:noFill/>
          <a:ln w="53956" cap="rnd">
            <a:solidFill>
              <a:srgbClr val="0B2350"/>
            </a:solidFill>
            <a:prstDash val="solid"/>
            <a:round/>
          </a:ln>
        </p:spPr>
      </p:sp>
      <p:sp>
        <p:nvSpPr>
          <p:cNvPr id="30" name="[p2] Forma"/>
          <p:cNvSpPr/>
          <p:nvPr/>
        </p:nvSpPr>
        <p:spPr>
          <a:xfrm>
            <a:off x="537411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1" name="[p2] Forma"/>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Reglas</a:t>
            </a:r>
            <a:endParaRPr lang="en-US" sz="1800" dirty="0"/>
          </a:p>
        </p:txBody>
      </p:sp>
      <p:sp>
        <p:nvSpPr>
          <p:cNvPr id="32" name="[p2] Forma"/>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Revisa que el id no exista. Sin SQL.</a:t>
            </a:r>
            <a:endParaRPr lang="en-US" sz="1400" dirty="0"/>
          </a:p>
        </p:txBody>
      </p:sp>
      <p:sp>
        <p:nvSpPr>
          <p:cNvPr id="33" name="[p3] Forma"/>
          <p:cNvSpPr/>
          <p:nvPr/>
        </p:nvSpPr>
        <p:spPr>
          <a:xfrm>
            <a:off x="6872448" y="2875788"/>
            <a:ext cx="640080" cy="0"/>
          </a:xfrm>
          <a:prstGeom prst="line">
            <a:avLst/>
          </a:prstGeom>
          <a:noFill/>
          <a:ln w="38100">
            <a:solidFill>
              <a:srgbClr val="2BA6CB"/>
            </a:solidFill>
            <a:prstDash val="solid"/>
            <a:tailEnd type="triangle"/>
          </a:ln>
        </p:spPr>
      </p:sp>
      <p:sp>
        <p:nvSpPr>
          <p:cNvPr id="34" name="[p3] Forma"/>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5" name="[p3] Icono table"/>
          <p:cNvSpPr/>
          <p:nvPr/>
        </p:nvSpPr>
        <p:spPr>
          <a:xfrm>
            <a:off x="7919141" y="2505802"/>
            <a:ext cx="739973" cy="739973"/>
          </a:xfrm>
          <a:custGeom>
            <a:avLst/>
            <a:gdLst/>
            <a:ahLst/>
            <a:cxnLst/>
            <a:rect l="l" t="t" r="r" b="b"/>
            <a:pathLst>
              <a:path w="739973" h="739973">
                <a:moveTo>
                  <a:pt x="369986" y="92497"/>
                </a:moveTo>
                <a:lnTo>
                  <a:pt x="369986" y="647476"/>
                </a:lnTo>
                <a:moveTo>
                  <a:pt x="154161" y="92497"/>
                </a:moveTo>
                <a:lnTo>
                  <a:pt x="585812" y="92497"/>
                </a:lnTo>
                <a:cubicBezTo>
                  <a:pt x="619868" y="92497"/>
                  <a:pt x="647476" y="120105"/>
                  <a:pt x="647476" y="154161"/>
                </a:cubicBezTo>
                <a:lnTo>
                  <a:pt x="647476" y="585812"/>
                </a:lnTo>
                <a:cubicBezTo>
                  <a:pt x="647476" y="619868"/>
                  <a:pt x="619868" y="647476"/>
                  <a:pt x="585812" y="647476"/>
                </a:cubicBezTo>
                <a:lnTo>
                  <a:pt x="154161" y="647476"/>
                </a:lnTo>
                <a:cubicBezTo>
                  <a:pt x="120105" y="647476"/>
                  <a:pt x="92497" y="619868"/>
                  <a:pt x="92497" y="585812"/>
                </a:cubicBezTo>
                <a:lnTo>
                  <a:pt x="92497" y="154161"/>
                </a:lnTo>
                <a:cubicBezTo>
                  <a:pt x="92497" y="120105"/>
                  <a:pt x="120105" y="92497"/>
                  <a:pt x="154161" y="92497"/>
                </a:cubicBezTo>
                <a:close/>
                <a:moveTo>
                  <a:pt x="92497" y="277490"/>
                </a:moveTo>
                <a:lnTo>
                  <a:pt x="647476" y="277490"/>
                </a:lnTo>
                <a:moveTo>
                  <a:pt x="92497" y="462483"/>
                </a:moveTo>
                <a:lnTo>
                  <a:pt x="647476" y="462483"/>
                </a:lnTo>
              </a:path>
            </a:pathLst>
          </a:custGeom>
          <a:noFill/>
          <a:ln w="53956" cap="rnd">
            <a:solidFill>
              <a:srgbClr val="0B6E8A"/>
            </a:solidFill>
            <a:prstDash val="solid"/>
            <a:round/>
          </a:ln>
        </p:spPr>
      </p:sp>
      <p:sp>
        <p:nvSpPr>
          <p:cNvPr id="36" name="[p3] Forma"/>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7" name="[p3] Forma"/>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Hibernate</a:t>
            </a:r>
            <a:endParaRPr lang="en-US" sz="1800" dirty="0"/>
          </a:p>
        </p:txBody>
      </p:sp>
      <p:sp>
        <p:nvSpPr>
          <p:cNvPr id="38" name="[p3] Forma"/>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Objeto → INSERT con parámetros.</a:t>
            </a:r>
            <a:endParaRPr lang="en-US" sz="1400" dirty="0"/>
          </a:p>
        </p:txBody>
      </p:sp>
      <p:sp>
        <p:nvSpPr>
          <p:cNvPr id="39" name="[p4] Forma"/>
          <p:cNvSpPr/>
          <p:nvPr/>
        </p:nvSpPr>
        <p:spPr>
          <a:xfrm>
            <a:off x="9065727" y="2875788"/>
            <a:ext cx="640080" cy="0"/>
          </a:xfrm>
          <a:prstGeom prst="line">
            <a:avLst/>
          </a:prstGeom>
          <a:noFill/>
          <a:ln w="38100">
            <a:solidFill>
              <a:srgbClr val="2BA6CB"/>
            </a:solidFill>
            <a:prstDash val="solid"/>
            <a:tailEnd type="triangle"/>
          </a:ln>
        </p:spPr>
      </p:sp>
      <p:sp>
        <p:nvSpPr>
          <p:cNvPr id="40" name="[p4] Forma"/>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1" name="[p4] Icono database"/>
          <p:cNvSpPr/>
          <p:nvPr/>
        </p:nvSpPr>
        <p:spPr>
          <a:xfrm>
            <a:off x="10112421" y="2505802"/>
            <a:ext cx="739973" cy="739973"/>
          </a:xfrm>
          <a:custGeom>
            <a:avLst/>
            <a:gdLst/>
            <a:ahLst/>
            <a:cxnLst/>
            <a:rect l="l" t="t" r="r" b="b"/>
            <a:pathLst>
              <a:path w="739973" h="739973">
                <a:moveTo>
                  <a:pt x="647476" y="154161"/>
                </a:moveTo>
                <a:cubicBezTo>
                  <a:pt x="647476" y="205245"/>
                  <a:pt x="523240" y="246658"/>
                  <a:pt x="369986" y="246658"/>
                </a:cubicBezTo>
                <a:cubicBezTo>
                  <a:pt x="216733" y="246658"/>
                  <a:pt x="92497" y="205245"/>
                  <a:pt x="92497" y="154161"/>
                </a:cubicBezTo>
                <a:cubicBezTo>
                  <a:pt x="92497" y="103077"/>
                  <a:pt x="216733" y="61664"/>
                  <a:pt x="369986" y="61664"/>
                </a:cubicBezTo>
                <a:cubicBezTo>
                  <a:pt x="523240" y="61664"/>
                  <a:pt x="647476" y="103077"/>
                  <a:pt x="647476" y="154161"/>
                </a:cubicBezTo>
                <a:close/>
                <a:moveTo>
                  <a:pt x="92497" y="154161"/>
                </a:moveTo>
                <a:lnTo>
                  <a:pt x="92497" y="585812"/>
                </a:lnTo>
                <a:cubicBezTo>
                  <a:pt x="92497" y="636896"/>
                  <a:pt x="216733" y="678308"/>
                  <a:pt x="369986" y="678308"/>
                </a:cubicBezTo>
                <a:cubicBezTo>
                  <a:pt x="523240" y="678308"/>
                  <a:pt x="647476" y="636896"/>
                  <a:pt x="647476" y="585812"/>
                </a:cubicBezTo>
                <a:lnTo>
                  <a:pt x="647476" y="154161"/>
                </a:lnTo>
                <a:moveTo>
                  <a:pt x="92497" y="369986"/>
                </a:moveTo>
                <a:cubicBezTo>
                  <a:pt x="92497" y="421071"/>
                  <a:pt x="216733" y="462483"/>
                  <a:pt x="369986" y="462483"/>
                </a:cubicBezTo>
                <a:cubicBezTo>
                  <a:pt x="523240" y="462483"/>
                  <a:pt x="647476" y="421071"/>
                  <a:pt x="647476" y="369986"/>
                </a:cubicBezTo>
              </a:path>
            </a:pathLst>
          </a:custGeom>
          <a:noFill/>
          <a:ln w="53956" cap="rnd">
            <a:solidFill>
              <a:srgbClr val="0A6648"/>
            </a:solidFill>
            <a:prstDash val="solid"/>
            <a:round/>
          </a:ln>
        </p:spPr>
      </p:sp>
      <p:sp>
        <p:nvSpPr>
          <p:cNvPr id="42" name="[p4] Forma"/>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3" name="[p4] Forma"/>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PostgreSQL</a:t>
            </a:r>
            <a:endParaRPr lang="en-US" sz="1800" dirty="0"/>
          </a:p>
        </p:txBody>
      </p:sp>
      <p:sp>
        <p:nvSpPr>
          <p:cNvPr id="44" name="[p4] Forma"/>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Guarda la fila y hace COMMIT.</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4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400"/>
                                        <p:tgtEl>
                                          <p:spTgt spid="4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400"/>
                                        <p:tgtEl>
                                          <p:spTgt spid="4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está la cadena de conexión?</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Ni en el código ni en la imagen: la pone el ambiente donde corre la aplicación.</a:t>
            </a:r>
            <a:endParaRPr lang="en-US" sz="1700" dirty="0"/>
          </a:p>
        </p:txBody>
      </p:sp>
      <p:sp>
        <p:nvSpPr>
          <p:cNvPr id="12" name="Shape 10"/>
          <p:cNvSpPr/>
          <p:nvPr/>
        </p:nvSpPr>
        <p:spPr>
          <a:xfrm>
            <a:off x="4818888" y="2253996"/>
            <a:ext cx="3246120" cy="2240280"/>
          </a:xfrm>
          <a:prstGeom prst="roundRect">
            <a:avLst>
              <a:gd name="adj" fmla="val 571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4818888" y="2253996"/>
            <a:ext cx="3246120" cy="566928"/>
          </a:xfrm>
          <a:prstGeom prst="roundRect">
            <a:avLst>
              <a:gd name="adj" fmla="val 22581"/>
            </a:avLst>
          </a:prstGeom>
          <a:solidFill>
            <a:srgbClr val="0B2350"/>
          </a:solidFill>
          <a:ln w="12700">
            <a:solidFill>
              <a:srgbClr val="0B2350"/>
            </a:solidFill>
            <a:prstDash val="solid"/>
          </a:ln>
        </p:spPr>
      </p:sp>
      <p:sp>
        <p:nvSpPr>
          <p:cNvPr id="14" name="Shape 12"/>
          <p:cNvSpPr/>
          <p:nvPr/>
        </p:nvSpPr>
        <p:spPr>
          <a:xfrm>
            <a:off x="4818888" y="2638044"/>
            <a:ext cx="3246120" cy="182880"/>
          </a:xfrm>
          <a:prstGeom prst="rect">
            <a:avLst/>
          </a:prstGeom>
          <a:solidFill>
            <a:srgbClr val="0B2350"/>
          </a:solidFill>
          <a:ln w="12700">
            <a:solidFill>
              <a:srgbClr val="0B2350"/>
            </a:solidFill>
            <a:prstDash val="solid"/>
          </a:ln>
        </p:spPr>
      </p:sp>
      <p:sp>
        <p:nvSpPr>
          <p:cNvPr id="15" name="Icono file-code"/>
          <p:cNvSpPr/>
          <p:nvPr/>
        </p:nvSpPr>
        <p:spPr>
          <a:xfrm>
            <a:off x="4983480" y="2372868"/>
            <a:ext cx="329184" cy="329184"/>
          </a:xfrm>
          <a:custGeom>
            <a:avLst/>
            <a:gdLst/>
            <a:ahLst/>
            <a:cxnLst/>
            <a:rect l="l" t="t" r="r" b="b"/>
            <a:pathLst>
              <a:path w="329184" h="329184">
                <a:moveTo>
                  <a:pt x="137160" y="171450"/>
                </a:moveTo>
                <a:lnTo>
                  <a:pt x="109728" y="205740"/>
                </a:lnTo>
                <a:lnTo>
                  <a:pt x="137160" y="240030"/>
                </a:lnTo>
                <a:moveTo>
                  <a:pt x="192024" y="171450"/>
                </a:moveTo>
                <a:lnTo>
                  <a:pt x="219456" y="205740"/>
                </a:lnTo>
                <a:lnTo>
                  <a:pt x="192024" y="240030"/>
                </a:lnTo>
                <a:moveTo>
                  <a:pt x="192024" y="27432"/>
                </a:moveTo>
                <a:lnTo>
                  <a:pt x="192024" y="82296"/>
                </a:lnTo>
                <a:cubicBezTo>
                  <a:pt x="192024" y="97446"/>
                  <a:pt x="204306" y="109728"/>
                  <a:pt x="219456" y="109728"/>
                </a:cubicBezTo>
                <a:lnTo>
                  <a:pt x="274320" y="109728"/>
                </a:lnTo>
                <a:moveTo>
                  <a:pt x="205740" y="27432"/>
                </a:moveTo>
                <a:lnTo>
                  <a:pt x="82296" y="27432"/>
                </a:lnTo>
                <a:cubicBezTo>
                  <a:pt x="67146" y="27432"/>
                  <a:pt x="54864" y="39714"/>
                  <a:pt x="54864" y="54864"/>
                </a:cubicBezTo>
                <a:lnTo>
                  <a:pt x="54864" y="274320"/>
                </a:lnTo>
                <a:cubicBezTo>
                  <a:pt x="54864" y="289470"/>
                  <a:pt x="67146" y="301752"/>
                  <a:pt x="82296" y="301752"/>
                </a:cubicBezTo>
                <a:lnTo>
                  <a:pt x="246888" y="301752"/>
                </a:lnTo>
                <a:cubicBezTo>
                  <a:pt x="262038" y="301752"/>
                  <a:pt x="274320" y="289470"/>
                  <a:pt x="274320" y="274320"/>
                </a:cubicBezTo>
                <a:lnTo>
                  <a:pt x="274320" y="96012"/>
                </a:lnTo>
                <a:close/>
              </a:path>
            </a:pathLst>
          </a:custGeom>
          <a:noFill/>
          <a:ln w="27432" cap="rnd">
            <a:solidFill>
              <a:srgbClr val="FFFFFF"/>
            </a:solidFill>
            <a:prstDash val="solid"/>
            <a:round/>
          </a:ln>
        </p:spPr>
      </p:sp>
      <p:sp>
        <p:nvSpPr>
          <p:cNvPr id="16" name="Text 14"/>
          <p:cNvSpPr/>
          <p:nvPr/>
        </p:nvSpPr>
        <p:spPr>
          <a:xfrm>
            <a:off x="5422392" y="2299716"/>
            <a:ext cx="2514600" cy="475488"/>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Segoe UI Semibold" pitchFamily="34" charset="0"/>
                <a:ea typeface="Segoe UI Semibold" pitchFamily="34" charset="-122"/>
                <a:cs typeface="Segoe UI Semibold" pitchFamily="34" charset="-120"/>
              </a:rPr>
              <a:t>El servicio al arrancar</a:t>
            </a:r>
            <a:endParaRPr lang="en-US" sz="1500" dirty="0"/>
          </a:p>
        </p:txBody>
      </p:sp>
      <p:sp>
        <p:nvSpPr>
          <p:cNvPr id="17" name="Text 15"/>
          <p:cNvSpPr/>
          <p:nvPr/>
        </p:nvSpPr>
        <p:spPr>
          <a:xfrm>
            <a:off x="5001768" y="2912364"/>
            <a:ext cx="2880360" cy="457200"/>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application.properties solo tiene marcadores.</a:t>
            </a:r>
            <a:endParaRPr lang="en-US" sz="1200" dirty="0"/>
          </a:p>
        </p:txBody>
      </p:sp>
      <p:sp>
        <p:nvSpPr>
          <p:cNvPr id="18" name="Text 16"/>
          <p:cNvSpPr/>
          <p:nvPr/>
        </p:nvSpPr>
        <p:spPr>
          <a:xfrm>
            <a:off x="4983480" y="3406140"/>
            <a:ext cx="2916936" cy="941832"/>
          </a:xfrm>
          <a:prstGeom prst="roundRect">
            <a:avLst>
              <a:gd name="adj" fmla="val 7767"/>
            </a:avLst>
          </a:prstGeom>
          <a:solidFill>
            <a:srgbClr val="0B1F3A"/>
          </a:solidFill>
          <a:ln>
            <a:solidFill>
              <a:srgbClr val="0B1F3A"/>
            </a:solidFill>
          </a:ln>
        </p:spPr>
        <p:txBody>
          <a:bodyPr wrap="square" lIns="101600" tIns="101600" rIns="101600" bIns="101600" rtlCol="0" anchor="ctr">
            <a:normAutofit/>
          </a:bodyPr>
          <a:lstStyle/>
          <a:p>
            <a:pPr indent="0" marL="0">
              <a:buNone/>
            </a:pPr>
            <a:r>
              <a:rPr lang="en-US" sz="1150" dirty="0">
                <a:solidFill>
                  <a:srgbClr val="2BA6CB"/>
                </a:solidFill>
                <a:latin typeface="Consolas" pitchFamily="34" charset="0"/>
                <a:ea typeface="Consolas" pitchFamily="34" charset="-122"/>
                <a:cs typeface="Consolas" pitchFamily="34" charset="-120"/>
              </a:rPr>
              <a:t>url=${DB_URL}</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username=${DB_USER}</a:t>
            </a:r>
            <a:endParaRPr lang="en-US" sz="1150" dirty="0"/>
          </a:p>
          <a:p>
            <a:pPr indent="0" marL="0">
              <a:buNone/>
            </a:pPr>
            <a:r>
              <a:rPr lang="en-US" sz="1150" dirty="0">
                <a:solidFill>
                  <a:srgbClr val="2BA6CB"/>
                </a:solidFill>
                <a:latin typeface="Consolas" pitchFamily="34" charset="0"/>
                <a:ea typeface="Consolas" pitchFamily="34" charset="-122"/>
                <a:cs typeface="Consolas" pitchFamily="34" charset="-120"/>
              </a:rPr>
              <a:t>password=${DB_PASSWORD}</a:t>
            </a:r>
            <a:endParaRPr lang="en-US" sz="1150" dirty="0"/>
          </a:p>
        </p:txBody>
      </p:sp>
      <p:sp>
        <p:nvSpPr>
          <p:cNvPr id="19" name="[p1] Forma"/>
          <p:cNvSpPr/>
          <p:nvPr/>
        </p:nvSpPr>
        <p:spPr>
          <a:xfrm>
            <a:off x="612648" y="171907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1810512"/>
            <a:ext cx="64008" cy="810768"/>
          </a:xfrm>
          <a:prstGeom prst="rect">
            <a:avLst/>
          </a:prstGeom>
          <a:solidFill>
            <a:srgbClr val="0B6E8A"/>
          </a:solidFill>
          <a:ln w="12700">
            <a:solidFill>
              <a:srgbClr val="0B6E8A"/>
            </a:solidFill>
            <a:prstDash val="solid"/>
          </a:ln>
        </p:spPr>
      </p:sp>
      <p:sp>
        <p:nvSpPr>
          <p:cNvPr id="21" name="[p1] Forma"/>
          <p:cNvSpPr/>
          <p:nvPr/>
        </p:nvSpPr>
        <p:spPr>
          <a:xfrm>
            <a:off x="777240" y="1810512"/>
            <a:ext cx="457200" cy="457200"/>
          </a:xfrm>
          <a:prstGeom prst="ellipse">
            <a:avLst/>
          </a:prstGeom>
          <a:solidFill>
            <a:srgbClr val="E3F4FA"/>
          </a:solidFill>
          <a:ln w="12700">
            <a:solidFill>
              <a:srgbClr val="E3F4FA"/>
            </a:solidFill>
            <a:prstDash val="solid"/>
          </a:ln>
        </p:spPr>
      </p:sp>
      <p:sp>
        <p:nvSpPr>
          <p:cNvPr id="22" name="[p1] Icono container"/>
          <p:cNvSpPr/>
          <p:nvPr/>
        </p:nvSpPr>
        <p:spPr>
          <a:xfrm>
            <a:off x="886968" y="1920240"/>
            <a:ext cx="237744" cy="237744"/>
          </a:xfrm>
          <a:custGeom>
            <a:avLst/>
            <a:gdLst/>
            <a:ahLst/>
            <a:cxnLst/>
            <a:rect l="l" t="t" r="r" b="b"/>
            <a:pathLst>
              <a:path w="237744" h="237744">
                <a:moveTo>
                  <a:pt x="217932" y="76276"/>
                </a:moveTo>
                <a:cubicBezTo>
                  <a:pt x="217932" y="70333"/>
                  <a:pt x="213970" y="64389"/>
                  <a:pt x="210007" y="61417"/>
                </a:cubicBezTo>
                <a:lnTo>
                  <a:pt x="147599" y="22784"/>
                </a:lnTo>
                <a:cubicBezTo>
                  <a:pt x="142378" y="19816"/>
                  <a:pt x="135980" y="19816"/>
                  <a:pt x="130759" y="22784"/>
                </a:cubicBezTo>
                <a:lnTo>
                  <a:pt x="28727" y="82220"/>
                </a:lnTo>
                <a:cubicBezTo>
                  <a:pt x="23774" y="84201"/>
                  <a:pt x="19812" y="90145"/>
                  <a:pt x="19812" y="96088"/>
                </a:cubicBezTo>
                <a:lnTo>
                  <a:pt x="19812" y="161468"/>
                </a:lnTo>
                <a:cubicBezTo>
                  <a:pt x="19812" y="166421"/>
                  <a:pt x="23774" y="173355"/>
                  <a:pt x="27737" y="176327"/>
                </a:cubicBezTo>
                <a:lnTo>
                  <a:pt x="90145" y="214960"/>
                </a:lnTo>
                <a:cubicBezTo>
                  <a:pt x="95366" y="217928"/>
                  <a:pt x="101764" y="217928"/>
                  <a:pt x="106985" y="214960"/>
                </a:cubicBezTo>
                <a:lnTo>
                  <a:pt x="209017" y="155524"/>
                </a:lnTo>
                <a:cubicBezTo>
                  <a:pt x="213970" y="152552"/>
                  <a:pt x="217932" y="145618"/>
                  <a:pt x="217932" y="140665"/>
                </a:cubicBezTo>
                <a:close/>
                <a:moveTo>
                  <a:pt x="99060" y="216941"/>
                </a:moveTo>
                <a:lnTo>
                  <a:pt x="99060" y="138684"/>
                </a:lnTo>
                <a:lnTo>
                  <a:pt x="20803" y="90145"/>
                </a:lnTo>
                <a:moveTo>
                  <a:pt x="99060" y="138684"/>
                </a:moveTo>
                <a:lnTo>
                  <a:pt x="216941" y="70333"/>
                </a:lnTo>
                <a:moveTo>
                  <a:pt x="138684" y="196139"/>
                </a:moveTo>
                <a:lnTo>
                  <a:pt x="138684" y="115900"/>
                </a:lnTo>
                <a:moveTo>
                  <a:pt x="178308" y="173355"/>
                </a:moveTo>
                <a:lnTo>
                  <a:pt x="178308" y="93116"/>
                </a:lnTo>
              </a:path>
            </a:pathLst>
          </a:custGeom>
          <a:noFill/>
          <a:ln w="19812" cap="rnd">
            <a:solidFill>
              <a:srgbClr val="0B6E8A"/>
            </a:solidFill>
            <a:prstDash val="solid"/>
            <a:round/>
          </a:ln>
        </p:spPr>
      </p:sp>
      <p:sp>
        <p:nvSpPr>
          <p:cNvPr id="23" name="[p1] Forma"/>
          <p:cNvSpPr/>
          <p:nvPr/>
        </p:nvSpPr>
        <p:spPr>
          <a:xfrm>
            <a:off x="1344168" y="177393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B6E8A"/>
                </a:solidFill>
                <a:latin typeface="Segoe UI Semibold" pitchFamily="34" charset="0"/>
                <a:ea typeface="Segoe UI Semibold" pitchFamily="34" charset="-122"/>
                <a:cs typeface="Segoe UI Semibold" pitchFamily="34" charset="-120"/>
              </a:rPr>
              <a:t>Docker Compose</a:t>
            </a:r>
            <a:endParaRPr lang="en-US" sz="1350" dirty="0"/>
          </a:p>
        </p:txBody>
      </p:sp>
      <p:sp>
        <p:nvSpPr>
          <p:cNvPr id="24" name="[p1] Forma"/>
          <p:cNvSpPr/>
          <p:nvPr/>
        </p:nvSpPr>
        <p:spPr>
          <a:xfrm>
            <a:off x="1344168" y="204825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compose.yaml, en cada servicio</a:t>
            </a:r>
            <a:endParaRPr lang="en-US" sz="1100" dirty="0"/>
          </a:p>
        </p:txBody>
      </p:sp>
      <p:sp>
        <p:nvSpPr>
          <p:cNvPr id="25" name="[p1] Forma"/>
          <p:cNvSpPr/>
          <p:nvPr/>
        </p:nvSpPr>
        <p:spPr>
          <a:xfrm>
            <a:off x="777240" y="232867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db-solicitudes:5432</a:t>
            </a:r>
            <a:endParaRPr lang="en-US" sz="1100" dirty="0"/>
          </a:p>
        </p:txBody>
      </p:sp>
      <p:sp>
        <p:nvSpPr>
          <p:cNvPr id="26" name="[p1] Forma"/>
          <p:cNvSpPr/>
          <p:nvPr/>
        </p:nvSpPr>
        <p:spPr>
          <a:xfrm>
            <a:off x="4096512" y="2215896"/>
            <a:ext cx="649224" cy="598170"/>
          </a:xfrm>
          <a:prstGeom prst="line">
            <a:avLst/>
          </a:prstGeom>
          <a:noFill/>
          <a:ln w="28575">
            <a:solidFill>
              <a:srgbClr val="0B6E8A"/>
            </a:solidFill>
            <a:prstDash val="solid"/>
            <a:tailEnd type="triangle"/>
          </a:ln>
        </p:spPr>
      </p:sp>
      <p:sp>
        <p:nvSpPr>
          <p:cNvPr id="27" name="[p2] Forma"/>
          <p:cNvSpPr/>
          <p:nvPr/>
        </p:nvSpPr>
        <p:spPr>
          <a:xfrm>
            <a:off x="612648" y="287731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p2] Forma"/>
          <p:cNvSpPr/>
          <p:nvPr/>
        </p:nvSpPr>
        <p:spPr>
          <a:xfrm>
            <a:off x="612648" y="2968752"/>
            <a:ext cx="64008" cy="810768"/>
          </a:xfrm>
          <a:prstGeom prst="rect">
            <a:avLst/>
          </a:prstGeom>
          <a:solidFill>
            <a:srgbClr val="0A6648"/>
          </a:solidFill>
          <a:ln w="12700">
            <a:solidFill>
              <a:srgbClr val="0A6648"/>
            </a:solidFill>
            <a:prstDash val="solid"/>
          </a:ln>
        </p:spPr>
      </p:sp>
      <p:sp>
        <p:nvSpPr>
          <p:cNvPr id="29" name="[p2] Forma"/>
          <p:cNvSpPr/>
          <p:nvPr/>
        </p:nvSpPr>
        <p:spPr>
          <a:xfrm>
            <a:off x="777240" y="2968752"/>
            <a:ext cx="457200" cy="457200"/>
          </a:xfrm>
          <a:prstGeom prst="ellipse">
            <a:avLst/>
          </a:prstGeom>
          <a:solidFill>
            <a:srgbClr val="E1F1EA"/>
          </a:solidFill>
          <a:ln w="12700">
            <a:solidFill>
              <a:srgbClr val="E1F1EA"/>
            </a:solidFill>
            <a:prstDash val="solid"/>
          </a:ln>
        </p:spPr>
      </p:sp>
      <p:sp>
        <p:nvSpPr>
          <p:cNvPr id="30" name="[p2] Icono ship-wheel"/>
          <p:cNvSpPr/>
          <p:nvPr/>
        </p:nvSpPr>
        <p:spPr>
          <a:xfrm>
            <a:off x="886968" y="3078480"/>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31" name="[p2] Forma"/>
          <p:cNvSpPr/>
          <p:nvPr/>
        </p:nvSpPr>
        <p:spPr>
          <a:xfrm>
            <a:off x="1344168" y="293217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0A6648"/>
                </a:solidFill>
                <a:latin typeface="Segoe UI Semibold" pitchFamily="34" charset="0"/>
                <a:ea typeface="Segoe UI Semibold" pitchFamily="34" charset="-122"/>
                <a:cs typeface="Segoe UI Semibold" pitchFamily="34" charset="-120"/>
              </a:rPr>
              <a:t>Kubernetes · Deployment</a:t>
            </a:r>
            <a:endParaRPr lang="en-US" sz="1350" dirty="0"/>
          </a:p>
        </p:txBody>
      </p:sp>
      <p:sp>
        <p:nvSpPr>
          <p:cNvPr id="32" name="[p2] Forma"/>
          <p:cNvSpPr/>
          <p:nvPr/>
        </p:nvSpPr>
        <p:spPr>
          <a:xfrm>
            <a:off x="1344168" y="320649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dirección y el usuario</a:t>
            </a:r>
            <a:endParaRPr lang="en-US" sz="1100" dirty="0"/>
          </a:p>
        </p:txBody>
      </p:sp>
      <p:sp>
        <p:nvSpPr>
          <p:cNvPr id="33" name="[p2] Forma"/>
          <p:cNvSpPr/>
          <p:nvPr/>
        </p:nvSpPr>
        <p:spPr>
          <a:xfrm>
            <a:off x="777240" y="348691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DB_URL · DB_USER</a:t>
            </a:r>
            <a:endParaRPr lang="en-US" sz="1100" dirty="0"/>
          </a:p>
        </p:txBody>
      </p:sp>
      <p:sp>
        <p:nvSpPr>
          <p:cNvPr id="34" name="[p2] Forma"/>
          <p:cNvSpPr/>
          <p:nvPr/>
        </p:nvSpPr>
        <p:spPr>
          <a:xfrm>
            <a:off x="4096512" y="3374136"/>
            <a:ext cx="649224" cy="0"/>
          </a:xfrm>
          <a:prstGeom prst="line">
            <a:avLst/>
          </a:prstGeom>
          <a:noFill/>
          <a:ln w="28575">
            <a:solidFill>
              <a:srgbClr val="0A6648"/>
            </a:solidFill>
            <a:prstDash val="solid"/>
            <a:tailEnd type="triangle"/>
          </a:ln>
        </p:spPr>
      </p:sp>
      <p:sp>
        <p:nvSpPr>
          <p:cNvPr id="35" name="[p3] Forma"/>
          <p:cNvSpPr/>
          <p:nvPr/>
        </p:nvSpPr>
        <p:spPr>
          <a:xfrm>
            <a:off x="612648" y="4035552"/>
            <a:ext cx="3429000" cy="993648"/>
          </a:xfrm>
          <a:prstGeom prst="roundRect">
            <a:avLst>
              <a:gd name="adj" fmla="val 1288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6" name="[p3] Forma"/>
          <p:cNvSpPr/>
          <p:nvPr/>
        </p:nvSpPr>
        <p:spPr>
          <a:xfrm>
            <a:off x="612648" y="4126992"/>
            <a:ext cx="64008" cy="810768"/>
          </a:xfrm>
          <a:prstGeom prst="rect">
            <a:avLst/>
          </a:prstGeom>
          <a:solidFill>
            <a:srgbClr val="8A4B06"/>
          </a:solidFill>
          <a:ln w="12700">
            <a:solidFill>
              <a:srgbClr val="8A4B06"/>
            </a:solidFill>
            <a:prstDash val="solid"/>
          </a:ln>
        </p:spPr>
      </p:sp>
      <p:sp>
        <p:nvSpPr>
          <p:cNvPr id="37" name="[p3] Forma"/>
          <p:cNvSpPr/>
          <p:nvPr/>
        </p:nvSpPr>
        <p:spPr>
          <a:xfrm>
            <a:off x="777240" y="4126992"/>
            <a:ext cx="457200" cy="457200"/>
          </a:xfrm>
          <a:prstGeom prst="ellipse">
            <a:avLst/>
          </a:prstGeom>
          <a:solidFill>
            <a:srgbClr val="FCEFD6"/>
          </a:solidFill>
          <a:ln w="12700">
            <a:solidFill>
              <a:srgbClr val="FCEFD6"/>
            </a:solidFill>
            <a:prstDash val="solid"/>
          </a:ln>
        </p:spPr>
      </p:sp>
      <p:sp>
        <p:nvSpPr>
          <p:cNvPr id="38" name="[p3] Icono key-round"/>
          <p:cNvSpPr/>
          <p:nvPr/>
        </p:nvSpPr>
        <p:spPr>
          <a:xfrm>
            <a:off x="886968" y="4236720"/>
            <a:ext cx="237744" cy="237744"/>
          </a:xfrm>
          <a:custGeom>
            <a:avLst/>
            <a:gdLst/>
            <a:ahLst/>
            <a:cxnLst/>
            <a:rect l="l" t="t" r="r" b="b"/>
            <a:pathLst>
              <a:path w="237744" h="237744">
                <a:moveTo>
                  <a:pt x="25617" y="172503"/>
                </a:moveTo>
                <a:cubicBezTo>
                  <a:pt x="21901" y="176218"/>
                  <a:pt x="19813" y="181256"/>
                  <a:pt x="19812" y="186510"/>
                </a:cubicBezTo>
                <a:lnTo>
                  <a:pt x="19812" y="208026"/>
                </a:lnTo>
                <a:cubicBezTo>
                  <a:pt x="19812" y="213497"/>
                  <a:pt x="24247" y="217932"/>
                  <a:pt x="29718" y="217932"/>
                </a:cubicBezTo>
                <a:lnTo>
                  <a:pt x="59436" y="217932"/>
                </a:lnTo>
                <a:cubicBezTo>
                  <a:pt x="64907" y="217932"/>
                  <a:pt x="69342" y="213497"/>
                  <a:pt x="69342" y="208026"/>
                </a:cubicBezTo>
                <a:lnTo>
                  <a:pt x="69342" y="198120"/>
                </a:lnTo>
                <a:cubicBezTo>
                  <a:pt x="69342" y="192649"/>
                  <a:pt x="73777" y="188214"/>
                  <a:pt x="79248" y="188214"/>
                </a:cubicBezTo>
                <a:lnTo>
                  <a:pt x="89154" y="188214"/>
                </a:lnTo>
                <a:cubicBezTo>
                  <a:pt x="94625" y="188214"/>
                  <a:pt x="99060" y="183779"/>
                  <a:pt x="99060" y="178308"/>
                </a:cubicBezTo>
                <a:lnTo>
                  <a:pt x="99060" y="168402"/>
                </a:lnTo>
                <a:cubicBezTo>
                  <a:pt x="99060" y="162931"/>
                  <a:pt x="103495" y="158496"/>
                  <a:pt x="108966" y="158496"/>
                </a:cubicBezTo>
                <a:lnTo>
                  <a:pt x="110670" y="158496"/>
                </a:lnTo>
                <a:cubicBezTo>
                  <a:pt x="115924" y="158495"/>
                  <a:pt x="120962" y="156407"/>
                  <a:pt x="124677" y="152691"/>
                </a:cubicBezTo>
                <a:lnTo>
                  <a:pt x="132740" y="144628"/>
                </a:lnTo>
                <a:cubicBezTo>
                  <a:pt x="161093" y="154504"/>
                  <a:pt x="192509" y="143474"/>
                  <a:pt x="208465" y="118041"/>
                </a:cubicBezTo>
                <a:cubicBezTo>
                  <a:pt x="224421" y="92608"/>
                  <a:pt x="220682" y="59523"/>
                  <a:pt x="199452" y="38292"/>
                </a:cubicBezTo>
                <a:cubicBezTo>
                  <a:pt x="178221" y="17062"/>
                  <a:pt x="145136" y="13323"/>
                  <a:pt x="119703" y="29279"/>
                </a:cubicBezTo>
                <a:cubicBezTo>
                  <a:pt x="94270" y="45235"/>
                  <a:pt x="83240" y="76651"/>
                  <a:pt x="93116" y="105004"/>
                </a:cubicBezTo>
                <a:close/>
                <a:moveTo>
                  <a:pt x="168402" y="74295"/>
                </a:moveTo>
                <a:cubicBezTo>
                  <a:pt x="168402" y="77030"/>
                  <a:pt x="166184" y="79248"/>
                  <a:pt x="163449" y="79248"/>
                </a:cubicBezTo>
                <a:cubicBezTo>
                  <a:pt x="160714" y="79248"/>
                  <a:pt x="158496" y="77030"/>
                  <a:pt x="158496" y="74295"/>
                </a:cubicBezTo>
                <a:cubicBezTo>
                  <a:pt x="158496" y="71560"/>
                  <a:pt x="160714" y="69342"/>
                  <a:pt x="163449" y="69342"/>
                </a:cubicBezTo>
                <a:cubicBezTo>
                  <a:pt x="166184" y="69342"/>
                  <a:pt x="168402" y="71560"/>
                  <a:pt x="168402" y="74295"/>
                </a:cubicBezTo>
                <a:close/>
              </a:path>
            </a:pathLst>
          </a:custGeom>
          <a:noFill/>
          <a:ln w="19812" cap="rnd">
            <a:solidFill>
              <a:srgbClr val="8A4B06"/>
            </a:solidFill>
            <a:prstDash val="solid"/>
            <a:round/>
          </a:ln>
        </p:spPr>
      </p:sp>
      <p:sp>
        <p:nvSpPr>
          <p:cNvPr id="39" name="[p3] Forma"/>
          <p:cNvSpPr/>
          <p:nvPr/>
        </p:nvSpPr>
        <p:spPr>
          <a:xfrm>
            <a:off x="1344168" y="4090416"/>
            <a:ext cx="2606040" cy="274320"/>
          </a:xfrm>
          <a:prstGeom prst="rect">
            <a:avLst/>
          </a:prstGeom>
          <a:noFill/>
          <a:ln/>
        </p:spPr>
        <p:txBody>
          <a:bodyPr wrap="square" lIns="0" tIns="0" rIns="0" bIns="0" rtlCol="0" anchor="ctr">
            <a:normAutofit/>
          </a:bodyPr>
          <a:lstStyle/>
          <a:p>
            <a:pPr algn="l" indent="0" marL="0">
              <a:buNone/>
            </a:pPr>
            <a:r>
              <a:rPr lang="en-US" sz="1350" b="1" dirty="0">
                <a:solidFill>
                  <a:srgbClr val="8A4B06"/>
                </a:solidFill>
                <a:latin typeface="Segoe UI Semibold" pitchFamily="34" charset="0"/>
                <a:ea typeface="Segoe UI Semibold" pitchFamily="34" charset="-122"/>
                <a:cs typeface="Segoe UI Semibold" pitchFamily="34" charset="-120"/>
              </a:rPr>
              <a:t>Kubernetes · Secret</a:t>
            </a:r>
            <a:endParaRPr lang="en-US" sz="1350" dirty="0"/>
          </a:p>
        </p:txBody>
      </p:sp>
      <p:sp>
        <p:nvSpPr>
          <p:cNvPr id="40" name="[p3] Forma"/>
          <p:cNvSpPr/>
          <p:nvPr/>
        </p:nvSpPr>
        <p:spPr>
          <a:xfrm>
            <a:off x="1344168" y="4364736"/>
            <a:ext cx="2606040" cy="237744"/>
          </a:xfrm>
          <a:prstGeom prst="rect">
            <a:avLst/>
          </a:prstGeom>
          <a:noFill/>
          <a:ln/>
        </p:spPr>
        <p:txBody>
          <a:bodyPr wrap="square" lIns="0" tIns="0" rIns="0" bIns="0" rtlCol="0" anchor="t">
            <a:normAutofit/>
          </a:bodyPr>
          <a:lstStyle/>
          <a:p>
            <a:pPr algn="l" indent="0" marL="0">
              <a:buNone/>
            </a:pPr>
            <a:r>
              <a:rPr lang="en-US" sz="1100" dirty="0">
                <a:solidFill>
                  <a:srgbClr val="55627E"/>
                </a:solidFill>
                <a:latin typeface="Segoe UI" pitchFamily="34" charset="0"/>
                <a:ea typeface="Segoe UI" pitchFamily="34" charset="-122"/>
                <a:cs typeface="Segoe UI" pitchFamily="34" charset="-120"/>
              </a:rPr>
              <a:t>La clave, guardada aparte</a:t>
            </a:r>
            <a:endParaRPr lang="en-US" sz="1100" dirty="0"/>
          </a:p>
        </p:txBody>
      </p:sp>
      <p:sp>
        <p:nvSpPr>
          <p:cNvPr id="41" name="[p3] Forma"/>
          <p:cNvSpPr/>
          <p:nvPr/>
        </p:nvSpPr>
        <p:spPr>
          <a:xfrm>
            <a:off x="777240" y="4645152"/>
            <a:ext cx="3154680" cy="292608"/>
          </a:xfrm>
          <a:prstGeom prst="roundRect">
            <a:avLst>
              <a:gd name="adj" fmla="val 18750"/>
            </a:avLst>
          </a:prstGeom>
          <a:solidFill>
            <a:srgbClr val="F4F7FB"/>
          </a:solidFill>
          <a:ln w="6350">
            <a:solidFill>
              <a:srgbClr val="DFE6F0"/>
            </a:solidFill>
          </a:ln>
        </p:spPr>
        <p:txBody>
          <a:bodyPr wrap="square" lIns="50800" tIns="50800" rIns="50800" bIns="50800" rtlCol="0" anchor="ctr">
            <a:normAutofit/>
          </a:bodyPr>
          <a:lstStyle/>
          <a:p>
            <a:pPr indent="0" marL="0">
              <a:buNone/>
            </a:pPr>
            <a:r>
              <a:rPr lang="en-US" sz="1100" dirty="0">
                <a:solidFill>
                  <a:srgbClr val="0B1A3C"/>
                </a:solidFill>
                <a:latin typeface="Consolas" pitchFamily="34" charset="0"/>
                <a:ea typeface="Consolas" pitchFamily="34" charset="-122"/>
                <a:cs typeface="Consolas" pitchFamily="34" charset="-120"/>
              </a:rPr>
              <a:t>DB_PASSWORD ← Secret arka-postgres</a:t>
            </a:r>
            <a:endParaRPr lang="en-US" sz="1100" dirty="0"/>
          </a:p>
        </p:txBody>
      </p:sp>
      <p:sp>
        <p:nvSpPr>
          <p:cNvPr id="42" name="[p3] Forma"/>
          <p:cNvSpPr/>
          <p:nvPr/>
        </p:nvSpPr>
        <p:spPr>
          <a:xfrm flipV="1">
            <a:off x="4096512" y="3934206"/>
            <a:ext cx="649224" cy="598170"/>
          </a:xfrm>
          <a:prstGeom prst="line">
            <a:avLst/>
          </a:prstGeom>
          <a:noFill/>
          <a:ln w="28575">
            <a:solidFill>
              <a:srgbClr val="8A4B06"/>
            </a:solidFill>
            <a:prstDash val="solid"/>
            <a:tailEnd type="triangle"/>
          </a:ln>
        </p:spPr>
      </p:sp>
      <p:sp>
        <p:nvSpPr>
          <p:cNvPr id="43" name="[p4] Forma"/>
          <p:cNvSpPr/>
          <p:nvPr/>
        </p:nvSpPr>
        <p:spPr>
          <a:xfrm>
            <a:off x="9208008" y="2688336"/>
            <a:ext cx="2371039" cy="1371600"/>
          </a:xfrm>
          <a:prstGeom prst="can">
            <a:avLst/>
          </a:prstGeom>
          <a:solidFill>
            <a:srgbClr val="E8EEF8"/>
          </a:solidFill>
          <a:ln w="25400">
            <a:solidFill>
              <a:srgbClr val="0B2350"/>
            </a:solidFill>
            <a:prstDash val="solid"/>
          </a:ln>
          <a:effectLst>
            <a:outerShdw sx="100000" sy="100000" kx="0" ky="0" algn="bl" rotWithShape="0" blurRad="76200" dist="19050" dir="5400000">
              <a:srgbClr val="0B1F3A">
                <a:alpha val="14000"/>
              </a:srgbClr>
            </a:outerShdw>
          </a:effectLst>
        </p:spPr>
      </p:sp>
      <p:sp>
        <p:nvSpPr>
          <p:cNvPr id="44" name="[p4] Forma"/>
          <p:cNvSpPr/>
          <p:nvPr/>
        </p:nvSpPr>
        <p:spPr>
          <a:xfrm>
            <a:off x="9299448" y="3127248"/>
            <a:ext cx="2188159" cy="365760"/>
          </a:xfrm>
          <a:prstGeom prst="rect">
            <a:avLst/>
          </a:prstGeom>
          <a:noFill/>
          <a:ln/>
        </p:spPr>
        <p:txBody>
          <a:bodyPr wrap="square" lIns="0" tIns="0" rIns="0" bIns="0" rtlCol="0" anchor="ctr">
            <a:normAutofit/>
          </a:bodyPr>
          <a:lstStyle/>
          <a:p>
            <a:pPr algn="ctr" indent="0" marL="0">
              <a:buNone/>
            </a:pPr>
            <a:r>
              <a:rPr lang="en-US" sz="1500" b="1" dirty="0">
                <a:solidFill>
                  <a:srgbClr val="0B2350"/>
                </a:solidFill>
                <a:latin typeface="Consolas" pitchFamily="34" charset="0"/>
                <a:ea typeface="Consolas" pitchFamily="34" charset="-122"/>
                <a:cs typeface="Consolas" pitchFamily="34" charset="-120"/>
              </a:rPr>
              <a:t>db-solicitudes</a:t>
            </a:r>
            <a:endParaRPr lang="en-US" sz="1500" dirty="0"/>
          </a:p>
        </p:txBody>
      </p:sp>
      <p:sp>
        <p:nvSpPr>
          <p:cNvPr id="45" name="[p4] Forma"/>
          <p:cNvSpPr/>
          <p:nvPr/>
        </p:nvSpPr>
        <p:spPr>
          <a:xfrm>
            <a:off x="9299448" y="3493008"/>
            <a:ext cx="2188159" cy="274320"/>
          </a:xfrm>
          <a:prstGeom prst="rect">
            <a:avLst/>
          </a:prstGeom>
          <a:noFill/>
          <a:ln/>
        </p:spPr>
        <p:txBody>
          <a:bodyPr wrap="square" lIns="0" tIns="0" rIns="0" bIns="0" rtlCol="0" anchor="t">
            <a:normAutofit/>
          </a:bodyPr>
          <a:lstStyle/>
          <a:p>
            <a:pPr algn="ctr" indent="0" marL="0">
              <a:buNone/>
            </a:pPr>
            <a:r>
              <a:rPr lang="en-US" sz="1200" dirty="0">
                <a:solidFill>
                  <a:srgbClr val="55627E"/>
                </a:solidFill>
                <a:latin typeface="Segoe UI" pitchFamily="34" charset="0"/>
                <a:ea typeface="Segoe UI" pitchFamily="34" charset="-122"/>
                <a:cs typeface="Segoe UI" pitchFamily="34" charset="-120"/>
              </a:rPr>
              <a:t>PostgreSQL 17</a:t>
            </a:r>
            <a:endParaRPr lang="en-US" sz="1200" dirty="0"/>
          </a:p>
        </p:txBody>
      </p:sp>
      <p:sp>
        <p:nvSpPr>
          <p:cNvPr id="46" name="[p4] Forma"/>
          <p:cNvSpPr/>
          <p:nvPr/>
        </p:nvSpPr>
        <p:spPr>
          <a:xfrm>
            <a:off x="8138160" y="3374136"/>
            <a:ext cx="996696" cy="0"/>
          </a:xfrm>
          <a:prstGeom prst="line">
            <a:avLst/>
          </a:prstGeom>
          <a:noFill/>
          <a:ln w="31750">
            <a:solidFill>
              <a:srgbClr val="0B2350"/>
            </a:solidFill>
            <a:prstDash val="solid"/>
            <a:tailEnd type="triangle"/>
          </a:ln>
        </p:spPr>
      </p:sp>
      <p:sp>
        <p:nvSpPr>
          <p:cNvPr id="47" name="[p4] Forma"/>
          <p:cNvSpPr/>
          <p:nvPr/>
        </p:nvSpPr>
        <p:spPr>
          <a:xfrm>
            <a:off x="8110728" y="2825496"/>
            <a:ext cx="1051560" cy="475488"/>
          </a:xfrm>
          <a:prstGeom prst="rect">
            <a:avLst/>
          </a:prstGeom>
          <a:noFill/>
          <a:ln/>
        </p:spPr>
        <p:txBody>
          <a:bodyPr wrap="square" lIns="0" tIns="0" rIns="0" bIns="0" rtlCol="0" anchor="b">
            <a:normAutofit/>
          </a:bodyPr>
          <a:lstStyle/>
          <a:p>
            <a:pPr algn="ctr" indent="0" marL="0">
              <a:buNone/>
            </a:pPr>
            <a:r>
              <a:rPr lang="en-US" sz="1150" b="1" dirty="0">
                <a:solidFill>
                  <a:srgbClr val="0B2350"/>
                </a:solidFill>
                <a:latin typeface="Segoe UI" pitchFamily="34" charset="0"/>
                <a:ea typeface="Segoe UI" pitchFamily="34" charset="-122"/>
                <a:cs typeface="Segoe UI" pitchFamily="34" charset="-120"/>
              </a:rPr>
              <a:t>pool de conexiones</a:t>
            </a:r>
            <a:endParaRPr lang="en-US" sz="1150" dirty="0"/>
          </a:p>
        </p:txBody>
      </p:sp>
      <p:sp>
        <p:nvSpPr>
          <p:cNvPr id="48" name="[p5] Forma"/>
          <p:cNvSpPr/>
          <p:nvPr/>
        </p:nvSpPr>
        <p:spPr>
          <a:xfrm>
            <a:off x="4818888" y="5230368"/>
            <a:ext cx="6760159" cy="603504"/>
          </a:xfrm>
          <a:prstGeom prst="roundRect">
            <a:avLst>
              <a:gd name="adj" fmla="val 21212"/>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9" name="[p5] Forma"/>
          <p:cNvSpPr/>
          <p:nvPr/>
        </p:nvSpPr>
        <p:spPr>
          <a:xfrm>
            <a:off x="4965192" y="5321808"/>
            <a:ext cx="420624" cy="420624"/>
          </a:xfrm>
          <a:prstGeom prst="ellipse">
            <a:avLst/>
          </a:prstGeom>
          <a:solidFill>
            <a:srgbClr val="FFFFFF"/>
          </a:solidFill>
          <a:ln w="12700">
            <a:solidFill>
              <a:srgbClr val="FFFFFF"/>
            </a:solidFill>
            <a:prstDash val="solid"/>
          </a:ln>
        </p:spPr>
      </p:sp>
      <p:sp>
        <p:nvSpPr>
          <p:cNvPr id="50" name="[p5] Icono ban"/>
          <p:cNvSpPr/>
          <p:nvPr/>
        </p:nvSpPr>
        <p:spPr>
          <a:xfrm>
            <a:off x="5066142" y="5422758"/>
            <a:ext cx="218724" cy="218724"/>
          </a:xfrm>
          <a:custGeom>
            <a:avLst/>
            <a:gdLst/>
            <a:ahLst/>
            <a:cxnLst/>
            <a:rect l="l" t="t" r="r" b="b"/>
            <a:pathLst>
              <a:path w="218724" h="218724">
                <a:moveTo>
                  <a:pt x="200497" y="109362"/>
                </a:moveTo>
                <a:cubicBezTo>
                  <a:pt x="200497" y="159695"/>
                  <a:pt x="159695" y="200497"/>
                  <a:pt x="109362" y="200497"/>
                </a:cubicBezTo>
                <a:cubicBezTo>
                  <a:pt x="59030" y="200497"/>
                  <a:pt x="18227" y="159695"/>
                  <a:pt x="18227" y="109362"/>
                </a:cubicBezTo>
                <a:cubicBezTo>
                  <a:pt x="18227" y="59030"/>
                  <a:pt x="59030" y="18227"/>
                  <a:pt x="109362" y="18227"/>
                </a:cubicBezTo>
                <a:cubicBezTo>
                  <a:pt x="159695" y="18227"/>
                  <a:pt x="200497" y="59030"/>
                  <a:pt x="200497" y="109362"/>
                </a:cubicBezTo>
                <a:close/>
                <a:moveTo>
                  <a:pt x="44656" y="44656"/>
                </a:moveTo>
                <a:lnTo>
                  <a:pt x="174068" y="174068"/>
                </a:lnTo>
              </a:path>
            </a:pathLst>
          </a:custGeom>
          <a:noFill/>
          <a:ln w="18227" cap="rnd">
            <a:solidFill>
              <a:srgbClr val="AB243E"/>
            </a:solidFill>
            <a:prstDash val="solid"/>
            <a:round/>
          </a:ln>
        </p:spPr>
      </p:sp>
      <p:sp>
        <p:nvSpPr>
          <p:cNvPr id="51" name="[p5] Forma"/>
          <p:cNvSpPr/>
          <p:nvPr/>
        </p:nvSpPr>
        <p:spPr>
          <a:xfrm>
            <a:off x="5504688" y="5230368"/>
            <a:ext cx="5937199" cy="603504"/>
          </a:xfrm>
          <a:prstGeom prst="rect">
            <a:avLst/>
          </a:prstGeom>
          <a:noFill/>
          <a:ln/>
        </p:spPr>
        <p:txBody>
          <a:bodyPr wrap="square" lIns="0" tIns="0" rIns="0" bIns="0" rtlCol="0" anchor="ctr">
            <a:normAutofit/>
          </a:bodyPr>
          <a:lstStyle/>
          <a:p>
            <a:pPr indent="0" marL="0">
              <a:buNone/>
            </a:pPr>
            <a:r>
              <a:rPr lang="en-US" sz="1300" b="1" dirty="0">
                <a:solidFill>
                  <a:srgbClr val="AB243E"/>
                </a:solidFill>
                <a:latin typeface="Segoe UI" pitchFamily="34" charset="0"/>
                <a:ea typeface="Segoe UI" pitchFamily="34" charset="-122"/>
                <a:cs typeface="Segoe UI" pitchFamily="34" charset="-120"/>
              </a:rPr>
              <a:t>La imagen Docker:  </a:t>
            </a:r>
            <a:pPr indent="0" marL="0">
              <a:buNone/>
            </a:pPr>
            <a:r>
              <a:rPr lang="en-US" sz="1300" dirty="0">
                <a:solidFill>
                  <a:srgbClr val="0B1A3C"/>
                </a:solidFill>
                <a:latin typeface="Segoe UI" pitchFamily="34" charset="0"/>
                <a:ea typeface="Segoe UI" pitchFamily="34" charset="-122"/>
                <a:cs typeface="Segoe UI" pitchFamily="34" charset="-120"/>
              </a:rPr>
              <a:t>no lleva ni dirección ni clave. La misma imagen sirve en cualquier ambiente.</a:t>
            </a:r>
            <a:endParaRPr lang="en-US" sz="1300" dirty="0"/>
          </a:p>
        </p:txBody>
      </p:sp>
      <p:sp>
        <p:nvSpPr>
          <p:cNvPr id="52" name="Shape 50"/>
          <p:cNvSpPr/>
          <p:nvPr/>
        </p:nvSpPr>
        <p:spPr>
          <a:xfrm>
            <a:off x="0" y="5961888"/>
            <a:ext cx="12191695" cy="475488"/>
          </a:xfrm>
          <a:prstGeom prst="rect">
            <a:avLst/>
          </a:prstGeom>
          <a:solidFill>
            <a:srgbClr val="0B2350"/>
          </a:solidFill>
          <a:ln w="12700">
            <a:solidFill>
              <a:srgbClr val="0B2350"/>
            </a:solidFill>
            <a:prstDash val="solid"/>
          </a:ln>
        </p:spPr>
      </p:sp>
      <p:sp>
        <p:nvSpPr>
          <p:cNvPr id="53"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54" name="Text 52"/>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Cambiar de servidor o rotar una clave no obliga a recompilar ni a tocar el código.</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00"/>
                                        <p:tgtEl>
                                          <p:spTgt spid="3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00"/>
                                        <p:tgtEl>
                                          <p:spTgt spid="3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childTnLst>
                          </p:cTn>
                        </p:par>
                      </p:childTnLst>
                    </p:cTn>
                  </p:par>
                  <p:par>
                    <p:cTn id="96" fill="hold">
                      <p:stCondLst>
                        <p:cond delay="indefinite"/>
                      </p:stCondLst>
                      <p:childTnLst>
                        <p:par>
                          <p:cTn id="97"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childTnLst>
                          </p:cTn>
                        </p:par>
                      </p:childTnLst>
                    </p:cTn>
                  </p:par>
                  <p:par>
                    <p:cTn id="110" fill="hold">
                      <p:stCondLst>
                        <p:cond delay="indefinite"/>
                      </p:stCondLst>
                      <p:childTnLst>
                        <p:par>
                          <p:cTn id="111"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400"/>
                                        <p:tgtEl>
                                          <p:spTgt spid="4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400"/>
                                        <p:tgtEl>
                                          <p:spTgt spid="4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0"/>
                                        </p:tgtEl>
                                        <p:attrNameLst>
                                          <p:attrName>style.visibility</p:attrName>
                                        </p:attrNameLst>
                                      </p:cBhvr>
                                      <p:to>
                                        <p:strVal val="visible"/>
                                      </p:to>
                                    </p:set>
                                    <p:animEffect transition="in" filter="fade">
                                      <p:cBhvr>
                                        <p:cTn id="106" dur="400"/>
                                        <p:tgtEl>
                                          <p:spTgt spid="5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1"/>
                                        </p:tgtEl>
                                        <p:attrNameLst>
                                          <p:attrName>style.visibility</p:attrName>
                                        </p:attrNameLst>
                                      </p:cBhvr>
                                      <p:to>
                                        <p:strVal val="visible"/>
                                      </p:to>
                                    </p:set>
                                    <p:animEffect transition="in" filter="fade">
                                      <p:cBhvr>
                                        <p:cTn id="109"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transacción: todo o nada</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500" dirty="0">
                <a:solidFill>
                  <a:srgbClr val="55627E"/>
                </a:solidFill>
                <a:latin typeface="Segoe UI" pitchFamily="34" charset="0"/>
                <a:ea typeface="Segoe UI" pitchFamily="34" charset="-122"/>
                <a:cs typeface="Segoe UI" pitchFamily="34" charset="-120"/>
              </a:rPr>
              <a:t>@Transactional es el BEGIN … COMMIT de siempre: la solicitud y su aviso se guardan juntos o no se guarda nada.</a:t>
            </a:r>
            <a:endParaRPr lang="en-US" sz="1500" dirty="0"/>
          </a:p>
        </p:txBody>
      </p:sp>
      <p:sp>
        <p:nvSpPr>
          <p:cNvPr id="12" name="Shape 10"/>
          <p:cNvSpPr/>
          <p:nvPr/>
        </p:nvSpPr>
        <p:spPr>
          <a:xfrm>
            <a:off x="1024128" y="1828800"/>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3" name="Icono cable"/>
          <p:cNvSpPr/>
          <p:nvPr/>
        </p:nvSpPr>
        <p:spPr>
          <a:xfrm>
            <a:off x="1339302" y="2143974"/>
            <a:ext cx="739973" cy="739973"/>
          </a:xfrm>
          <a:custGeom>
            <a:avLst/>
            <a:gdLst/>
            <a:ahLst/>
            <a:cxnLst/>
            <a:rect l="l" t="t" r="r" b="b"/>
            <a:pathLst>
              <a:path w="739973" h="739973">
                <a:moveTo>
                  <a:pt x="524147" y="647476"/>
                </a:moveTo>
                <a:lnTo>
                  <a:pt x="524147" y="585812"/>
                </a:lnTo>
                <a:cubicBezTo>
                  <a:pt x="507119" y="585812"/>
                  <a:pt x="493315" y="572008"/>
                  <a:pt x="493315" y="554980"/>
                </a:cubicBezTo>
                <a:lnTo>
                  <a:pt x="493315" y="524147"/>
                </a:lnTo>
                <a:cubicBezTo>
                  <a:pt x="493315" y="490091"/>
                  <a:pt x="520923" y="462483"/>
                  <a:pt x="554980" y="462483"/>
                </a:cubicBezTo>
                <a:lnTo>
                  <a:pt x="616644" y="462483"/>
                </a:lnTo>
                <a:cubicBezTo>
                  <a:pt x="650700" y="462483"/>
                  <a:pt x="678308" y="490091"/>
                  <a:pt x="678308" y="524147"/>
                </a:cubicBezTo>
                <a:lnTo>
                  <a:pt x="678308" y="554980"/>
                </a:lnTo>
                <a:cubicBezTo>
                  <a:pt x="678308" y="572008"/>
                  <a:pt x="664504" y="585812"/>
                  <a:pt x="647476" y="585812"/>
                </a:cubicBezTo>
                <a:moveTo>
                  <a:pt x="585812" y="462483"/>
                </a:moveTo>
                <a:lnTo>
                  <a:pt x="585812" y="200409"/>
                </a:lnTo>
                <a:cubicBezTo>
                  <a:pt x="585812" y="140811"/>
                  <a:pt x="537498" y="92497"/>
                  <a:pt x="477899" y="92497"/>
                </a:cubicBezTo>
                <a:cubicBezTo>
                  <a:pt x="418301" y="92497"/>
                  <a:pt x="369986" y="140811"/>
                  <a:pt x="369986" y="200409"/>
                </a:cubicBezTo>
                <a:lnTo>
                  <a:pt x="369986" y="539563"/>
                </a:lnTo>
                <a:cubicBezTo>
                  <a:pt x="369986" y="599162"/>
                  <a:pt x="321672" y="647476"/>
                  <a:pt x="262074" y="647476"/>
                </a:cubicBezTo>
                <a:cubicBezTo>
                  <a:pt x="202475" y="647476"/>
                  <a:pt x="154161" y="599162"/>
                  <a:pt x="154161" y="539563"/>
                </a:cubicBezTo>
                <a:lnTo>
                  <a:pt x="154161" y="277490"/>
                </a:lnTo>
                <a:moveTo>
                  <a:pt x="647476" y="647476"/>
                </a:moveTo>
                <a:lnTo>
                  <a:pt x="647476" y="585812"/>
                </a:lnTo>
                <a:lnTo>
                  <a:pt x="524147" y="585812"/>
                </a:lnTo>
                <a:moveTo>
                  <a:pt x="92497" y="154161"/>
                </a:moveTo>
                <a:lnTo>
                  <a:pt x="215825" y="154161"/>
                </a:lnTo>
                <a:lnTo>
                  <a:pt x="215825" y="92497"/>
                </a:lnTo>
                <a:moveTo>
                  <a:pt x="215825" y="154161"/>
                </a:moveTo>
                <a:cubicBezTo>
                  <a:pt x="232854" y="154161"/>
                  <a:pt x="246658" y="167965"/>
                  <a:pt x="246658" y="184993"/>
                </a:cubicBezTo>
                <a:lnTo>
                  <a:pt x="246658" y="215825"/>
                </a:lnTo>
                <a:cubicBezTo>
                  <a:pt x="246658" y="249882"/>
                  <a:pt x="219049" y="277490"/>
                  <a:pt x="184993" y="277490"/>
                </a:cubicBezTo>
                <a:lnTo>
                  <a:pt x="123329" y="277490"/>
                </a:lnTo>
                <a:cubicBezTo>
                  <a:pt x="89272" y="277490"/>
                  <a:pt x="61664" y="249882"/>
                  <a:pt x="61664" y="215825"/>
                </a:cubicBezTo>
                <a:lnTo>
                  <a:pt x="61664" y="184993"/>
                </a:lnTo>
                <a:cubicBezTo>
                  <a:pt x="61664" y="167965"/>
                  <a:pt x="75468" y="154161"/>
                  <a:pt x="92497" y="154161"/>
                </a:cubicBezTo>
                <a:lnTo>
                  <a:pt x="92497" y="92497"/>
                </a:lnTo>
              </a:path>
            </a:pathLst>
          </a:custGeom>
          <a:noFill/>
          <a:ln w="53956" cap="rnd">
            <a:solidFill>
              <a:srgbClr val="0B6E8A"/>
            </a:solidFill>
            <a:prstDash val="solid"/>
            <a:round/>
          </a:ln>
        </p:spPr>
      </p:sp>
      <p:sp>
        <p:nvSpPr>
          <p:cNvPr id="14" name="Text 12"/>
          <p:cNvSpPr/>
          <p:nvPr/>
        </p:nvSpPr>
        <p:spPr>
          <a:xfrm>
            <a:off x="9875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Text 13"/>
          <p:cNvSpPr/>
          <p:nvPr/>
        </p:nvSpPr>
        <p:spPr>
          <a:xfrm>
            <a:off x="65836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Pool</a:t>
            </a:r>
            <a:endParaRPr lang="en-US" sz="1800" dirty="0"/>
          </a:p>
        </p:txBody>
      </p:sp>
      <p:sp>
        <p:nvSpPr>
          <p:cNvPr id="16" name="Text 14"/>
          <p:cNvSpPr/>
          <p:nvPr/>
        </p:nvSpPr>
        <p:spPr>
          <a:xfrm>
            <a:off x="72237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HikariCP presta una de sus conexiones.</a:t>
            </a:r>
            <a:endParaRPr lang="en-US" sz="1400" dirty="0"/>
          </a:p>
        </p:txBody>
      </p:sp>
      <p:sp>
        <p:nvSpPr>
          <p:cNvPr id="17" name="[p1] Forma"/>
          <p:cNvSpPr/>
          <p:nvPr/>
        </p:nvSpPr>
        <p:spPr>
          <a:xfrm>
            <a:off x="2485888" y="2513960"/>
            <a:ext cx="640080" cy="0"/>
          </a:xfrm>
          <a:prstGeom prst="line">
            <a:avLst/>
          </a:prstGeom>
          <a:noFill/>
          <a:ln w="38100">
            <a:solidFill>
              <a:srgbClr val="2BA6CB"/>
            </a:solidFill>
            <a:prstDash val="solid"/>
            <a:tailEnd type="triangle"/>
          </a:ln>
        </p:spPr>
      </p:sp>
      <p:sp>
        <p:nvSpPr>
          <p:cNvPr id="18" name="[p1] Forma"/>
          <p:cNvSpPr/>
          <p:nvPr/>
        </p:nvSpPr>
        <p:spPr>
          <a:xfrm>
            <a:off x="321740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p1] Icono play"/>
          <p:cNvSpPr/>
          <p:nvPr/>
        </p:nvSpPr>
        <p:spPr>
          <a:xfrm>
            <a:off x="3532581" y="2143974"/>
            <a:ext cx="739973" cy="739973"/>
          </a:xfrm>
          <a:custGeom>
            <a:avLst/>
            <a:gdLst/>
            <a:ahLst/>
            <a:cxnLst/>
            <a:rect l="l" t="t" r="r" b="b"/>
            <a:pathLst>
              <a:path w="739973" h="739973">
                <a:moveTo>
                  <a:pt x="184993" y="92497"/>
                </a:moveTo>
                <a:lnTo>
                  <a:pt x="616644" y="369986"/>
                </a:lnTo>
                <a:lnTo>
                  <a:pt x="184993" y="647476"/>
                </a:lnTo>
                <a:lnTo>
                  <a:pt x="184993" y="92497"/>
                </a:lnTo>
                <a:close/>
              </a:path>
            </a:pathLst>
          </a:custGeom>
          <a:noFill/>
          <a:ln w="53956" cap="rnd">
            <a:solidFill>
              <a:srgbClr val="0B2350"/>
            </a:solidFill>
            <a:prstDash val="solid"/>
            <a:round/>
          </a:ln>
        </p:spPr>
      </p:sp>
      <p:sp>
        <p:nvSpPr>
          <p:cNvPr id="20" name="[p1] Forma"/>
          <p:cNvSpPr/>
          <p:nvPr/>
        </p:nvSpPr>
        <p:spPr>
          <a:xfrm>
            <a:off x="318083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1" name="[p1] Forma"/>
          <p:cNvSpPr/>
          <p:nvPr/>
        </p:nvSpPr>
        <p:spPr>
          <a:xfrm>
            <a:off x="285164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BEGIN</a:t>
            </a:r>
            <a:endParaRPr lang="en-US" sz="1800" dirty="0"/>
          </a:p>
        </p:txBody>
      </p:sp>
      <p:sp>
        <p:nvSpPr>
          <p:cNvPr id="22" name="[p1] Forma"/>
          <p:cNvSpPr/>
          <p:nvPr/>
        </p:nvSpPr>
        <p:spPr>
          <a:xfrm>
            <a:off x="291565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Empieza la transacción.</a:t>
            </a:r>
            <a:endParaRPr lang="en-US" sz="1400" dirty="0"/>
          </a:p>
        </p:txBody>
      </p:sp>
      <p:sp>
        <p:nvSpPr>
          <p:cNvPr id="23" name="[p2] Forma"/>
          <p:cNvSpPr/>
          <p:nvPr/>
        </p:nvSpPr>
        <p:spPr>
          <a:xfrm>
            <a:off x="4679168" y="2513960"/>
            <a:ext cx="640080" cy="0"/>
          </a:xfrm>
          <a:prstGeom prst="line">
            <a:avLst/>
          </a:prstGeom>
          <a:noFill/>
          <a:ln w="38100">
            <a:solidFill>
              <a:srgbClr val="2BA6CB"/>
            </a:solidFill>
            <a:prstDash val="solid"/>
            <a:tailEnd type="triangle"/>
          </a:ln>
        </p:spPr>
      </p:sp>
      <p:sp>
        <p:nvSpPr>
          <p:cNvPr id="24" name="[p2] Forma"/>
          <p:cNvSpPr/>
          <p:nvPr/>
        </p:nvSpPr>
        <p:spPr>
          <a:xfrm>
            <a:off x="541068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p2] Icono clipboard-list"/>
          <p:cNvSpPr/>
          <p:nvPr/>
        </p:nvSpPr>
        <p:spPr>
          <a:xfrm>
            <a:off x="5725861" y="2143974"/>
            <a:ext cx="739973" cy="739973"/>
          </a:xfrm>
          <a:custGeom>
            <a:avLst/>
            <a:gdLst/>
            <a:ahLst/>
            <a:cxnLst/>
            <a:rect l="l" t="t" r="r" b="b"/>
            <a:pathLst>
              <a:path w="739973" h="739973">
                <a:moveTo>
                  <a:pt x="277490" y="61664"/>
                </a:moveTo>
                <a:lnTo>
                  <a:pt x="462483" y="61664"/>
                </a:lnTo>
                <a:cubicBezTo>
                  <a:pt x="479511" y="61664"/>
                  <a:pt x="493315" y="75468"/>
                  <a:pt x="493315" y="92497"/>
                </a:cubicBezTo>
                <a:lnTo>
                  <a:pt x="493315" y="154161"/>
                </a:lnTo>
                <a:cubicBezTo>
                  <a:pt x="493315" y="171189"/>
                  <a:pt x="479511" y="184993"/>
                  <a:pt x="462483" y="184993"/>
                </a:cubicBezTo>
                <a:lnTo>
                  <a:pt x="277490" y="184993"/>
                </a:lnTo>
                <a:cubicBezTo>
                  <a:pt x="260462" y="184993"/>
                  <a:pt x="246658" y="171189"/>
                  <a:pt x="246658" y="154161"/>
                </a:cubicBezTo>
                <a:lnTo>
                  <a:pt x="246658" y="92497"/>
                </a:lnTo>
                <a:cubicBezTo>
                  <a:pt x="246658" y="75468"/>
                  <a:pt x="260462" y="61664"/>
                  <a:pt x="277490" y="61664"/>
                </a:cubicBezTo>
                <a:close/>
                <a:moveTo>
                  <a:pt x="493315" y="123329"/>
                </a:moveTo>
                <a:lnTo>
                  <a:pt x="554980" y="123329"/>
                </a:lnTo>
                <a:cubicBezTo>
                  <a:pt x="589036" y="123329"/>
                  <a:pt x="616644" y="150937"/>
                  <a:pt x="616644" y="184993"/>
                </a:cubicBezTo>
                <a:lnTo>
                  <a:pt x="616644" y="616644"/>
                </a:lnTo>
                <a:cubicBezTo>
                  <a:pt x="616644" y="650700"/>
                  <a:pt x="589036" y="678308"/>
                  <a:pt x="554980" y="678308"/>
                </a:cubicBezTo>
                <a:lnTo>
                  <a:pt x="184993" y="678308"/>
                </a:lnTo>
                <a:cubicBezTo>
                  <a:pt x="150937" y="678308"/>
                  <a:pt x="123329" y="650700"/>
                  <a:pt x="123329" y="616644"/>
                </a:cubicBezTo>
                <a:lnTo>
                  <a:pt x="123329" y="184993"/>
                </a:lnTo>
                <a:cubicBezTo>
                  <a:pt x="123329" y="150937"/>
                  <a:pt x="150937" y="123329"/>
                  <a:pt x="184993" y="123329"/>
                </a:cubicBezTo>
                <a:lnTo>
                  <a:pt x="246658" y="123329"/>
                </a:lnTo>
                <a:moveTo>
                  <a:pt x="369986" y="339154"/>
                </a:moveTo>
                <a:lnTo>
                  <a:pt x="493315" y="339154"/>
                </a:lnTo>
                <a:moveTo>
                  <a:pt x="369986" y="493315"/>
                </a:moveTo>
                <a:lnTo>
                  <a:pt x="493315" y="493315"/>
                </a:lnTo>
                <a:moveTo>
                  <a:pt x="246658" y="339154"/>
                </a:moveTo>
                <a:lnTo>
                  <a:pt x="246966" y="339154"/>
                </a:lnTo>
                <a:moveTo>
                  <a:pt x="246658" y="493315"/>
                </a:moveTo>
                <a:lnTo>
                  <a:pt x="246966" y="493315"/>
                </a:lnTo>
              </a:path>
            </a:pathLst>
          </a:custGeom>
          <a:noFill/>
          <a:ln w="53956" cap="rnd">
            <a:solidFill>
              <a:srgbClr val="0B2350"/>
            </a:solidFill>
            <a:prstDash val="solid"/>
            <a:round/>
          </a:ln>
        </p:spPr>
      </p:sp>
      <p:sp>
        <p:nvSpPr>
          <p:cNvPr id="26" name="[p2] Forma"/>
          <p:cNvSpPr/>
          <p:nvPr/>
        </p:nvSpPr>
        <p:spPr>
          <a:xfrm>
            <a:off x="537411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7" name="[p2] Forma"/>
          <p:cNvSpPr/>
          <p:nvPr/>
        </p:nvSpPr>
        <p:spPr>
          <a:xfrm>
            <a:off x="504492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UPDATE</a:t>
            </a:r>
            <a:endParaRPr lang="en-US" sz="1800" dirty="0"/>
          </a:p>
        </p:txBody>
      </p:sp>
      <p:sp>
        <p:nvSpPr>
          <p:cNvPr id="28" name="[p2] Forma"/>
          <p:cNvSpPr/>
          <p:nvPr/>
        </p:nvSpPr>
        <p:spPr>
          <a:xfrm>
            <a:off x="510893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solicitud pasa a ENVIADA.</a:t>
            </a:r>
            <a:endParaRPr lang="en-US" sz="1400" dirty="0"/>
          </a:p>
        </p:txBody>
      </p:sp>
      <p:sp>
        <p:nvSpPr>
          <p:cNvPr id="29" name="[p3] Forma"/>
          <p:cNvSpPr/>
          <p:nvPr/>
        </p:nvSpPr>
        <p:spPr>
          <a:xfrm>
            <a:off x="6872448" y="2513960"/>
            <a:ext cx="640080" cy="0"/>
          </a:xfrm>
          <a:prstGeom prst="line">
            <a:avLst/>
          </a:prstGeom>
          <a:noFill/>
          <a:ln w="38100">
            <a:solidFill>
              <a:srgbClr val="2BA6CB"/>
            </a:solidFill>
            <a:prstDash val="solid"/>
            <a:tailEnd type="triangle"/>
          </a:ln>
        </p:spPr>
      </p:sp>
      <p:sp>
        <p:nvSpPr>
          <p:cNvPr id="30" name="[p3] Forma"/>
          <p:cNvSpPr/>
          <p:nvPr/>
        </p:nvSpPr>
        <p:spPr>
          <a:xfrm>
            <a:off x="7603968" y="1828800"/>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31" name="[p3] Icono inbox"/>
          <p:cNvSpPr/>
          <p:nvPr/>
        </p:nvSpPr>
        <p:spPr>
          <a:xfrm>
            <a:off x="7919141" y="2143974"/>
            <a:ext cx="739973" cy="739973"/>
          </a:xfrm>
          <a:custGeom>
            <a:avLst/>
            <a:gdLst/>
            <a:ahLst/>
            <a:cxnLst/>
            <a:rect l="l" t="t" r="r" b="b"/>
            <a:pathLst>
              <a:path w="739973" h="739973">
                <a:moveTo>
                  <a:pt x="678308" y="369986"/>
                </a:moveTo>
                <a:lnTo>
                  <a:pt x="493315" y="369986"/>
                </a:lnTo>
                <a:lnTo>
                  <a:pt x="431651" y="462483"/>
                </a:lnTo>
                <a:lnTo>
                  <a:pt x="308322" y="462483"/>
                </a:lnTo>
                <a:lnTo>
                  <a:pt x="246658" y="369986"/>
                </a:lnTo>
                <a:lnTo>
                  <a:pt x="61664" y="369986"/>
                </a:lnTo>
                <a:moveTo>
                  <a:pt x="168035" y="157553"/>
                </a:moveTo>
                <a:lnTo>
                  <a:pt x="61664" y="369986"/>
                </a:lnTo>
                <a:lnTo>
                  <a:pt x="61664" y="554980"/>
                </a:lnTo>
                <a:cubicBezTo>
                  <a:pt x="61664" y="589036"/>
                  <a:pt x="89272" y="616644"/>
                  <a:pt x="123329" y="616644"/>
                </a:cubicBezTo>
                <a:lnTo>
                  <a:pt x="616644" y="616644"/>
                </a:lnTo>
                <a:cubicBezTo>
                  <a:pt x="650700" y="616644"/>
                  <a:pt x="678308" y="589036"/>
                  <a:pt x="678308" y="554980"/>
                </a:cubicBezTo>
                <a:lnTo>
                  <a:pt x="678308" y="369986"/>
                </a:lnTo>
                <a:lnTo>
                  <a:pt x="571937" y="157553"/>
                </a:lnTo>
                <a:cubicBezTo>
                  <a:pt x="561524" y="136597"/>
                  <a:pt x="540148" y="123341"/>
                  <a:pt x="516748" y="123329"/>
                </a:cubicBezTo>
                <a:lnTo>
                  <a:pt x="223225" y="123329"/>
                </a:lnTo>
                <a:cubicBezTo>
                  <a:pt x="199825" y="123341"/>
                  <a:pt x="178448" y="136597"/>
                  <a:pt x="168035" y="157553"/>
                </a:cubicBezTo>
                <a:close/>
              </a:path>
            </a:pathLst>
          </a:custGeom>
          <a:noFill/>
          <a:ln w="53956" cap="rnd">
            <a:solidFill>
              <a:srgbClr val="0B2350"/>
            </a:solidFill>
            <a:prstDash val="solid"/>
            <a:round/>
          </a:ln>
        </p:spPr>
      </p:sp>
      <p:sp>
        <p:nvSpPr>
          <p:cNvPr id="32" name="[p3] Forma"/>
          <p:cNvSpPr/>
          <p:nvPr/>
        </p:nvSpPr>
        <p:spPr>
          <a:xfrm>
            <a:off x="756739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p3] Forma"/>
          <p:cNvSpPr/>
          <p:nvPr/>
        </p:nvSpPr>
        <p:spPr>
          <a:xfrm>
            <a:off x="7238208"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INSERT</a:t>
            </a:r>
            <a:endParaRPr lang="en-US" sz="1800" dirty="0"/>
          </a:p>
        </p:txBody>
      </p:sp>
      <p:sp>
        <p:nvSpPr>
          <p:cNvPr id="34" name="[p3] Forma"/>
          <p:cNvSpPr/>
          <p:nvPr/>
        </p:nvSpPr>
        <p:spPr>
          <a:xfrm>
            <a:off x="7302216"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aviso queda pendiente en evento.</a:t>
            </a:r>
            <a:endParaRPr lang="en-US" sz="1400" dirty="0"/>
          </a:p>
        </p:txBody>
      </p:sp>
      <p:sp>
        <p:nvSpPr>
          <p:cNvPr id="35" name="[p4] Forma"/>
          <p:cNvSpPr/>
          <p:nvPr/>
        </p:nvSpPr>
        <p:spPr>
          <a:xfrm>
            <a:off x="9065727" y="2513960"/>
            <a:ext cx="640080" cy="0"/>
          </a:xfrm>
          <a:prstGeom prst="line">
            <a:avLst/>
          </a:prstGeom>
          <a:noFill/>
          <a:ln w="38100">
            <a:solidFill>
              <a:srgbClr val="2BA6CB"/>
            </a:solidFill>
            <a:prstDash val="solid"/>
            <a:tailEnd type="triangle"/>
          </a:ln>
        </p:spPr>
      </p:sp>
      <p:sp>
        <p:nvSpPr>
          <p:cNvPr id="36" name="[p4] Forma"/>
          <p:cNvSpPr/>
          <p:nvPr/>
        </p:nvSpPr>
        <p:spPr>
          <a:xfrm>
            <a:off x="9797247" y="1828800"/>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p4] Icono circle-check"/>
          <p:cNvSpPr/>
          <p:nvPr/>
        </p:nvSpPr>
        <p:spPr>
          <a:xfrm>
            <a:off x="10112421" y="2143974"/>
            <a:ext cx="739973" cy="739973"/>
          </a:xfrm>
          <a:custGeom>
            <a:avLst/>
            <a:gdLst/>
            <a:ahLst/>
            <a:cxnLst/>
            <a:rect l="l" t="t" r="r" b="b"/>
            <a:pathLst>
              <a:path w="739973" h="739973">
                <a:moveTo>
                  <a:pt x="678308" y="369986"/>
                </a:moveTo>
                <a:cubicBezTo>
                  <a:pt x="678308" y="540268"/>
                  <a:pt x="540268" y="678308"/>
                  <a:pt x="369986" y="678308"/>
                </a:cubicBezTo>
                <a:cubicBezTo>
                  <a:pt x="199705" y="678308"/>
                  <a:pt x="61664" y="540268"/>
                  <a:pt x="61664" y="369986"/>
                </a:cubicBezTo>
                <a:cubicBezTo>
                  <a:pt x="61664" y="199705"/>
                  <a:pt x="199705" y="61664"/>
                  <a:pt x="369986" y="61664"/>
                </a:cubicBezTo>
                <a:cubicBezTo>
                  <a:pt x="540268" y="61664"/>
                  <a:pt x="678308" y="199705"/>
                  <a:pt x="678308" y="369986"/>
                </a:cubicBezTo>
                <a:close/>
                <a:moveTo>
                  <a:pt x="277490" y="369986"/>
                </a:moveTo>
                <a:lnTo>
                  <a:pt x="339154" y="431651"/>
                </a:lnTo>
                <a:lnTo>
                  <a:pt x="462483" y="308322"/>
                </a:lnTo>
              </a:path>
            </a:pathLst>
          </a:custGeom>
          <a:noFill/>
          <a:ln w="53956" cap="rnd">
            <a:solidFill>
              <a:srgbClr val="0A6648"/>
            </a:solidFill>
            <a:prstDash val="solid"/>
            <a:round/>
          </a:ln>
        </p:spPr>
      </p:sp>
      <p:sp>
        <p:nvSpPr>
          <p:cNvPr id="38" name="[p4] Forma"/>
          <p:cNvSpPr/>
          <p:nvPr/>
        </p:nvSpPr>
        <p:spPr>
          <a:xfrm>
            <a:off x="976067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39" name="[p4] Forma"/>
          <p:cNvSpPr/>
          <p:nvPr/>
        </p:nvSpPr>
        <p:spPr>
          <a:xfrm>
            <a:off x="9431487" y="3327136"/>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COMMIT</a:t>
            </a:r>
            <a:endParaRPr lang="en-US" sz="1800" dirty="0"/>
          </a:p>
        </p:txBody>
      </p:sp>
      <p:sp>
        <p:nvSpPr>
          <p:cNvPr id="40" name="[p4] Forma"/>
          <p:cNvSpPr/>
          <p:nvPr/>
        </p:nvSpPr>
        <p:spPr>
          <a:xfrm>
            <a:off x="9495495" y="3766048"/>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Las dos cosas quedan guardadas.</a:t>
            </a:r>
            <a:endParaRPr lang="en-US" sz="1400" dirty="0"/>
          </a:p>
        </p:txBody>
      </p:sp>
      <p:sp>
        <p:nvSpPr>
          <p:cNvPr id="41" name="[p5] Forma"/>
          <p:cNvSpPr/>
          <p:nvPr/>
        </p:nvSpPr>
        <p:spPr>
          <a:xfrm>
            <a:off x="8289127" y="4259824"/>
            <a:ext cx="0" cy="1660916"/>
          </a:xfrm>
          <a:prstGeom prst="line">
            <a:avLst/>
          </a:prstGeom>
          <a:noFill/>
          <a:ln w="25400">
            <a:solidFill>
              <a:srgbClr val="AB243E"/>
            </a:solidFill>
            <a:prstDash val="dash"/>
          </a:ln>
        </p:spPr>
      </p:sp>
      <p:sp>
        <p:nvSpPr>
          <p:cNvPr id="42" name="[p5] Forma"/>
          <p:cNvSpPr/>
          <p:nvPr/>
        </p:nvSpPr>
        <p:spPr>
          <a:xfrm flipH="1">
            <a:off x="7372807" y="5920740"/>
            <a:ext cx="916320" cy="0"/>
          </a:xfrm>
          <a:prstGeom prst="line">
            <a:avLst/>
          </a:prstGeom>
          <a:noFill/>
          <a:ln w="25400">
            <a:solidFill>
              <a:srgbClr val="AB243E"/>
            </a:solidFill>
            <a:prstDash val="dash"/>
            <a:tailEnd type="triangle"/>
          </a:ln>
        </p:spPr>
      </p:sp>
      <p:sp>
        <p:nvSpPr>
          <p:cNvPr id="43" name="[p5] Forma"/>
          <p:cNvSpPr/>
          <p:nvPr/>
        </p:nvSpPr>
        <p:spPr>
          <a:xfrm>
            <a:off x="6826087" y="5591556"/>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AB243E"/>
                </a:solidFill>
                <a:latin typeface="Segoe UI" pitchFamily="34" charset="0"/>
                <a:ea typeface="Segoe UI" pitchFamily="34" charset="-122"/>
                <a:cs typeface="Segoe UI" pitchFamily="34" charset="-120"/>
              </a:rPr>
              <a:t>si algo falla</a:t>
            </a:r>
            <a:endParaRPr lang="en-US" sz="1100" dirty="0"/>
          </a:p>
        </p:txBody>
      </p:sp>
      <p:sp>
        <p:nvSpPr>
          <p:cNvPr id="44" name="[p5] Forma"/>
          <p:cNvSpPr/>
          <p:nvPr/>
        </p:nvSpPr>
        <p:spPr>
          <a:xfrm>
            <a:off x="7372807" y="5486400"/>
            <a:ext cx="4206240" cy="868680"/>
          </a:xfrm>
          <a:prstGeom prst="roundRect">
            <a:avLst>
              <a:gd name="adj" fmla="val 14737"/>
            </a:avLst>
          </a:prstGeom>
          <a:solidFill>
            <a:srgbClr val="F7E3E7"/>
          </a:solidFill>
          <a:ln w="12700">
            <a:solidFill>
              <a:srgbClr val="D5929F"/>
            </a:solidFill>
            <a:prstDash val="solid"/>
          </a:ln>
          <a:effectLst>
            <a:outerShdw sx="100000" sy="100000" kx="0" ky="0" algn="bl" rotWithShape="0" blurRad="76200" dist="19050" dir="5400000">
              <a:srgbClr val="0B1F3A">
                <a:alpha val="14000"/>
              </a:srgbClr>
            </a:outerShdw>
          </a:effectLst>
        </p:spPr>
      </p:sp>
      <p:sp>
        <p:nvSpPr>
          <p:cNvPr id="45" name="[p5] Forma"/>
          <p:cNvSpPr/>
          <p:nvPr/>
        </p:nvSpPr>
        <p:spPr>
          <a:xfrm>
            <a:off x="7537399" y="5641848"/>
            <a:ext cx="548640" cy="548640"/>
          </a:xfrm>
          <a:prstGeom prst="ellipse">
            <a:avLst/>
          </a:prstGeom>
          <a:solidFill>
            <a:srgbClr val="FFFFFF"/>
          </a:solidFill>
          <a:ln w="12700">
            <a:solidFill>
              <a:srgbClr val="FFFFFF"/>
            </a:solidFill>
            <a:prstDash val="solid"/>
          </a:ln>
        </p:spPr>
      </p:sp>
      <p:sp>
        <p:nvSpPr>
          <p:cNvPr id="46" name="[p5] Icono rotate-ccw"/>
          <p:cNvSpPr/>
          <p:nvPr/>
        </p:nvSpPr>
        <p:spPr>
          <a:xfrm>
            <a:off x="7669073" y="5773522"/>
            <a:ext cx="285293" cy="285293"/>
          </a:xfrm>
          <a:custGeom>
            <a:avLst/>
            <a:gdLst/>
            <a:ahLst/>
            <a:cxnLst/>
            <a:rect l="l" t="t" r="r" b="b"/>
            <a:pathLst>
              <a:path w="285293" h="285293">
                <a:moveTo>
                  <a:pt x="35662" y="142646"/>
                </a:moveTo>
                <a:cubicBezTo>
                  <a:pt x="35662" y="201732"/>
                  <a:pt x="83560" y="249631"/>
                  <a:pt x="142646" y="249631"/>
                </a:cubicBezTo>
                <a:cubicBezTo>
                  <a:pt x="201732" y="249631"/>
                  <a:pt x="249631" y="201732"/>
                  <a:pt x="249631" y="142646"/>
                </a:cubicBezTo>
                <a:cubicBezTo>
                  <a:pt x="249631" y="83560"/>
                  <a:pt x="201732" y="35662"/>
                  <a:pt x="142646" y="35662"/>
                </a:cubicBezTo>
                <a:cubicBezTo>
                  <a:pt x="112738" y="35774"/>
                  <a:pt x="84030" y="47444"/>
                  <a:pt x="62527" y="68233"/>
                </a:cubicBezTo>
                <a:lnTo>
                  <a:pt x="35662" y="95098"/>
                </a:lnTo>
                <a:moveTo>
                  <a:pt x="35662" y="35662"/>
                </a:moveTo>
                <a:lnTo>
                  <a:pt x="35662" y="95098"/>
                </a:lnTo>
                <a:lnTo>
                  <a:pt x="95098" y="95098"/>
                </a:lnTo>
              </a:path>
            </a:pathLst>
          </a:custGeom>
          <a:noFill/>
          <a:ln w="23774" cap="rnd">
            <a:solidFill>
              <a:srgbClr val="AB243E"/>
            </a:solidFill>
            <a:prstDash val="solid"/>
            <a:round/>
          </a:ln>
        </p:spPr>
      </p:sp>
      <p:sp>
        <p:nvSpPr>
          <p:cNvPr id="47" name="[p5] Forma"/>
          <p:cNvSpPr/>
          <p:nvPr/>
        </p:nvSpPr>
        <p:spPr>
          <a:xfrm>
            <a:off x="8214055" y="5596128"/>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AB243E"/>
                </a:solidFill>
                <a:latin typeface="Segoe UI Semibold" pitchFamily="34" charset="0"/>
                <a:ea typeface="Segoe UI Semibold" pitchFamily="34" charset="-122"/>
                <a:cs typeface="Segoe UI Semibold" pitchFamily="34" charset="-120"/>
              </a:rPr>
              <a:t>ROLLBACK</a:t>
            </a:r>
            <a:endParaRPr lang="en-US" sz="1450" dirty="0"/>
          </a:p>
        </p:txBody>
      </p:sp>
      <p:sp>
        <p:nvSpPr>
          <p:cNvPr id="48" name="[p5] Forma"/>
          <p:cNvSpPr/>
          <p:nvPr/>
        </p:nvSpPr>
        <p:spPr>
          <a:xfrm>
            <a:off x="8214055" y="5925312"/>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queda nada a medias: ni la solicitud ni el aviso.</a:t>
            </a:r>
            <a:endParaRPr lang="en-US" sz="115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4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4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00"/>
                                        <p:tgtEl>
                                          <p:spTgt spid="34"/>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400"/>
                                        <p:tgtEl>
                                          <p:spTgt spid="3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400"/>
                                        <p:tgtEl>
                                          <p:spTgt spid="3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4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400"/>
                                        <p:tgtEl>
                                          <p:spTgt spid="3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400"/>
                                        <p:tgtEl>
                                          <p:spTgt spid="40"/>
                                        </p:tgtEl>
                                      </p:cBhvr>
                                    </p:animEffect>
                                  </p:childTnLst>
                                </p:cTn>
                              </p:par>
                            </p:childTnLst>
                          </p:cTn>
                        </p:par>
                      </p:childTnLst>
                    </p:cTn>
                  </p:par>
                  <p:par>
                    <p:cTn id="107" fill="hold">
                      <p:stCondLst>
                        <p:cond delay="indefinite"/>
                      </p:stCondLst>
                      <p:childTnLst>
                        <p:par>
                          <p:cTn id="108"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1"/>
                                        </p:tgtEl>
                                        <p:attrNameLst>
                                          <p:attrName>style.visibility</p:attrName>
                                        </p:attrNameLst>
                                      </p:cBhvr>
                                      <p:to>
                                        <p:strVal val="visible"/>
                                      </p:to>
                                    </p:set>
                                    <p:animEffect transition="in" filter="fade">
                                      <p:cBhvr>
                                        <p:cTn id="85" dur="400"/>
                                        <p:tgtEl>
                                          <p:spTgt spid="4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2"/>
                                        </p:tgtEl>
                                        <p:attrNameLst>
                                          <p:attrName>style.visibility</p:attrName>
                                        </p:attrNameLst>
                                      </p:cBhvr>
                                      <p:to>
                                        <p:strVal val="visible"/>
                                      </p:to>
                                    </p:set>
                                    <p:animEffect transition="in" filter="fade">
                                      <p:cBhvr>
                                        <p:cTn id="88" dur="400"/>
                                        <p:tgtEl>
                                          <p:spTgt spid="4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3"/>
                                        </p:tgtEl>
                                        <p:attrNameLst>
                                          <p:attrName>style.visibility</p:attrName>
                                        </p:attrNameLst>
                                      </p:cBhvr>
                                      <p:to>
                                        <p:strVal val="visible"/>
                                      </p:to>
                                    </p:set>
                                    <p:animEffect transition="in" filter="fade">
                                      <p:cBhvr>
                                        <p:cTn id="91" dur="400"/>
                                        <p:tgtEl>
                                          <p:spTgt spid="4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4"/>
                                        </p:tgtEl>
                                        <p:attrNameLst>
                                          <p:attrName>style.visibility</p:attrName>
                                        </p:attrNameLst>
                                      </p:cBhvr>
                                      <p:to>
                                        <p:strVal val="visible"/>
                                      </p:to>
                                    </p:set>
                                    <p:animEffect transition="in" filter="fade">
                                      <p:cBhvr>
                                        <p:cTn id="94" dur="400"/>
                                        <p:tgtEl>
                                          <p:spTgt spid="4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400"/>
                                        <p:tgtEl>
                                          <p:spTgt spid="4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6"/>
                                        </p:tgtEl>
                                        <p:attrNameLst>
                                          <p:attrName>style.visibility</p:attrName>
                                        </p:attrNameLst>
                                      </p:cBhvr>
                                      <p:to>
                                        <p:strVal val="visible"/>
                                      </p:to>
                                    </p:set>
                                    <p:animEffect transition="in" filter="fade">
                                      <p:cBhvr>
                                        <p:cTn id="100" dur="400"/>
                                        <p:tgtEl>
                                          <p:spTgt spid="4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400"/>
                                        <p:tgtEl>
                                          <p:spTgt spid="4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BASE DE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Base de datos: lo que aprendimos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2BA6CB"/>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DFE6F0"/>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886968" y="1645920"/>
            <a:ext cx="713232" cy="713232"/>
          </a:xfrm>
          <a:prstGeom prst="ellipse">
            <a:avLst/>
          </a:prstGeom>
          <a:solidFill>
            <a:srgbClr val="2BA6CB"/>
          </a:solidFill>
          <a:ln w="12700">
            <a:solidFill>
              <a:srgbClr val="2BA6CB"/>
            </a:solidFill>
            <a:prstDash val="solid"/>
          </a:ln>
        </p:spPr>
      </p:sp>
      <p:sp>
        <p:nvSpPr>
          <p:cNvPr id="13" name="Icono database"/>
          <p:cNvSpPr/>
          <p:nvPr/>
        </p:nvSpPr>
        <p:spPr>
          <a:xfrm>
            <a:off x="1058144" y="1817096"/>
            <a:ext cx="370881" cy="370881"/>
          </a:xfrm>
          <a:custGeom>
            <a:avLst/>
            <a:gdLst/>
            <a:ahLst/>
            <a:cxnLst/>
            <a:rect l="l" t="t" r="r" b="b"/>
            <a:pathLst>
              <a:path w="370881" h="370881">
                <a:moveTo>
                  <a:pt x="324521" y="77267"/>
                </a:moveTo>
                <a:cubicBezTo>
                  <a:pt x="324521" y="102871"/>
                  <a:pt x="262252" y="123627"/>
                  <a:pt x="185440" y="123627"/>
                </a:cubicBezTo>
                <a:cubicBezTo>
                  <a:pt x="108628" y="123627"/>
                  <a:pt x="46360" y="102871"/>
                  <a:pt x="46360" y="77267"/>
                </a:cubicBezTo>
                <a:cubicBezTo>
                  <a:pt x="46360" y="51663"/>
                  <a:pt x="108628" y="30907"/>
                  <a:pt x="185440" y="30907"/>
                </a:cubicBezTo>
                <a:cubicBezTo>
                  <a:pt x="262252" y="30907"/>
                  <a:pt x="324521" y="51663"/>
                  <a:pt x="324521" y="77267"/>
                </a:cubicBezTo>
                <a:close/>
                <a:moveTo>
                  <a:pt x="46360" y="77267"/>
                </a:moveTo>
                <a:lnTo>
                  <a:pt x="46360" y="293614"/>
                </a:lnTo>
                <a:cubicBezTo>
                  <a:pt x="46360" y="319218"/>
                  <a:pt x="108628" y="339974"/>
                  <a:pt x="185440" y="339974"/>
                </a:cubicBezTo>
                <a:cubicBezTo>
                  <a:pt x="262252" y="339974"/>
                  <a:pt x="324521" y="319218"/>
                  <a:pt x="324521" y="293614"/>
                </a:cubicBezTo>
                <a:lnTo>
                  <a:pt x="324521" y="77267"/>
                </a:lnTo>
                <a:moveTo>
                  <a:pt x="46360" y="185440"/>
                </a:moveTo>
                <a:cubicBezTo>
                  <a:pt x="46360" y="211044"/>
                  <a:pt x="108628" y="231800"/>
                  <a:pt x="185440" y="231800"/>
                </a:cubicBezTo>
                <a:cubicBezTo>
                  <a:pt x="262252" y="231800"/>
                  <a:pt x="324521" y="211044"/>
                  <a:pt x="324521" y="185440"/>
                </a:cubicBezTo>
              </a:path>
            </a:pathLst>
          </a:custGeom>
          <a:noFill/>
          <a:ln w="30907" cap="rnd">
            <a:solidFill>
              <a:srgbClr val="0B1F3A"/>
            </a:solidFill>
            <a:prstDash val="solid"/>
            <a:round/>
          </a:ln>
        </p:spPr>
      </p:sp>
      <p:sp>
        <p:nvSpPr>
          <p:cNvPr id="14" name="Text 12"/>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5" name="Text 13"/>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3</a:t>
            </a:r>
            <a:endParaRPr lang="en-US" sz="4700" dirty="0"/>
          </a:p>
        </p:txBody>
      </p:sp>
      <p:sp>
        <p:nvSpPr>
          <p:cNvPr id="16" name="Text 14"/>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tablas en dos bases</a:t>
            </a:r>
            <a:endParaRPr lang="en-US" sz="1300" dirty="0"/>
          </a:p>
        </p:txBody>
      </p:sp>
      <p:sp>
        <p:nvSpPr>
          <p:cNvPr id="17" name="Shape 15"/>
          <p:cNvSpPr/>
          <p:nvPr/>
        </p:nvSpPr>
        <p:spPr>
          <a:xfrm>
            <a:off x="886968" y="4489704"/>
            <a:ext cx="2423160" cy="0"/>
          </a:xfrm>
          <a:prstGeom prst="line">
            <a:avLst/>
          </a:prstGeom>
          <a:noFill/>
          <a:ln w="9525">
            <a:solidFill>
              <a:srgbClr val="3C4C61"/>
            </a:solidFill>
            <a:prstDash val="solid"/>
          </a:ln>
        </p:spPr>
      </p:sp>
      <p:sp>
        <p:nvSpPr>
          <p:cNvPr id="18" name="Text 16"/>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9" name="Text 17"/>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consultas que crucen de una base a otra</a:t>
            </a:r>
            <a:endParaRPr lang="en-US" sz="1300" dirty="0"/>
          </a:p>
        </p:txBody>
      </p:sp>
      <p:sp>
        <p:nvSpPr>
          <p:cNvPr id="20"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2" name="[p1] Icono table"/>
          <p:cNvSpPr/>
          <p:nvPr/>
        </p:nvSpPr>
        <p:spPr>
          <a:xfrm>
            <a:off x="4258544" y="1740515"/>
            <a:ext cx="370881" cy="370881"/>
          </a:xfrm>
          <a:custGeom>
            <a:avLst/>
            <a:gdLst/>
            <a:ahLst/>
            <a:cxnLst/>
            <a:rect l="l" t="t" r="r" b="b"/>
            <a:pathLst>
              <a:path w="370881" h="370881">
                <a:moveTo>
                  <a:pt x="185440" y="46360"/>
                </a:moveTo>
                <a:lnTo>
                  <a:pt x="185440" y="324521"/>
                </a:lnTo>
                <a:moveTo>
                  <a:pt x="77267" y="46360"/>
                </a:moveTo>
                <a:lnTo>
                  <a:pt x="293614" y="46360"/>
                </a:lnTo>
                <a:cubicBezTo>
                  <a:pt x="310683" y="46360"/>
                  <a:pt x="324521" y="60197"/>
                  <a:pt x="324521" y="77267"/>
                </a:cubicBezTo>
                <a:lnTo>
                  <a:pt x="324521" y="293614"/>
                </a:lnTo>
                <a:cubicBezTo>
                  <a:pt x="324521" y="310683"/>
                  <a:pt x="310683" y="324521"/>
                  <a:pt x="293614" y="324521"/>
                </a:cubicBezTo>
                <a:lnTo>
                  <a:pt x="77267" y="324521"/>
                </a:lnTo>
                <a:cubicBezTo>
                  <a:pt x="60197" y="324521"/>
                  <a:pt x="46360" y="310683"/>
                  <a:pt x="46360" y="293614"/>
                </a:cubicBezTo>
                <a:lnTo>
                  <a:pt x="46360" y="77267"/>
                </a:lnTo>
                <a:cubicBezTo>
                  <a:pt x="46360" y="60197"/>
                  <a:pt x="60197" y="46360"/>
                  <a:pt x="77267" y="46360"/>
                </a:cubicBezTo>
                <a:close/>
                <a:moveTo>
                  <a:pt x="46360" y="139080"/>
                </a:moveTo>
                <a:lnTo>
                  <a:pt x="324521" y="139080"/>
                </a:lnTo>
                <a:moveTo>
                  <a:pt x="46360" y="231800"/>
                </a:moveTo>
                <a:lnTo>
                  <a:pt x="324521" y="231800"/>
                </a:lnTo>
              </a:path>
            </a:pathLst>
          </a:custGeom>
          <a:noFill/>
          <a:ln w="30907" cap="rnd">
            <a:solidFill>
              <a:srgbClr val="0B2350"/>
            </a:solidFill>
            <a:prstDash val="solid"/>
            <a:round/>
          </a:ln>
        </p:spPr>
      </p:sp>
      <p:sp>
        <p:nvSpPr>
          <p:cNvPr id="23"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ORM no elimina el trabajo de base de datos</a:t>
            </a:r>
            <a:endParaRPr lang="en-US" sz="1500" dirty="0"/>
          </a:p>
        </p:txBody>
      </p:sp>
      <p:sp>
        <p:nvSpPr>
          <p:cNvPr id="24"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Escribe el SQL rutinario; índices, CHECK y transacciones siguen siendo diseño.</a:t>
            </a:r>
            <a:endParaRPr lang="en-US" sz="1150" dirty="0"/>
          </a:p>
        </p:txBody>
      </p:sp>
      <p:sp>
        <p:nvSpPr>
          <p:cNvPr id="25"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6"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7"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8"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Reglas probadas en código y una base que se cuida sola.</a:t>
            </a:r>
            <a:endParaRPr lang="en-US" sz="1350" dirty="0"/>
          </a:p>
        </p:txBody>
      </p:sp>
      <p:sp>
        <p:nvSpPr>
          <p:cNvPr id="29"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1" name="[p2] Icono key-round"/>
          <p:cNvSpPr/>
          <p:nvPr/>
        </p:nvSpPr>
        <p:spPr>
          <a:xfrm>
            <a:off x="4258544" y="3032105"/>
            <a:ext cx="370881" cy="370881"/>
          </a:xfrm>
          <a:custGeom>
            <a:avLst/>
            <a:gdLst/>
            <a:ahLst/>
            <a:cxnLst/>
            <a:rect l="l" t="t" r="r" b="b"/>
            <a:pathLst>
              <a:path w="370881" h="370881">
                <a:moveTo>
                  <a:pt x="39962" y="269105"/>
                </a:moveTo>
                <a:cubicBezTo>
                  <a:pt x="34166" y="274900"/>
                  <a:pt x="30908" y="282760"/>
                  <a:pt x="30907" y="290956"/>
                </a:cubicBezTo>
                <a:lnTo>
                  <a:pt x="30907" y="324521"/>
                </a:lnTo>
                <a:cubicBezTo>
                  <a:pt x="30907" y="333055"/>
                  <a:pt x="37825" y="339974"/>
                  <a:pt x="46360" y="339974"/>
                </a:cubicBezTo>
                <a:lnTo>
                  <a:pt x="92720" y="339974"/>
                </a:lnTo>
                <a:cubicBezTo>
                  <a:pt x="101255" y="339974"/>
                  <a:pt x="108174" y="333055"/>
                  <a:pt x="108174" y="324521"/>
                </a:cubicBezTo>
                <a:lnTo>
                  <a:pt x="108174" y="309067"/>
                </a:lnTo>
                <a:cubicBezTo>
                  <a:pt x="108174" y="300533"/>
                  <a:pt x="115092" y="293614"/>
                  <a:pt x="123627" y="293614"/>
                </a:cubicBezTo>
                <a:lnTo>
                  <a:pt x="139080" y="293614"/>
                </a:lnTo>
                <a:cubicBezTo>
                  <a:pt x="147615" y="293614"/>
                  <a:pt x="154534" y="286695"/>
                  <a:pt x="154534" y="278160"/>
                </a:cubicBezTo>
                <a:lnTo>
                  <a:pt x="154534" y="262707"/>
                </a:lnTo>
                <a:cubicBezTo>
                  <a:pt x="154534" y="254172"/>
                  <a:pt x="161452" y="247254"/>
                  <a:pt x="169987" y="247254"/>
                </a:cubicBezTo>
                <a:lnTo>
                  <a:pt x="172645" y="247254"/>
                </a:lnTo>
                <a:cubicBezTo>
                  <a:pt x="180841" y="247252"/>
                  <a:pt x="188701" y="243995"/>
                  <a:pt x="194496" y="238198"/>
                </a:cubicBezTo>
                <a:lnTo>
                  <a:pt x="207075" y="225619"/>
                </a:lnTo>
                <a:cubicBezTo>
                  <a:pt x="251306" y="241027"/>
                  <a:pt x="300315" y="223820"/>
                  <a:pt x="325206" y="184144"/>
                </a:cubicBezTo>
                <a:cubicBezTo>
                  <a:pt x="350097" y="144468"/>
                  <a:pt x="344264" y="92855"/>
                  <a:pt x="311145" y="59736"/>
                </a:cubicBezTo>
                <a:cubicBezTo>
                  <a:pt x="278025" y="26617"/>
                  <a:pt x="226412" y="20783"/>
                  <a:pt x="186736" y="45675"/>
                </a:cubicBezTo>
                <a:cubicBezTo>
                  <a:pt x="147061" y="70566"/>
                  <a:pt x="129854" y="119575"/>
                  <a:pt x="145262" y="163806"/>
                </a:cubicBezTo>
                <a:close/>
                <a:moveTo>
                  <a:pt x="262707" y="115900"/>
                </a:moveTo>
                <a:cubicBezTo>
                  <a:pt x="262707" y="120168"/>
                  <a:pt x="259248" y="123627"/>
                  <a:pt x="254980" y="123627"/>
                </a:cubicBezTo>
                <a:cubicBezTo>
                  <a:pt x="250713" y="123627"/>
                  <a:pt x="247254" y="120168"/>
                  <a:pt x="247254" y="115900"/>
                </a:cubicBezTo>
                <a:cubicBezTo>
                  <a:pt x="247254" y="111633"/>
                  <a:pt x="250713" y="108174"/>
                  <a:pt x="254980" y="108174"/>
                </a:cubicBezTo>
                <a:cubicBezTo>
                  <a:pt x="259248" y="108174"/>
                  <a:pt x="262707" y="111633"/>
                  <a:pt x="262707" y="115900"/>
                </a:cubicBezTo>
                <a:close/>
              </a:path>
            </a:pathLst>
          </a:custGeom>
          <a:noFill/>
          <a:ln w="30907" cap="rnd">
            <a:solidFill>
              <a:srgbClr val="0B2350"/>
            </a:solidFill>
            <a:prstDash val="solid"/>
            <a:round/>
          </a:ln>
        </p:spPr>
      </p:sp>
      <p:sp>
        <p:nvSpPr>
          <p:cNvPr id="32"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 cadena de conexión no vive en el código</a:t>
            </a:r>
            <a:endParaRPr lang="en-US" sz="1500" dirty="0"/>
          </a:p>
        </p:txBody>
      </p:sp>
      <p:sp>
        <p:nvSpPr>
          <p:cNvPr id="33"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Variables en Compose y un Secret en Kubernetes.</a:t>
            </a:r>
            <a:endParaRPr lang="en-US" sz="1150" dirty="0"/>
          </a:p>
        </p:txBody>
      </p:sp>
      <p:sp>
        <p:nvSpPr>
          <p:cNvPr id="34"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5"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6"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7"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de servidor o de clave sin recompilar.</a:t>
            </a:r>
            <a:endParaRPr lang="en-US" sz="1350" dirty="0"/>
          </a:p>
        </p:txBody>
      </p:sp>
      <p:sp>
        <p:nvSpPr>
          <p:cNvPr id="38"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0" name="[p3] Icono repeat"/>
          <p:cNvSpPr/>
          <p:nvPr/>
        </p:nvSpPr>
        <p:spPr>
          <a:xfrm>
            <a:off x="4258544" y="4323695"/>
            <a:ext cx="370881" cy="370881"/>
          </a:xfrm>
          <a:custGeom>
            <a:avLst/>
            <a:gdLst/>
            <a:ahLst/>
            <a:cxnLst/>
            <a:rect l="l" t="t" r="r" b="b"/>
            <a:pathLst>
              <a:path w="370881" h="370881">
                <a:moveTo>
                  <a:pt x="262707" y="30907"/>
                </a:moveTo>
                <a:lnTo>
                  <a:pt x="324521" y="92720"/>
                </a:lnTo>
                <a:lnTo>
                  <a:pt x="262707" y="154534"/>
                </a:lnTo>
                <a:moveTo>
                  <a:pt x="46360" y="169987"/>
                </a:moveTo>
                <a:lnTo>
                  <a:pt x="46360" y="154534"/>
                </a:lnTo>
                <a:cubicBezTo>
                  <a:pt x="46360" y="120395"/>
                  <a:pt x="74035" y="92720"/>
                  <a:pt x="108174" y="92720"/>
                </a:cubicBezTo>
                <a:lnTo>
                  <a:pt x="324521" y="92720"/>
                </a:lnTo>
                <a:moveTo>
                  <a:pt x="108174" y="339974"/>
                </a:moveTo>
                <a:lnTo>
                  <a:pt x="46360" y="278160"/>
                </a:lnTo>
                <a:lnTo>
                  <a:pt x="108174" y="216347"/>
                </a:lnTo>
                <a:moveTo>
                  <a:pt x="324521" y="200894"/>
                </a:moveTo>
                <a:lnTo>
                  <a:pt x="324521" y="216347"/>
                </a:lnTo>
                <a:cubicBezTo>
                  <a:pt x="324521" y="250486"/>
                  <a:pt x="296846" y="278160"/>
                  <a:pt x="262707" y="278160"/>
                </a:cubicBezTo>
                <a:lnTo>
                  <a:pt x="46360" y="278160"/>
                </a:lnTo>
              </a:path>
            </a:pathLst>
          </a:custGeom>
          <a:noFill/>
          <a:ln w="30907" cap="rnd">
            <a:solidFill>
              <a:srgbClr val="0B2350"/>
            </a:solidFill>
            <a:prstDash val="solid"/>
            <a:round/>
          </a:ln>
        </p:spPr>
      </p:sp>
      <p:sp>
        <p:nvSpPr>
          <p:cNvPr id="41"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La transacción local es la más confiable</a:t>
            </a:r>
            <a:endParaRPr lang="en-US" sz="1500" dirty="0"/>
          </a:p>
        </p:txBody>
      </p:sp>
      <p:sp>
        <p:nvSpPr>
          <p:cNvPr id="42"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Lo que cambia junto se guarda en el mismo COMMIT.</a:t>
            </a:r>
            <a:endParaRPr lang="en-US" sz="1150" dirty="0"/>
          </a:p>
        </p:txBody>
      </p:sp>
      <p:sp>
        <p:nvSpPr>
          <p:cNvPr id="43"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4"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5"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6"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Nunca quedan datos a medias.</a:t>
            </a:r>
            <a:endParaRPr lang="en-US" sz="1350" dirty="0"/>
          </a:p>
        </p:txBody>
      </p:sp>
      <p:sp>
        <p:nvSpPr>
          <p:cNvPr id="47"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49" name="[p4] Icono file-code"/>
          <p:cNvSpPr/>
          <p:nvPr/>
        </p:nvSpPr>
        <p:spPr>
          <a:xfrm>
            <a:off x="4258544" y="5615285"/>
            <a:ext cx="370881" cy="370881"/>
          </a:xfrm>
          <a:custGeom>
            <a:avLst/>
            <a:gdLst/>
            <a:ahLst/>
            <a:cxnLst/>
            <a:rect l="l" t="t" r="r" b="b"/>
            <a:pathLst>
              <a:path w="370881" h="370881">
                <a:moveTo>
                  <a:pt x="154534" y="193167"/>
                </a:moveTo>
                <a:lnTo>
                  <a:pt x="123627" y="231800"/>
                </a:lnTo>
                <a:lnTo>
                  <a:pt x="154534" y="270434"/>
                </a:lnTo>
                <a:moveTo>
                  <a:pt x="216347" y="193167"/>
                </a:moveTo>
                <a:lnTo>
                  <a:pt x="247254" y="231800"/>
                </a:lnTo>
                <a:lnTo>
                  <a:pt x="216347" y="270434"/>
                </a:lnTo>
                <a:moveTo>
                  <a:pt x="216347" y="30907"/>
                </a:moveTo>
                <a:lnTo>
                  <a:pt x="216347" y="92720"/>
                </a:lnTo>
                <a:cubicBezTo>
                  <a:pt x="216347" y="109789"/>
                  <a:pt x="230184" y="123627"/>
                  <a:pt x="247254" y="123627"/>
                </a:cubicBezTo>
                <a:lnTo>
                  <a:pt x="309067" y="123627"/>
                </a:lnTo>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path>
            </a:pathLst>
          </a:custGeom>
          <a:noFill/>
          <a:ln w="30907" cap="rnd">
            <a:solidFill>
              <a:srgbClr val="0B2350"/>
            </a:solidFill>
            <a:prstDash val="solid"/>
            <a:round/>
          </a:ln>
        </p:spPr>
      </p:sp>
      <p:sp>
        <p:nvSpPr>
          <p:cNvPr id="50"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50" b="1" dirty="0">
                <a:solidFill>
                  <a:srgbClr val="0B2350"/>
                </a:solidFill>
                <a:latin typeface="Segoe UI Semibold" pitchFamily="34" charset="0"/>
                <a:ea typeface="Segoe UI Semibold" pitchFamily="34" charset="-122"/>
                <a:cs typeface="Segoe UI Semibold" pitchFamily="34" charset="-120"/>
              </a:rPr>
              <a:t>El esquema también es código</a:t>
            </a:r>
            <a:endParaRPr lang="en-US" sz="1550" dirty="0"/>
          </a:p>
        </p:txBody>
      </p:sp>
      <p:sp>
        <p:nvSpPr>
          <p:cNvPr id="51"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schema.sql versionado, idempotente y validado al arrancar.</a:t>
            </a:r>
            <a:endParaRPr lang="en-US" sz="1150" dirty="0"/>
          </a:p>
        </p:txBody>
      </p:sp>
      <p:sp>
        <p:nvSpPr>
          <p:cNvPr id="52"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3"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4"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5"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Despliegues repetibles y errores visibles al inicio.</a:t>
            </a:r>
            <a:endParaRPr lang="en-US" sz="135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BASE DE DATOS</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4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fade">
                                      <p:cBhvr>
                                        <p:cTn id="98" dur="400"/>
                                        <p:tgtEl>
                                          <p:spTgt spid="4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fade">
                                      <p:cBhvr>
                                        <p:cTn id="101" dur="400"/>
                                        <p:tgtEl>
                                          <p:spTgt spid="5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400"/>
                                        <p:tgtEl>
                                          <p:spTgt spid="5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fade">
                                      <p:cBhvr>
                                        <p:cTn id="107" dur="400"/>
                                        <p:tgtEl>
                                          <p:spTgt spid="5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fade">
                                      <p:cBhvr>
                                        <p:cTn id="110" dur="400"/>
                                        <p:tgtEl>
                                          <p:spTgt spid="5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fade">
                                      <p:cBhvr>
                                        <p:cTn id="113" dur="400"/>
                                        <p:tgtEl>
                                          <p:spTgt spid="5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Quién habla con quién, y cómo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Todo viaja por HTTP con JSON, y cada pieza encuentra a la otra por su nombre.</a:t>
            </a:r>
            <a:endParaRPr lang="en-US" sz="1700" dirty="0"/>
          </a:p>
        </p:txBody>
      </p:sp>
      <p:sp>
        <p:nvSpPr>
          <p:cNvPr id="12" name="Shape 10"/>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3" name="Text 11"/>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CONEXIÓN</a:t>
            </a:r>
            <a:endParaRPr lang="en-US" sz="1150" dirty="0"/>
          </a:p>
        </p:txBody>
      </p:sp>
      <p:sp>
        <p:nvSpPr>
          <p:cNvPr id="14" name="Text 12"/>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HABLA</a:t>
            </a:r>
            <a:endParaRPr lang="en-US" sz="1150" dirty="0"/>
          </a:p>
        </p:txBody>
      </p:sp>
      <p:sp>
        <p:nvSpPr>
          <p:cNvPr id="15" name="Text 13"/>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POR QUÉ ASÍ</a:t>
            </a:r>
            <a:endParaRPr lang="en-US" sz="1150" dirty="0"/>
          </a:p>
        </p:txBody>
      </p:sp>
      <p:sp>
        <p:nvSpPr>
          <p:cNvPr id="16" name="Shape 14"/>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612648" y="2359152"/>
            <a:ext cx="64008" cy="546811"/>
          </a:xfrm>
          <a:prstGeom prst="rect">
            <a:avLst/>
          </a:prstGeom>
          <a:solidFill>
            <a:srgbClr val="5B3FC4"/>
          </a:solidFill>
          <a:ln w="12700">
            <a:solidFill>
              <a:srgbClr val="5B3FC4"/>
            </a:solidFill>
            <a:prstDash val="solid"/>
          </a:ln>
        </p:spPr>
      </p:sp>
      <p:sp>
        <p:nvSpPr>
          <p:cNvPr id="18" name="Shape 16"/>
          <p:cNvSpPr/>
          <p:nvPr/>
        </p:nvSpPr>
        <p:spPr>
          <a:xfrm>
            <a:off x="772668" y="2376526"/>
            <a:ext cx="512064" cy="512064"/>
          </a:xfrm>
          <a:prstGeom prst="ellipse">
            <a:avLst/>
          </a:prstGeom>
          <a:solidFill>
            <a:srgbClr val="F1EEFD"/>
          </a:solidFill>
          <a:ln w="12700">
            <a:solidFill>
              <a:srgbClr val="F1EEFD"/>
            </a:solidFill>
            <a:prstDash val="solid"/>
          </a:ln>
        </p:spPr>
      </p:sp>
      <p:sp>
        <p:nvSpPr>
          <p:cNvPr id="19" name="Icono monitor"/>
          <p:cNvSpPr/>
          <p:nvPr/>
        </p:nvSpPr>
        <p:spPr>
          <a:xfrm>
            <a:off x="895563" y="2499421"/>
            <a:ext cx="266273" cy="266273"/>
          </a:xfrm>
          <a:custGeom>
            <a:avLst/>
            <a:gdLst/>
            <a:ahLst/>
            <a:cxnLst/>
            <a:rect l="l" t="t" r="r" b="b"/>
            <a:pathLst>
              <a:path w="266273" h="266273">
                <a:moveTo>
                  <a:pt x="44379" y="33284"/>
                </a:moveTo>
                <a:lnTo>
                  <a:pt x="221894" y="33284"/>
                </a:lnTo>
                <a:cubicBezTo>
                  <a:pt x="234149" y="33284"/>
                  <a:pt x="244084" y="43219"/>
                  <a:pt x="244084" y="55474"/>
                </a:cubicBezTo>
                <a:lnTo>
                  <a:pt x="244084" y="166421"/>
                </a:lnTo>
                <a:cubicBezTo>
                  <a:pt x="244084" y="178676"/>
                  <a:pt x="234149" y="188610"/>
                  <a:pt x="221894" y="188610"/>
                </a:cubicBezTo>
                <a:lnTo>
                  <a:pt x="44379" y="188610"/>
                </a:lnTo>
                <a:cubicBezTo>
                  <a:pt x="32124" y="188610"/>
                  <a:pt x="22189" y="178676"/>
                  <a:pt x="22189" y="166421"/>
                </a:cubicBezTo>
                <a:lnTo>
                  <a:pt x="22189" y="55474"/>
                </a:lnTo>
                <a:cubicBezTo>
                  <a:pt x="22189" y="43219"/>
                  <a:pt x="32124" y="33284"/>
                  <a:pt x="44379" y="33284"/>
                </a:cubicBezTo>
                <a:close/>
                <a:moveTo>
                  <a:pt x="88758" y="232989"/>
                </a:moveTo>
                <a:lnTo>
                  <a:pt x="177516" y="232989"/>
                </a:lnTo>
                <a:moveTo>
                  <a:pt x="133137" y="188610"/>
                </a:moveTo>
                <a:lnTo>
                  <a:pt x="133137" y="232989"/>
                </a:lnTo>
              </a:path>
            </a:pathLst>
          </a:custGeom>
          <a:noFill/>
          <a:ln w="22189" cap="rnd">
            <a:solidFill>
              <a:srgbClr val="5B3FC4"/>
            </a:solidFill>
            <a:prstDash val="solid"/>
            <a:round/>
          </a:ln>
        </p:spPr>
      </p:sp>
      <p:sp>
        <p:nvSpPr>
          <p:cNvPr id="20" name="Text 18"/>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Navegador → UI</a:t>
            </a:r>
            <a:endParaRPr lang="en-US" sz="1500" dirty="0"/>
          </a:p>
        </p:txBody>
      </p:sp>
      <p:sp>
        <p:nvSpPr>
          <p:cNvPr id="21" name="Shape 19"/>
          <p:cNvSpPr/>
          <p:nvPr/>
        </p:nvSpPr>
        <p:spPr>
          <a:xfrm>
            <a:off x="4140961" y="2395728"/>
            <a:ext cx="0" cy="473659"/>
          </a:xfrm>
          <a:prstGeom prst="line">
            <a:avLst/>
          </a:prstGeom>
          <a:noFill/>
          <a:ln w="9525">
            <a:solidFill>
              <a:srgbClr val="DFE6F0"/>
            </a:solidFill>
            <a:prstDash val="solid"/>
          </a:ln>
        </p:spPr>
      </p:sp>
      <p:sp>
        <p:nvSpPr>
          <p:cNvPr id="22" name="Text 20"/>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HTTP a localhost:8088; nginx sirve la página</a:t>
            </a:r>
            <a:endParaRPr lang="en-US" sz="1400" dirty="0"/>
          </a:p>
        </p:txBody>
      </p:sp>
      <p:sp>
        <p:nvSpPr>
          <p:cNvPr id="23" name="Shape 21"/>
          <p:cNvSpPr/>
          <p:nvPr/>
        </p:nvSpPr>
        <p:spPr>
          <a:xfrm>
            <a:off x="8114733" y="2395728"/>
            <a:ext cx="0" cy="473659"/>
          </a:xfrm>
          <a:prstGeom prst="line">
            <a:avLst/>
          </a:prstGeom>
          <a:noFill/>
          <a:ln w="9525">
            <a:solidFill>
              <a:srgbClr val="DFE6F0"/>
            </a:solidFill>
            <a:prstDash val="solid"/>
          </a:ln>
        </p:spPr>
      </p:sp>
      <p:sp>
        <p:nvSpPr>
          <p:cNvPr id="24" name="Text 22"/>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navegador nunca conoce las direcciones internas</a:t>
            </a:r>
            <a:endParaRPr lang="en-US" sz="1400" dirty="0"/>
          </a:p>
        </p:txBody>
      </p:sp>
      <p:sp>
        <p:nvSpPr>
          <p:cNvPr id="25"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6" name="[p1] Forma"/>
          <p:cNvSpPr/>
          <p:nvPr/>
        </p:nvSpPr>
        <p:spPr>
          <a:xfrm>
            <a:off x="612648" y="3198571"/>
            <a:ext cx="64008" cy="546811"/>
          </a:xfrm>
          <a:prstGeom prst="rect">
            <a:avLst/>
          </a:prstGeom>
          <a:solidFill>
            <a:srgbClr val="5B3FC4"/>
          </a:solidFill>
          <a:ln w="12700">
            <a:solidFill>
              <a:srgbClr val="5B3FC4"/>
            </a:solidFill>
            <a:prstDash val="solid"/>
          </a:ln>
        </p:spPr>
      </p:sp>
      <p:sp>
        <p:nvSpPr>
          <p:cNvPr id="27" name="[p1] Forma"/>
          <p:cNvSpPr/>
          <p:nvPr/>
        </p:nvSpPr>
        <p:spPr>
          <a:xfrm>
            <a:off x="772668" y="3215945"/>
            <a:ext cx="512064" cy="512064"/>
          </a:xfrm>
          <a:prstGeom prst="ellipse">
            <a:avLst/>
          </a:prstGeom>
          <a:solidFill>
            <a:srgbClr val="F1EEFD"/>
          </a:solidFill>
          <a:ln w="12700">
            <a:solidFill>
              <a:srgbClr val="F1EEFD"/>
            </a:solidFill>
            <a:prstDash val="solid"/>
          </a:ln>
        </p:spPr>
      </p:sp>
      <p:sp>
        <p:nvSpPr>
          <p:cNvPr id="28" name="[p1] Icono route"/>
          <p:cNvSpPr/>
          <p:nvPr/>
        </p:nvSpPr>
        <p:spPr>
          <a:xfrm>
            <a:off x="895563" y="3338840"/>
            <a:ext cx="266273" cy="266273"/>
          </a:xfrm>
          <a:custGeom>
            <a:avLst/>
            <a:gdLst/>
            <a:ahLst/>
            <a:cxnLst/>
            <a:rect l="l" t="t" r="r" b="b"/>
            <a:pathLst>
              <a:path w="266273" h="266273">
                <a:moveTo>
                  <a:pt x="99852" y="210800"/>
                </a:moveTo>
                <a:cubicBezTo>
                  <a:pt x="99852" y="229182"/>
                  <a:pt x="84951" y="244084"/>
                  <a:pt x="66568" y="244084"/>
                </a:cubicBezTo>
                <a:cubicBezTo>
                  <a:pt x="48186" y="244084"/>
                  <a:pt x="33284" y="229182"/>
                  <a:pt x="33284" y="210800"/>
                </a:cubicBezTo>
                <a:cubicBezTo>
                  <a:pt x="33284" y="192417"/>
                  <a:pt x="48186" y="177516"/>
                  <a:pt x="66568" y="177516"/>
                </a:cubicBezTo>
                <a:cubicBezTo>
                  <a:pt x="84951" y="177516"/>
                  <a:pt x="99852" y="192417"/>
                  <a:pt x="99852" y="210800"/>
                </a:cubicBezTo>
                <a:close/>
                <a:moveTo>
                  <a:pt x="99852" y="210800"/>
                </a:moveTo>
                <a:lnTo>
                  <a:pt x="194158" y="210800"/>
                </a:lnTo>
                <a:cubicBezTo>
                  <a:pt x="215604" y="210800"/>
                  <a:pt x="232989" y="193414"/>
                  <a:pt x="232989" y="171968"/>
                </a:cubicBezTo>
                <a:cubicBezTo>
                  <a:pt x="232989" y="150522"/>
                  <a:pt x="215604" y="133137"/>
                  <a:pt x="194158" y="133137"/>
                </a:cubicBezTo>
                <a:lnTo>
                  <a:pt x="72116" y="133137"/>
                </a:lnTo>
                <a:cubicBezTo>
                  <a:pt x="50670" y="133137"/>
                  <a:pt x="33284" y="115751"/>
                  <a:pt x="33284" y="94305"/>
                </a:cubicBezTo>
                <a:cubicBezTo>
                  <a:pt x="33284" y="72859"/>
                  <a:pt x="50670" y="55474"/>
                  <a:pt x="72116" y="55474"/>
                </a:cubicBezTo>
                <a:lnTo>
                  <a:pt x="166421" y="55474"/>
                </a:lnTo>
                <a:moveTo>
                  <a:pt x="232989" y="55474"/>
                </a:moveTo>
                <a:cubicBezTo>
                  <a:pt x="232989" y="73856"/>
                  <a:pt x="218087" y="88758"/>
                  <a:pt x="199705" y="88758"/>
                </a:cubicBezTo>
                <a:cubicBezTo>
                  <a:pt x="181323" y="88758"/>
                  <a:pt x="166421" y="73856"/>
                  <a:pt x="166421" y="55474"/>
                </a:cubicBezTo>
                <a:cubicBezTo>
                  <a:pt x="166421" y="37091"/>
                  <a:pt x="181323" y="22189"/>
                  <a:pt x="199705" y="22189"/>
                </a:cubicBezTo>
                <a:cubicBezTo>
                  <a:pt x="218087" y="22189"/>
                  <a:pt x="232989" y="37091"/>
                  <a:pt x="232989" y="55474"/>
                </a:cubicBezTo>
                <a:close/>
              </a:path>
            </a:pathLst>
          </a:custGeom>
          <a:noFill/>
          <a:ln w="22189" cap="rnd">
            <a:solidFill>
              <a:srgbClr val="5B3FC4"/>
            </a:solidFill>
            <a:prstDash val="solid"/>
            <a:round/>
          </a:ln>
        </p:spPr>
      </p:sp>
      <p:sp>
        <p:nvSpPr>
          <p:cNvPr id="29"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UI → servicios</a:t>
            </a:r>
            <a:endParaRPr lang="en-US" sz="1500" dirty="0"/>
          </a:p>
        </p:txBody>
      </p:sp>
      <p:sp>
        <p:nvSpPr>
          <p:cNvPr id="30" name="[p1] Forma"/>
          <p:cNvSpPr/>
          <p:nvPr/>
        </p:nvSpPr>
        <p:spPr>
          <a:xfrm>
            <a:off x="4140961" y="3235147"/>
            <a:ext cx="0" cy="473659"/>
          </a:xfrm>
          <a:prstGeom prst="line">
            <a:avLst/>
          </a:prstGeom>
          <a:noFill/>
          <a:ln w="9525">
            <a:solidFill>
              <a:srgbClr val="DFE6F0"/>
            </a:solidFill>
            <a:prstDash val="solid"/>
          </a:ln>
        </p:spPr>
      </p:sp>
      <p:sp>
        <p:nvSpPr>
          <p:cNvPr id="31"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nginx reenvía /api/solicitudes y /api/notificaciones</a:t>
            </a:r>
            <a:endParaRPr lang="en-US" sz="1400" dirty="0"/>
          </a:p>
        </p:txBody>
      </p:sp>
      <p:sp>
        <p:nvSpPr>
          <p:cNvPr id="32" name="[p1] Forma"/>
          <p:cNvSpPr/>
          <p:nvPr/>
        </p:nvSpPr>
        <p:spPr>
          <a:xfrm>
            <a:off x="8114733" y="3235147"/>
            <a:ext cx="0" cy="473659"/>
          </a:xfrm>
          <a:prstGeom prst="line">
            <a:avLst/>
          </a:prstGeom>
          <a:noFill/>
          <a:ln w="9525">
            <a:solidFill>
              <a:srgbClr val="DFE6F0"/>
            </a:solidFill>
            <a:prstDash val="solid"/>
          </a:ln>
        </p:spPr>
      </p:sp>
      <p:sp>
        <p:nvSpPr>
          <p:cNvPr id="33"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una dirección no obliga a tocar la UI</a:t>
            </a:r>
            <a:endParaRPr lang="en-US" sz="1400" dirty="0"/>
          </a:p>
        </p:txBody>
      </p:sp>
      <p:sp>
        <p:nvSpPr>
          <p:cNvPr id="34"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6"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7" name="[p2] Icono send"/>
          <p:cNvSpPr/>
          <p:nvPr/>
        </p:nvSpPr>
        <p:spPr>
          <a:xfrm>
            <a:off x="895563" y="4178259"/>
            <a:ext cx="266273" cy="266273"/>
          </a:xfrm>
          <a:custGeom>
            <a:avLst/>
            <a:gdLst/>
            <a:ahLst/>
            <a:cxnLst/>
            <a:rect l="l" t="t" r="r" b="b"/>
            <a:pathLst>
              <a:path w="266273" h="266273">
                <a:moveTo>
                  <a:pt x="161273" y="240600"/>
                </a:moveTo>
                <a:cubicBezTo>
                  <a:pt x="162136" y="242751"/>
                  <a:pt x="164246" y="244139"/>
                  <a:pt x="166563" y="244080"/>
                </a:cubicBezTo>
                <a:cubicBezTo>
                  <a:pt x="168881" y="244021"/>
                  <a:pt x="170917" y="242527"/>
                  <a:pt x="171669" y="240334"/>
                </a:cubicBezTo>
                <a:lnTo>
                  <a:pt x="243784" y="29534"/>
                </a:lnTo>
                <a:cubicBezTo>
                  <a:pt x="244509" y="27527"/>
                  <a:pt x="244009" y="25282"/>
                  <a:pt x="242500" y="23774"/>
                </a:cubicBezTo>
                <a:cubicBezTo>
                  <a:pt x="240991" y="22265"/>
                  <a:pt x="238746" y="21764"/>
                  <a:pt x="236739" y="22489"/>
                </a:cubicBezTo>
                <a:lnTo>
                  <a:pt x="25939" y="94605"/>
                </a:lnTo>
                <a:cubicBezTo>
                  <a:pt x="23747" y="95357"/>
                  <a:pt x="22253" y="97393"/>
                  <a:pt x="22193" y="99710"/>
                </a:cubicBezTo>
                <a:cubicBezTo>
                  <a:pt x="22134" y="102027"/>
                  <a:pt x="23522" y="104137"/>
                  <a:pt x="25673" y="105000"/>
                </a:cubicBezTo>
                <a:lnTo>
                  <a:pt x="113654" y="140282"/>
                </a:lnTo>
                <a:cubicBezTo>
                  <a:pt x="119275" y="142532"/>
                  <a:pt x="123731" y="146981"/>
                  <a:pt x="125992" y="152597"/>
                </a:cubicBezTo>
                <a:close/>
                <a:moveTo>
                  <a:pt x="242464" y="23820"/>
                </a:moveTo>
                <a:lnTo>
                  <a:pt x="121088" y="145186"/>
                </a:lnTo>
              </a:path>
            </a:pathLst>
          </a:custGeom>
          <a:noFill/>
          <a:ln w="22189" cap="rnd">
            <a:solidFill>
              <a:srgbClr val="0B6E8A"/>
            </a:solidFill>
            <a:prstDash val="solid"/>
            <a:round/>
          </a:ln>
        </p:spPr>
      </p:sp>
      <p:sp>
        <p:nvSpPr>
          <p:cNvPr id="38"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solicitudes → notificaciones</a:t>
            </a:r>
            <a:endParaRPr lang="en-US" sz="1500" dirty="0"/>
          </a:p>
        </p:txBody>
      </p:sp>
      <p:sp>
        <p:nvSpPr>
          <p:cNvPr id="39" name="[p2] Forma"/>
          <p:cNvSpPr/>
          <p:nvPr/>
        </p:nvSpPr>
        <p:spPr>
          <a:xfrm>
            <a:off x="4140961" y="4074566"/>
            <a:ext cx="0" cy="473659"/>
          </a:xfrm>
          <a:prstGeom prst="line">
            <a:avLst/>
          </a:prstGeom>
          <a:noFill/>
          <a:ln w="9525">
            <a:solidFill>
              <a:srgbClr val="DFE6F0"/>
            </a:solidFill>
            <a:prstDash val="solid"/>
          </a:ln>
        </p:spPr>
      </p:sp>
      <p:sp>
        <p:nvSpPr>
          <p:cNvPr id="40"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POST del evento SolicitudEnviada en JSON, desde el relevador</a:t>
            </a:r>
            <a:endParaRPr lang="en-US" sz="1400" dirty="0"/>
          </a:p>
        </p:txBody>
      </p:sp>
      <p:sp>
        <p:nvSpPr>
          <p:cNvPr id="41" name="[p2] Forma"/>
          <p:cNvSpPr/>
          <p:nvPr/>
        </p:nvSpPr>
        <p:spPr>
          <a:xfrm>
            <a:off x="8114733" y="4074566"/>
            <a:ext cx="0" cy="473659"/>
          </a:xfrm>
          <a:prstGeom prst="line">
            <a:avLst/>
          </a:prstGeom>
          <a:noFill/>
          <a:ln w="9525">
            <a:solidFill>
              <a:srgbClr val="DFE6F0"/>
            </a:solidFill>
            <a:prstDash val="solid"/>
          </a:ln>
        </p:spPr>
      </p:sp>
      <p:sp>
        <p:nvSpPr>
          <p:cNvPr id="42"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 notificaciones cae, solicitudes sigue funcionando</a:t>
            </a:r>
            <a:endParaRPr lang="en-US" sz="1400" dirty="0"/>
          </a:p>
        </p:txBody>
      </p:sp>
      <p:sp>
        <p:nvSpPr>
          <p:cNvPr id="43"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4" name="[p3] Forma"/>
          <p:cNvSpPr/>
          <p:nvPr/>
        </p:nvSpPr>
        <p:spPr>
          <a:xfrm>
            <a:off x="612648" y="4877410"/>
            <a:ext cx="64008" cy="546811"/>
          </a:xfrm>
          <a:prstGeom prst="rect">
            <a:avLst/>
          </a:prstGeom>
          <a:solidFill>
            <a:srgbClr val="0A6648"/>
          </a:solidFill>
          <a:ln w="12700">
            <a:solidFill>
              <a:srgbClr val="0A6648"/>
            </a:solidFill>
            <a:prstDash val="solid"/>
          </a:ln>
        </p:spPr>
      </p:sp>
      <p:sp>
        <p:nvSpPr>
          <p:cNvPr id="45" name="[p3] Forma"/>
          <p:cNvSpPr/>
          <p:nvPr/>
        </p:nvSpPr>
        <p:spPr>
          <a:xfrm>
            <a:off x="772668" y="4894783"/>
            <a:ext cx="512064" cy="512064"/>
          </a:xfrm>
          <a:prstGeom prst="ellipse">
            <a:avLst/>
          </a:prstGeom>
          <a:solidFill>
            <a:srgbClr val="E1F1EA"/>
          </a:solidFill>
          <a:ln w="12700">
            <a:solidFill>
              <a:srgbClr val="E1F1EA"/>
            </a:solidFill>
            <a:prstDash val="solid"/>
          </a:ln>
        </p:spPr>
      </p:sp>
      <p:sp>
        <p:nvSpPr>
          <p:cNvPr id="46" name="[p3] Icono network"/>
          <p:cNvSpPr/>
          <p:nvPr/>
        </p:nvSpPr>
        <p:spPr>
          <a:xfrm>
            <a:off x="895563" y="5017679"/>
            <a:ext cx="266273" cy="266273"/>
          </a:xfrm>
          <a:custGeom>
            <a:avLst/>
            <a:gdLst/>
            <a:ahLst/>
            <a:cxnLst/>
            <a:rect l="l" t="t" r="r" b="b"/>
            <a:pathLst>
              <a:path w="266273" h="266273">
                <a:moveTo>
                  <a:pt x="188610" y="177516"/>
                </a:moveTo>
                <a:lnTo>
                  <a:pt x="232989" y="177516"/>
                </a:lnTo>
                <a:cubicBezTo>
                  <a:pt x="239117" y="177516"/>
                  <a:pt x="244084" y="182483"/>
                  <a:pt x="244084" y="188610"/>
                </a:cubicBezTo>
                <a:lnTo>
                  <a:pt x="244084" y="232989"/>
                </a:lnTo>
                <a:cubicBezTo>
                  <a:pt x="244084" y="239117"/>
                  <a:pt x="239117" y="244084"/>
                  <a:pt x="232989" y="244084"/>
                </a:cubicBezTo>
                <a:lnTo>
                  <a:pt x="188610" y="244084"/>
                </a:lnTo>
                <a:cubicBezTo>
                  <a:pt x="182483" y="244084"/>
                  <a:pt x="177516" y="239117"/>
                  <a:pt x="177516" y="232989"/>
                </a:cubicBezTo>
                <a:lnTo>
                  <a:pt x="177516" y="188610"/>
                </a:lnTo>
                <a:cubicBezTo>
                  <a:pt x="177516" y="182483"/>
                  <a:pt x="182483" y="177516"/>
                  <a:pt x="188610" y="177516"/>
                </a:cubicBezTo>
                <a:close/>
                <a:moveTo>
                  <a:pt x="33284" y="177516"/>
                </a:moveTo>
                <a:lnTo>
                  <a:pt x="77663" y="177516"/>
                </a:lnTo>
                <a:cubicBezTo>
                  <a:pt x="83790" y="177516"/>
                  <a:pt x="88758" y="182483"/>
                  <a:pt x="88758" y="188610"/>
                </a:cubicBezTo>
                <a:lnTo>
                  <a:pt x="88758" y="232989"/>
                </a:lnTo>
                <a:cubicBezTo>
                  <a:pt x="88758" y="239117"/>
                  <a:pt x="83790" y="244084"/>
                  <a:pt x="77663" y="244084"/>
                </a:cubicBezTo>
                <a:lnTo>
                  <a:pt x="33284" y="244084"/>
                </a:lnTo>
                <a:cubicBezTo>
                  <a:pt x="27157" y="244084"/>
                  <a:pt x="22189" y="239117"/>
                  <a:pt x="22189" y="232989"/>
                </a:cubicBezTo>
                <a:lnTo>
                  <a:pt x="22189" y="188610"/>
                </a:lnTo>
                <a:cubicBezTo>
                  <a:pt x="22189" y="182483"/>
                  <a:pt x="27157" y="177516"/>
                  <a:pt x="33284" y="177516"/>
                </a:cubicBezTo>
                <a:close/>
                <a:moveTo>
                  <a:pt x="110947" y="22189"/>
                </a:moveTo>
                <a:lnTo>
                  <a:pt x="155326" y="22189"/>
                </a:lnTo>
                <a:cubicBezTo>
                  <a:pt x="161454" y="22189"/>
                  <a:pt x="166421" y="27157"/>
                  <a:pt x="166421" y="33284"/>
                </a:cubicBezTo>
                <a:lnTo>
                  <a:pt x="166421" y="77663"/>
                </a:lnTo>
                <a:cubicBezTo>
                  <a:pt x="166421" y="83790"/>
                  <a:pt x="161454" y="88758"/>
                  <a:pt x="155326" y="88758"/>
                </a:cubicBezTo>
                <a:lnTo>
                  <a:pt x="110947" y="88758"/>
                </a:lnTo>
                <a:cubicBezTo>
                  <a:pt x="104820" y="88758"/>
                  <a:pt x="99852" y="83790"/>
                  <a:pt x="99852" y="77663"/>
                </a:cubicBezTo>
                <a:lnTo>
                  <a:pt x="99852" y="33284"/>
                </a:lnTo>
                <a:cubicBezTo>
                  <a:pt x="99852" y="27157"/>
                  <a:pt x="104820" y="22189"/>
                  <a:pt x="110947" y="22189"/>
                </a:cubicBezTo>
                <a:close/>
                <a:moveTo>
                  <a:pt x="55474" y="177516"/>
                </a:moveTo>
                <a:lnTo>
                  <a:pt x="55474" y="144231"/>
                </a:lnTo>
                <a:cubicBezTo>
                  <a:pt x="55474" y="138104"/>
                  <a:pt x="60441" y="133137"/>
                  <a:pt x="66568" y="133137"/>
                </a:cubicBezTo>
                <a:lnTo>
                  <a:pt x="199705" y="133137"/>
                </a:lnTo>
                <a:cubicBezTo>
                  <a:pt x="205832" y="133137"/>
                  <a:pt x="210800" y="138104"/>
                  <a:pt x="210800" y="144231"/>
                </a:cubicBezTo>
                <a:lnTo>
                  <a:pt x="210800" y="177516"/>
                </a:lnTo>
                <a:moveTo>
                  <a:pt x="133137" y="133137"/>
                </a:moveTo>
                <a:lnTo>
                  <a:pt x="133137" y="88758"/>
                </a:lnTo>
              </a:path>
            </a:pathLst>
          </a:custGeom>
          <a:noFill/>
          <a:ln w="22189" cap="rnd">
            <a:solidFill>
              <a:srgbClr val="0A6648"/>
            </a:solidFill>
            <a:prstDash val="solid"/>
            <a:round/>
          </a:ln>
        </p:spPr>
      </p:sp>
      <p:sp>
        <p:nvSpPr>
          <p:cNvPr id="47"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Cómo se encuentran</a:t>
            </a:r>
            <a:endParaRPr lang="en-US" sz="1500" dirty="0"/>
          </a:p>
        </p:txBody>
      </p:sp>
      <p:sp>
        <p:nvSpPr>
          <p:cNvPr id="48" name="[p3] Forma"/>
          <p:cNvSpPr/>
          <p:nvPr/>
        </p:nvSpPr>
        <p:spPr>
          <a:xfrm>
            <a:off x="4140961" y="4913986"/>
            <a:ext cx="0" cy="473659"/>
          </a:xfrm>
          <a:prstGeom prst="line">
            <a:avLst/>
          </a:prstGeom>
          <a:noFill/>
          <a:ln w="9525">
            <a:solidFill>
              <a:srgbClr val="DFE6F0"/>
            </a:solidFill>
            <a:prstDash val="solid"/>
          </a:ln>
        </p:spPr>
      </p:sp>
      <p:sp>
        <p:nvSpPr>
          <p:cNvPr id="49"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Por nombre: la red de Compose o un Service de Kubernetes</a:t>
            </a:r>
            <a:endParaRPr lang="en-US" sz="1400" dirty="0"/>
          </a:p>
        </p:txBody>
      </p:sp>
      <p:sp>
        <p:nvSpPr>
          <p:cNvPr id="50" name="[p3] Forma"/>
          <p:cNvSpPr/>
          <p:nvPr/>
        </p:nvSpPr>
        <p:spPr>
          <a:xfrm>
            <a:off x="8114733" y="4913986"/>
            <a:ext cx="0" cy="473659"/>
          </a:xfrm>
          <a:prstGeom prst="line">
            <a:avLst/>
          </a:prstGeom>
          <a:noFill/>
          <a:ln w="9525">
            <a:solidFill>
              <a:srgbClr val="DFE6F0"/>
            </a:solidFill>
            <a:prstDash val="solid"/>
          </a:ln>
        </p:spPr>
      </p:sp>
      <p:sp>
        <p:nvSpPr>
          <p:cNvPr id="51"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Sin IPs fijas: funciona igual en cualquier ambiente</a:t>
            </a:r>
            <a:endParaRPr lang="en-US" sz="1400" dirty="0"/>
          </a:p>
        </p:txBody>
      </p:sp>
      <p:sp>
        <p:nvSpPr>
          <p:cNvPr id="52"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p4] Forma"/>
          <p:cNvSpPr/>
          <p:nvPr/>
        </p:nvSpPr>
        <p:spPr>
          <a:xfrm>
            <a:off x="612648" y="5716829"/>
            <a:ext cx="64008" cy="546811"/>
          </a:xfrm>
          <a:prstGeom prst="rect">
            <a:avLst/>
          </a:prstGeom>
          <a:solidFill>
            <a:srgbClr val="8A4B06"/>
          </a:solidFill>
          <a:ln w="12700">
            <a:solidFill>
              <a:srgbClr val="8A4B06"/>
            </a:solidFill>
            <a:prstDash val="solid"/>
          </a:ln>
        </p:spPr>
      </p:sp>
      <p:sp>
        <p:nvSpPr>
          <p:cNvPr id="54" name="[p4] Forma"/>
          <p:cNvSpPr/>
          <p:nvPr/>
        </p:nvSpPr>
        <p:spPr>
          <a:xfrm>
            <a:off x="772668" y="5734202"/>
            <a:ext cx="512064" cy="512064"/>
          </a:xfrm>
          <a:prstGeom prst="ellipse">
            <a:avLst/>
          </a:prstGeom>
          <a:solidFill>
            <a:srgbClr val="FCEFD6"/>
          </a:solidFill>
          <a:ln w="12700">
            <a:solidFill>
              <a:srgbClr val="FCEFD6"/>
            </a:solidFill>
            <a:prstDash val="solid"/>
          </a:ln>
        </p:spPr>
      </p:sp>
      <p:sp>
        <p:nvSpPr>
          <p:cNvPr id="55"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8A4B06"/>
            </a:solidFill>
            <a:prstDash val="solid"/>
            <a:round/>
          </a:ln>
        </p:spPr>
      </p:sp>
      <p:sp>
        <p:nvSpPr>
          <p:cNvPr id="56"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Seguimiento</a:t>
            </a:r>
            <a:endParaRPr lang="en-US" sz="1500" dirty="0"/>
          </a:p>
        </p:txBody>
      </p:sp>
      <p:sp>
        <p:nvSpPr>
          <p:cNvPr id="57" name="[p4] Forma"/>
          <p:cNvSpPr/>
          <p:nvPr/>
        </p:nvSpPr>
        <p:spPr>
          <a:xfrm>
            <a:off x="4140961" y="5753405"/>
            <a:ext cx="0" cy="473659"/>
          </a:xfrm>
          <a:prstGeom prst="line">
            <a:avLst/>
          </a:prstGeom>
          <a:noFill/>
          <a:ln w="9525">
            <a:solidFill>
              <a:srgbClr val="DFE6F0"/>
            </a:solidFill>
            <a:prstDash val="solid"/>
          </a:ln>
        </p:spPr>
      </p:sp>
      <p:sp>
        <p:nvSpPr>
          <p:cNvPr id="58"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traceId viaja en la cabecera de cada llamada HTTP</a:t>
            </a:r>
            <a:endParaRPr lang="en-US" sz="1400" dirty="0"/>
          </a:p>
        </p:txBody>
      </p:sp>
      <p:sp>
        <p:nvSpPr>
          <p:cNvPr id="59" name="[p4] Forma"/>
          <p:cNvSpPr/>
          <p:nvPr/>
        </p:nvSpPr>
        <p:spPr>
          <a:xfrm>
            <a:off x="8114733" y="5753405"/>
            <a:ext cx="0" cy="473659"/>
          </a:xfrm>
          <a:prstGeom prst="line">
            <a:avLst/>
          </a:prstGeom>
          <a:noFill/>
          <a:ln w="9525">
            <a:solidFill>
              <a:srgbClr val="DFE6F0"/>
            </a:solidFill>
            <a:prstDash val="solid"/>
          </a:ln>
        </p:spPr>
      </p:sp>
      <p:sp>
        <p:nvSpPr>
          <p:cNvPr id="60"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sola búsqueda en Grafana sigue todo el recorrido</a:t>
            </a:r>
            <a:endParaRPr lang="en-US" sz="1400" dirty="0"/>
          </a:p>
        </p:txBody>
      </p:sp>
      <p:sp>
        <p:nvSpPr>
          <p:cNvPr id="61" name="Text 5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6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4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4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4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400"/>
                                        <p:tgtEl>
                                          <p:spTgt spid="4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fade">
                                      <p:cBhvr>
                                        <p:cTn id="75" dur="400"/>
                                        <p:tgtEl>
                                          <p:spTgt spid="4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fade">
                                      <p:cBhvr>
                                        <p:cTn id="78" dur="400"/>
                                        <p:tgtEl>
                                          <p:spTgt spid="4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fade">
                                      <p:cBhvr>
                                        <p:cTn id="81" dur="400"/>
                                        <p:tgtEl>
                                          <p:spTgt spid="4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fade">
                                      <p:cBhvr>
                                        <p:cTn id="84" dur="400"/>
                                        <p:tgtEl>
                                          <p:spTgt spid="5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fade">
                                      <p:cBhvr>
                                        <p:cTn id="92" dur="400"/>
                                        <p:tgtEl>
                                          <p:spTgt spid="5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3"/>
                                        </p:tgtEl>
                                        <p:attrNameLst>
                                          <p:attrName>style.visibility</p:attrName>
                                        </p:attrNameLst>
                                      </p:cBhvr>
                                      <p:to>
                                        <p:strVal val="visible"/>
                                      </p:to>
                                    </p:set>
                                    <p:animEffect transition="in" filter="fade">
                                      <p:cBhvr>
                                        <p:cTn id="95" dur="400"/>
                                        <p:tgtEl>
                                          <p:spTgt spid="5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fade">
                                      <p:cBhvr>
                                        <p:cTn id="98" dur="400"/>
                                        <p:tgtEl>
                                          <p:spTgt spid="5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5"/>
                                        </p:tgtEl>
                                        <p:attrNameLst>
                                          <p:attrName>style.visibility</p:attrName>
                                        </p:attrNameLst>
                                      </p:cBhvr>
                                      <p:to>
                                        <p:strVal val="visible"/>
                                      </p:to>
                                    </p:set>
                                    <p:animEffect transition="in" filter="fade">
                                      <p:cBhvr>
                                        <p:cTn id="101" dur="400"/>
                                        <p:tgtEl>
                                          <p:spTgt spid="5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fade">
                                      <p:cBhvr>
                                        <p:cTn id="104" dur="400"/>
                                        <p:tgtEl>
                                          <p:spTgt spid="5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7"/>
                                        </p:tgtEl>
                                        <p:attrNameLst>
                                          <p:attrName>style.visibility</p:attrName>
                                        </p:attrNameLst>
                                      </p:cBhvr>
                                      <p:to>
                                        <p:strVal val="visible"/>
                                      </p:to>
                                    </p:set>
                                    <p:animEffect transition="in" filter="fade">
                                      <p:cBhvr>
                                        <p:cTn id="107" dur="400"/>
                                        <p:tgtEl>
                                          <p:spTgt spid="5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8"/>
                                        </p:tgtEl>
                                        <p:attrNameLst>
                                          <p:attrName>style.visibility</p:attrName>
                                        </p:attrNameLst>
                                      </p:cBhvr>
                                      <p:to>
                                        <p:strVal val="visible"/>
                                      </p:to>
                                    </p:set>
                                    <p:animEffect transition="in" filter="fade">
                                      <p:cBhvr>
                                        <p:cTn id="110" dur="400"/>
                                        <p:tgtEl>
                                          <p:spTgt spid="5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4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fade">
                                      <p:cBhvr>
                                        <p:cTn id="116"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Síncrono o asíncrono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Lo que la persona necesita ver se responde ya; lo que puede esperar se avisa después.</a:t>
            </a:r>
            <a:endParaRPr lang="en-US" sz="170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message-square"/>
          <p:cNvSpPr/>
          <p:nvPr/>
        </p:nvSpPr>
        <p:spPr>
          <a:xfrm>
            <a:off x="900867" y="5911779"/>
            <a:ext cx="228234" cy="228234"/>
          </a:xfrm>
          <a:custGeom>
            <a:avLst/>
            <a:gdLst/>
            <a:ahLst/>
            <a:cxnLst/>
            <a:rect l="l" t="t" r="r" b="b"/>
            <a:pathLst>
              <a:path w="228234" h="228234">
                <a:moveTo>
                  <a:pt x="199705" y="142646"/>
                </a:moveTo>
                <a:cubicBezTo>
                  <a:pt x="199705" y="153151"/>
                  <a:pt x="191190" y="161666"/>
                  <a:pt x="180685" y="161666"/>
                </a:cubicBezTo>
                <a:lnTo>
                  <a:pt x="66568" y="161666"/>
                </a:lnTo>
                <a:lnTo>
                  <a:pt x="28529" y="199705"/>
                </a:lnTo>
                <a:lnTo>
                  <a:pt x="28529" y="47549"/>
                </a:lnTo>
                <a:cubicBezTo>
                  <a:pt x="28529" y="37045"/>
                  <a:pt x="37045" y="28529"/>
                  <a:pt x="47549" y="28529"/>
                </a:cubicBezTo>
                <a:lnTo>
                  <a:pt x="180685" y="28529"/>
                </a:lnTo>
                <a:cubicBezTo>
                  <a:pt x="191190" y="28529"/>
                  <a:pt x="199705" y="37045"/>
                  <a:pt x="199705" y="47549"/>
                </a:cubicBezTo>
                <a:close/>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Síncrono es una llamada: me quedo en la línea hasta que me responden. Asíncrono es un correo: lo envío y sigo con lo mío.</a:t>
            </a:r>
            <a:endParaRPr lang="en-US" sz="1450" dirty="0"/>
          </a:p>
        </p:txBody>
      </p:sp>
      <p:sp>
        <p:nvSpPr>
          <p:cNvPr id="16" name="Shape 14"/>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612648" y="1719072"/>
            <a:ext cx="5163160" cy="914400"/>
          </a:xfrm>
          <a:prstGeom prst="roundRect">
            <a:avLst>
              <a:gd name="adj" fmla="val 14000"/>
            </a:avLst>
          </a:prstGeom>
          <a:solidFill>
            <a:srgbClr val="0B2350"/>
          </a:solidFill>
          <a:ln w="12700">
            <a:solidFill>
              <a:srgbClr val="0B2350"/>
            </a:solidFill>
            <a:prstDash val="solid"/>
          </a:ln>
        </p:spPr>
      </p:sp>
      <p:sp>
        <p:nvSpPr>
          <p:cNvPr id="18" name="Shape 16"/>
          <p:cNvSpPr/>
          <p:nvPr/>
        </p:nvSpPr>
        <p:spPr>
          <a:xfrm>
            <a:off x="612648" y="2267712"/>
            <a:ext cx="5163160" cy="365760"/>
          </a:xfrm>
          <a:prstGeom prst="rect">
            <a:avLst/>
          </a:prstGeom>
          <a:solidFill>
            <a:srgbClr val="0B2350"/>
          </a:solidFill>
          <a:ln w="12700">
            <a:solidFill>
              <a:srgbClr val="0B2350"/>
            </a:solidFill>
            <a:prstDash val="solid"/>
          </a:ln>
        </p:spPr>
      </p:sp>
      <p:sp>
        <p:nvSpPr>
          <p:cNvPr id="19" name="Shape 17"/>
          <p:cNvSpPr/>
          <p:nvPr/>
        </p:nvSpPr>
        <p:spPr>
          <a:xfrm>
            <a:off x="841248" y="1874520"/>
            <a:ext cx="603504" cy="603504"/>
          </a:xfrm>
          <a:prstGeom prst="ellipse">
            <a:avLst/>
          </a:prstGeom>
          <a:solidFill>
            <a:srgbClr val="FFFFFF"/>
          </a:solidFill>
          <a:ln w="12700">
            <a:solidFill>
              <a:srgbClr val="FFFFFF"/>
            </a:solidFill>
            <a:prstDash val="solid"/>
          </a:ln>
        </p:spPr>
      </p:sp>
      <p:sp>
        <p:nvSpPr>
          <p:cNvPr id="20" name="Icono arrow-right"/>
          <p:cNvSpPr/>
          <p:nvPr/>
        </p:nvSpPr>
        <p:spPr>
          <a:xfrm>
            <a:off x="986089" y="2019361"/>
            <a:ext cx="313822" cy="313822"/>
          </a:xfrm>
          <a:custGeom>
            <a:avLst/>
            <a:gdLst/>
            <a:ahLst/>
            <a:cxnLst/>
            <a:rect l="l" t="t" r="r" b="b"/>
            <a:pathLst>
              <a:path w="313822" h="313822">
                <a:moveTo>
                  <a:pt x="65380" y="156911"/>
                </a:moveTo>
                <a:lnTo>
                  <a:pt x="248442" y="156911"/>
                </a:lnTo>
                <a:moveTo>
                  <a:pt x="156911" y="65380"/>
                </a:moveTo>
                <a:lnTo>
                  <a:pt x="248442" y="156911"/>
                </a:lnTo>
                <a:lnTo>
                  <a:pt x="156911" y="248442"/>
                </a:lnTo>
              </a:path>
            </a:pathLst>
          </a:custGeom>
          <a:noFill/>
          <a:ln w="26152" cap="rnd">
            <a:solidFill>
              <a:srgbClr val="0B2350"/>
            </a:solidFill>
            <a:prstDash val="solid"/>
            <a:round/>
          </a:ln>
        </p:spPr>
      </p:sp>
      <p:sp>
        <p:nvSpPr>
          <p:cNvPr id="21" name="Text 19"/>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Síncrono</a:t>
            </a:r>
            <a:endParaRPr lang="en-US" sz="1900" dirty="0"/>
          </a:p>
        </p:txBody>
      </p:sp>
      <p:sp>
        <p:nvSpPr>
          <p:cNvPr id="22" name="Icono arrow-right"/>
          <p:cNvSpPr/>
          <p:nvPr/>
        </p:nvSpPr>
        <p:spPr>
          <a:xfrm>
            <a:off x="905256" y="304038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3" name="Text 21"/>
          <p:cNvSpPr/>
          <p:nvPr/>
        </p:nvSpPr>
        <p:spPr>
          <a:xfrm>
            <a:off x="139903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La UI llama y espera que se complete el proceso.</a:t>
            </a:r>
            <a:endParaRPr lang="en-US" sz="1500" dirty="0"/>
          </a:p>
        </p:txBody>
      </p:sp>
      <p:sp>
        <p:nvSpPr>
          <p:cNvPr id="24" name="Shape 22"/>
          <p:cNvSpPr/>
          <p:nvPr/>
        </p:nvSpPr>
        <p:spPr>
          <a:xfrm>
            <a:off x="886968" y="3593592"/>
            <a:ext cx="4614520" cy="0"/>
          </a:xfrm>
          <a:prstGeom prst="line">
            <a:avLst/>
          </a:prstGeom>
          <a:noFill/>
          <a:ln w="9525">
            <a:solidFill>
              <a:srgbClr val="DFE6F0"/>
            </a:solidFill>
            <a:prstDash val="solid"/>
          </a:ln>
        </p:spPr>
      </p:sp>
      <p:sp>
        <p:nvSpPr>
          <p:cNvPr id="25" name="Icono arrow-right"/>
          <p:cNvSpPr/>
          <p:nvPr/>
        </p:nvSpPr>
        <p:spPr>
          <a:xfrm>
            <a:off x="905256" y="381762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6" name="Text 24"/>
          <p:cNvSpPr/>
          <p:nvPr/>
        </p:nvSpPr>
        <p:spPr>
          <a:xfrm>
            <a:off x="139903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inmediata</a:t>
            </a:r>
            <a:endParaRPr lang="en-US" sz="1500" dirty="0"/>
          </a:p>
        </p:txBody>
      </p:sp>
      <p:sp>
        <p:nvSpPr>
          <p:cNvPr id="27" name="Shape 25"/>
          <p:cNvSpPr/>
          <p:nvPr/>
        </p:nvSpPr>
        <p:spPr>
          <a:xfrm>
            <a:off x="886968" y="4370832"/>
            <a:ext cx="4614520" cy="0"/>
          </a:xfrm>
          <a:prstGeom prst="line">
            <a:avLst/>
          </a:prstGeom>
          <a:noFill/>
          <a:ln w="9525">
            <a:solidFill>
              <a:srgbClr val="DFE6F0"/>
            </a:solidFill>
            <a:prstDash val="solid"/>
          </a:ln>
        </p:spPr>
      </p:sp>
      <p:sp>
        <p:nvSpPr>
          <p:cNvPr id="28" name="Icono arrow-right"/>
          <p:cNvSpPr/>
          <p:nvPr/>
        </p:nvSpPr>
        <p:spPr>
          <a:xfrm>
            <a:off x="905256" y="4594860"/>
            <a:ext cx="329184" cy="329184"/>
          </a:xfrm>
          <a:custGeom>
            <a:avLst/>
            <a:gdLst/>
            <a:ahLst/>
            <a:cxnLst/>
            <a:rect l="l" t="t" r="r" b="b"/>
            <a:pathLst>
              <a:path w="329184" h="329184">
                <a:moveTo>
                  <a:pt x="68580" y="164592"/>
                </a:moveTo>
                <a:lnTo>
                  <a:pt x="260604" y="164592"/>
                </a:lnTo>
                <a:moveTo>
                  <a:pt x="164592" y="68580"/>
                </a:moveTo>
                <a:lnTo>
                  <a:pt x="260604" y="164592"/>
                </a:lnTo>
                <a:lnTo>
                  <a:pt x="164592" y="260604"/>
                </a:lnTo>
              </a:path>
            </a:pathLst>
          </a:custGeom>
          <a:noFill/>
          <a:ln w="27432" cap="rnd">
            <a:solidFill>
              <a:srgbClr val="0B2350"/>
            </a:solidFill>
            <a:prstDash val="solid"/>
            <a:round/>
          </a:ln>
        </p:spPr>
      </p:sp>
      <p:sp>
        <p:nvSpPr>
          <p:cNvPr id="29" name="Text 27"/>
          <p:cNvSpPr/>
          <p:nvPr/>
        </p:nvSpPr>
        <p:spPr>
          <a:xfrm>
            <a:off x="139903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el servicio se cae, la persona ve error</a:t>
            </a:r>
            <a:endParaRPr lang="en-US" sz="1500" dirty="0"/>
          </a:p>
        </p:txBody>
      </p:sp>
      <p:sp>
        <p:nvSpPr>
          <p:cNvPr id="30"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1" name="[p1] Forma"/>
          <p:cNvSpPr/>
          <p:nvPr/>
        </p:nvSpPr>
        <p:spPr>
          <a:xfrm>
            <a:off x="6415888" y="1719072"/>
            <a:ext cx="5163160" cy="914400"/>
          </a:xfrm>
          <a:prstGeom prst="roundRect">
            <a:avLst>
              <a:gd name="adj" fmla="val 14000"/>
            </a:avLst>
          </a:prstGeom>
          <a:solidFill>
            <a:srgbClr val="0B6E8A"/>
          </a:solidFill>
          <a:ln w="12700">
            <a:solidFill>
              <a:srgbClr val="0B6E8A"/>
            </a:solidFill>
            <a:prstDash val="solid"/>
          </a:ln>
        </p:spPr>
      </p:sp>
      <p:sp>
        <p:nvSpPr>
          <p:cNvPr id="32" name="[p1] Forma"/>
          <p:cNvSpPr/>
          <p:nvPr/>
        </p:nvSpPr>
        <p:spPr>
          <a:xfrm>
            <a:off x="6415888" y="2267712"/>
            <a:ext cx="5163160" cy="365760"/>
          </a:xfrm>
          <a:prstGeom prst="rect">
            <a:avLst/>
          </a:prstGeom>
          <a:solidFill>
            <a:srgbClr val="0B6E8A"/>
          </a:solidFill>
          <a:ln w="12700">
            <a:solidFill>
              <a:srgbClr val="0B6E8A"/>
            </a:solidFill>
            <a:prstDash val="solid"/>
          </a:ln>
        </p:spPr>
      </p:sp>
      <p:sp>
        <p:nvSpPr>
          <p:cNvPr id="33"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4" name="[p1] Icono mail"/>
          <p:cNvSpPr/>
          <p:nvPr/>
        </p:nvSpPr>
        <p:spPr>
          <a:xfrm>
            <a:off x="6789329" y="2019361"/>
            <a:ext cx="313822" cy="313822"/>
          </a:xfrm>
          <a:custGeom>
            <a:avLst/>
            <a:gdLst/>
            <a:ahLst/>
            <a:cxnLst/>
            <a:rect l="l" t="t" r="r" b="b"/>
            <a:pathLst>
              <a:path w="313822" h="313822">
                <a:moveTo>
                  <a:pt x="52304" y="52304"/>
                </a:moveTo>
                <a:lnTo>
                  <a:pt x="261518" y="52304"/>
                </a:lnTo>
                <a:cubicBezTo>
                  <a:pt x="275962" y="52304"/>
                  <a:pt x="287670" y="64012"/>
                  <a:pt x="287670" y="78456"/>
                </a:cubicBezTo>
                <a:lnTo>
                  <a:pt x="287670" y="235367"/>
                </a:lnTo>
                <a:cubicBezTo>
                  <a:pt x="287670" y="249810"/>
                  <a:pt x="275962" y="261518"/>
                  <a:pt x="261518" y="261518"/>
                </a:cubicBezTo>
                <a:lnTo>
                  <a:pt x="52304" y="261518"/>
                </a:lnTo>
                <a:cubicBezTo>
                  <a:pt x="37860" y="261518"/>
                  <a:pt x="26152" y="249810"/>
                  <a:pt x="26152" y="235367"/>
                </a:cubicBezTo>
                <a:lnTo>
                  <a:pt x="26152" y="78456"/>
                </a:lnTo>
                <a:cubicBezTo>
                  <a:pt x="26152" y="64012"/>
                  <a:pt x="37860" y="52304"/>
                  <a:pt x="52304" y="52304"/>
                </a:cubicBezTo>
                <a:close/>
                <a:moveTo>
                  <a:pt x="287670" y="91531"/>
                </a:moveTo>
                <a:lnTo>
                  <a:pt x="170379" y="166064"/>
                </a:lnTo>
                <a:cubicBezTo>
                  <a:pt x="162142" y="171225"/>
                  <a:pt x="151680" y="171225"/>
                  <a:pt x="143443" y="166064"/>
                </a:cubicBezTo>
                <a:lnTo>
                  <a:pt x="26152" y="91531"/>
                </a:lnTo>
              </a:path>
            </a:pathLst>
          </a:custGeom>
          <a:noFill/>
          <a:ln w="26152" cap="rnd">
            <a:solidFill>
              <a:srgbClr val="0B6E8A"/>
            </a:solidFill>
            <a:prstDash val="solid"/>
            <a:round/>
          </a:ln>
        </p:spPr>
      </p:sp>
      <p:sp>
        <p:nvSpPr>
          <p:cNvPr id="35"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Asíncrono</a:t>
            </a:r>
            <a:endParaRPr lang="en-US" sz="1900" dirty="0"/>
          </a:p>
        </p:txBody>
      </p:sp>
      <p:sp>
        <p:nvSpPr>
          <p:cNvPr id="36" name="[p1] Icono circle-check"/>
          <p:cNvSpPr/>
          <p:nvPr/>
        </p:nvSpPr>
        <p:spPr>
          <a:xfrm>
            <a:off x="6708496" y="304038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7" name="[p1] Forma"/>
          <p:cNvSpPr/>
          <p:nvPr/>
        </p:nvSpPr>
        <p:spPr>
          <a:xfrm>
            <a:off x="7202272" y="281635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Servicio solicitudes envía evento a servicio notificaciones y continúa con su proceso</a:t>
            </a:r>
            <a:endParaRPr lang="en-US" sz="1500" dirty="0"/>
          </a:p>
        </p:txBody>
      </p:sp>
      <p:sp>
        <p:nvSpPr>
          <p:cNvPr id="38" name="[p1] Forma"/>
          <p:cNvSpPr/>
          <p:nvPr/>
        </p:nvSpPr>
        <p:spPr>
          <a:xfrm>
            <a:off x="6690208" y="3593592"/>
            <a:ext cx="4614520" cy="0"/>
          </a:xfrm>
          <a:prstGeom prst="line">
            <a:avLst/>
          </a:prstGeom>
          <a:noFill/>
          <a:ln w="9525">
            <a:solidFill>
              <a:srgbClr val="DFE6F0"/>
            </a:solidFill>
            <a:prstDash val="solid"/>
          </a:ln>
        </p:spPr>
      </p:sp>
      <p:sp>
        <p:nvSpPr>
          <p:cNvPr id="39" name="[p1] Icono circle-check"/>
          <p:cNvSpPr/>
          <p:nvPr/>
        </p:nvSpPr>
        <p:spPr>
          <a:xfrm>
            <a:off x="6708496" y="381762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0" name="[p1] Forma"/>
          <p:cNvSpPr/>
          <p:nvPr/>
        </p:nvSpPr>
        <p:spPr>
          <a:xfrm>
            <a:off x="7202272" y="359359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Respuesta puede demorar</a:t>
            </a:r>
            <a:endParaRPr lang="en-US" sz="1500" dirty="0"/>
          </a:p>
        </p:txBody>
      </p:sp>
      <p:sp>
        <p:nvSpPr>
          <p:cNvPr id="41" name="[p1] Forma"/>
          <p:cNvSpPr/>
          <p:nvPr/>
        </p:nvSpPr>
        <p:spPr>
          <a:xfrm>
            <a:off x="6690208" y="4370832"/>
            <a:ext cx="4614520" cy="0"/>
          </a:xfrm>
          <a:prstGeom prst="line">
            <a:avLst/>
          </a:prstGeom>
          <a:noFill/>
          <a:ln w="9525">
            <a:solidFill>
              <a:srgbClr val="DFE6F0"/>
            </a:solidFill>
            <a:prstDash val="solid"/>
          </a:ln>
        </p:spPr>
      </p:sp>
      <p:sp>
        <p:nvSpPr>
          <p:cNvPr id="42" name="[p1] Icono circle-check"/>
          <p:cNvSpPr/>
          <p:nvPr/>
        </p:nvSpPr>
        <p:spPr>
          <a:xfrm>
            <a:off x="6708496" y="459486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43" name="[p1] Forma"/>
          <p:cNvSpPr/>
          <p:nvPr/>
        </p:nvSpPr>
        <p:spPr>
          <a:xfrm>
            <a:off x="7202272" y="4370832"/>
            <a:ext cx="4157320" cy="7772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notificaciones se cae, el evento espera</a:t>
            </a:r>
            <a:endParaRPr lang="en-US" sz="1500" dirty="0"/>
          </a:p>
        </p:txBody>
      </p:sp>
      <p:sp>
        <p:nvSpPr>
          <p:cNvPr id="44" name="[p1] Forma"/>
          <p:cNvSpPr/>
          <p:nvPr/>
        </p:nvSpPr>
        <p:spPr>
          <a:xfrm>
            <a:off x="5766664" y="3287268"/>
            <a:ext cx="658368" cy="658368"/>
          </a:xfrm>
          <a:prstGeom prst="ellipse">
            <a:avLst/>
          </a:prstGeom>
          <a:solidFill>
            <a:srgbClr val="0B1F3A"/>
          </a:solidFill>
          <a:ln w="38100">
            <a:solidFill>
              <a:srgbClr val="FFFFFF"/>
            </a:solidFill>
          </a:ln>
          <a:effectLst>
            <a:outerShdw sx="100000" sy="100000" kx="0" ky="0" algn="bl" rotWithShape="0" blurRad="76200" dist="19050" dir="5400000">
              <a:srgbClr val="0B1F3A">
                <a:alpha val="14000"/>
              </a:srgbClr>
            </a:outerShdw>
          </a:effectLst>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vs</a:t>
            </a:r>
            <a:endParaRPr lang="en-US" sz="16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4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0"/>
                                        </p:tgtEl>
                                        <p:attrNameLst>
                                          <p:attrName>style.visibility</p:attrName>
                                        </p:attrNameLst>
                                      </p:cBhvr>
                                      <p:to>
                                        <p:strVal val="visible"/>
                                      </p:to>
                                    </p:set>
                                    <p:animEffect transition="in" filter="fade">
                                      <p:cBhvr>
                                        <p:cTn id="5" dur="400"/>
                                        <p:tgtEl>
                                          <p:spTgt spid="3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1"/>
                                        </p:tgtEl>
                                        <p:attrNameLst>
                                          <p:attrName>style.visibility</p:attrName>
                                        </p:attrNameLst>
                                      </p:cBhvr>
                                      <p:to>
                                        <p:strVal val="visible"/>
                                      </p:to>
                                    </p:set>
                                    <p:animEffect transition="in" filter="fade">
                                      <p:cBhvr>
                                        <p:cTn id="8" dur="400"/>
                                        <p:tgtEl>
                                          <p:spTgt spid="3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400"/>
                                        <p:tgtEl>
                                          <p:spTgt spid="3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fade">
                                      <p:cBhvr>
                                        <p:cTn id="14" dur="400"/>
                                        <p:tgtEl>
                                          <p:spTgt spid="3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400"/>
                                        <p:tgtEl>
                                          <p:spTgt spid="3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400"/>
                                        <p:tgtEl>
                                          <p:spTgt spid="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400"/>
                                        <p:tgtEl>
                                          <p:spTgt spid="3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400"/>
                                        <p:tgtEl>
                                          <p:spTgt spid="3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400"/>
                                        <p:tgtEl>
                                          <p:spTgt spid="3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4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400"/>
                                        <p:tgtEl>
                                          <p:spTgt spid="4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400"/>
                                        <p:tgtEl>
                                          <p:spTgt spid="4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fade">
                                      <p:cBhvr>
                                        <p:cTn id="44" dur="400"/>
                                        <p:tgtEl>
                                          <p:spTgt spid="4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Patrón Outbox: guardar primero, avisar después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La solicitud y su evento se guardan en la misma transacción; el relevador avisa después.</a:t>
            </a:r>
            <a:endParaRPr lang="en-US" sz="1700" dirty="0"/>
          </a:p>
        </p:txBody>
      </p:sp>
      <p:sp>
        <p:nvSpPr>
          <p:cNvPr id="12" name="Shape 10"/>
          <p:cNvSpPr/>
          <p:nvPr/>
        </p:nvSpPr>
        <p:spPr>
          <a:xfrm>
            <a:off x="612648" y="5175504"/>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285232"/>
            <a:ext cx="438912" cy="438912"/>
          </a:xfrm>
          <a:prstGeom prst="ellipse">
            <a:avLst/>
          </a:prstGeom>
          <a:solidFill>
            <a:srgbClr val="FFFFFF"/>
          </a:solidFill>
          <a:ln w="12700">
            <a:solidFill>
              <a:srgbClr val="FFFFFF"/>
            </a:solidFill>
            <a:prstDash val="solid"/>
          </a:ln>
        </p:spPr>
      </p:sp>
      <p:sp>
        <p:nvSpPr>
          <p:cNvPr id="14" name="Icono mail"/>
          <p:cNvSpPr/>
          <p:nvPr/>
        </p:nvSpPr>
        <p:spPr>
          <a:xfrm>
            <a:off x="900867" y="5390571"/>
            <a:ext cx="228234" cy="228234"/>
          </a:xfrm>
          <a:custGeom>
            <a:avLst/>
            <a:gdLst/>
            <a:ahLst/>
            <a:cxnLst/>
            <a:rect l="l" t="t" r="r" b="b"/>
            <a:pathLst>
              <a:path w="228234" h="228234">
                <a:moveTo>
                  <a:pt x="38039" y="38039"/>
                </a:moveTo>
                <a:lnTo>
                  <a:pt x="190195" y="38039"/>
                </a:lnTo>
                <a:cubicBezTo>
                  <a:pt x="200699" y="38039"/>
                  <a:pt x="209215" y="46554"/>
                  <a:pt x="209215" y="57059"/>
                </a:cubicBezTo>
                <a:lnTo>
                  <a:pt x="209215" y="171176"/>
                </a:lnTo>
                <a:cubicBezTo>
                  <a:pt x="209215" y="181680"/>
                  <a:pt x="200699" y="190195"/>
                  <a:pt x="190195" y="190195"/>
                </a:cubicBezTo>
                <a:lnTo>
                  <a:pt x="38039" y="190195"/>
                </a:lnTo>
                <a:cubicBezTo>
                  <a:pt x="27535" y="190195"/>
                  <a:pt x="19020" y="181680"/>
                  <a:pt x="19020" y="171176"/>
                </a:cubicBezTo>
                <a:lnTo>
                  <a:pt x="19020" y="57059"/>
                </a:lnTo>
                <a:cubicBezTo>
                  <a:pt x="19020" y="46554"/>
                  <a:pt x="27535" y="38039"/>
                  <a:pt x="38039" y="38039"/>
                </a:cubicBezTo>
                <a:close/>
                <a:moveTo>
                  <a:pt x="209215" y="66568"/>
                </a:moveTo>
                <a:lnTo>
                  <a:pt x="123912" y="120774"/>
                </a:lnTo>
                <a:cubicBezTo>
                  <a:pt x="117921" y="124527"/>
                  <a:pt x="110313" y="124527"/>
                  <a:pt x="104322" y="120774"/>
                </a:cubicBezTo>
                <a:lnTo>
                  <a:pt x="19020" y="66568"/>
                </a:lnTo>
              </a:path>
            </a:pathLst>
          </a:custGeom>
          <a:noFill/>
          <a:ln w="19020" cap="rnd">
            <a:solidFill>
              <a:srgbClr val="0B6E8A"/>
            </a:solidFill>
            <a:prstDash val="solid"/>
            <a:round/>
          </a:ln>
        </p:spPr>
      </p:sp>
      <p:sp>
        <p:nvSpPr>
          <p:cNvPr id="15" name="Text 13"/>
          <p:cNvSpPr/>
          <p:nvPr/>
        </p:nvSpPr>
        <p:spPr>
          <a:xfrm>
            <a:off x="1399032" y="5248656"/>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dejar una carta en la bandeja de salida: aunque el mensajero no pase hoy, la carta no se pierde.</a:t>
            </a:r>
            <a:endParaRPr lang="en-US" sz="1450" dirty="0"/>
          </a:p>
        </p:txBody>
      </p:sp>
      <p:sp>
        <p:nvSpPr>
          <p:cNvPr id="16" name="Shape 14"/>
          <p:cNvSpPr/>
          <p:nvPr/>
        </p:nvSpPr>
        <p:spPr>
          <a:xfrm>
            <a:off x="16268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send"/>
          <p:cNvSpPr/>
          <p:nvPr/>
        </p:nvSpPr>
        <p:spPr>
          <a:xfrm>
            <a:off x="1790875" y="1992843"/>
            <a:ext cx="385145" cy="385145"/>
          </a:xfrm>
          <a:custGeom>
            <a:avLst/>
            <a:gdLst/>
            <a:ahLst/>
            <a:cxnLst/>
            <a:rect l="l" t="t" r="r" b="b"/>
            <a:pathLst>
              <a:path w="385145" h="385145">
                <a:moveTo>
                  <a:pt x="233270" y="348011"/>
                </a:moveTo>
                <a:cubicBezTo>
                  <a:pt x="234518" y="351123"/>
                  <a:pt x="237570" y="353130"/>
                  <a:pt x="240922" y="353044"/>
                </a:cubicBezTo>
                <a:cubicBezTo>
                  <a:pt x="244274" y="352958"/>
                  <a:pt x="247219" y="350797"/>
                  <a:pt x="248306" y="347626"/>
                </a:cubicBezTo>
                <a:lnTo>
                  <a:pt x="352617" y="42719"/>
                </a:lnTo>
                <a:cubicBezTo>
                  <a:pt x="353665" y="39816"/>
                  <a:pt x="352941" y="36569"/>
                  <a:pt x="350759" y="34387"/>
                </a:cubicBezTo>
                <a:cubicBezTo>
                  <a:pt x="348576" y="32204"/>
                  <a:pt x="345329" y="31480"/>
                  <a:pt x="342426" y="32529"/>
                </a:cubicBezTo>
                <a:lnTo>
                  <a:pt x="37520" y="136839"/>
                </a:lnTo>
                <a:cubicBezTo>
                  <a:pt x="34348" y="137927"/>
                  <a:pt x="32187" y="140872"/>
                  <a:pt x="32101" y="144223"/>
                </a:cubicBezTo>
                <a:cubicBezTo>
                  <a:pt x="32015" y="147575"/>
                  <a:pt x="34023" y="150627"/>
                  <a:pt x="37134" y="151876"/>
                </a:cubicBezTo>
                <a:lnTo>
                  <a:pt x="164393" y="202907"/>
                </a:lnTo>
                <a:cubicBezTo>
                  <a:pt x="172522" y="206162"/>
                  <a:pt x="178969" y="212597"/>
                  <a:pt x="182238" y="220720"/>
                </a:cubicBezTo>
                <a:close/>
                <a:moveTo>
                  <a:pt x="350707" y="34454"/>
                </a:moveTo>
                <a:lnTo>
                  <a:pt x="175145" y="210000"/>
                </a:lnTo>
              </a:path>
            </a:pathLst>
          </a:custGeom>
          <a:noFill/>
          <a:ln w="28084" cap="rnd">
            <a:solidFill>
              <a:srgbClr val="0B2350"/>
            </a:solidFill>
            <a:prstDash val="solid"/>
            <a:round/>
          </a:ln>
        </p:spPr>
      </p:sp>
      <p:sp>
        <p:nvSpPr>
          <p:cNvPr id="18" name="Text 16"/>
          <p:cNvSpPr/>
          <p:nvPr/>
        </p:nvSpPr>
        <p:spPr>
          <a:xfrm>
            <a:off x="15902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9" name="Text 17"/>
          <p:cNvSpPr/>
          <p:nvPr/>
        </p:nvSpPr>
        <p:spPr>
          <a:xfrm>
            <a:off x="6583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Enviar</a:t>
            </a:r>
            <a:endParaRPr lang="en-US" sz="1800" dirty="0"/>
          </a:p>
        </p:txBody>
      </p:sp>
      <p:sp>
        <p:nvSpPr>
          <p:cNvPr id="20" name="Text 18"/>
          <p:cNvSpPr/>
          <p:nvPr/>
        </p:nvSpPr>
        <p:spPr>
          <a:xfrm>
            <a:off x="7223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Solicitud ENVIADA + evento pendiente, en una transacción.</a:t>
            </a:r>
            <a:endParaRPr lang="en-US" sz="1400" dirty="0"/>
          </a:p>
        </p:txBody>
      </p:sp>
      <p:sp>
        <p:nvSpPr>
          <p:cNvPr id="21" name="[p1] Forma"/>
          <p:cNvSpPr/>
          <p:nvPr/>
        </p:nvSpPr>
        <p:spPr>
          <a:xfrm>
            <a:off x="2431504" y="2185416"/>
            <a:ext cx="1845488" cy="0"/>
          </a:xfrm>
          <a:prstGeom prst="line">
            <a:avLst/>
          </a:prstGeom>
          <a:noFill/>
          <a:ln w="38100">
            <a:solidFill>
              <a:srgbClr val="2BA6CB"/>
            </a:solidFill>
            <a:prstDash val="solid"/>
            <a:tailEnd type="triangle"/>
          </a:ln>
        </p:spPr>
      </p:sp>
      <p:sp>
        <p:nvSpPr>
          <p:cNvPr id="22" name="[p1] Forma"/>
          <p:cNvSpPr/>
          <p:nvPr/>
        </p:nvSpPr>
        <p:spPr>
          <a:xfrm>
            <a:off x="4368432" y="1828800"/>
            <a:ext cx="713232" cy="713232"/>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3" name="[p1] Icono inbox"/>
          <p:cNvSpPr/>
          <p:nvPr/>
        </p:nvSpPr>
        <p:spPr>
          <a:xfrm>
            <a:off x="4532475" y="1992843"/>
            <a:ext cx="385145" cy="385145"/>
          </a:xfrm>
          <a:custGeom>
            <a:avLst/>
            <a:gdLst/>
            <a:ahLst/>
            <a:cxnLst/>
            <a:rect l="l" t="t" r="r" b="b"/>
            <a:pathLst>
              <a:path w="385145" h="385145">
                <a:moveTo>
                  <a:pt x="353050" y="192573"/>
                </a:moveTo>
                <a:lnTo>
                  <a:pt x="256764" y="192573"/>
                </a:lnTo>
                <a:lnTo>
                  <a:pt x="224668" y="240716"/>
                </a:lnTo>
                <a:lnTo>
                  <a:pt x="160477" y="240716"/>
                </a:lnTo>
                <a:lnTo>
                  <a:pt x="128382" y="192573"/>
                </a:lnTo>
                <a:lnTo>
                  <a:pt x="32095" y="192573"/>
                </a:lnTo>
                <a:moveTo>
                  <a:pt x="87460" y="82004"/>
                </a:moveTo>
                <a:lnTo>
                  <a:pt x="32095" y="192573"/>
                </a:lnTo>
                <a:lnTo>
                  <a:pt x="32095" y="288859"/>
                </a:lnTo>
                <a:cubicBezTo>
                  <a:pt x="32095" y="306585"/>
                  <a:pt x="46465" y="320954"/>
                  <a:pt x="64191" y="320954"/>
                </a:cubicBezTo>
                <a:lnTo>
                  <a:pt x="320954" y="320954"/>
                </a:lnTo>
                <a:cubicBezTo>
                  <a:pt x="338680" y="320954"/>
                  <a:pt x="353050" y="306585"/>
                  <a:pt x="353050" y="288859"/>
                </a:cubicBezTo>
                <a:lnTo>
                  <a:pt x="353050" y="192573"/>
                </a:lnTo>
                <a:lnTo>
                  <a:pt x="297685" y="82004"/>
                </a:lnTo>
                <a:cubicBezTo>
                  <a:pt x="292265" y="71097"/>
                  <a:pt x="281139" y="64197"/>
                  <a:pt x="268960" y="64191"/>
                </a:cubicBezTo>
                <a:lnTo>
                  <a:pt x="116185" y="64191"/>
                </a:lnTo>
                <a:cubicBezTo>
                  <a:pt x="104006" y="64197"/>
                  <a:pt x="92880" y="71097"/>
                  <a:pt x="87460" y="82004"/>
                </a:cubicBezTo>
                <a:close/>
              </a:path>
            </a:pathLst>
          </a:custGeom>
          <a:noFill/>
          <a:ln w="28084" cap="rnd">
            <a:solidFill>
              <a:srgbClr val="0B2350"/>
            </a:solidFill>
            <a:prstDash val="solid"/>
            <a:round/>
          </a:ln>
        </p:spPr>
      </p:sp>
      <p:sp>
        <p:nvSpPr>
          <p:cNvPr id="24" name="[p1] Forma"/>
          <p:cNvSpPr/>
          <p:nvPr/>
        </p:nvSpPr>
        <p:spPr>
          <a:xfrm>
            <a:off x="4331856"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5" name="[p1] Forma"/>
          <p:cNvSpPr/>
          <p:nvPr/>
        </p:nvSpPr>
        <p:spPr>
          <a:xfrm>
            <a:off x="33999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Bandeja de salida</a:t>
            </a:r>
            <a:endParaRPr lang="en-US" sz="1800" dirty="0"/>
          </a:p>
        </p:txBody>
      </p:sp>
      <p:sp>
        <p:nvSpPr>
          <p:cNvPr id="26" name="[p1] Forma"/>
          <p:cNvSpPr/>
          <p:nvPr/>
        </p:nvSpPr>
        <p:spPr>
          <a:xfrm>
            <a:off x="34639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evento espera en la tabla evento.</a:t>
            </a:r>
            <a:endParaRPr lang="en-US" sz="1400" dirty="0"/>
          </a:p>
        </p:txBody>
      </p:sp>
      <p:sp>
        <p:nvSpPr>
          <p:cNvPr id="27" name="[p2] Forma"/>
          <p:cNvSpPr/>
          <p:nvPr/>
        </p:nvSpPr>
        <p:spPr>
          <a:xfrm>
            <a:off x="5173104" y="2185416"/>
            <a:ext cx="1845488" cy="0"/>
          </a:xfrm>
          <a:prstGeom prst="line">
            <a:avLst/>
          </a:prstGeom>
          <a:noFill/>
          <a:ln w="38100">
            <a:solidFill>
              <a:srgbClr val="2BA6CB"/>
            </a:solidFill>
            <a:prstDash val="solid"/>
            <a:tailEnd type="triangle"/>
          </a:ln>
        </p:spPr>
      </p:sp>
      <p:sp>
        <p:nvSpPr>
          <p:cNvPr id="28" name="[p2] Forma"/>
          <p:cNvSpPr/>
          <p:nvPr/>
        </p:nvSpPr>
        <p:spPr>
          <a:xfrm>
            <a:off x="7110032" y="1828800"/>
            <a:ext cx="713232" cy="713232"/>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9" name="[p2] Icono timer"/>
          <p:cNvSpPr/>
          <p:nvPr/>
        </p:nvSpPr>
        <p:spPr>
          <a:xfrm>
            <a:off x="7274075" y="1992843"/>
            <a:ext cx="385145" cy="385145"/>
          </a:xfrm>
          <a:custGeom>
            <a:avLst/>
            <a:gdLst/>
            <a:ahLst/>
            <a:cxnLst/>
            <a:rect l="l" t="t" r="r" b="b"/>
            <a:pathLst>
              <a:path w="385145" h="385145">
                <a:moveTo>
                  <a:pt x="160477" y="32095"/>
                </a:moveTo>
                <a:lnTo>
                  <a:pt x="224668" y="32095"/>
                </a:lnTo>
                <a:moveTo>
                  <a:pt x="192573" y="224668"/>
                </a:moveTo>
                <a:lnTo>
                  <a:pt x="240716" y="176525"/>
                </a:lnTo>
                <a:moveTo>
                  <a:pt x="320954" y="224668"/>
                </a:moveTo>
                <a:cubicBezTo>
                  <a:pt x="320954" y="295571"/>
                  <a:pt x="263476" y="353050"/>
                  <a:pt x="192573" y="353050"/>
                </a:cubicBezTo>
                <a:cubicBezTo>
                  <a:pt x="121669" y="353050"/>
                  <a:pt x="64191" y="295571"/>
                  <a:pt x="64191" y="224668"/>
                </a:cubicBezTo>
                <a:cubicBezTo>
                  <a:pt x="64191" y="153765"/>
                  <a:pt x="121669" y="96286"/>
                  <a:pt x="192573" y="96286"/>
                </a:cubicBezTo>
                <a:cubicBezTo>
                  <a:pt x="263476" y="96286"/>
                  <a:pt x="320954" y="153765"/>
                  <a:pt x="320954" y="224668"/>
                </a:cubicBezTo>
                <a:close/>
              </a:path>
            </a:pathLst>
          </a:custGeom>
          <a:noFill/>
          <a:ln w="28084" cap="rnd">
            <a:solidFill>
              <a:srgbClr val="0B6E8A"/>
            </a:solidFill>
            <a:prstDash val="solid"/>
            <a:round/>
          </a:ln>
        </p:spPr>
      </p:sp>
      <p:sp>
        <p:nvSpPr>
          <p:cNvPr id="30" name="[p2] Forma"/>
          <p:cNvSpPr/>
          <p:nvPr/>
        </p:nvSpPr>
        <p:spPr>
          <a:xfrm>
            <a:off x="7073456"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1" name="[p2] Forma"/>
          <p:cNvSpPr/>
          <p:nvPr/>
        </p:nvSpPr>
        <p:spPr>
          <a:xfrm>
            <a:off x="6141568"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Relevador</a:t>
            </a:r>
            <a:endParaRPr lang="en-US" sz="1800" dirty="0"/>
          </a:p>
        </p:txBody>
      </p:sp>
      <p:sp>
        <p:nvSpPr>
          <p:cNvPr id="32" name="[p2] Forma"/>
          <p:cNvSpPr/>
          <p:nvPr/>
        </p:nvSpPr>
        <p:spPr>
          <a:xfrm>
            <a:off x="6205576"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Cada 5 s entrega los pendientes, hasta 3 intentos.</a:t>
            </a:r>
            <a:endParaRPr lang="en-US" sz="1400" dirty="0"/>
          </a:p>
        </p:txBody>
      </p:sp>
      <p:sp>
        <p:nvSpPr>
          <p:cNvPr id="33" name="[p3] Forma"/>
          <p:cNvSpPr/>
          <p:nvPr/>
        </p:nvSpPr>
        <p:spPr>
          <a:xfrm>
            <a:off x="7914704" y="2185416"/>
            <a:ext cx="1845488" cy="0"/>
          </a:xfrm>
          <a:prstGeom prst="line">
            <a:avLst/>
          </a:prstGeom>
          <a:noFill/>
          <a:ln w="38100">
            <a:solidFill>
              <a:srgbClr val="2BA6CB"/>
            </a:solidFill>
            <a:prstDash val="solid"/>
            <a:tailEnd type="triangle"/>
          </a:ln>
        </p:spPr>
      </p:sp>
      <p:sp>
        <p:nvSpPr>
          <p:cNvPr id="34" name="[p3] Forma"/>
          <p:cNvSpPr/>
          <p:nvPr/>
        </p:nvSpPr>
        <p:spPr>
          <a:xfrm>
            <a:off x="9851631" y="1828800"/>
            <a:ext cx="713232" cy="713232"/>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5" name="[p3] Icono bell"/>
          <p:cNvSpPr/>
          <p:nvPr/>
        </p:nvSpPr>
        <p:spPr>
          <a:xfrm>
            <a:off x="10015675" y="1992843"/>
            <a:ext cx="385145" cy="385145"/>
          </a:xfrm>
          <a:custGeom>
            <a:avLst/>
            <a:gdLst/>
            <a:ahLst/>
            <a:cxnLst/>
            <a:rect l="l" t="t" r="r" b="b"/>
            <a:pathLst>
              <a:path w="385145" h="385145">
                <a:moveTo>
                  <a:pt x="164778" y="337002"/>
                </a:moveTo>
                <a:cubicBezTo>
                  <a:pt x="170512" y="346932"/>
                  <a:pt x="181107" y="353048"/>
                  <a:pt x="192573" y="353048"/>
                </a:cubicBezTo>
                <a:cubicBezTo>
                  <a:pt x="204039" y="353048"/>
                  <a:pt x="214634" y="346932"/>
                  <a:pt x="220367" y="337002"/>
                </a:cubicBezTo>
                <a:moveTo>
                  <a:pt x="52348" y="245947"/>
                </a:moveTo>
                <a:cubicBezTo>
                  <a:pt x="48064" y="250642"/>
                  <a:pt x="46955" y="257422"/>
                  <a:pt x="49519" y="263237"/>
                </a:cubicBezTo>
                <a:cubicBezTo>
                  <a:pt x="52082" y="269052"/>
                  <a:pt x="57836" y="272807"/>
                  <a:pt x="64191" y="272811"/>
                </a:cubicBezTo>
                <a:lnTo>
                  <a:pt x="320954" y="272811"/>
                </a:lnTo>
                <a:cubicBezTo>
                  <a:pt x="327309" y="272814"/>
                  <a:pt x="333066" y="269066"/>
                  <a:pt x="335636" y="263255"/>
                </a:cubicBezTo>
                <a:cubicBezTo>
                  <a:pt x="338207" y="257444"/>
                  <a:pt x="337106" y="250663"/>
                  <a:pt x="332830" y="245963"/>
                </a:cubicBezTo>
                <a:cubicBezTo>
                  <a:pt x="311486" y="223962"/>
                  <a:pt x="288859" y="200580"/>
                  <a:pt x="288859" y="128382"/>
                </a:cubicBezTo>
                <a:cubicBezTo>
                  <a:pt x="288859" y="75204"/>
                  <a:pt x="245750" y="32095"/>
                  <a:pt x="192573" y="32095"/>
                </a:cubicBezTo>
                <a:cubicBezTo>
                  <a:pt x="139395" y="32095"/>
                  <a:pt x="96286" y="75204"/>
                  <a:pt x="96286" y="128382"/>
                </a:cubicBezTo>
                <a:cubicBezTo>
                  <a:pt x="96286" y="200580"/>
                  <a:pt x="73643" y="223962"/>
                  <a:pt x="52348" y="245947"/>
                </a:cubicBezTo>
              </a:path>
            </a:pathLst>
          </a:custGeom>
          <a:noFill/>
          <a:ln w="28084" cap="rnd">
            <a:solidFill>
              <a:srgbClr val="0A6648"/>
            </a:solidFill>
            <a:prstDash val="solid"/>
            <a:round/>
          </a:ln>
        </p:spPr>
      </p:sp>
      <p:sp>
        <p:nvSpPr>
          <p:cNvPr id="36" name="[p3] Forma"/>
          <p:cNvSpPr/>
          <p:nvPr/>
        </p:nvSpPr>
        <p:spPr>
          <a:xfrm>
            <a:off x="9815055"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7" name="[p3] Forma"/>
          <p:cNvSpPr/>
          <p:nvPr/>
        </p:nvSpPr>
        <p:spPr>
          <a:xfrm>
            <a:off x="8883167" y="26700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38" name="[p3] Forma"/>
          <p:cNvSpPr/>
          <p:nvPr/>
        </p:nvSpPr>
        <p:spPr>
          <a:xfrm>
            <a:off x="8947175" y="3108960"/>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 recibe y el evento queda procesado.</a:t>
            </a:r>
            <a:endParaRPr lang="en-US" sz="1400" dirty="0"/>
          </a:p>
        </p:txBody>
      </p:sp>
      <p:sp>
        <p:nvSpPr>
          <p:cNvPr id="39" name="[p4] Forma"/>
          <p:cNvSpPr/>
          <p:nvPr/>
        </p:nvSpPr>
        <p:spPr>
          <a:xfrm>
            <a:off x="7466648" y="3602736"/>
            <a:ext cx="0" cy="955548"/>
          </a:xfrm>
          <a:prstGeom prst="line">
            <a:avLst/>
          </a:prstGeom>
          <a:noFill/>
          <a:ln w="25400">
            <a:solidFill>
              <a:srgbClr val="8A4B06"/>
            </a:solidFill>
            <a:prstDash val="dash"/>
          </a:ln>
        </p:spPr>
      </p:sp>
      <p:sp>
        <p:nvSpPr>
          <p:cNvPr id="40" name="[p4] Forma"/>
          <p:cNvSpPr/>
          <p:nvPr/>
        </p:nvSpPr>
        <p:spPr>
          <a:xfrm flipH="1">
            <a:off x="7372807" y="4558284"/>
            <a:ext cx="93840" cy="0"/>
          </a:xfrm>
          <a:prstGeom prst="line">
            <a:avLst/>
          </a:prstGeom>
          <a:noFill/>
          <a:ln w="25400">
            <a:solidFill>
              <a:srgbClr val="8A4B06"/>
            </a:solidFill>
            <a:prstDash val="dash"/>
            <a:tailEnd type="triangle"/>
          </a:ln>
        </p:spPr>
      </p:sp>
      <p:sp>
        <p:nvSpPr>
          <p:cNvPr id="41" name="[p4] Forma"/>
          <p:cNvSpPr/>
          <p:nvPr/>
        </p:nvSpPr>
        <p:spPr>
          <a:xfrm>
            <a:off x="6003608" y="4229100"/>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8A4B06"/>
                </a:solidFill>
                <a:latin typeface="Segoe UI" pitchFamily="34" charset="0"/>
                <a:ea typeface="Segoe UI" pitchFamily="34" charset="-122"/>
                <a:cs typeface="Segoe UI" pitchFamily="34" charset="-120"/>
              </a:rPr>
              <a:t>si falla</a:t>
            </a:r>
            <a:endParaRPr lang="en-US" sz="1100" dirty="0"/>
          </a:p>
        </p:txBody>
      </p:sp>
      <p:sp>
        <p:nvSpPr>
          <p:cNvPr id="42" name="[p4] Forma"/>
          <p:cNvSpPr/>
          <p:nvPr/>
        </p:nvSpPr>
        <p:spPr>
          <a:xfrm>
            <a:off x="7372807" y="4123944"/>
            <a:ext cx="4206240" cy="868680"/>
          </a:xfrm>
          <a:prstGeom prst="roundRect">
            <a:avLst>
              <a:gd name="adj" fmla="val 14737"/>
            </a:avLst>
          </a:prstGeom>
          <a:solidFill>
            <a:srgbClr val="FCEFD6"/>
          </a:solidFill>
          <a:ln w="12700">
            <a:solidFill>
              <a:srgbClr val="C5A583"/>
            </a:solidFill>
            <a:prstDash val="solid"/>
          </a:ln>
          <a:effectLst>
            <a:outerShdw sx="100000" sy="100000" kx="0" ky="0" algn="bl" rotWithShape="0" blurRad="76200" dist="19050" dir="5400000">
              <a:srgbClr val="0B1F3A">
                <a:alpha val="14000"/>
              </a:srgbClr>
            </a:outerShdw>
          </a:effectLst>
        </p:spPr>
      </p:sp>
      <p:sp>
        <p:nvSpPr>
          <p:cNvPr id="43" name="[p4] Forma"/>
          <p:cNvSpPr/>
          <p:nvPr/>
        </p:nvSpPr>
        <p:spPr>
          <a:xfrm>
            <a:off x="7537399" y="4279392"/>
            <a:ext cx="548640" cy="548640"/>
          </a:xfrm>
          <a:prstGeom prst="ellipse">
            <a:avLst/>
          </a:prstGeom>
          <a:solidFill>
            <a:srgbClr val="FFFFFF"/>
          </a:solidFill>
          <a:ln w="12700">
            <a:solidFill>
              <a:srgbClr val="FFFFFF"/>
            </a:solidFill>
            <a:prstDash val="solid"/>
          </a:ln>
        </p:spPr>
      </p:sp>
      <p:sp>
        <p:nvSpPr>
          <p:cNvPr id="44" name="[p4] Icono refresh-cw"/>
          <p:cNvSpPr/>
          <p:nvPr/>
        </p:nvSpPr>
        <p:spPr>
          <a:xfrm>
            <a:off x="7669073" y="4411066"/>
            <a:ext cx="285293" cy="285293"/>
          </a:xfrm>
          <a:custGeom>
            <a:avLst/>
            <a:gdLst/>
            <a:ahLst/>
            <a:cxnLst/>
            <a:rect l="l" t="t" r="r" b="b"/>
            <a:pathLst>
              <a:path w="285293" h="285293">
                <a:moveTo>
                  <a:pt x="35662" y="142646"/>
                </a:moveTo>
                <a:cubicBezTo>
                  <a:pt x="35662" y="83560"/>
                  <a:pt x="83560" y="35662"/>
                  <a:pt x="142646" y="35662"/>
                </a:cubicBezTo>
                <a:cubicBezTo>
                  <a:pt x="172555" y="35774"/>
                  <a:pt x="201263" y="47444"/>
                  <a:pt x="222766" y="68233"/>
                </a:cubicBezTo>
                <a:lnTo>
                  <a:pt x="249631" y="95098"/>
                </a:lnTo>
                <a:moveTo>
                  <a:pt x="249631" y="35662"/>
                </a:moveTo>
                <a:lnTo>
                  <a:pt x="249631" y="95098"/>
                </a:lnTo>
                <a:lnTo>
                  <a:pt x="190195" y="95098"/>
                </a:lnTo>
                <a:moveTo>
                  <a:pt x="249631" y="142646"/>
                </a:moveTo>
                <a:cubicBezTo>
                  <a:pt x="249631" y="201732"/>
                  <a:pt x="201732" y="249631"/>
                  <a:pt x="142646" y="249631"/>
                </a:cubicBezTo>
                <a:cubicBezTo>
                  <a:pt x="112738" y="249519"/>
                  <a:pt x="84030" y="237848"/>
                  <a:pt x="62527" y="217060"/>
                </a:cubicBezTo>
                <a:lnTo>
                  <a:pt x="35662" y="190195"/>
                </a:lnTo>
                <a:moveTo>
                  <a:pt x="95098" y="190195"/>
                </a:moveTo>
                <a:lnTo>
                  <a:pt x="35662" y="190195"/>
                </a:lnTo>
                <a:lnTo>
                  <a:pt x="35662" y="249631"/>
                </a:lnTo>
              </a:path>
            </a:pathLst>
          </a:custGeom>
          <a:noFill/>
          <a:ln w="23774" cap="rnd">
            <a:solidFill>
              <a:srgbClr val="8A4B06"/>
            </a:solidFill>
            <a:prstDash val="solid"/>
            <a:round/>
          </a:ln>
        </p:spPr>
      </p:sp>
      <p:sp>
        <p:nvSpPr>
          <p:cNvPr id="45" name="[p4] Forma"/>
          <p:cNvSpPr/>
          <p:nvPr/>
        </p:nvSpPr>
        <p:spPr>
          <a:xfrm>
            <a:off x="8214055" y="4233672"/>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8A4B06"/>
                </a:solidFill>
                <a:latin typeface="Segoe UI Semibold" pitchFamily="34" charset="0"/>
                <a:ea typeface="Segoe UI Semibold" pitchFamily="34" charset="-122"/>
                <a:cs typeface="Segoe UI Semibold" pitchFamily="34" charset="-120"/>
              </a:rPr>
              <a:t>Sigue pendiente</a:t>
            </a:r>
            <a:endParaRPr lang="en-US" sz="1450" dirty="0"/>
          </a:p>
        </p:txBody>
      </p:sp>
      <p:sp>
        <p:nvSpPr>
          <p:cNvPr id="46" name="[p4] Forma"/>
          <p:cNvSpPr/>
          <p:nvPr/>
        </p:nvSpPr>
        <p:spPr>
          <a:xfrm>
            <a:off x="8214055" y="4562856"/>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Mismo eventoId; se reintenta en el siguiente ciclo.</a:t>
            </a:r>
            <a:endParaRPr lang="en-US" sz="1150" dirty="0"/>
          </a:p>
        </p:txBody>
      </p:sp>
      <p:sp>
        <p:nvSpPr>
          <p:cNvPr id="47" name="Shape 45"/>
          <p:cNvSpPr/>
          <p:nvPr/>
        </p:nvSpPr>
        <p:spPr>
          <a:xfrm>
            <a:off x="0" y="5961888"/>
            <a:ext cx="12191695" cy="475488"/>
          </a:xfrm>
          <a:prstGeom prst="rect">
            <a:avLst/>
          </a:prstGeom>
          <a:solidFill>
            <a:srgbClr val="0B2350"/>
          </a:solidFill>
          <a:ln w="12700">
            <a:solidFill>
              <a:srgbClr val="0B2350"/>
            </a:solidFill>
            <a:prstDash val="solid"/>
          </a:ln>
        </p:spPr>
      </p:sp>
      <p:sp>
        <p:nvSpPr>
          <p:cNvPr id="48"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9" name="Text 47"/>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notificaciones está caído, ningún aviso se pierde: queda pendiente hasta que vuelve.</a:t>
            </a:r>
            <a:endParaRPr lang="en-US" sz="14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5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400"/>
                                        <p:tgtEl>
                                          <p:spTgt spid="4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400"/>
                                        <p:tgtEl>
                                          <p:spTgt spid="4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400"/>
                                        <p:tgtEl>
                                          <p:spTgt spid="4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400"/>
                                        <p:tgtEl>
                                          <p:spTgt spid="4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6"/>
                                        </p:tgtEl>
                                        <p:attrNameLst>
                                          <p:attrName>style.visibility</p:attrName>
                                        </p:attrNameLst>
                                      </p:cBhvr>
                                      <p:to>
                                        <p:strVal val="visible"/>
                                      </p:to>
                                    </p:set>
                                    <p:animEffect transition="in" filter="fade">
                                      <p:cBhvr>
                                        <p:cTn id="86"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Idempotencia: el mismo evento, un solo aviso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Repetir la entrega no multiplica el efecto.</a:t>
            </a:r>
            <a:endParaRPr lang="en-US" sz="170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user-check"/>
          <p:cNvSpPr/>
          <p:nvPr/>
        </p:nvSpPr>
        <p:spPr>
          <a:xfrm>
            <a:off x="900867" y="5911779"/>
            <a:ext cx="228234" cy="228234"/>
          </a:xfrm>
          <a:custGeom>
            <a:avLst/>
            <a:gdLst/>
            <a:ahLst/>
            <a:cxnLst/>
            <a:rect l="l" t="t" r="r" b="b"/>
            <a:pathLst>
              <a:path w="228234" h="228234">
                <a:moveTo>
                  <a:pt x="152156" y="199705"/>
                </a:moveTo>
                <a:lnTo>
                  <a:pt x="152156" y="180685"/>
                </a:lnTo>
                <a:cubicBezTo>
                  <a:pt x="152156" y="159677"/>
                  <a:pt x="135126" y="142646"/>
                  <a:pt x="114117" y="142646"/>
                </a:cubicBezTo>
                <a:lnTo>
                  <a:pt x="57059" y="142646"/>
                </a:lnTo>
                <a:cubicBezTo>
                  <a:pt x="36050" y="142646"/>
                  <a:pt x="19020" y="159677"/>
                  <a:pt x="19020" y="180685"/>
                </a:cubicBezTo>
                <a:lnTo>
                  <a:pt x="19020" y="199705"/>
                </a:lnTo>
                <a:moveTo>
                  <a:pt x="123627" y="66568"/>
                </a:moveTo>
                <a:cubicBezTo>
                  <a:pt x="123627" y="87577"/>
                  <a:pt x="106596" y="104607"/>
                  <a:pt x="85588" y="104607"/>
                </a:cubicBezTo>
                <a:cubicBezTo>
                  <a:pt x="64579" y="104607"/>
                  <a:pt x="47549" y="87577"/>
                  <a:pt x="47549" y="66568"/>
                </a:cubicBezTo>
                <a:cubicBezTo>
                  <a:pt x="47549" y="45560"/>
                  <a:pt x="64579" y="28529"/>
                  <a:pt x="85588" y="28529"/>
                </a:cubicBezTo>
                <a:cubicBezTo>
                  <a:pt x="106596" y="28529"/>
                  <a:pt x="123627" y="45560"/>
                  <a:pt x="123627" y="66568"/>
                </a:cubicBezTo>
                <a:close/>
                <a:moveTo>
                  <a:pt x="152156" y="104607"/>
                </a:moveTo>
                <a:lnTo>
                  <a:pt x="171176" y="123627"/>
                </a:lnTo>
                <a:lnTo>
                  <a:pt x="209215" y="85588"/>
                </a:lnTo>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16" name="Shape 14"/>
          <p:cNvSpPr/>
          <p:nvPr/>
        </p:nvSpPr>
        <p:spPr>
          <a:xfrm>
            <a:off x="1366228" y="1828800"/>
            <a:ext cx="1234440" cy="12344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mail"/>
          <p:cNvSpPr/>
          <p:nvPr/>
        </p:nvSpPr>
        <p:spPr>
          <a:xfrm>
            <a:off x="1650149" y="2112721"/>
            <a:ext cx="666598" cy="666598"/>
          </a:xfrm>
          <a:custGeom>
            <a:avLst/>
            <a:gdLst/>
            <a:ahLst/>
            <a:cxnLst/>
            <a:rect l="l" t="t" r="r" b="b"/>
            <a:pathLst>
              <a:path w="666598" h="666598">
                <a:moveTo>
                  <a:pt x="111100" y="111100"/>
                </a:moveTo>
                <a:lnTo>
                  <a:pt x="555498" y="111100"/>
                </a:lnTo>
                <a:cubicBezTo>
                  <a:pt x="586177" y="111100"/>
                  <a:pt x="611048" y="135970"/>
                  <a:pt x="611048" y="166649"/>
                </a:cubicBezTo>
                <a:lnTo>
                  <a:pt x="611048" y="499948"/>
                </a:lnTo>
                <a:cubicBezTo>
                  <a:pt x="611048" y="530628"/>
                  <a:pt x="586177" y="555498"/>
                  <a:pt x="555498" y="555498"/>
                </a:cubicBezTo>
                <a:lnTo>
                  <a:pt x="111100" y="555498"/>
                </a:lnTo>
                <a:cubicBezTo>
                  <a:pt x="80420" y="555498"/>
                  <a:pt x="55550" y="530628"/>
                  <a:pt x="55550" y="499948"/>
                </a:cubicBezTo>
                <a:lnTo>
                  <a:pt x="55550" y="166649"/>
                </a:lnTo>
                <a:cubicBezTo>
                  <a:pt x="55550" y="135970"/>
                  <a:pt x="80420" y="111100"/>
                  <a:pt x="111100" y="111100"/>
                </a:cubicBezTo>
                <a:close/>
                <a:moveTo>
                  <a:pt x="611048" y="194424"/>
                </a:moveTo>
                <a:lnTo>
                  <a:pt x="361907" y="352741"/>
                </a:lnTo>
                <a:cubicBezTo>
                  <a:pt x="344410" y="363703"/>
                  <a:pt x="322188" y="363703"/>
                  <a:pt x="304691" y="352741"/>
                </a:cubicBezTo>
                <a:lnTo>
                  <a:pt x="55550" y="194424"/>
                </a:lnTo>
              </a:path>
            </a:pathLst>
          </a:custGeom>
          <a:noFill/>
          <a:ln w="48606" cap="rnd">
            <a:solidFill>
              <a:srgbClr val="0B2350"/>
            </a:solidFill>
            <a:prstDash val="solid"/>
            <a:round/>
          </a:ln>
        </p:spPr>
      </p:sp>
      <p:sp>
        <p:nvSpPr>
          <p:cNvPr id="18" name="Text 16"/>
          <p:cNvSpPr/>
          <p:nvPr/>
        </p:nvSpPr>
        <p:spPr>
          <a:xfrm>
            <a:off x="1329652" y="1792224"/>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9" name="Text 17"/>
          <p:cNvSpPr/>
          <p:nvPr/>
        </p:nvSpPr>
        <p:spPr>
          <a:xfrm>
            <a:off x="6583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Llega el evento</a:t>
            </a:r>
            <a:endParaRPr lang="en-US" sz="1800" dirty="0"/>
          </a:p>
        </p:txBody>
      </p:sp>
      <p:sp>
        <p:nvSpPr>
          <p:cNvPr id="20" name="Text 18"/>
          <p:cNvSpPr/>
          <p:nvPr/>
        </p:nvSpPr>
        <p:spPr>
          <a:xfrm>
            <a:off x="7223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Trae su eventoId.</a:t>
            </a:r>
            <a:endParaRPr lang="en-US" sz="1400" dirty="0"/>
          </a:p>
        </p:txBody>
      </p:sp>
      <p:sp>
        <p:nvSpPr>
          <p:cNvPr id="21" name="[p1] Forma"/>
          <p:cNvSpPr/>
          <p:nvPr/>
        </p:nvSpPr>
        <p:spPr>
          <a:xfrm>
            <a:off x="2692108" y="2446020"/>
            <a:ext cx="1324280" cy="0"/>
          </a:xfrm>
          <a:prstGeom prst="line">
            <a:avLst/>
          </a:prstGeom>
          <a:noFill/>
          <a:ln w="38100">
            <a:solidFill>
              <a:srgbClr val="2BA6CB"/>
            </a:solidFill>
            <a:prstDash val="solid"/>
            <a:tailEnd type="triangle"/>
          </a:ln>
        </p:spPr>
      </p:sp>
      <p:sp>
        <p:nvSpPr>
          <p:cNvPr id="22" name="[p1] Forma"/>
          <p:cNvSpPr/>
          <p:nvPr/>
        </p:nvSpPr>
        <p:spPr>
          <a:xfrm>
            <a:off x="4107828" y="1828800"/>
            <a:ext cx="1234440" cy="12344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3" name="[p1] Icono fingerprint"/>
          <p:cNvSpPr/>
          <p:nvPr/>
        </p:nvSpPr>
        <p:spPr>
          <a:xfrm>
            <a:off x="4391749" y="2112721"/>
            <a:ext cx="666598" cy="666598"/>
          </a:xfrm>
          <a:custGeom>
            <a:avLst/>
            <a:gdLst/>
            <a:ahLst/>
            <a:cxnLst/>
            <a:rect l="l" t="t" r="r" b="b"/>
            <a:pathLst>
              <a:path w="666598" h="666598">
                <a:moveTo>
                  <a:pt x="333299" y="277749"/>
                </a:moveTo>
                <a:cubicBezTo>
                  <a:pt x="302619" y="277749"/>
                  <a:pt x="277749" y="302619"/>
                  <a:pt x="277749" y="333299"/>
                </a:cubicBezTo>
                <a:cubicBezTo>
                  <a:pt x="277749" y="361629"/>
                  <a:pt x="274972" y="403014"/>
                  <a:pt x="270528" y="444398"/>
                </a:cubicBezTo>
                <a:moveTo>
                  <a:pt x="388849" y="364407"/>
                </a:moveTo>
                <a:cubicBezTo>
                  <a:pt x="388849" y="430511"/>
                  <a:pt x="388849" y="541611"/>
                  <a:pt x="361074" y="611048"/>
                </a:cubicBezTo>
                <a:moveTo>
                  <a:pt x="480228" y="583828"/>
                </a:moveTo>
                <a:cubicBezTo>
                  <a:pt x="483561" y="567163"/>
                  <a:pt x="492171" y="519946"/>
                  <a:pt x="494115" y="499948"/>
                </a:cubicBezTo>
                <a:moveTo>
                  <a:pt x="55550" y="333299"/>
                </a:moveTo>
                <a:cubicBezTo>
                  <a:pt x="55550" y="213747"/>
                  <a:pt x="132050" y="107609"/>
                  <a:pt x="245467" y="69803"/>
                </a:cubicBezTo>
                <a:cubicBezTo>
                  <a:pt x="358883" y="31997"/>
                  <a:pt x="483767" y="71008"/>
                  <a:pt x="555498" y="166649"/>
                </a:cubicBezTo>
                <a:moveTo>
                  <a:pt x="55550" y="444398"/>
                </a:moveTo>
                <a:lnTo>
                  <a:pt x="55828" y="444398"/>
                </a:lnTo>
                <a:moveTo>
                  <a:pt x="605493" y="444398"/>
                </a:moveTo>
                <a:cubicBezTo>
                  <a:pt x="611048" y="388849"/>
                  <a:pt x="609131" y="295692"/>
                  <a:pt x="605493" y="277749"/>
                </a:cubicBezTo>
                <a:moveTo>
                  <a:pt x="138875" y="541611"/>
                </a:moveTo>
                <a:cubicBezTo>
                  <a:pt x="152762" y="499948"/>
                  <a:pt x="166649" y="416624"/>
                  <a:pt x="166649" y="333299"/>
                </a:cubicBezTo>
                <a:cubicBezTo>
                  <a:pt x="166621" y="314380"/>
                  <a:pt x="169815" y="295595"/>
                  <a:pt x="176093" y="277749"/>
                </a:cubicBezTo>
                <a:moveTo>
                  <a:pt x="240253" y="611048"/>
                </a:moveTo>
                <a:cubicBezTo>
                  <a:pt x="246086" y="592716"/>
                  <a:pt x="252752" y="574385"/>
                  <a:pt x="256085" y="555498"/>
                </a:cubicBezTo>
                <a:moveTo>
                  <a:pt x="249974" y="188869"/>
                </a:moveTo>
                <a:cubicBezTo>
                  <a:pt x="301552" y="159091"/>
                  <a:pt x="365101" y="159101"/>
                  <a:pt x="416670" y="188896"/>
                </a:cubicBezTo>
                <a:cubicBezTo>
                  <a:pt x="468238" y="218691"/>
                  <a:pt x="499986" y="273742"/>
                  <a:pt x="499948" y="333299"/>
                </a:cubicBezTo>
                <a:lnTo>
                  <a:pt x="499948" y="388849"/>
                </a:lnTo>
              </a:path>
            </a:pathLst>
          </a:custGeom>
          <a:noFill/>
          <a:ln w="48606" cap="rnd">
            <a:solidFill>
              <a:srgbClr val="0B6E8A"/>
            </a:solidFill>
            <a:prstDash val="solid"/>
            <a:round/>
          </a:ln>
        </p:spPr>
      </p:sp>
      <p:sp>
        <p:nvSpPr>
          <p:cNvPr id="24" name="[p1] Forma"/>
          <p:cNvSpPr/>
          <p:nvPr/>
        </p:nvSpPr>
        <p:spPr>
          <a:xfrm>
            <a:off x="4071252" y="1792224"/>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5" name="[p1] Forma"/>
          <p:cNvSpPr/>
          <p:nvPr/>
        </p:nvSpPr>
        <p:spPr>
          <a:xfrm>
            <a:off x="33999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¿Ya lo recibimos?</a:t>
            </a:r>
            <a:endParaRPr lang="en-US" sz="1800" dirty="0"/>
          </a:p>
        </p:txBody>
      </p:sp>
      <p:sp>
        <p:nvSpPr>
          <p:cNvPr id="26" name="[p1] Forma"/>
          <p:cNvSpPr/>
          <p:nvPr/>
        </p:nvSpPr>
        <p:spPr>
          <a:xfrm>
            <a:off x="34639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busca en evento_procesado.</a:t>
            </a:r>
            <a:endParaRPr lang="en-US" sz="1400" dirty="0"/>
          </a:p>
        </p:txBody>
      </p:sp>
      <p:sp>
        <p:nvSpPr>
          <p:cNvPr id="27" name="[p2] Forma"/>
          <p:cNvSpPr/>
          <p:nvPr/>
        </p:nvSpPr>
        <p:spPr>
          <a:xfrm>
            <a:off x="5433708" y="2446020"/>
            <a:ext cx="1324280" cy="0"/>
          </a:xfrm>
          <a:prstGeom prst="line">
            <a:avLst/>
          </a:prstGeom>
          <a:noFill/>
          <a:ln w="38100">
            <a:solidFill>
              <a:srgbClr val="2BA6CB"/>
            </a:solidFill>
            <a:prstDash val="solid"/>
            <a:tailEnd type="triangle"/>
          </a:ln>
        </p:spPr>
      </p:sp>
      <p:sp>
        <p:nvSpPr>
          <p:cNvPr id="28" name="[p2] Forma"/>
          <p:cNvSpPr/>
          <p:nvPr/>
        </p:nvSpPr>
        <p:spPr>
          <a:xfrm>
            <a:off x="6849428"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29" name="[p2] Icono bell"/>
          <p:cNvSpPr/>
          <p:nvPr/>
        </p:nvSpPr>
        <p:spPr>
          <a:xfrm>
            <a:off x="7133349" y="2112721"/>
            <a:ext cx="666598" cy="666598"/>
          </a:xfrm>
          <a:custGeom>
            <a:avLst/>
            <a:gdLst/>
            <a:ahLst/>
            <a:cxnLst/>
            <a:rect l="l" t="t" r="r" b="b"/>
            <a:pathLst>
              <a:path w="666598" h="666598">
                <a:moveTo>
                  <a:pt x="285193" y="583273"/>
                </a:moveTo>
                <a:cubicBezTo>
                  <a:pt x="295116" y="600459"/>
                  <a:pt x="313454" y="611045"/>
                  <a:pt x="333299" y="611045"/>
                </a:cubicBezTo>
                <a:cubicBezTo>
                  <a:pt x="353144" y="611045"/>
                  <a:pt x="371482" y="600459"/>
                  <a:pt x="381405" y="583273"/>
                </a:cubicBezTo>
                <a:moveTo>
                  <a:pt x="90602" y="425678"/>
                </a:moveTo>
                <a:cubicBezTo>
                  <a:pt x="83188" y="433804"/>
                  <a:pt x="81268" y="445538"/>
                  <a:pt x="85705" y="455603"/>
                </a:cubicBezTo>
                <a:cubicBezTo>
                  <a:pt x="90142" y="465667"/>
                  <a:pt x="100100" y="472165"/>
                  <a:pt x="111100" y="472173"/>
                </a:cubicBezTo>
                <a:lnTo>
                  <a:pt x="555498" y="472173"/>
                </a:lnTo>
                <a:cubicBezTo>
                  <a:pt x="566496" y="472177"/>
                  <a:pt x="576460" y="465692"/>
                  <a:pt x="580909" y="455634"/>
                </a:cubicBezTo>
                <a:cubicBezTo>
                  <a:pt x="585358" y="445576"/>
                  <a:pt x="583453" y="433840"/>
                  <a:pt x="576051" y="425706"/>
                </a:cubicBezTo>
                <a:cubicBezTo>
                  <a:pt x="539111" y="387627"/>
                  <a:pt x="499948" y="347158"/>
                  <a:pt x="499948" y="222199"/>
                </a:cubicBezTo>
                <a:cubicBezTo>
                  <a:pt x="499948" y="130161"/>
                  <a:pt x="425337" y="55550"/>
                  <a:pt x="333299" y="55550"/>
                </a:cubicBezTo>
                <a:cubicBezTo>
                  <a:pt x="241261" y="55550"/>
                  <a:pt x="166649" y="130161"/>
                  <a:pt x="166649" y="222199"/>
                </a:cubicBezTo>
                <a:cubicBezTo>
                  <a:pt x="166649" y="347158"/>
                  <a:pt x="127459" y="387627"/>
                  <a:pt x="90602" y="425678"/>
                </a:cubicBezTo>
              </a:path>
            </a:pathLst>
          </a:custGeom>
          <a:noFill/>
          <a:ln w="48606" cap="rnd">
            <a:solidFill>
              <a:srgbClr val="0A6648"/>
            </a:solidFill>
            <a:prstDash val="solid"/>
            <a:round/>
          </a:ln>
        </p:spPr>
      </p:sp>
      <p:sp>
        <p:nvSpPr>
          <p:cNvPr id="30" name="[p2] Forma"/>
          <p:cNvSpPr/>
          <p:nvPr/>
        </p:nvSpPr>
        <p:spPr>
          <a:xfrm>
            <a:off x="6812852"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1" name="[p2] Forma"/>
          <p:cNvSpPr/>
          <p:nvPr/>
        </p:nvSpPr>
        <p:spPr>
          <a:xfrm>
            <a:off x="6141568"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Crear el aviso</a:t>
            </a:r>
            <a:endParaRPr lang="en-US" sz="1800" dirty="0"/>
          </a:p>
        </p:txBody>
      </p:sp>
      <p:sp>
        <p:nvSpPr>
          <p:cNvPr id="32" name="[p2] Forma"/>
          <p:cNvSpPr/>
          <p:nvPr/>
        </p:nvSpPr>
        <p:spPr>
          <a:xfrm>
            <a:off x="6205576"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si el número es nuevo.</a:t>
            </a:r>
            <a:endParaRPr lang="en-US" sz="1400" dirty="0"/>
          </a:p>
        </p:txBody>
      </p:sp>
      <p:sp>
        <p:nvSpPr>
          <p:cNvPr id="33" name="[p3] Forma"/>
          <p:cNvSpPr/>
          <p:nvPr/>
        </p:nvSpPr>
        <p:spPr>
          <a:xfrm>
            <a:off x="8175308" y="2446020"/>
            <a:ext cx="1324280" cy="0"/>
          </a:xfrm>
          <a:prstGeom prst="line">
            <a:avLst/>
          </a:prstGeom>
          <a:noFill/>
          <a:ln w="38100">
            <a:solidFill>
              <a:srgbClr val="2BA6CB"/>
            </a:solidFill>
            <a:prstDash val="solid"/>
            <a:tailEnd type="triangle"/>
          </a:ln>
        </p:spPr>
      </p:sp>
      <p:sp>
        <p:nvSpPr>
          <p:cNvPr id="34" name="[p3] Forma"/>
          <p:cNvSpPr/>
          <p:nvPr/>
        </p:nvSpPr>
        <p:spPr>
          <a:xfrm>
            <a:off x="9591027" y="1828800"/>
            <a:ext cx="1234440" cy="12344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5" name="[p3] Icono clipboard-check"/>
          <p:cNvSpPr/>
          <p:nvPr/>
        </p:nvSpPr>
        <p:spPr>
          <a:xfrm>
            <a:off x="9874949" y="2112721"/>
            <a:ext cx="666598" cy="666598"/>
          </a:xfrm>
          <a:custGeom>
            <a:avLst/>
            <a:gdLst/>
            <a:ahLst/>
            <a:cxnLst/>
            <a:rect l="l" t="t" r="r" b="b"/>
            <a:pathLst>
              <a:path w="666598" h="666598">
                <a:moveTo>
                  <a:pt x="249974" y="55550"/>
                </a:moveTo>
                <a:lnTo>
                  <a:pt x="416624" y="55550"/>
                </a:lnTo>
                <a:cubicBezTo>
                  <a:pt x="431963" y="55550"/>
                  <a:pt x="444398" y="67985"/>
                  <a:pt x="444398" y="83325"/>
                </a:cubicBezTo>
                <a:lnTo>
                  <a:pt x="444398" y="138875"/>
                </a:lnTo>
                <a:cubicBezTo>
                  <a:pt x="444398" y="154214"/>
                  <a:pt x="431963" y="166649"/>
                  <a:pt x="416624" y="166649"/>
                </a:cubicBezTo>
                <a:lnTo>
                  <a:pt x="249974" y="166649"/>
                </a:lnTo>
                <a:cubicBezTo>
                  <a:pt x="234634" y="166649"/>
                  <a:pt x="222199" y="154214"/>
                  <a:pt x="222199" y="138875"/>
                </a:cubicBezTo>
                <a:lnTo>
                  <a:pt x="222199" y="83325"/>
                </a:lnTo>
                <a:cubicBezTo>
                  <a:pt x="222199" y="67985"/>
                  <a:pt x="234634" y="55550"/>
                  <a:pt x="249974" y="55550"/>
                </a:cubicBezTo>
                <a:close/>
                <a:moveTo>
                  <a:pt x="444398" y="111100"/>
                </a:moveTo>
                <a:lnTo>
                  <a:pt x="499948" y="111100"/>
                </a:lnTo>
                <a:cubicBezTo>
                  <a:pt x="530628" y="111100"/>
                  <a:pt x="555498" y="135970"/>
                  <a:pt x="555498" y="166649"/>
                </a:cubicBezTo>
                <a:lnTo>
                  <a:pt x="555498" y="555498"/>
                </a:lnTo>
                <a:cubicBezTo>
                  <a:pt x="555498" y="586177"/>
                  <a:pt x="530628" y="611048"/>
                  <a:pt x="499948" y="611048"/>
                </a:cubicBezTo>
                <a:lnTo>
                  <a:pt x="166649" y="611048"/>
                </a:lnTo>
                <a:cubicBezTo>
                  <a:pt x="135970" y="611048"/>
                  <a:pt x="111100" y="586177"/>
                  <a:pt x="111100" y="555498"/>
                </a:cubicBezTo>
                <a:lnTo>
                  <a:pt x="111100" y="166649"/>
                </a:lnTo>
                <a:cubicBezTo>
                  <a:pt x="111100" y="135970"/>
                  <a:pt x="135970" y="111100"/>
                  <a:pt x="166649" y="111100"/>
                </a:cubicBezTo>
                <a:lnTo>
                  <a:pt x="222199" y="111100"/>
                </a:lnTo>
                <a:moveTo>
                  <a:pt x="249974" y="388849"/>
                </a:moveTo>
                <a:lnTo>
                  <a:pt x="305524" y="444398"/>
                </a:lnTo>
                <a:lnTo>
                  <a:pt x="416624" y="333299"/>
                </a:lnTo>
              </a:path>
            </a:pathLst>
          </a:custGeom>
          <a:noFill/>
          <a:ln w="48606" cap="rnd">
            <a:solidFill>
              <a:srgbClr val="0A6648"/>
            </a:solidFill>
            <a:prstDash val="solid"/>
            <a:round/>
          </a:ln>
        </p:spPr>
      </p:sp>
      <p:sp>
        <p:nvSpPr>
          <p:cNvPr id="36" name="[p3] Forma"/>
          <p:cNvSpPr/>
          <p:nvPr/>
        </p:nvSpPr>
        <p:spPr>
          <a:xfrm>
            <a:off x="9554451" y="1792224"/>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7" name="[p3] Forma"/>
          <p:cNvSpPr/>
          <p:nvPr/>
        </p:nvSpPr>
        <p:spPr>
          <a:xfrm>
            <a:off x="8883167" y="3191256"/>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Anotar el número</a:t>
            </a:r>
            <a:endParaRPr lang="en-US" sz="1800" dirty="0"/>
          </a:p>
        </p:txBody>
      </p:sp>
      <p:sp>
        <p:nvSpPr>
          <p:cNvPr id="38" name="[p3] Forma"/>
          <p:cNvSpPr/>
          <p:nvPr/>
        </p:nvSpPr>
        <p:spPr>
          <a:xfrm>
            <a:off x="8947175" y="3630168"/>
            <a:ext cx="2522144" cy="786384"/>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la misma transacción.</a:t>
            </a:r>
            <a:endParaRPr lang="en-US" sz="1400" dirty="0"/>
          </a:p>
        </p:txBody>
      </p:sp>
      <p:sp>
        <p:nvSpPr>
          <p:cNvPr id="39" name="[p4] Forma"/>
          <p:cNvSpPr/>
          <p:nvPr/>
        </p:nvSpPr>
        <p:spPr>
          <a:xfrm>
            <a:off x="4725048" y="4123944"/>
            <a:ext cx="0" cy="955548"/>
          </a:xfrm>
          <a:prstGeom prst="line">
            <a:avLst/>
          </a:prstGeom>
          <a:noFill/>
          <a:ln w="25400">
            <a:solidFill>
              <a:srgbClr val="55627E"/>
            </a:solidFill>
            <a:prstDash val="dash"/>
          </a:ln>
        </p:spPr>
      </p:sp>
      <p:sp>
        <p:nvSpPr>
          <p:cNvPr id="40" name="[p4] Forma"/>
          <p:cNvSpPr/>
          <p:nvPr/>
        </p:nvSpPr>
        <p:spPr>
          <a:xfrm>
            <a:off x="4725048" y="5079492"/>
            <a:ext cx="457200" cy="0"/>
          </a:xfrm>
          <a:prstGeom prst="line">
            <a:avLst/>
          </a:prstGeom>
          <a:noFill/>
          <a:ln w="25400">
            <a:solidFill>
              <a:srgbClr val="55627E"/>
            </a:solidFill>
            <a:prstDash val="dash"/>
            <a:tailEnd type="triangle"/>
          </a:ln>
        </p:spPr>
      </p:sp>
      <p:sp>
        <p:nvSpPr>
          <p:cNvPr id="41" name="[p4] Forma"/>
          <p:cNvSpPr/>
          <p:nvPr/>
        </p:nvSpPr>
        <p:spPr>
          <a:xfrm>
            <a:off x="3262008" y="4750308"/>
            <a:ext cx="1371600" cy="274320"/>
          </a:xfrm>
          <a:prstGeom prst="rect">
            <a:avLst/>
          </a:prstGeom>
          <a:noFill/>
          <a:ln/>
        </p:spPr>
        <p:txBody>
          <a:bodyPr wrap="square" lIns="0" tIns="0" rIns="0" bIns="0" rtlCol="0" anchor="t">
            <a:normAutofit/>
          </a:bodyPr>
          <a:lstStyle/>
          <a:p>
            <a:pPr algn="r" indent="0" marL="0">
              <a:buNone/>
            </a:pPr>
            <a:r>
              <a:rPr lang="en-US" sz="1100" b="1" dirty="0">
                <a:solidFill>
                  <a:srgbClr val="55627E"/>
                </a:solidFill>
                <a:latin typeface="Segoe UI" pitchFamily="34" charset="0"/>
                <a:ea typeface="Segoe UI" pitchFamily="34" charset="-122"/>
                <a:cs typeface="Segoe UI" pitchFamily="34" charset="-120"/>
              </a:rPr>
              <a:t>ya estaba</a:t>
            </a:r>
            <a:endParaRPr lang="en-US" sz="1100" dirty="0"/>
          </a:p>
        </p:txBody>
      </p:sp>
      <p:sp>
        <p:nvSpPr>
          <p:cNvPr id="42" name="[p4] Forma"/>
          <p:cNvSpPr/>
          <p:nvPr/>
        </p:nvSpPr>
        <p:spPr>
          <a:xfrm>
            <a:off x="5182248" y="4645152"/>
            <a:ext cx="4206240" cy="868680"/>
          </a:xfrm>
          <a:prstGeom prst="roundRect">
            <a:avLst>
              <a:gd name="adj" fmla="val 14737"/>
            </a:avLst>
          </a:prstGeom>
          <a:solidFill>
            <a:srgbClr val="F4F7FB"/>
          </a:solidFill>
          <a:ln w="12700">
            <a:solidFill>
              <a:srgbClr val="AAB1BF"/>
            </a:solidFill>
            <a:prstDash val="solid"/>
          </a:ln>
          <a:effectLst>
            <a:outerShdw sx="100000" sy="100000" kx="0" ky="0" algn="bl" rotWithShape="0" blurRad="76200" dist="19050" dir="5400000">
              <a:srgbClr val="0B1F3A">
                <a:alpha val="14000"/>
              </a:srgbClr>
            </a:outerShdw>
          </a:effectLst>
        </p:spPr>
      </p:sp>
      <p:sp>
        <p:nvSpPr>
          <p:cNvPr id="43" name="[p4] Forma"/>
          <p:cNvSpPr/>
          <p:nvPr/>
        </p:nvSpPr>
        <p:spPr>
          <a:xfrm>
            <a:off x="5346840" y="4800600"/>
            <a:ext cx="548640" cy="548640"/>
          </a:xfrm>
          <a:prstGeom prst="ellipse">
            <a:avLst/>
          </a:prstGeom>
          <a:solidFill>
            <a:srgbClr val="FFFFFF"/>
          </a:solidFill>
          <a:ln w="12700">
            <a:solidFill>
              <a:srgbClr val="FFFFFF"/>
            </a:solidFill>
            <a:prstDash val="solid"/>
          </a:ln>
        </p:spPr>
      </p:sp>
      <p:sp>
        <p:nvSpPr>
          <p:cNvPr id="44" name="[p4] Icono ban"/>
          <p:cNvSpPr/>
          <p:nvPr/>
        </p:nvSpPr>
        <p:spPr>
          <a:xfrm>
            <a:off x="5478513" y="4932274"/>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58247" y="58247"/>
                </a:moveTo>
                <a:lnTo>
                  <a:pt x="227046" y="227046"/>
                </a:lnTo>
              </a:path>
            </a:pathLst>
          </a:custGeom>
          <a:noFill/>
          <a:ln w="23774" cap="rnd">
            <a:solidFill>
              <a:srgbClr val="55627E"/>
            </a:solidFill>
            <a:prstDash val="solid"/>
            <a:round/>
          </a:ln>
        </p:spPr>
      </p:sp>
      <p:sp>
        <p:nvSpPr>
          <p:cNvPr id="45" name="[p4] Forma"/>
          <p:cNvSpPr/>
          <p:nvPr/>
        </p:nvSpPr>
        <p:spPr>
          <a:xfrm>
            <a:off x="6023496" y="4754880"/>
            <a:ext cx="3246120" cy="329184"/>
          </a:xfrm>
          <a:prstGeom prst="rect">
            <a:avLst/>
          </a:prstGeom>
          <a:noFill/>
          <a:ln/>
        </p:spPr>
        <p:txBody>
          <a:bodyPr wrap="square" lIns="0" tIns="0" rIns="0" bIns="0" rtlCol="0" anchor="t">
            <a:normAutofit/>
          </a:bodyPr>
          <a:lstStyle/>
          <a:p>
            <a:pPr algn="l" indent="0" marL="0">
              <a:buNone/>
            </a:pPr>
            <a:r>
              <a:rPr lang="en-US" sz="1450" b="1" dirty="0">
                <a:solidFill>
                  <a:srgbClr val="55627E"/>
                </a:solidFill>
                <a:latin typeface="Segoe UI Semibold" pitchFamily="34" charset="0"/>
                <a:ea typeface="Segoe UI Semibold" pitchFamily="34" charset="-122"/>
                <a:cs typeface="Segoe UI Semibold" pitchFamily="34" charset="-120"/>
              </a:rPr>
              <a:t>Ignorarlo</a:t>
            </a:r>
            <a:endParaRPr lang="en-US" sz="1450" dirty="0"/>
          </a:p>
        </p:txBody>
      </p:sp>
      <p:sp>
        <p:nvSpPr>
          <p:cNvPr id="46" name="[p4] Forma"/>
          <p:cNvSpPr/>
          <p:nvPr/>
        </p:nvSpPr>
        <p:spPr>
          <a:xfrm>
            <a:off x="6023496" y="5084064"/>
            <a:ext cx="3246120" cy="365760"/>
          </a:xfrm>
          <a:prstGeom prst="rect">
            <a:avLst/>
          </a:prstGeom>
          <a:noFill/>
          <a:ln/>
        </p:spPr>
        <p:txBody>
          <a:bodyPr wrap="square" lIns="0" tIns="0" rIns="0" bIns="0" rtlCol="0" anchor="t">
            <a:normAutofit/>
          </a:bodyPr>
          <a:lstStyle/>
          <a:p>
            <a:pPr algn="l" indent="0" marL="0">
              <a:buNone/>
            </a:pPr>
            <a:r>
              <a:rPr lang="en-US" sz="1150" dirty="0">
                <a:solidFill>
                  <a:srgbClr val="0B1A3C"/>
                </a:solidFill>
                <a:latin typeface="Segoe UI" pitchFamily="34" charset="0"/>
                <a:ea typeface="Segoe UI" pitchFamily="34" charset="-122"/>
                <a:cs typeface="Segoe UI" pitchFamily="34" charset="-120"/>
              </a:rPr>
              <a:t>No se crea otro aviso. Duplicados: cero.</a:t>
            </a:r>
            <a:endParaRPr lang="en-US" sz="115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4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par>
                    <p:cTn id="87" fill="hold">
                      <p:stCondLst>
                        <p:cond delay="indefinite"/>
                      </p:stCondLst>
                      <p:childTnLst>
                        <p:par>
                          <p:cTn id="88"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400"/>
                                        <p:tgtEl>
                                          <p:spTgt spid="4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400"/>
                                        <p:tgtEl>
                                          <p:spTgt spid="4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400"/>
                                        <p:tgtEl>
                                          <p:spTgt spid="4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animEffect transition="in" filter="fade">
                                      <p:cBhvr>
                                        <p:cTn id="83" dur="400"/>
                                        <p:tgtEl>
                                          <p:spTgt spid="4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6"/>
                                        </p:tgtEl>
                                        <p:attrNameLst>
                                          <p:attrName>style.visibility</p:attrName>
                                        </p:attrNameLst>
                                      </p:cBhvr>
                                      <p:to>
                                        <p:strVal val="visible"/>
                                      </p:to>
                                    </p:set>
                                    <p:animEffect transition="in" filter="fade">
                                      <p:cBhvr>
                                        <p:cTn id="86"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INTERCONEXIÓN DE SERVICIOS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Interconexión: lo que aprendimos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2BA6CB"/>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DFE6F0"/>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886968" y="1645920"/>
            <a:ext cx="713232" cy="713232"/>
          </a:xfrm>
          <a:prstGeom prst="ellipse">
            <a:avLst/>
          </a:prstGeom>
          <a:solidFill>
            <a:srgbClr val="2BA6CB"/>
          </a:solidFill>
          <a:ln w="12700">
            <a:solidFill>
              <a:srgbClr val="2BA6CB"/>
            </a:solidFill>
            <a:prstDash val="solid"/>
          </a:ln>
        </p:spPr>
      </p:sp>
      <p:sp>
        <p:nvSpPr>
          <p:cNvPr id="13" name="Icono waypoints"/>
          <p:cNvSpPr/>
          <p:nvPr/>
        </p:nvSpPr>
        <p:spPr>
          <a:xfrm>
            <a:off x="1058144" y="1817096"/>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1F3A"/>
            </a:solidFill>
            <a:prstDash val="solid"/>
            <a:round/>
          </a:ln>
        </p:spPr>
      </p:sp>
      <p:sp>
        <p:nvSpPr>
          <p:cNvPr id="14" name="Text 12"/>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5" name="Text 13"/>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6" name="Text 14"/>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a:t>
            </a:r>
            <a:endParaRPr lang="en-US" sz="1300" dirty="0"/>
          </a:p>
        </p:txBody>
      </p:sp>
      <p:sp>
        <p:nvSpPr>
          <p:cNvPr id="17" name="Shape 15"/>
          <p:cNvSpPr/>
          <p:nvPr/>
        </p:nvSpPr>
        <p:spPr>
          <a:xfrm>
            <a:off x="886968" y="4489704"/>
            <a:ext cx="2423160" cy="0"/>
          </a:xfrm>
          <a:prstGeom prst="line">
            <a:avLst/>
          </a:prstGeom>
          <a:noFill/>
          <a:ln w="9525">
            <a:solidFill>
              <a:srgbClr val="3C4C61"/>
            </a:solidFill>
            <a:prstDash val="solid"/>
          </a:ln>
        </p:spPr>
      </p:sp>
      <p:sp>
        <p:nvSpPr>
          <p:cNvPr id="18" name="Text 16"/>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9" name="Text 17"/>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duplicados</a:t>
            </a:r>
            <a:endParaRPr lang="en-US" sz="1300" dirty="0"/>
          </a:p>
        </p:txBody>
      </p:sp>
      <p:sp>
        <p:nvSpPr>
          <p:cNvPr id="20"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2" name="[p1] Icono send"/>
          <p:cNvSpPr/>
          <p:nvPr/>
        </p:nvSpPr>
        <p:spPr>
          <a:xfrm>
            <a:off x="4258544" y="1740515"/>
            <a:ext cx="370881" cy="370881"/>
          </a:xfrm>
          <a:custGeom>
            <a:avLst/>
            <a:gdLst/>
            <a:ahLst/>
            <a:cxnLst/>
            <a:rect l="l" t="t" r="r" b="b"/>
            <a:pathLst>
              <a:path w="370881" h="370881">
                <a:moveTo>
                  <a:pt x="224630" y="335122"/>
                </a:moveTo>
                <a:cubicBezTo>
                  <a:pt x="225832" y="338118"/>
                  <a:pt x="228771" y="340051"/>
                  <a:pt x="231999" y="339968"/>
                </a:cubicBezTo>
                <a:cubicBezTo>
                  <a:pt x="235227" y="339886"/>
                  <a:pt x="238062" y="337805"/>
                  <a:pt x="239110" y="334751"/>
                </a:cubicBezTo>
                <a:lnTo>
                  <a:pt x="339557" y="41137"/>
                </a:lnTo>
                <a:cubicBezTo>
                  <a:pt x="340566" y="38342"/>
                  <a:pt x="339869" y="35215"/>
                  <a:pt x="337768" y="33113"/>
                </a:cubicBezTo>
                <a:cubicBezTo>
                  <a:pt x="335666" y="31012"/>
                  <a:pt x="332539" y="30314"/>
                  <a:pt x="329744" y="31324"/>
                </a:cubicBezTo>
                <a:lnTo>
                  <a:pt x="36130" y="131771"/>
                </a:lnTo>
                <a:cubicBezTo>
                  <a:pt x="33076" y="132818"/>
                  <a:pt x="30995" y="135654"/>
                  <a:pt x="30912" y="138882"/>
                </a:cubicBezTo>
                <a:cubicBezTo>
                  <a:pt x="30830" y="142109"/>
                  <a:pt x="32763" y="145048"/>
                  <a:pt x="35759" y="146251"/>
                </a:cubicBezTo>
                <a:lnTo>
                  <a:pt x="158304" y="195392"/>
                </a:lnTo>
                <a:cubicBezTo>
                  <a:pt x="166132" y="198526"/>
                  <a:pt x="172340" y="204723"/>
                  <a:pt x="175488" y="212546"/>
                </a:cubicBezTo>
                <a:close/>
                <a:moveTo>
                  <a:pt x="337718" y="33178"/>
                </a:moveTo>
                <a:lnTo>
                  <a:pt x="168658" y="202223"/>
                </a:lnTo>
              </a:path>
            </a:pathLst>
          </a:custGeom>
          <a:noFill/>
          <a:ln w="30907" cap="rnd">
            <a:solidFill>
              <a:srgbClr val="0B2350"/>
            </a:solidFill>
            <a:prstDash val="solid"/>
            <a:round/>
          </a:ln>
        </p:spPr>
      </p:sp>
      <p:sp>
        <p:nvSpPr>
          <p:cNvPr id="23"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Síncrono para ver, asíncrono para avisar</a:t>
            </a:r>
            <a:endParaRPr lang="en-US" sz="1500" dirty="0"/>
          </a:p>
        </p:txBody>
      </p:sp>
      <p:sp>
        <p:nvSpPr>
          <p:cNvPr id="24"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UI espera la respuesta; el evento se entrega después.</a:t>
            </a:r>
            <a:endParaRPr lang="en-US" sz="1150" dirty="0"/>
          </a:p>
        </p:txBody>
      </p:sp>
      <p:sp>
        <p:nvSpPr>
          <p:cNvPr id="25"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6"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7"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8"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00" b="1" dirty="0">
                <a:solidFill>
                  <a:srgbClr val="0B1A3C"/>
                </a:solidFill>
                <a:latin typeface="Segoe UI" pitchFamily="34" charset="0"/>
                <a:ea typeface="Segoe UI" pitchFamily="34" charset="-122"/>
                <a:cs typeface="Segoe UI" pitchFamily="34" charset="-120"/>
              </a:rPr>
              <a:t>Una caída parcial no detiene a quien usa el sistema.</a:t>
            </a:r>
            <a:endParaRPr lang="en-US" sz="1300" dirty="0"/>
          </a:p>
        </p:txBody>
      </p:sp>
      <p:sp>
        <p:nvSpPr>
          <p:cNvPr id="29"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1" name="[p2] Icono inbox"/>
          <p:cNvSpPr/>
          <p:nvPr/>
        </p:nvSpPr>
        <p:spPr>
          <a:xfrm>
            <a:off x="4258544" y="3032105"/>
            <a:ext cx="370881" cy="370881"/>
          </a:xfrm>
          <a:custGeom>
            <a:avLst/>
            <a:gdLst/>
            <a:ahLst/>
            <a:cxnLst/>
            <a:rect l="l" t="t" r="r" b="b"/>
            <a:pathLst>
              <a:path w="370881" h="370881">
                <a:moveTo>
                  <a:pt x="339974" y="185440"/>
                </a:moveTo>
                <a:lnTo>
                  <a:pt x="247254" y="185440"/>
                </a:lnTo>
                <a:lnTo>
                  <a:pt x="216347" y="231800"/>
                </a:lnTo>
                <a:lnTo>
                  <a:pt x="154534" y="231800"/>
                </a:lnTo>
                <a:lnTo>
                  <a:pt x="123627" y="185440"/>
                </a:lnTo>
                <a:lnTo>
                  <a:pt x="30907" y="185440"/>
                </a:lnTo>
                <a:moveTo>
                  <a:pt x="84221" y="78967"/>
                </a:moveTo>
                <a:lnTo>
                  <a:pt x="30907" y="185440"/>
                </a:lnTo>
                <a:lnTo>
                  <a:pt x="30907" y="278160"/>
                </a:lnTo>
                <a:cubicBezTo>
                  <a:pt x="30907" y="295230"/>
                  <a:pt x="44744" y="309067"/>
                  <a:pt x="61813" y="309067"/>
                </a:cubicBezTo>
                <a:lnTo>
                  <a:pt x="309067" y="309067"/>
                </a:lnTo>
                <a:cubicBezTo>
                  <a:pt x="326137" y="309067"/>
                  <a:pt x="339974" y="295230"/>
                  <a:pt x="339974" y="278160"/>
                </a:cubicBezTo>
                <a:lnTo>
                  <a:pt x="339974" y="185440"/>
                </a:lnTo>
                <a:lnTo>
                  <a:pt x="286660" y="78967"/>
                </a:lnTo>
                <a:cubicBezTo>
                  <a:pt x="281441" y="68464"/>
                  <a:pt x="270727" y="61820"/>
                  <a:pt x="258998" y="61813"/>
                </a:cubicBezTo>
                <a:lnTo>
                  <a:pt x="111882" y="61813"/>
                </a:lnTo>
                <a:cubicBezTo>
                  <a:pt x="100154" y="61820"/>
                  <a:pt x="89440" y="68464"/>
                  <a:pt x="84221" y="78967"/>
                </a:cubicBezTo>
                <a:close/>
              </a:path>
            </a:pathLst>
          </a:custGeom>
          <a:noFill/>
          <a:ln w="30907" cap="rnd">
            <a:solidFill>
              <a:srgbClr val="0B2350"/>
            </a:solidFill>
            <a:prstDash val="solid"/>
            <a:round/>
          </a:ln>
        </p:spPr>
      </p:sp>
      <p:sp>
        <p:nvSpPr>
          <p:cNvPr id="32"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primero, avisar después</a:t>
            </a:r>
            <a:endParaRPr lang="en-US" sz="1500" dirty="0"/>
          </a:p>
        </p:txBody>
      </p:sp>
      <p:sp>
        <p:nvSpPr>
          <p:cNvPr id="33"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 y evento en la misma transacción; el relevador entrega.</a:t>
            </a:r>
            <a:endParaRPr lang="en-US" sz="1150" dirty="0"/>
          </a:p>
        </p:txBody>
      </p:sp>
      <p:sp>
        <p:nvSpPr>
          <p:cNvPr id="34"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5"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6"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7"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servicio caído no hace perder información.</a:t>
            </a:r>
            <a:endParaRPr lang="en-US" sz="1350" dirty="0"/>
          </a:p>
        </p:txBody>
      </p:sp>
      <p:sp>
        <p:nvSpPr>
          <p:cNvPr id="38"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0" name="[p3] Icono fingerprint"/>
          <p:cNvSpPr/>
          <p:nvPr/>
        </p:nvSpPr>
        <p:spPr>
          <a:xfrm>
            <a:off x="4258544" y="4323695"/>
            <a:ext cx="370881" cy="370881"/>
          </a:xfrm>
          <a:custGeom>
            <a:avLst/>
            <a:gdLst/>
            <a:ahLst/>
            <a:cxnLst/>
            <a:rect l="l" t="t" r="r" b="b"/>
            <a:pathLst>
              <a:path w="370881" h="370881">
                <a:moveTo>
                  <a:pt x="185440" y="154534"/>
                </a:moveTo>
                <a:cubicBezTo>
                  <a:pt x="168371" y="154534"/>
                  <a:pt x="154534" y="168371"/>
                  <a:pt x="154534" y="185440"/>
                </a:cubicBezTo>
                <a:cubicBezTo>
                  <a:pt x="154534" y="201203"/>
                  <a:pt x="152988" y="224228"/>
                  <a:pt x="150516" y="247254"/>
                </a:cubicBezTo>
                <a:moveTo>
                  <a:pt x="216347" y="202748"/>
                </a:moveTo>
                <a:cubicBezTo>
                  <a:pt x="216347" y="239527"/>
                  <a:pt x="216347" y="301341"/>
                  <a:pt x="200894" y="339974"/>
                </a:cubicBezTo>
                <a:moveTo>
                  <a:pt x="267189" y="324830"/>
                </a:moveTo>
                <a:cubicBezTo>
                  <a:pt x="269043" y="315558"/>
                  <a:pt x="273834" y="289287"/>
                  <a:pt x="274915" y="278160"/>
                </a:cubicBezTo>
                <a:moveTo>
                  <a:pt x="30907" y="185440"/>
                </a:moveTo>
                <a:cubicBezTo>
                  <a:pt x="30907" y="118924"/>
                  <a:pt x="73470" y="59871"/>
                  <a:pt x="136573" y="38837"/>
                </a:cubicBezTo>
                <a:cubicBezTo>
                  <a:pt x="199675" y="17803"/>
                  <a:pt x="269158" y="39507"/>
                  <a:pt x="309067" y="92720"/>
                </a:cubicBezTo>
                <a:moveTo>
                  <a:pt x="30907" y="247254"/>
                </a:moveTo>
                <a:lnTo>
                  <a:pt x="31061" y="247254"/>
                </a:lnTo>
                <a:moveTo>
                  <a:pt x="336883" y="247254"/>
                </a:moveTo>
                <a:cubicBezTo>
                  <a:pt x="339974" y="216347"/>
                  <a:pt x="338908" y="164516"/>
                  <a:pt x="336883" y="154534"/>
                </a:cubicBezTo>
                <a:moveTo>
                  <a:pt x="77267" y="301341"/>
                </a:moveTo>
                <a:cubicBezTo>
                  <a:pt x="84993" y="278160"/>
                  <a:pt x="92720" y="231800"/>
                  <a:pt x="92720" y="185440"/>
                </a:cubicBezTo>
                <a:cubicBezTo>
                  <a:pt x="92705" y="174915"/>
                  <a:pt x="94481" y="164463"/>
                  <a:pt x="97974" y="154534"/>
                </a:cubicBezTo>
                <a:moveTo>
                  <a:pt x="133672" y="339974"/>
                </a:moveTo>
                <a:cubicBezTo>
                  <a:pt x="136917" y="329775"/>
                  <a:pt x="140626" y="319575"/>
                  <a:pt x="142480" y="309067"/>
                </a:cubicBezTo>
                <a:moveTo>
                  <a:pt x="139080" y="105083"/>
                </a:moveTo>
                <a:cubicBezTo>
                  <a:pt x="167777" y="88515"/>
                  <a:pt x="203135" y="88520"/>
                  <a:pt x="231826" y="105098"/>
                </a:cubicBezTo>
                <a:cubicBezTo>
                  <a:pt x="260518" y="121675"/>
                  <a:pt x="278182" y="152304"/>
                  <a:pt x="278160" y="185440"/>
                </a:cubicBezTo>
                <a:lnTo>
                  <a:pt x="278160" y="216347"/>
                </a:lnTo>
              </a:path>
            </a:pathLst>
          </a:custGeom>
          <a:noFill/>
          <a:ln w="30907" cap="rnd">
            <a:solidFill>
              <a:srgbClr val="0B2350"/>
            </a:solidFill>
            <a:prstDash val="solid"/>
            <a:round/>
          </a:ln>
        </p:spPr>
      </p:sp>
      <p:sp>
        <p:nvSpPr>
          <p:cNvPr id="41"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Todo reintento necesita idempotencia</a:t>
            </a:r>
            <a:endParaRPr lang="en-US" sz="1500" dirty="0"/>
          </a:p>
        </p:txBody>
      </p:sp>
      <p:sp>
        <p:nvSpPr>
          <p:cNvPr id="42"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Un número de evento fijo y la lista de los ya recibidos.</a:t>
            </a:r>
            <a:endParaRPr lang="en-US" sz="1150" dirty="0"/>
          </a:p>
        </p:txBody>
      </p:sp>
      <p:sp>
        <p:nvSpPr>
          <p:cNvPr id="43"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4"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5"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6"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Reintentar sin miedo a duplicar.</a:t>
            </a:r>
            <a:endParaRPr lang="en-US" sz="1350" dirty="0"/>
          </a:p>
        </p:txBody>
      </p:sp>
      <p:sp>
        <p:nvSpPr>
          <p:cNvPr id="47"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49" name="[p4] Icono file-json"/>
          <p:cNvSpPr/>
          <p:nvPr/>
        </p:nvSpPr>
        <p:spPr>
          <a:xfrm>
            <a:off x="4258544" y="5615285"/>
            <a:ext cx="370881" cy="370881"/>
          </a:xfrm>
          <a:custGeom>
            <a:avLst/>
            <a:gdLst/>
            <a:ahLst/>
            <a:cxnLst/>
            <a:rect l="l" t="t" r="r" b="b"/>
            <a:pathLst>
              <a:path w="370881" h="370881">
                <a:moveTo>
                  <a:pt x="231800" y="30907"/>
                </a:moveTo>
                <a:lnTo>
                  <a:pt x="92720" y="30907"/>
                </a:lnTo>
                <a:cubicBezTo>
                  <a:pt x="75651" y="30907"/>
                  <a:pt x="61813" y="44744"/>
                  <a:pt x="61813" y="61813"/>
                </a:cubicBezTo>
                <a:lnTo>
                  <a:pt x="61813" y="309067"/>
                </a:lnTo>
                <a:cubicBezTo>
                  <a:pt x="61813" y="326137"/>
                  <a:pt x="75651" y="339974"/>
                  <a:pt x="92720" y="339974"/>
                </a:cubicBezTo>
                <a:lnTo>
                  <a:pt x="278160" y="339974"/>
                </a:lnTo>
                <a:cubicBezTo>
                  <a:pt x="295230" y="339974"/>
                  <a:pt x="309067" y="326137"/>
                  <a:pt x="309067" y="309067"/>
                </a:cubicBezTo>
                <a:lnTo>
                  <a:pt x="309067" y="108174"/>
                </a:lnTo>
                <a:close/>
                <a:moveTo>
                  <a:pt x="216347" y="30907"/>
                </a:moveTo>
                <a:lnTo>
                  <a:pt x="216347" y="92720"/>
                </a:lnTo>
                <a:cubicBezTo>
                  <a:pt x="216347" y="109789"/>
                  <a:pt x="230184" y="123627"/>
                  <a:pt x="247254" y="123627"/>
                </a:cubicBezTo>
                <a:lnTo>
                  <a:pt x="309067" y="123627"/>
                </a:lnTo>
                <a:moveTo>
                  <a:pt x="154534" y="185440"/>
                </a:moveTo>
                <a:cubicBezTo>
                  <a:pt x="145999" y="185440"/>
                  <a:pt x="139080" y="192359"/>
                  <a:pt x="139080" y="200894"/>
                </a:cubicBezTo>
                <a:lnTo>
                  <a:pt x="139080" y="216347"/>
                </a:lnTo>
                <a:cubicBezTo>
                  <a:pt x="139080" y="224882"/>
                  <a:pt x="132162" y="231800"/>
                  <a:pt x="123627" y="231800"/>
                </a:cubicBezTo>
                <a:cubicBezTo>
                  <a:pt x="132162" y="231800"/>
                  <a:pt x="139080" y="238719"/>
                  <a:pt x="139080" y="247254"/>
                </a:cubicBezTo>
                <a:lnTo>
                  <a:pt x="139080" y="262707"/>
                </a:lnTo>
                <a:cubicBezTo>
                  <a:pt x="139080" y="271242"/>
                  <a:pt x="145999" y="278160"/>
                  <a:pt x="154534" y="278160"/>
                </a:cubicBezTo>
                <a:moveTo>
                  <a:pt x="216347" y="278160"/>
                </a:moveTo>
                <a:cubicBezTo>
                  <a:pt x="224882" y="278160"/>
                  <a:pt x="231800" y="271242"/>
                  <a:pt x="231800" y="262707"/>
                </a:cubicBezTo>
                <a:lnTo>
                  <a:pt x="231800" y="247254"/>
                </a:lnTo>
                <a:cubicBezTo>
                  <a:pt x="231800" y="238719"/>
                  <a:pt x="238719" y="231800"/>
                  <a:pt x="247254" y="231800"/>
                </a:cubicBezTo>
                <a:cubicBezTo>
                  <a:pt x="238719" y="231800"/>
                  <a:pt x="231800" y="224882"/>
                  <a:pt x="231800" y="216347"/>
                </a:cubicBezTo>
                <a:lnTo>
                  <a:pt x="231800" y="200894"/>
                </a:lnTo>
                <a:cubicBezTo>
                  <a:pt x="231800" y="192359"/>
                  <a:pt x="224882" y="185440"/>
                  <a:pt x="216347" y="185440"/>
                </a:cubicBezTo>
              </a:path>
            </a:pathLst>
          </a:custGeom>
          <a:noFill/>
          <a:ln w="30907" cap="rnd">
            <a:solidFill>
              <a:srgbClr val="0B2350"/>
            </a:solidFill>
            <a:prstDash val="solid"/>
            <a:round/>
          </a:ln>
        </p:spPr>
      </p:sp>
      <p:sp>
        <p:nvSpPr>
          <p:cNvPr id="50"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El contrato es lo único compartido</a:t>
            </a:r>
            <a:endParaRPr lang="en-US" sz="1500" dirty="0"/>
          </a:p>
        </p:txBody>
      </p:sp>
      <p:sp>
        <p:nvSpPr>
          <p:cNvPr id="51"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SolicitudEnviada: eventoId, id y tipo, igual en los dos lados.</a:t>
            </a:r>
            <a:endParaRPr lang="en-US" sz="1150" dirty="0"/>
          </a:p>
        </p:txBody>
      </p:sp>
      <p:sp>
        <p:nvSpPr>
          <p:cNvPr id="52"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3"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4"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5"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Equipos independientes con un acuerdo claro.</a:t>
            </a:r>
            <a:endParaRPr lang="en-US" sz="135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INTERCONEXIÓN DE SERVICIOS</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4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fade">
                                      <p:cBhvr>
                                        <p:cTn id="98" dur="400"/>
                                        <p:tgtEl>
                                          <p:spTgt spid="4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fade">
                                      <p:cBhvr>
                                        <p:cTn id="101" dur="400"/>
                                        <p:tgtEl>
                                          <p:spTgt spid="5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400"/>
                                        <p:tgtEl>
                                          <p:spTgt spid="5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fade">
                                      <p:cBhvr>
                                        <p:cTn id="107" dur="400"/>
                                        <p:tgtEl>
                                          <p:spTgt spid="5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fade">
                                      <p:cBhvr>
                                        <p:cTn id="110" dur="400"/>
                                        <p:tgtEl>
                                          <p:spTgt spid="5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fade">
                                      <p:cBhvr>
                                        <p:cTn id="113" dur="400"/>
                                        <p:tgtEl>
                                          <p:spTgt spid="5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DevOps? Del código a la operación</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00" dirty="0">
                <a:solidFill>
                  <a:srgbClr val="55627E"/>
                </a:solidFill>
                <a:latin typeface="Segoe UI" pitchFamily="34" charset="0"/>
                <a:ea typeface="Segoe UI" pitchFamily="34" charset="-122"/>
                <a:cs typeface="Segoe UI" pitchFamily="34" charset="-120"/>
              </a:rPr>
              <a:t>No es una herramienta: es un solo camino, automático y repetible, del código a producción y de vuelta.</a:t>
            </a:r>
            <a:endParaRPr lang="en-US" sz="1600" dirty="0"/>
          </a:p>
        </p:txBody>
      </p:sp>
      <p:sp>
        <p:nvSpPr>
          <p:cNvPr id="12" name="Shape 10"/>
          <p:cNvSpPr/>
          <p:nvPr/>
        </p:nvSpPr>
        <p:spPr>
          <a:xfrm>
            <a:off x="612648" y="2805353"/>
            <a:ext cx="1707707" cy="1366166"/>
          </a:xfrm>
          <a:prstGeom prst="homePlate">
            <a:avLst/>
          </a:prstGeom>
          <a:solidFill>
            <a:srgbClr val="0B235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3" name="Icono git-branch"/>
          <p:cNvSpPr/>
          <p:nvPr/>
        </p:nvSpPr>
        <p:spPr>
          <a:xfrm>
            <a:off x="1169578" y="3051263"/>
            <a:ext cx="464496" cy="464496"/>
          </a:xfrm>
          <a:custGeom>
            <a:avLst/>
            <a:gdLst/>
            <a:ahLst/>
            <a:cxnLst/>
            <a:rect l="l" t="t" r="r" b="b"/>
            <a:pathLst>
              <a:path w="464496" h="464496">
                <a:moveTo>
                  <a:pt x="116124" y="58062"/>
                </a:moveTo>
                <a:lnTo>
                  <a:pt x="116124" y="290310"/>
                </a:lnTo>
                <a:moveTo>
                  <a:pt x="406434" y="116124"/>
                </a:moveTo>
                <a:cubicBezTo>
                  <a:pt x="406434" y="148191"/>
                  <a:pt x="380439" y="174186"/>
                  <a:pt x="348372" y="174186"/>
                </a:cubicBezTo>
                <a:cubicBezTo>
                  <a:pt x="316306" y="174186"/>
                  <a:pt x="290310" y="148191"/>
                  <a:pt x="290310" y="116124"/>
                </a:cubicBezTo>
                <a:cubicBezTo>
                  <a:pt x="290310" y="84057"/>
                  <a:pt x="316306" y="58062"/>
                  <a:pt x="348372" y="58062"/>
                </a:cubicBezTo>
                <a:cubicBezTo>
                  <a:pt x="380439" y="58062"/>
                  <a:pt x="406434" y="84057"/>
                  <a:pt x="406434" y="116124"/>
                </a:cubicBezTo>
                <a:close/>
                <a:moveTo>
                  <a:pt x="174186" y="348372"/>
                </a:moveTo>
                <a:cubicBezTo>
                  <a:pt x="174186" y="380439"/>
                  <a:pt x="148191" y="406434"/>
                  <a:pt x="116124" y="406434"/>
                </a:cubicBezTo>
                <a:cubicBezTo>
                  <a:pt x="84057" y="406434"/>
                  <a:pt x="58062" y="380439"/>
                  <a:pt x="58062" y="348372"/>
                </a:cubicBezTo>
                <a:cubicBezTo>
                  <a:pt x="58062" y="316306"/>
                  <a:pt x="84057" y="290310"/>
                  <a:pt x="116124" y="290310"/>
                </a:cubicBezTo>
                <a:cubicBezTo>
                  <a:pt x="148191" y="290310"/>
                  <a:pt x="174186" y="316306"/>
                  <a:pt x="174186" y="348372"/>
                </a:cubicBezTo>
                <a:close/>
                <a:moveTo>
                  <a:pt x="348372" y="174186"/>
                </a:moveTo>
                <a:cubicBezTo>
                  <a:pt x="348372" y="270386"/>
                  <a:pt x="270386" y="348372"/>
                  <a:pt x="174186" y="348372"/>
                </a:cubicBezTo>
              </a:path>
            </a:pathLst>
          </a:custGeom>
          <a:noFill/>
          <a:ln w="38708" cap="rnd">
            <a:solidFill>
              <a:srgbClr val="FFFFFF"/>
            </a:solidFill>
            <a:prstDash val="solid"/>
            <a:round/>
          </a:ln>
        </p:spPr>
      </p:sp>
      <p:sp>
        <p:nvSpPr>
          <p:cNvPr id="14" name="Text 12"/>
          <p:cNvSpPr/>
          <p:nvPr/>
        </p:nvSpPr>
        <p:spPr>
          <a:xfrm>
            <a:off x="722376" y="3607199"/>
            <a:ext cx="1358900"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Código</a:t>
            </a:r>
            <a:endParaRPr lang="en-US" sz="1400" dirty="0"/>
          </a:p>
        </p:txBody>
      </p:sp>
      <p:sp>
        <p:nvSpPr>
          <p:cNvPr id="15" name="Text 13"/>
          <p:cNvSpPr/>
          <p:nvPr/>
        </p:nvSpPr>
        <p:spPr>
          <a:xfrm>
            <a:off x="722376"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Ramas y Pull Request.</a:t>
            </a:r>
            <a:endParaRPr lang="en-US" sz="1400" dirty="0"/>
          </a:p>
        </p:txBody>
      </p:sp>
      <p:sp>
        <p:nvSpPr>
          <p:cNvPr id="16" name="Shape 14"/>
          <p:cNvSpPr/>
          <p:nvPr/>
        </p:nvSpPr>
        <p:spPr>
          <a:xfrm>
            <a:off x="1420782" y="4226383"/>
            <a:ext cx="0" cy="109728"/>
          </a:xfrm>
          <a:prstGeom prst="line">
            <a:avLst/>
          </a:prstGeom>
          <a:noFill/>
          <a:ln w="25400">
            <a:solidFill>
              <a:srgbClr val="0B2350"/>
            </a:solidFill>
            <a:prstDash val="solid"/>
          </a:ln>
        </p:spPr>
      </p:sp>
      <p:sp>
        <p:nvSpPr>
          <p:cNvPr id="17" name="[p1] Forma"/>
          <p:cNvSpPr/>
          <p:nvPr/>
        </p:nvSpPr>
        <p:spPr>
          <a:xfrm>
            <a:off x="2155763" y="2805353"/>
            <a:ext cx="1707707" cy="1366166"/>
          </a:xfrm>
          <a:prstGeom prst="chevron">
            <a:avLst/>
          </a:prstGeom>
          <a:solidFill>
            <a:srgbClr val="0B305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18" name="[p1] Icono settings"/>
          <p:cNvSpPr/>
          <p:nvPr/>
        </p:nvSpPr>
        <p:spPr>
          <a:xfrm>
            <a:off x="2931062" y="3051263"/>
            <a:ext cx="464496" cy="464496"/>
          </a:xfrm>
          <a:custGeom>
            <a:avLst/>
            <a:gdLst/>
            <a:ahLst/>
            <a:cxnLst/>
            <a:rect l="l" t="t" r="r" b="b"/>
            <a:pathLst>
              <a:path w="464496" h="464496">
                <a:moveTo>
                  <a:pt x="236506" y="38708"/>
                </a:moveTo>
                <a:lnTo>
                  <a:pt x="227990" y="38708"/>
                </a:lnTo>
                <a:cubicBezTo>
                  <a:pt x="206612" y="38708"/>
                  <a:pt x="189282" y="56038"/>
                  <a:pt x="189282" y="77416"/>
                </a:cubicBezTo>
                <a:lnTo>
                  <a:pt x="189282" y="80900"/>
                </a:lnTo>
                <a:cubicBezTo>
                  <a:pt x="189268" y="94715"/>
                  <a:pt x="181892" y="107475"/>
                  <a:pt x="169928" y="114382"/>
                </a:cubicBezTo>
                <a:lnTo>
                  <a:pt x="161606" y="119221"/>
                </a:lnTo>
                <a:cubicBezTo>
                  <a:pt x="149630" y="126135"/>
                  <a:pt x="134874" y="126135"/>
                  <a:pt x="122898" y="119221"/>
                </a:cubicBezTo>
                <a:lnTo>
                  <a:pt x="119995" y="117672"/>
                </a:lnTo>
                <a:cubicBezTo>
                  <a:pt x="101500" y="107004"/>
                  <a:pt x="77860" y="113325"/>
                  <a:pt x="67158" y="131801"/>
                </a:cubicBezTo>
                <a:lnTo>
                  <a:pt x="62901" y="139155"/>
                </a:lnTo>
                <a:cubicBezTo>
                  <a:pt x="52232" y="157650"/>
                  <a:pt x="58553" y="181290"/>
                  <a:pt x="77029" y="191992"/>
                </a:cubicBezTo>
                <a:lnTo>
                  <a:pt x="79932" y="193927"/>
                </a:lnTo>
                <a:cubicBezTo>
                  <a:pt x="91837" y="200800"/>
                  <a:pt x="99203" y="213471"/>
                  <a:pt x="99286" y="227216"/>
                </a:cubicBezTo>
                <a:lnTo>
                  <a:pt x="99286" y="237087"/>
                </a:lnTo>
                <a:cubicBezTo>
                  <a:pt x="99341" y="250971"/>
                  <a:pt x="91956" y="263821"/>
                  <a:pt x="79932" y="270763"/>
                </a:cubicBezTo>
                <a:lnTo>
                  <a:pt x="77029" y="272505"/>
                </a:lnTo>
                <a:cubicBezTo>
                  <a:pt x="58553" y="283206"/>
                  <a:pt x="52232" y="306846"/>
                  <a:pt x="62901" y="325341"/>
                </a:cubicBezTo>
                <a:lnTo>
                  <a:pt x="67158" y="332696"/>
                </a:lnTo>
                <a:cubicBezTo>
                  <a:pt x="77860" y="351171"/>
                  <a:pt x="101500" y="357493"/>
                  <a:pt x="119995" y="346824"/>
                </a:cubicBezTo>
                <a:lnTo>
                  <a:pt x="122898" y="345276"/>
                </a:lnTo>
                <a:cubicBezTo>
                  <a:pt x="134874" y="338361"/>
                  <a:pt x="149630" y="338361"/>
                  <a:pt x="161606" y="345276"/>
                </a:cubicBezTo>
                <a:lnTo>
                  <a:pt x="169928" y="350114"/>
                </a:lnTo>
                <a:cubicBezTo>
                  <a:pt x="181892" y="357022"/>
                  <a:pt x="189268" y="369782"/>
                  <a:pt x="189282" y="383597"/>
                </a:cubicBezTo>
                <a:lnTo>
                  <a:pt x="189282" y="387080"/>
                </a:lnTo>
                <a:cubicBezTo>
                  <a:pt x="189282" y="408458"/>
                  <a:pt x="206612" y="425788"/>
                  <a:pt x="227990" y="425788"/>
                </a:cubicBezTo>
                <a:lnTo>
                  <a:pt x="236506" y="425788"/>
                </a:lnTo>
                <a:cubicBezTo>
                  <a:pt x="257884" y="425788"/>
                  <a:pt x="275214" y="408458"/>
                  <a:pt x="275214" y="387080"/>
                </a:cubicBezTo>
                <a:lnTo>
                  <a:pt x="275214" y="383597"/>
                </a:lnTo>
                <a:cubicBezTo>
                  <a:pt x="275228" y="369782"/>
                  <a:pt x="282604" y="357022"/>
                  <a:pt x="294568" y="350114"/>
                </a:cubicBezTo>
                <a:lnTo>
                  <a:pt x="302890" y="345276"/>
                </a:lnTo>
                <a:cubicBezTo>
                  <a:pt x="314867" y="338361"/>
                  <a:pt x="329622" y="338361"/>
                  <a:pt x="341598" y="345276"/>
                </a:cubicBezTo>
                <a:lnTo>
                  <a:pt x="344501" y="346824"/>
                </a:lnTo>
                <a:cubicBezTo>
                  <a:pt x="362996" y="357493"/>
                  <a:pt x="386637" y="351171"/>
                  <a:pt x="397338" y="332696"/>
                </a:cubicBezTo>
                <a:lnTo>
                  <a:pt x="401596" y="325147"/>
                </a:lnTo>
                <a:cubicBezTo>
                  <a:pt x="412264" y="306653"/>
                  <a:pt x="405943" y="283012"/>
                  <a:pt x="387467" y="272311"/>
                </a:cubicBezTo>
                <a:lnTo>
                  <a:pt x="384564" y="270763"/>
                </a:lnTo>
                <a:cubicBezTo>
                  <a:pt x="372540" y="263821"/>
                  <a:pt x="365155" y="250971"/>
                  <a:pt x="365210" y="237087"/>
                </a:cubicBezTo>
                <a:lnTo>
                  <a:pt x="365210" y="227410"/>
                </a:lnTo>
                <a:cubicBezTo>
                  <a:pt x="365155" y="213526"/>
                  <a:pt x="372540" y="200676"/>
                  <a:pt x="384564" y="193734"/>
                </a:cubicBezTo>
                <a:lnTo>
                  <a:pt x="387467" y="191992"/>
                </a:lnTo>
                <a:cubicBezTo>
                  <a:pt x="405943" y="181290"/>
                  <a:pt x="412264" y="157650"/>
                  <a:pt x="401596" y="139155"/>
                </a:cubicBezTo>
                <a:lnTo>
                  <a:pt x="397338" y="131801"/>
                </a:lnTo>
                <a:cubicBezTo>
                  <a:pt x="386637" y="113325"/>
                  <a:pt x="362996" y="107004"/>
                  <a:pt x="344501" y="117672"/>
                </a:cubicBezTo>
                <a:lnTo>
                  <a:pt x="341598" y="119221"/>
                </a:lnTo>
                <a:cubicBezTo>
                  <a:pt x="329622" y="126135"/>
                  <a:pt x="314867" y="126135"/>
                  <a:pt x="302890" y="119221"/>
                </a:cubicBezTo>
                <a:lnTo>
                  <a:pt x="294568" y="114382"/>
                </a:lnTo>
                <a:cubicBezTo>
                  <a:pt x="282604" y="107475"/>
                  <a:pt x="275228" y="94715"/>
                  <a:pt x="275214" y="80900"/>
                </a:cubicBezTo>
                <a:lnTo>
                  <a:pt x="275214" y="77416"/>
                </a:lnTo>
                <a:cubicBezTo>
                  <a:pt x="275214" y="56038"/>
                  <a:pt x="257884" y="38708"/>
                  <a:pt x="236506" y="38708"/>
                </a:cubicBezTo>
                <a:close/>
                <a:moveTo>
                  <a:pt x="290310" y="232248"/>
                </a:moveTo>
                <a:cubicBezTo>
                  <a:pt x="290310" y="264315"/>
                  <a:pt x="264315" y="290310"/>
                  <a:pt x="232248" y="290310"/>
                </a:cubicBezTo>
                <a:cubicBezTo>
                  <a:pt x="200181" y="290310"/>
                  <a:pt x="174186" y="264315"/>
                  <a:pt x="174186" y="232248"/>
                </a:cubicBezTo>
                <a:cubicBezTo>
                  <a:pt x="174186" y="200181"/>
                  <a:pt x="200181" y="174186"/>
                  <a:pt x="232248" y="174186"/>
                </a:cubicBezTo>
                <a:cubicBezTo>
                  <a:pt x="264315" y="174186"/>
                  <a:pt x="290310" y="200181"/>
                  <a:pt x="290310" y="232248"/>
                </a:cubicBezTo>
                <a:close/>
              </a:path>
            </a:pathLst>
          </a:custGeom>
          <a:noFill/>
          <a:ln w="38708" cap="rnd">
            <a:solidFill>
              <a:srgbClr val="FFFFFF"/>
            </a:solidFill>
            <a:prstDash val="solid"/>
            <a:round/>
          </a:ln>
        </p:spPr>
      </p:sp>
      <p:sp>
        <p:nvSpPr>
          <p:cNvPr id="19" name="[p1] Forma"/>
          <p:cNvSpPr/>
          <p:nvPr/>
        </p:nvSpPr>
        <p:spPr>
          <a:xfrm>
            <a:off x="2702230" y="3607199"/>
            <a:ext cx="922162" cy="384048"/>
          </a:xfrm>
          <a:prstGeom prst="rect">
            <a:avLst/>
          </a:prstGeom>
          <a:noFill/>
          <a:ln/>
        </p:spPr>
        <p:txBody>
          <a:bodyPr wrap="square" lIns="0" tIns="0" rIns="0" bIns="0" rtlCol="0" anchor="t">
            <a:normAutofit/>
          </a:bodyPr>
          <a:lstStyle/>
          <a:p>
            <a:pPr algn="ctr" indent="0" marL="0">
              <a:buNone/>
            </a:pPr>
            <a:r>
              <a:rPr lang="en-US" sz="1350" b="1" dirty="0">
                <a:solidFill>
                  <a:srgbClr val="FFFFFF"/>
                </a:solidFill>
                <a:latin typeface="Segoe UI Semibold" pitchFamily="34" charset="0"/>
                <a:ea typeface="Segoe UI Semibold" pitchFamily="34" charset="-122"/>
                <a:cs typeface="Segoe UI Semibold" pitchFamily="34" charset="-120"/>
              </a:rPr>
              <a:t>Construir</a:t>
            </a:r>
            <a:endParaRPr lang="en-US" sz="1350" dirty="0"/>
          </a:p>
        </p:txBody>
      </p:sp>
      <p:sp>
        <p:nvSpPr>
          <p:cNvPr id="20" name="[p1] Forma"/>
          <p:cNvSpPr/>
          <p:nvPr/>
        </p:nvSpPr>
        <p:spPr>
          <a:xfrm>
            <a:off x="2265491"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Maven compila.</a:t>
            </a:r>
            <a:endParaRPr lang="en-US" sz="1400" dirty="0"/>
          </a:p>
        </p:txBody>
      </p:sp>
      <p:sp>
        <p:nvSpPr>
          <p:cNvPr id="21" name="[p1] Forma"/>
          <p:cNvSpPr/>
          <p:nvPr/>
        </p:nvSpPr>
        <p:spPr>
          <a:xfrm>
            <a:off x="2963897" y="4226383"/>
            <a:ext cx="0" cy="109728"/>
          </a:xfrm>
          <a:prstGeom prst="line">
            <a:avLst/>
          </a:prstGeom>
          <a:noFill/>
          <a:ln w="25400">
            <a:solidFill>
              <a:srgbClr val="0B305A"/>
            </a:solidFill>
            <a:prstDash val="solid"/>
          </a:ln>
        </p:spPr>
      </p:sp>
      <p:sp>
        <p:nvSpPr>
          <p:cNvPr id="22" name="[p2] Forma"/>
          <p:cNvSpPr/>
          <p:nvPr/>
        </p:nvSpPr>
        <p:spPr>
          <a:xfrm>
            <a:off x="3698879" y="2805353"/>
            <a:ext cx="1707707" cy="1366166"/>
          </a:xfrm>
          <a:prstGeom prst="chevron">
            <a:avLst/>
          </a:prstGeom>
          <a:solidFill>
            <a:srgbClr val="0B3C63"/>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3" name="[p2] Icono flask-conical"/>
          <p:cNvSpPr/>
          <p:nvPr/>
        </p:nvSpPr>
        <p:spPr>
          <a:xfrm>
            <a:off x="4474178" y="3051263"/>
            <a:ext cx="464496" cy="464496"/>
          </a:xfrm>
          <a:custGeom>
            <a:avLst/>
            <a:gdLst/>
            <a:ahLst/>
            <a:cxnLst/>
            <a:rect l="l" t="t" r="r" b="b"/>
            <a:pathLst>
              <a:path w="464496" h="464496">
                <a:moveTo>
                  <a:pt x="270956" y="38708"/>
                </a:moveTo>
                <a:lnTo>
                  <a:pt x="270956" y="154832"/>
                </a:lnTo>
                <a:cubicBezTo>
                  <a:pt x="270953" y="161325"/>
                  <a:pt x="272584" y="167714"/>
                  <a:pt x="275698" y="173412"/>
                </a:cubicBezTo>
                <a:lnTo>
                  <a:pt x="382339" y="368500"/>
                </a:lnTo>
                <a:cubicBezTo>
                  <a:pt x="388901" y="380495"/>
                  <a:pt x="388650" y="395061"/>
                  <a:pt x="381677" y="406821"/>
                </a:cubicBezTo>
                <a:cubicBezTo>
                  <a:pt x="374704" y="418582"/>
                  <a:pt x="362044" y="425792"/>
                  <a:pt x="348372" y="425788"/>
                </a:cubicBezTo>
                <a:lnTo>
                  <a:pt x="116124" y="425788"/>
                </a:lnTo>
                <a:cubicBezTo>
                  <a:pt x="102452" y="425792"/>
                  <a:pt x="89792" y="418582"/>
                  <a:pt x="82820" y="406821"/>
                </a:cubicBezTo>
                <a:cubicBezTo>
                  <a:pt x="75847" y="395061"/>
                  <a:pt x="75595" y="380495"/>
                  <a:pt x="82158" y="368500"/>
                </a:cubicBezTo>
                <a:lnTo>
                  <a:pt x="188798" y="173412"/>
                </a:lnTo>
                <a:cubicBezTo>
                  <a:pt x="191912" y="167714"/>
                  <a:pt x="193543" y="161325"/>
                  <a:pt x="193540" y="154832"/>
                </a:cubicBezTo>
                <a:lnTo>
                  <a:pt x="193540" y="38708"/>
                </a:lnTo>
                <a:moveTo>
                  <a:pt x="124891" y="290310"/>
                </a:moveTo>
                <a:lnTo>
                  <a:pt x="339605" y="290310"/>
                </a:lnTo>
                <a:moveTo>
                  <a:pt x="164509" y="38708"/>
                </a:moveTo>
                <a:lnTo>
                  <a:pt x="299987" y="38708"/>
                </a:lnTo>
              </a:path>
            </a:pathLst>
          </a:custGeom>
          <a:noFill/>
          <a:ln w="38708" cap="rnd">
            <a:solidFill>
              <a:srgbClr val="FFFFFF"/>
            </a:solidFill>
            <a:prstDash val="solid"/>
            <a:round/>
          </a:ln>
        </p:spPr>
      </p:sp>
      <p:sp>
        <p:nvSpPr>
          <p:cNvPr id="24" name="[p2] Forma"/>
          <p:cNvSpPr/>
          <p:nvPr/>
        </p:nvSpPr>
        <p:spPr>
          <a:xfrm>
            <a:off x="4245345"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Probar</a:t>
            </a:r>
            <a:endParaRPr lang="en-US" sz="1400" dirty="0"/>
          </a:p>
        </p:txBody>
      </p:sp>
      <p:sp>
        <p:nvSpPr>
          <p:cNvPr id="25" name="[p2] Forma"/>
          <p:cNvSpPr/>
          <p:nvPr/>
        </p:nvSpPr>
        <p:spPr>
          <a:xfrm>
            <a:off x="3808607"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cada cambio.</a:t>
            </a:r>
            <a:endParaRPr lang="en-US" sz="1400" dirty="0"/>
          </a:p>
        </p:txBody>
      </p:sp>
      <p:sp>
        <p:nvSpPr>
          <p:cNvPr id="26" name="[p2] Forma"/>
          <p:cNvSpPr/>
          <p:nvPr/>
        </p:nvSpPr>
        <p:spPr>
          <a:xfrm>
            <a:off x="4507012" y="4226383"/>
            <a:ext cx="0" cy="109728"/>
          </a:xfrm>
          <a:prstGeom prst="line">
            <a:avLst/>
          </a:prstGeom>
          <a:noFill/>
          <a:ln w="25400">
            <a:solidFill>
              <a:srgbClr val="0B3C63"/>
            </a:solidFill>
            <a:prstDash val="solid"/>
          </a:ln>
        </p:spPr>
      </p:sp>
      <p:sp>
        <p:nvSpPr>
          <p:cNvPr id="27" name="[p3] Forma"/>
          <p:cNvSpPr/>
          <p:nvPr/>
        </p:nvSpPr>
        <p:spPr>
          <a:xfrm>
            <a:off x="5241994" y="2805353"/>
            <a:ext cx="1707707" cy="1366166"/>
          </a:xfrm>
          <a:prstGeom prst="chevron">
            <a:avLst/>
          </a:prstGeom>
          <a:solidFill>
            <a:srgbClr val="0B496D"/>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28" name="[p3] Icono package"/>
          <p:cNvSpPr/>
          <p:nvPr/>
        </p:nvSpPr>
        <p:spPr>
          <a:xfrm>
            <a:off x="6017293" y="3051263"/>
            <a:ext cx="464496" cy="464496"/>
          </a:xfrm>
          <a:custGeom>
            <a:avLst/>
            <a:gdLst/>
            <a:ahLst/>
            <a:cxnLst/>
            <a:rect l="l" t="t" r="r" b="b"/>
            <a:pathLst>
              <a:path w="464496" h="464496">
                <a:moveTo>
                  <a:pt x="212894" y="420563"/>
                </a:moveTo>
                <a:cubicBezTo>
                  <a:pt x="224870" y="427477"/>
                  <a:pt x="239626" y="427477"/>
                  <a:pt x="251602" y="420563"/>
                </a:cubicBezTo>
                <a:lnTo>
                  <a:pt x="387080" y="343147"/>
                </a:lnTo>
                <a:cubicBezTo>
                  <a:pt x="399044" y="336239"/>
                  <a:pt x="406420" y="323479"/>
                  <a:pt x="406434" y="309664"/>
                </a:cubicBezTo>
                <a:lnTo>
                  <a:pt x="406434" y="154832"/>
                </a:lnTo>
                <a:cubicBezTo>
                  <a:pt x="406420" y="141017"/>
                  <a:pt x="399044" y="128257"/>
                  <a:pt x="387080" y="121350"/>
                </a:cubicBezTo>
                <a:lnTo>
                  <a:pt x="251602" y="43934"/>
                </a:lnTo>
                <a:cubicBezTo>
                  <a:pt x="239626" y="37019"/>
                  <a:pt x="224870" y="37019"/>
                  <a:pt x="212894" y="43934"/>
                </a:cubicBezTo>
                <a:lnTo>
                  <a:pt x="77416" y="121350"/>
                </a:lnTo>
                <a:cubicBezTo>
                  <a:pt x="65452" y="128257"/>
                  <a:pt x="58076" y="141017"/>
                  <a:pt x="58062" y="154832"/>
                </a:cubicBezTo>
                <a:lnTo>
                  <a:pt x="58062" y="309664"/>
                </a:lnTo>
                <a:cubicBezTo>
                  <a:pt x="58076" y="323479"/>
                  <a:pt x="65452" y="336239"/>
                  <a:pt x="77416" y="343147"/>
                </a:cubicBezTo>
                <a:close/>
                <a:moveTo>
                  <a:pt x="232248" y="425788"/>
                </a:moveTo>
                <a:lnTo>
                  <a:pt x="232248" y="232248"/>
                </a:lnTo>
                <a:moveTo>
                  <a:pt x="63868" y="135478"/>
                </a:moveTo>
                <a:lnTo>
                  <a:pt x="212952" y="227100"/>
                </a:lnTo>
                <a:cubicBezTo>
                  <a:pt x="224899" y="233970"/>
                  <a:pt x="239597" y="233970"/>
                  <a:pt x="251544" y="227100"/>
                </a:cubicBezTo>
                <a:lnTo>
                  <a:pt x="400628" y="135478"/>
                </a:lnTo>
                <a:moveTo>
                  <a:pt x="145155" y="82642"/>
                </a:moveTo>
                <a:lnTo>
                  <a:pt x="319341" y="182315"/>
                </a:lnTo>
              </a:path>
            </a:pathLst>
          </a:custGeom>
          <a:noFill/>
          <a:ln w="38708" cap="rnd">
            <a:solidFill>
              <a:srgbClr val="FFFFFF"/>
            </a:solidFill>
            <a:prstDash val="solid"/>
            <a:round/>
          </a:ln>
        </p:spPr>
      </p:sp>
      <p:sp>
        <p:nvSpPr>
          <p:cNvPr id="29" name="[p3] Forma"/>
          <p:cNvSpPr/>
          <p:nvPr/>
        </p:nvSpPr>
        <p:spPr>
          <a:xfrm>
            <a:off x="5788460"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Imagen</a:t>
            </a:r>
            <a:endParaRPr lang="en-US" sz="1400" dirty="0"/>
          </a:p>
        </p:txBody>
      </p:sp>
      <p:sp>
        <p:nvSpPr>
          <p:cNvPr id="30" name="[p3] Forma"/>
          <p:cNvSpPr/>
          <p:nvPr/>
        </p:nvSpPr>
        <p:spPr>
          <a:xfrm>
            <a:off x="5351722"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Docker la empaqueta.</a:t>
            </a:r>
            <a:endParaRPr lang="en-US" sz="1400" dirty="0"/>
          </a:p>
        </p:txBody>
      </p:sp>
      <p:sp>
        <p:nvSpPr>
          <p:cNvPr id="31" name="[p3] Forma"/>
          <p:cNvSpPr/>
          <p:nvPr/>
        </p:nvSpPr>
        <p:spPr>
          <a:xfrm>
            <a:off x="6050128" y="4226383"/>
            <a:ext cx="0" cy="109728"/>
          </a:xfrm>
          <a:prstGeom prst="line">
            <a:avLst/>
          </a:prstGeom>
          <a:noFill/>
          <a:ln w="25400">
            <a:solidFill>
              <a:srgbClr val="0B496D"/>
            </a:solidFill>
            <a:prstDash val="solid"/>
          </a:ln>
        </p:spPr>
      </p:sp>
      <p:sp>
        <p:nvSpPr>
          <p:cNvPr id="32" name="[p4] Forma"/>
          <p:cNvSpPr/>
          <p:nvPr/>
        </p:nvSpPr>
        <p:spPr>
          <a:xfrm>
            <a:off x="6785109" y="2805353"/>
            <a:ext cx="1707707" cy="1366166"/>
          </a:xfrm>
          <a:prstGeom prst="chevron">
            <a:avLst/>
          </a:prstGeom>
          <a:solidFill>
            <a:srgbClr val="0B5577"/>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3" name="[p4] Icono cloud-upload"/>
          <p:cNvSpPr/>
          <p:nvPr/>
        </p:nvSpPr>
        <p:spPr>
          <a:xfrm>
            <a:off x="7560408" y="3051263"/>
            <a:ext cx="464496" cy="464496"/>
          </a:xfrm>
          <a:custGeom>
            <a:avLst/>
            <a:gdLst/>
            <a:ahLst/>
            <a:cxnLst/>
            <a:rect l="l" t="t" r="r" b="b"/>
            <a:pathLst>
              <a:path w="464496" h="464496">
                <a:moveTo>
                  <a:pt x="232248" y="251602"/>
                </a:moveTo>
                <a:lnTo>
                  <a:pt x="232248" y="406434"/>
                </a:lnTo>
                <a:moveTo>
                  <a:pt x="77416" y="288355"/>
                </a:moveTo>
                <a:cubicBezTo>
                  <a:pt x="38030" y="248114"/>
                  <a:pt x="27641" y="187705"/>
                  <a:pt x="51320" y="136618"/>
                </a:cubicBezTo>
                <a:cubicBezTo>
                  <a:pt x="75000" y="85531"/>
                  <a:pt x="127812" y="54417"/>
                  <a:pt x="183975" y="58464"/>
                </a:cubicBezTo>
                <a:cubicBezTo>
                  <a:pt x="240138" y="62512"/>
                  <a:pt x="287942" y="100877"/>
                  <a:pt x="304052" y="154832"/>
                </a:cubicBezTo>
                <a:lnTo>
                  <a:pt x="338695" y="154832"/>
                </a:lnTo>
                <a:cubicBezTo>
                  <a:pt x="377062" y="154828"/>
                  <a:pt x="410912" y="179930"/>
                  <a:pt x="422049" y="216645"/>
                </a:cubicBezTo>
                <a:cubicBezTo>
                  <a:pt x="433185" y="253360"/>
                  <a:pt x="418984" y="293038"/>
                  <a:pt x="387080" y="314348"/>
                </a:cubicBezTo>
                <a:moveTo>
                  <a:pt x="154832" y="329018"/>
                </a:moveTo>
                <a:lnTo>
                  <a:pt x="232248" y="251602"/>
                </a:lnTo>
                <a:lnTo>
                  <a:pt x="309664" y="329018"/>
                </a:lnTo>
              </a:path>
            </a:pathLst>
          </a:custGeom>
          <a:noFill/>
          <a:ln w="38708" cap="rnd">
            <a:solidFill>
              <a:srgbClr val="FFFFFF"/>
            </a:solidFill>
            <a:prstDash val="solid"/>
            <a:round/>
          </a:ln>
        </p:spPr>
      </p:sp>
      <p:sp>
        <p:nvSpPr>
          <p:cNvPr id="34" name="[p4] Forma"/>
          <p:cNvSpPr/>
          <p:nvPr/>
        </p:nvSpPr>
        <p:spPr>
          <a:xfrm>
            <a:off x="7331576"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Publicar</a:t>
            </a:r>
            <a:endParaRPr lang="en-US" sz="1400" dirty="0"/>
          </a:p>
        </p:txBody>
      </p:sp>
      <p:sp>
        <p:nvSpPr>
          <p:cNvPr id="35" name="[p4] Forma"/>
          <p:cNvSpPr/>
          <p:nvPr/>
        </p:nvSpPr>
        <p:spPr>
          <a:xfrm>
            <a:off x="6894837"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En GHCR.</a:t>
            </a:r>
            <a:endParaRPr lang="en-US" sz="1400" dirty="0"/>
          </a:p>
        </p:txBody>
      </p:sp>
      <p:sp>
        <p:nvSpPr>
          <p:cNvPr id="36" name="[p4] Forma"/>
          <p:cNvSpPr/>
          <p:nvPr/>
        </p:nvSpPr>
        <p:spPr>
          <a:xfrm>
            <a:off x="7593243" y="4226383"/>
            <a:ext cx="0" cy="109728"/>
          </a:xfrm>
          <a:prstGeom prst="line">
            <a:avLst/>
          </a:prstGeom>
          <a:noFill/>
          <a:ln w="25400">
            <a:solidFill>
              <a:srgbClr val="0B5577"/>
            </a:solidFill>
            <a:prstDash val="solid"/>
          </a:ln>
        </p:spPr>
      </p:sp>
      <p:sp>
        <p:nvSpPr>
          <p:cNvPr id="37" name="[p5] Forma"/>
          <p:cNvSpPr/>
          <p:nvPr/>
        </p:nvSpPr>
        <p:spPr>
          <a:xfrm>
            <a:off x="8328225" y="2805353"/>
            <a:ext cx="1707707" cy="1366166"/>
          </a:xfrm>
          <a:prstGeom prst="chevron">
            <a:avLst/>
          </a:prstGeom>
          <a:solidFill>
            <a:srgbClr val="0B6280"/>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38" name="[p5] Icono ship-wheel"/>
          <p:cNvSpPr/>
          <p:nvPr/>
        </p:nvSpPr>
        <p:spPr>
          <a:xfrm>
            <a:off x="9103524" y="3051263"/>
            <a:ext cx="464496" cy="464496"/>
          </a:xfrm>
          <a:custGeom>
            <a:avLst/>
            <a:gdLst/>
            <a:ahLst/>
            <a:cxnLst/>
            <a:rect l="l" t="t" r="r" b="b"/>
            <a:pathLst>
              <a:path w="464496" h="464496">
                <a:moveTo>
                  <a:pt x="387080" y="232248"/>
                </a:moveTo>
                <a:cubicBezTo>
                  <a:pt x="387080" y="317760"/>
                  <a:pt x="317760" y="387080"/>
                  <a:pt x="232248" y="387080"/>
                </a:cubicBezTo>
                <a:cubicBezTo>
                  <a:pt x="146737" y="387080"/>
                  <a:pt x="77416" y="317760"/>
                  <a:pt x="77416" y="232248"/>
                </a:cubicBezTo>
                <a:cubicBezTo>
                  <a:pt x="77416" y="146737"/>
                  <a:pt x="146737" y="77416"/>
                  <a:pt x="232248" y="77416"/>
                </a:cubicBezTo>
                <a:cubicBezTo>
                  <a:pt x="317760" y="77416"/>
                  <a:pt x="387080" y="146737"/>
                  <a:pt x="387080" y="232248"/>
                </a:cubicBezTo>
                <a:close/>
                <a:moveTo>
                  <a:pt x="232248" y="38708"/>
                </a:moveTo>
                <a:lnTo>
                  <a:pt x="232248" y="183863"/>
                </a:lnTo>
                <a:moveTo>
                  <a:pt x="367726" y="96770"/>
                </a:moveTo>
                <a:lnTo>
                  <a:pt x="266505" y="197992"/>
                </a:lnTo>
                <a:moveTo>
                  <a:pt x="425788" y="232248"/>
                </a:moveTo>
                <a:lnTo>
                  <a:pt x="280633" y="232248"/>
                </a:lnTo>
                <a:moveTo>
                  <a:pt x="367726" y="367726"/>
                </a:moveTo>
                <a:lnTo>
                  <a:pt x="266505" y="266505"/>
                </a:lnTo>
                <a:moveTo>
                  <a:pt x="232248" y="280633"/>
                </a:moveTo>
                <a:lnTo>
                  <a:pt x="232248" y="425788"/>
                </a:lnTo>
                <a:moveTo>
                  <a:pt x="197992" y="266505"/>
                </a:moveTo>
                <a:lnTo>
                  <a:pt x="96770" y="367726"/>
                </a:lnTo>
                <a:moveTo>
                  <a:pt x="183863" y="232248"/>
                </a:moveTo>
                <a:lnTo>
                  <a:pt x="38708" y="232248"/>
                </a:lnTo>
                <a:moveTo>
                  <a:pt x="197992" y="197992"/>
                </a:moveTo>
                <a:lnTo>
                  <a:pt x="96770" y="96770"/>
                </a:lnTo>
                <a:moveTo>
                  <a:pt x="280633" y="232248"/>
                </a:moveTo>
                <a:cubicBezTo>
                  <a:pt x="280633" y="258971"/>
                  <a:pt x="258971" y="280633"/>
                  <a:pt x="232248" y="280633"/>
                </a:cubicBezTo>
                <a:cubicBezTo>
                  <a:pt x="205526" y="280633"/>
                  <a:pt x="183863" y="258971"/>
                  <a:pt x="183863" y="232248"/>
                </a:cubicBezTo>
                <a:cubicBezTo>
                  <a:pt x="183863" y="205526"/>
                  <a:pt x="205526" y="183863"/>
                  <a:pt x="232248" y="183863"/>
                </a:cubicBezTo>
                <a:cubicBezTo>
                  <a:pt x="258971" y="183863"/>
                  <a:pt x="280633" y="205526"/>
                  <a:pt x="280633" y="232248"/>
                </a:cubicBezTo>
                <a:close/>
              </a:path>
            </a:pathLst>
          </a:custGeom>
          <a:noFill/>
          <a:ln w="38708" cap="rnd">
            <a:solidFill>
              <a:srgbClr val="FFFFFF"/>
            </a:solidFill>
            <a:prstDash val="solid"/>
            <a:round/>
          </a:ln>
        </p:spPr>
      </p:sp>
      <p:sp>
        <p:nvSpPr>
          <p:cNvPr id="39" name="[p5] Forma"/>
          <p:cNvSpPr/>
          <p:nvPr/>
        </p:nvSpPr>
        <p:spPr>
          <a:xfrm>
            <a:off x="8874691"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Operar</a:t>
            </a:r>
            <a:endParaRPr lang="en-US" sz="1400" dirty="0"/>
          </a:p>
        </p:txBody>
      </p:sp>
      <p:sp>
        <p:nvSpPr>
          <p:cNvPr id="40" name="[p5] Forma"/>
          <p:cNvSpPr/>
          <p:nvPr/>
        </p:nvSpPr>
        <p:spPr>
          <a:xfrm>
            <a:off x="8437953"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Kubernetes la despliega.</a:t>
            </a:r>
            <a:endParaRPr lang="en-US" sz="1400" dirty="0"/>
          </a:p>
        </p:txBody>
      </p:sp>
      <p:sp>
        <p:nvSpPr>
          <p:cNvPr id="41" name="[p5] Forma"/>
          <p:cNvSpPr/>
          <p:nvPr/>
        </p:nvSpPr>
        <p:spPr>
          <a:xfrm>
            <a:off x="9136358" y="4226383"/>
            <a:ext cx="0" cy="109728"/>
          </a:xfrm>
          <a:prstGeom prst="line">
            <a:avLst/>
          </a:prstGeom>
          <a:noFill/>
          <a:ln w="25400">
            <a:solidFill>
              <a:srgbClr val="0B6280"/>
            </a:solidFill>
            <a:prstDash val="solid"/>
          </a:ln>
        </p:spPr>
      </p:sp>
      <p:sp>
        <p:nvSpPr>
          <p:cNvPr id="42" name="[p6] Forma"/>
          <p:cNvSpPr/>
          <p:nvPr/>
        </p:nvSpPr>
        <p:spPr>
          <a:xfrm>
            <a:off x="9871340" y="2805353"/>
            <a:ext cx="1707707" cy="1366166"/>
          </a:xfrm>
          <a:prstGeom prst="chevron">
            <a:avLst/>
          </a:prstGeom>
          <a:solidFill>
            <a:srgbClr val="0B6E8A"/>
          </a:solidFill>
          <a:ln w="25400">
            <a:solidFill>
              <a:srgbClr val="FFFFFF"/>
            </a:solidFill>
            <a:prstDash val="solid"/>
          </a:ln>
          <a:effectLst>
            <a:outerShdw sx="100000" sy="100000" kx="0" ky="0" algn="bl" rotWithShape="0" blurRad="76200" dist="19050" dir="5400000">
              <a:srgbClr val="0B1F3A">
                <a:alpha val="14000"/>
              </a:srgbClr>
            </a:outerShdw>
          </a:effectLst>
        </p:spPr>
      </p:sp>
      <p:sp>
        <p:nvSpPr>
          <p:cNvPr id="43" name="[p6] Icono chart-line"/>
          <p:cNvSpPr/>
          <p:nvPr/>
        </p:nvSpPr>
        <p:spPr>
          <a:xfrm>
            <a:off x="10646639" y="3051263"/>
            <a:ext cx="464496" cy="464496"/>
          </a:xfrm>
          <a:custGeom>
            <a:avLst/>
            <a:gdLst/>
            <a:ahLst/>
            <a:cxnLst/>
            <a:rect l="l" t="t" r="r" b="b"/>
            <a:pathLst>
              <a:path w="464496" h="464496">
                <a:moveTo>
                  <a:pt x="58062" y="58062"/>
                </a:moveTo>
                <a:lnTo>
                  <a:pt x="58062" y="367726"/>
                </a:lnTo>
                <a:cubicBezTo>
                  <a:pt x="58062" y="389104"/>
                  <a:pt x="75392" y="406434"/>
                  <a:pt x="96770" y="406434"/>
                </a:cubicBezTo>
                <a:lnTo>
                  <a:pt x="406434" y="406434"/>
                </a:lnTo>
                <a:moveTo>
                  <a:pt x="367726" y="174186"/>
                </a:moveTo>
                <a:lnTo>
                  <a:pt x="270956" y="270956"/>
                </a:lnTo>
                <a:lnTo>
                  <a:pt x="193540" y="193540"/>
                </a:lnTo>
                <a:lnTo>
                  <a:pt x="135478" y="251602"/>
                </a:lnTo>
              </a:path>
            </a:pathLst>
          </a:custGeom>
          <a:noFill/>
          <a:ln w="38708" cap="rnd">
            <a:solidFill>
              <a:srgbClr val="FFFFFF"/>
            </a:solidFill>
            <a:prstDash val="solid"/>
            <a:round/>
          </a:ln>
        </p:spPr>
      </p:sp>
      <p:sp>
        <p:nvSpPr>
          <p:cNvPr id="44" name="[p6] Forma"/>
          <p:cNvSpPr/>
          <p:nvPr/>
        </p:nvSpPr>
        <p:spPr>
          <a:xfrm>
            <a:off x="10417806" y="3607199"/>
            <a:ext cx="922162" cy="384048"/>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Observar</a:t>
            </a:r>
            <a:endParaRPr lang="en-US" sz="1400" dirty="0"/>
          </a:p>
        </p:txBody>
      </p:sp>
      <p:sp>
        <p:nvSpPr>
          <p:cNvPr id="45" name="[p6] Forma"/>
          <p:cNvSpPr/>
          <p:nvPr/>
        </p:nvSpPr>
        <p:spPr>
          <a:xfrm>
            <a:off x="9981068" y="4372687"/>
            <a:ext cx="1488251"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Loki y Grafana.</a:t>
            </a:r>
            <a:endParaRPr lang="en-US" sz="1400" dirty="0"/>
          </a:p>
        </p:txBody>
      </p:sp>
      <p:sp>
        <p:nvSpPr>
          <p:cNvPr id="46" name="[p6] Forma"/>
          <p:cNvSpPr/>
          <p:nvPr/>
        </p:nvSpPr>
        <p:spPr>
          <a:xfrm>
            <a:off x="10679474" y="4226383"/>
            <a:ext cx="0" cy="109728"/>
          </a:xfrm>
          <a:prstGeom prst="line">
            <a:avLst/>
          </a:prstGeom>
          <a:noFill/>
          <a:ln w="25400">
            <a:solidFill>
              <a:srgbClr val="0B6E8A"/>
            </a:solidFill>
            <a:prstDash val="solid"/>
          </a:ln>
        </p:spPr>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4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4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400"/>
                                        <p:tgtEl>
                                          <p:spTgt spid="3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400"/>
                                        <p:tgtEl>
                                          <p:spTgt spid="3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400"/>
                                        <p:tgtEl>
                                          <p:spTgt spid="36"/>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400"/>
                                        <p:tgtEl>
                                          <p:spTgt spid="3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fade">
                                      <p:cBhvr>
                                        <p:cTn id="76" dur="400"/>
                                        <p:tgtEl>
                                          <p:spTgt spid="3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400"/>
                                        <p:tgtEl>
                                          <p:spTgt spid="3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0"/>
                                        </p:tgtEl>
                                        <p:attrNameLst>
                                          <p:attrName>style.visibility</p:attrName>
                                        </p:attrNameLst>
                                      </p:cBhvr>
                                      <p:to>
                                        <p:strVal val="visible"/>
                                      </p:to>
                                    </p:set>
                                    <p:animEffect transition="in" filter="fade">
                                      <p:cBhvr>
                                        <p:cTn id="82" dur="400"/>
                                        <p:tgtEl>
                                          <p:spTgt spid="4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1"/>
                                        </p:tgtEl>
                                        <p:attrNameLst>
                                          <p:attrName>style.visibility</p:attrName>
                                        </p:attrNameLst>
                                      </p:cBhvr>
                                      <p:to>
                                        <p:strVal val="visible"/>
                                      </p:to>
                                    </p:set>
                                    <p:animEffect transition="in" filter="fade">
                                      <p:cBhvr>
                                        <p:cTn id="85" dur="400"/>
                                        <p:tgtEl>
                                          <p:spTgt spid="41"/>
                                        </p:tgtEl>
                                      </p:cBhvr>
                                    </p:animEffect>
                                  </p:childTnLst>
                                </p:cTn>
                              </p:par>
                            </p:childTnLst>
                          </p:cTn>
                        </p:par>
                      </p:childTnLst>
                    </p:cTn>
                  </p:par>
                  <p:par>
                    <p:cTn id="103" fill="hold">
                      <p:stCondLst>
                        <p:cond delay="indefinite"/>
                      </p:stCondLst>
                      <p:childTnLst>
                        <p:par>
                          <p:cTn id="10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400"/>
                                        <p:tgtEl>
                                          <p:spTgt spid="4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fade">
                                      <p:cBhvr>
                                        <p:cTn id="93" dur="400"/>
                                        <p:tgtEl>
                                          <p:spTgt spid="4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fade">
                                      <p:cBhvr>
                                        <p:cTn id="96" dur="400"/>
                                        <p:tgtEl>
                                          <p:spTgt spid="4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fade">
                                      <p:cBhvr>
                                        <p:cTn id="99" dur="400"/>
                                        <p:tgtEl>
                                          <p:spTgt spid="4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Kubernetes: no compiten, se complementan</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Docker construye la caja; Kubernetes la pone a correr y la cuida.</a:t>
            </a:r>
            <a:endParaRPr lang="en-US" sz="170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ship-wheel"/>
          <p:cNvSpPr/>
          <p:nvPr/>
        </p:nvSpPr>
        <p:spPr>
          <a:xfrm>
            <a:off x="900867" y="5911779"/>
            <a:ext cx="228234" cy="228234"/>
          </a:xfrm>
          <a:custGeom>
            <a:avLst/>
            <a:gdLst/>
            <a:ahLst/>
            <a:cxnLst/>
            <a:rect l="l" t="t" r="r" b="b"/>
            <a:pathLst>
              <a:path w="228234" h="228234">
                <a:moveTo>
                  <a:pt x="190195" y="114117"/>
                </a:moveTo>
                <a:cubicBezTo>
                  <a:pt x="190195" y="156134"/>
                  <a:pt x="156134" y="190195"/>
                  <a:pt x="114117" y="190195"/>
                </a:cubicBezTo>
                <a:cubicBezTo>
                  <a:pt x="72100" y="190195"/>
                  <a:pt x="38039" y="156134"/>
                  <a:pt x="38039" y="114117"/>
                </a:cubicBezTo>
                <a:cubicBezTo>
                  <a:pt x="38039" y="72100"/>
                  <a:pt x="72100" y="38039"/>
                  <a:pt x="114117" y="38039"/>
                </a:cubicBezTo>
                <a:cubicBezTo>
                  <a:pt x="156134" y="38039"/>
                  <a:pt x="190195" y="72100"/>
                  <a:pt x="190195" y="114117"/>
                </a:cubicBezTo>
                <a:close/>
                <a:moveTo>
                  <a:pt x="114117" y="19020"/>
                </a:moveTo>
                <a:lnTo>
                  <a:pt x="114117" y="90343"/>
                </a:lnTo>
                <a:moveTo>
                  <a:pt x="180685" y="47549"/>
                </a:moveTo>
                <a:lnTo>
                  <a:pt x="130949" y="97285"/>
                </a:lnTo>
                <a:moveTo>
                  <a:pt x="209215" y="114117"/>
                </a:moveTo>
                <a:lnTo>
                  <a:pt x="137892" y="114117"/>
                </a:lnTo>
                <a:moveTo>
                  <a:pt x="180685" y="180685"/>
                </a:moveTo>
                <a:lnTo>
                  <a:pt x="130949" y="130949"/>
                </a:lnTo>
                <a:moveTo>
                  <a:pt x="114117" y="137892"/>
                </a:moveTo>
                <a:lnTo>
                  <a:pt x="114117" y="209215"/>
                </a:lnTo>
                <a:moveTo>
                  <a:pt x="97285" y="130949"/>
                </a:moveTo>
                <a:lnTo>
                  <a:pt x="47549" y="180685"/>
                </a:lnTo>
                <a:moveTo>
                  <a:pt x="90343" y="114117"/>
                </a:moveTo>
                <a:lnTo>
                  <a:pt x="19020" y="114117"/>
                </a:lnTo>
                <a:moveTo>
                  <a:pt x="97285" y="97285"/>
                </a:moveTo>
                <a:lnTo>
                  <a:pt x="47549" y="47549"/>
                </a:lnTo>
                <a:moveTo>
                  <a:pt x="137892" y="114117"/>
                </a:moveTo>
                <a:cubicBezTo>
                  <a:pt x="137892" y="127247"/>
                  <a:pt x="127247" y="137892"/>
                  <a:pt x="114117" y="137892"/>
                </a:cubicBezTo>
                <a:cubicBezTo>
                  <a:pt x="100987" y="137892"/>
                  <a:pt x="90343" y="127247"/>
                  <a:pt x="90343" y="114117"/>
                </a:cubicBezTo>
                <a:cubicBezTo>
                  <a:pt x="90343" y="100987"/>
                  <a:pt x="100987" y="90343"/>
                  <a:pt x="114117" y="90343"/>
                </a:cubicBezTo>
                <a:cubicBezTo>
                  <a:pt x="127247" y="90343"/>
                  <a:pt x="137892" y="100987"/>
                  <a:pt x="137892" y="114117"/>
                </a:cubicBezTo>
                <a:close/>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el transporte de carga: Docker es el contenedor estándar y Kubernetes, el puerto que los acomoda, los vigila y reemplaza el que se daña.</a:t>
            </a:r>
            <a:endParaRPr lang="en-US" sz="1450" dirty="0"/>
          </a:p>
        </p:txBody>
      </p:sp>
      <p:sp>
        <p:nvSpPr>
          <p:cNvPr id="16" name="Shape 14"/>
          <p:cNvSpPr/>
          <p:nvPr/>
        </p:nvSpPr>
        <p:spPr>
          <a:xfrm>
            <a:off x="61264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612648" y="1719072"/>
            <a:ext cx="5163160" cy="914400"/>
          </a:xfrm>
          <a:prstGeom prst="roundRect">
            <a:avLst>
              <a:gd name="adj" fmla="val 14000"/>
            </a:avLst>
          </a:prstGeom>
          <a:solidFill>
            <a:srgbClr val="0B6E8A"/>
          </a:solidFill>
          <a:ln w="12700">
            <a:solidFill>
              <a:srgbClr val="0B6E8A"/>
            </a:solidFill>
            <a:prstDash val="solid"/>
          </a:ln>
        </p:spPr>
      </p:sp>
      <p:sp>
        <p:nvSpPr>
          <p:cNvPr id="18" name="Shape 16"/>
          <p:cNvSpPr/>
          <p:nvPr/>
        </p:nvSpPr>
        <p:spPr>
          <a:xfrm>
            <a:off x="612648" y="2267712"/>
            <a:ext cx="5163160" cy="365760"/>
          </a:xfrm>
          <a:prstGeom prst="rect">
            <a:avLst/>
          </a:prstGeom>
          <a:solidFill>
            <a:srgbClr val="0B6E8A"/>
          </a:solidFill>
          <a:ln w="12700">
            <a:solidFill>
              <a:srgbClr val="0B6E8A"/>
            </a:solidFill>
            <a:prstDash val="solid"/>
          </a:ln>
        </p:spPr>
      </p:sp>
      <p:sp>
        <p:nvSpPr>
          <p:cNvPr id="19" name="Shape 17"/>
          <p:cNvSpPr/>
          <p:nvPr/>
        </p:nvSpPr>
        <p:spPr>
          <a:xfrm>
            <a:off x="841248" y="1874520"/>
            <a:ext cx="603504" cy="603504"/>
          </a:xfrm>
          <a:prstGeom prst="ellipse">
            <a:avLst/>
          </a:prstGeom>
          <a:solidFill>
            <a:srgbClr val="FFFFFF"/>
          </a:solidFill>
          <a:ln w="12700">
            <a:solidFill>
              <a:srgbClr val="FFFFFF"/>
            </a:solidFill>
            <a:prstDash val="solid"/>
          </a:ln>
        </p:spPr>
      </p:sp>
      <p:sp>
        <p:nvSpPr>
          <p:cNvPr id="20" name="Icono container"/>
          <p:cNvSpPr/>
          <p:nvPr/>
        </p:nvSpPr>
        <p:spPr>
          <a:xfrm>
            <a:off x="986089" y="2019361"/>
            <a:ext cx="313822" cy="313822"/>
          </a:xfrm>
          <a:custGeom>
            <a:avLst/>
            <a:gdLst/>
            <a:ahLst/>
            <a:cxnLst/>
            <a:rect l="l" t="t" r="r" b="b"/>
            <a:pathLst>
              <a:path w="313822" h="313822">
                <a:moveTo>
                  <a:pt x="287670" y="100685"/>
                </a:moveTo>
                <a:cubicBezTo>
                  <a:pt x="287670" y="92839"/>
                  <a:pt x="282440" y="84993"/>
                  <a:pt x="277210" y="81071"/>
                </a:cubicBezTo>
                <a:lnTo>
                  <a:pt x="194831" y="30075"/>
                </a:lnTo>
                <a:cubicBezTo>
                  <a:pt x="187939" y="26157"/>
                  <a:pt x="179494" y="26157"/>
                  <a:pt x="172602" y="30075"/>
                </a:cubicBezTo>
                <a:lnTo>
                  <a:pt x="37920" y="108530"/>
                </a:lnTo>
                <a:cubicBezTo>
                  <a:pt x="31382" y="111145"/>
                  <a:pt x="26152" y="118991"/>
                  <a:pt x="26152" y="126836"/>
                </a:cubicBezTo>
                <a:lnTo>
                  <a:pt x="26152" y="213137"/>
                </a:lnTo>
                <a:cubicBezTo>
                  <a:pt x="26152" y="219675"/>
                  <a:pt x="31382" y="228829"/>
                  <a:pt x="36613" y="232751"/>
                </a:cubicBezTo>
                <a:lnTo>
                  <a:pt x="118991" y="283747"/>
                </a:lnTo>
                <a:cubicBezTo>
                  <a:pt x="125883" y="287665"/>
                  <a:pt x="134328" y="287665"/>
                  <a:pt x="141220" y="283747"/>
                </a:cubicBezTo>
                <a:lnTo>
                  <a:pt x="275902" y="205292"/>
                </a:lnTo>
                <a:cubicBezTo>
                  <a:pt x="282440" y="201369"/>
                  <a:pt x="287670" y="192216"/>
                  <a:pt x="287670" y="185678"/>
                </a:cubicBezTo>
                <a:close/>
                <a:moveTo>
                  <a:pt x="130759" y="286363"/>
                </a:moveTo>
                <a:lnTo>
                  <a:pt x="130759" y="183063"/>
                </a:lnTo>
                <a:lnTo>
                  <a:pt x="27459" y="118991"/>
                </a:lnTo>
                <a:moveTo>
                  <a:pt x="130759" y="183063"/>
                </a:moveTo>
                <a:lnTo>
                  <a:pt x="286363" y="92839"/>
                </a:lnTo>
                <a:moveTo>
                  <a:pt x="183063" y="258903"/>
                </a:moveTo>
                <a:lnTo>
                  <a:pt x="183063" y="152988"/>
                </a:lnTo>
                <a:moveTo>
                  <a:pt x="235367" y="228829"/>
                </a:moveTo>
                <a:lnTo>
                  <a:pt x="235367" y="122914"/>
                </a:lnTo>
              </a:path>
            </a:pathLst>
          </a:custGeom>
          <a:noFill/>
          <a:ln w="26152" cap="rnd">
            <a:solidFill>
              <a:srgbClr val="0B6E8A"/>
            </a:solidFill>
            <a:prstDash val="solid"/>
            <a:round/>
          </a:ln>
        </p:spPr>
      </p:sp>
      <p:sp>
        <p:nvSpPr>
          <p:cNvPr id="21" name="Text 19"/>
          <p:cNvSpPr/>
          <p:nvPr/>
        </p:nvSpPr>
        <p:spPr>
          <a:xfrm>
            <a:off x="161848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Docker: empaqueta</a:t>
            </a:r>
            <a:endParaRPr lang="en-US" sz="1900" dirty="0"/>
          </a:p>
        </p:txBody>
      </p:sp>
      <p:sp>
        <p:nvSpPr>
          <p:cNvPr id="22" name="Icono circle-check"/>
          <p:cNvSpPr/>
          <p:nvPr/>
        </p:nvSpPr>
        <p:spPr>
          <a:xfrm>
            <a:off x="90525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3" name="Text 21"/>
          <p:cNvSpPr/>
          <p:nvPr/>
        </p:nvSpPr>
        <p:spPr>
          <a:xfrm>
            <a:off x="139903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Mete la app con Java y todo lo que usa</a:t>
            </a:r>
            <a:endParaRPr lang="en-US" sz="1500" dirty="0"/>
          </a:p>
        </p:txBody>
      </p:sp>
      <p:sp>
        <p:nvSpPr>
          <p:cNvPr id="24" name="Shape 22"/>
          <p:cNvSpPr/>
          <p:nvPr/>
        </p:nvSpPr>
        <p:spPr>
          <a:xfrm>
            <a:off x="886968" y="3479292"/>
            <a:ext cx="4614520" cy="0"/>
          </a:xfrm>
          <a:prstGeom prst="line">
            <a:avLst/>
          </a:prstGeom>
          <a:noFill/>
          <a:ln w="9525">
            <a:solidFill>
              <a:srgbClr val="DFE6F0"/>
            </a:solidFill>
            <a:prstDash val="solid"/>
          </a:ln>
        </p:spPr>
      </p:sp>
      <p:sp>
        <p:nvSpPr>
          <p:cNvPr id="25" name="Icono circle-check"/>
          <p:cNvSpPr/>
          <p:nvPr/>
        </p:nvSpPr>
        <p:spPr>
          <a:xfrm>
            <a:off x="90525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6" name="Text 24"/>
          <p:cNvSpPr/>
          <p:nvPr/>
        </p:nvSpPr>
        <p:spPr>
          <a:xfrm>
            <a:off x="139903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Crea una imagen que no cambia</a:t>
            </a:r>
            <a:endParaRPr lang="en-US" sz="1500" dirty="0"/>
          </a:p>
        </p:txBody>
      </p:sp>
      <p:sp>
        <p:nvSpPr>
          <p:cNvPr id="27" name="Shape 25"/>
          <p:cNvSpPr/>
          <p:nvPr/>
        </p:nvSpPr>
        <p:spPr>
          <a:xfrm>
            <a:off x="886968" y="4142232"/>
            <a:ext cx="4614520" cy="0"/>
          </a:xfrm>
          <a:prstGeom prst="line">
            <a:avLst/>
          </a:prstGeom>
          <a:noFill/>
          <a:ln w="9525">
            <a:solidFill>
              <a:srgbClr val="DFE6F0"/>
            </a:solidFill>
            <a:prstDash val="solid"/>
          </a:ln>
        </p:spPr>
      </p:sp>
      <p:sp>
        <p:nvSpPr>
          <p:cNvPr id="28" name="Icono circle-check"/>
          <p:cNvSpPr/>
          <p:nvPr/>
        </p:nvSpPr>
        <p:spPr>
          <a:xfrm>
            <a:off x="90525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29" name="Text 27"/>
          <p:cNvSpPr/>
          <p:nvPr/>
        </p:nvSpPr>
        <p:spPr>
          <a:xfrm>
            <a:off x="139903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Corre igual en una laptop o en un servidor</a:t>
            </a:r>
            <a:endParaRPr lang="en-US" sz="1500" dirty="0"/>
          </a:p>
        </p:txBody>
      </p:sp>
      <p:sp>
        <p:nvSpPr>
          <p:cNvPr id="30" name="Shape 28"/>
          <p:cNvSpPr/>
          <p:nvPr/>
        </p:nvSpPr>
        <p:spPr>
          <a:xfrm>
            <a:off x="886968" y="4805172"/>
            <a:ext cx="4614520" cy="0"/>
          </a:xfrm>
          <a:prstGeom prst="line">
            <a:avLst/>
          </a:prstGeom>
          <a:noFill/>
          <a:ln w="9525">
            <a:solidFill>
              <a:srgbClr val="DFE6F0"/>
            </a:solidFill>
            <a:prstDash val="solid"/>
          </a:ln>
        </p:spPr>
      </p:sp>
      <p:sp>
        <p:nvSpPr>
          <p:cNvPr id="31" name="Icono circle-check"/>
          <p:cNvSpPr/>
          <p:nvPr/>
        </p:nvSpPr>
        <p:spPr>
          <a:xfrm>
            <a:off x="90525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B6E8A"/>
            </a:solidFill>
            <a:prstDash val="solid"/>
            <a:round/>
          </a:ln>
        </p:spPr>
      </p:sp>
      <p:sp>
        <p:nvSpPr>
          <p:cNvPr id="32" name="Text 30"/>
          <p:cNvSpPr/>
          <p:nvPr/>
        </p:nvSpPr>
        <p:spPr>
          <a:xfrm>
            <a:off x="139903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Compose levanta varias cajas juntas</a:t>
            </a:r>
            <a:endParaRPr lang="en-US" sz="1500" dirty="0"/>
          </a:p>
        </p:txBody>
      </p:sp>
      <p:sp>
        <p:nvSpPr>
          <p:cNvPr id="33" name="[p1] Forma"/>
          <p:cNvSpPr/>
          <p:nvPr/>
        </p:nvSpPr>
        <p:spPr>
          <a:xfrm>
            <a:off x="6415888" y="1719072"/>
            <a:ext cx="5163160" cy="3794760"/>
          </a:xfrm>
          <a:prstGeom prst="roundRect">
            <a:avLst>
              <a:gd name="adj" fmla="val 3373"/>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p1] Forma"/>
          <p:cNvSpPr/>
          <p:nvPr/>
        </p:nvSpPr>
        <p:spPr>
          <a:xfrm>
            <a:off x="6415888" y="1719072"/>
            <a:ext cx="5163160" cy="914400"/>
          </a:xfrm>
          <a:prstGeom prst="roundRect">
            <a:avLst>
              <a:gd name="adj" fmla="val 14000"/>
            </a:avLst>
          </a:prstGeom>
          <a:solidFill>
            <a:srgbClr val="0A6648"/>
          </a:solidFill>
          <a:ln w="12700">
            <a:solidFill>
              <a:srgbClr val="0A6648"/>
            </a:solidFill>
            <a:prstDash val="solid"/>
          </a:ln>
        </p:spPr>
      </p:sp>
      <p:sp>
        <p:nvSpPr>
          <p:cNvPr id="35" name="[p1] Forma"/>
          <p:cNvSpPr/>
          <p:nvPr/>
        </p:nvSpPr>
        <p:spPr>
          <a:xfrm>
            <a:off x="6415888" y="2267712"/>
            <a:ext cx="5163160" cy="365760"/>
          </a:xfrm>
          <a:prstGeom prst="rect">
            <a:avLst/>
          </a:prstGeom>
          <a:solidFill>
            <a:srgbClr val="0A6648"/>
          </a:solidFill>
          <a:ln w="12700">
            <a:solidFill>
              <a:srgbClr val="0A6648"/>
            </a:solidFill>
            <a:prstDash val="solid"/>
          </a:ln>
        </p:spPr>
      </p:sp>
      <p:sp>
        <p:nvSpPr>
          <p:cNvPr id="36" name="[p1] Forma"/>
          <p:cNvSpPr/>
          <p:nvPr/>
        </p:nvSpPr>
        <p:spPr>
          <a:xfrm>
            <a:off x="6644488" y="1874520"/>
            <a:ext cx="603504" cy="603504"/>
          </a:xfrm>
          <a:prstGeom prst="ellipse">
            <a:avLst/>
          </a:prstGeom>
          <a:solidFill>
            <a:srgbClr val="FFFFFF"/>
          </a:solidFill>
          <a:ln w="12700">
            <a:solidFill>
              <a:srgbClr val="FFFFFF"/>
            </a:solidFill>
            <a:prstDash val="solid"/>
          </a:ln>
        </p:spPr>
      </p:sp>
      <p:sp>
        <p:nvSpPr>
          <p:cNvPr id="37" name="[p1] Icono ship-wheel"/>
          <p:cNvSpPr/>
          <p:nvPr/>
        </p:nvSpPr>
        <p:spPr>
          <a:xfrm>
            <a:off x="6789329" y="2019361"/>
            <a:ext cx="313822" cy="313822"/>
          </a:xfrm>
          <a:custGeom>
            <a:avLst/>
            <a:gdLst/>
            <a:ahLst/>
            <a:cxnLst/>
            <a:rect l="l" t="t" r="r" b="b"/>
            <a:pathLst>
              <a:path w="313822" h="313822">
                <a:moveTo>
                  <a:pt x="261518" y="156911"/>
                </a:moveTo>
                <a:cubicBezTo>
                  <a:pt x="261518" y="214684"/>
                  <a:pt x="214684" y="261518"/>
                  <a:pt x="156911" y="261518"/>
                </a:cubicBezTo>
                <a:cubicBezTo>
                  <a:pt x="99138" y="261518"/>
                  <a:pt x="52304" y="214684"/>
                  <a:pt x="52304" y="156911"/>
                </a:cubicBezTo>
                <a:cubicBezTo>
                  <a:pt x="52304" y="99138"/>
                  <a:pt x="99138" y="52304"/>
                  <a:pt x="156911" y="52304"/>
                </a:cubicBezTo>
                <a:cubicBezTo>
                  <a:pt x="214684" y="52304"/>
                  <a:pt x="261518" y="99138"/>
                  <a:pt x="261518" y="156911"/>
                </a:cubicBezTo>
                <a:close/>
                <a:moveTo>
                  <a:pt x="156911" y="26152"/>
                </a:moveTo>
                <a:lnTo>
                  <a:pt x="156911" y="124221"/>
                </a:lnTo>
                <a:moveTo>
                  <a:pt x="248442" y="65380"/>
                </a:moveTo>
                <a:lnTo>
                  <a:pt x="180055" y="133767"/>
                </a:lnTo>
                <a:moveTo>
                  <a:pt x="287670" y="156911"/>
                </a:moveTo>
                <a:lnTo>
                  <a:pt x="189601" y="156911"/>
                </a:lnTo>
                <a:moveTo>
                  <a:pt x="248442" y="248442"/>
                </a:moveTo>
                <a:lnTo>
                  <a:pt x="180055" y="180055"/>
                </a:lnTo>
                <a:moveTo>
                  <a:pt x="156911" y="189601"/>
                </a:moveTo>
                <a:lnTo>
                  <a:pt x="156911" y="287670"/>
                </a:lnTo>
                <a:moveTo>
                  <a:pt x="133767" y="180055"/>
                </a:moveTo>
                <a:lnTo>
                  <a:pt x="65380" y="248442"/>
                </a:lnTo>
                <a:moveTo>
                  <a:pt x="124221" y="156911"/>
                </a:moveTo>
                <a:lnTo>
                  <a:pt x="26152" y="156911"/>
                </a:lnTo>
                <a:moveTo>
                  <a:pt x="133767" y="133767"/>
                </a:moveTo>
                <a:lnTo>
                  <a:pt x="65380" y="65380"/>
                </a:lnTo>
                <a:moveTo>
                  <a:pt x="189601" y="156911"/>
                </a:moveTo>
                <a:cubicBezTo>
                  <a:pt x="189601" y="174965"/>
                  <a:pt x="174965" y="189601"/>
                  <a:pt x="156911" y="189601"/>
                </a:cubicBezTo>
                <a:cubicBezTo>
                  <a:pt x="138857" y="189601"/>
                  <a:pt x="124221" y="174965"/>
                  <a:pt x="124221" y="156911"/>
                </a:cubicBezTo>
                <a:cubicBezTo>
                  <a:pt x="124221" y="138857"/>
                  <a:pt x="138857" y="124221"/>
                  <a:pt x="156911" y="124221"/>
                </a:cubicBezTo>
                <a:cubicBezTo>
                  <a:pt x="174965" y="124221"/>
                  <a:pt x="189601" y="138857"/>
                  <a:pt x="189601" y="156911"/>
                </a:cubicBezTo>
                <a:close/>
              </a:path>
            </a:pathLst>
          </a:custGeom>
          <a:noFill/>
          <a:ln w="26152" cap="rnd">
            <a:solidFill>
              <a:srgbClr val="0A6648"/>
            </a:solidFill>
            <a:prstDash val="solid"/>
            <a:round/>
          </a:ln>
        </p:spPr>
      </p:sp>
      <p:sp>
        <p:nvSpPr>
          <p:cNvPr id="38" name="[p1] Forma"/>
          <p:cNvSpPr/>
          <p:nvPr/>
        </p:nvSpPr>
        <p:spPr>
          <a:xfrm>
            <a:off x="7421728" y="1828800"/>
            <a:ext cx="4020160" cy="694944"/>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Segoe UI Semibold" pitchFamily="34" charset="0"/>
                <a:ea typeface="Segoe UI Semibold" pitchFamily="34" charset="-122"/>
                <a:cs typeface="Segoe UI Semibold" pitchFamily="34" charset="-120"/>
              </a:rPr>
              <a:t>Kubernetes: administra</a:t>
            </a:r>
            <a:endParaRPr lang="en-US" sz="1900" dirty="0"/>
          </a:p>
        </p:txBody>
      </p:sp>
      <p:sp>
        <p:nvSpPr>
          <p:cNvPr id="39" name="[p1] Icono circle-check"/>
          <p:cNvSpPr/>
          <p:nvPr/>
        </p:nvSpPr>
        <p:spPr>
          <a:xfrm>
            <a:off x="6708496" y="298323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0" name="[p1] Forma"/>
          <p:cNvSpPr/>
          <p:nvPr/>
        </p:nvSpPr>
        <p:spPr>
          <a:xfrm>
            <a:off x="7202272" y="281635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Decide dónde corre cada caja</a:t>
            </a:r>
            <a:endParaRPr lang="en-US" sz="1500" dirty="0"/>
          </a:p>
        </p:txBody>
      </p:sp>
      <p:sp>
        <p:nvSpPr>
          <p:cNvPr id="41" name="[p1] Forma"/>
          <p:cNvSpPr/>
          <p:nvPr/>
        </p:nvSpPr>
        <p:spPr>
          <a:xfrm>
            <a:off x="6690208" y="3479292"/>
            <a:ext cx="4614520" cy="0"/>
          </a:xfrm>
          <a:prstGeom prst="line">
            <a:avLst/>
          </a:prstGeom>
          <a:noFill/>
          <a:ln w="9525">
            <a:solidFill>
              <a:srgbClr val="DFE6F0"/>
            </a:solidFill>
            <a:prstDash val="solid"/>
          </a:ln>
        </p:spPr>
      </p:sp>
      <p:sp>
        <p:nvSpPr>
          <p:cNvPr id="42" name="[p1] Icono circle-check"/>
          <p:cNvSpPr/>
          <p:nvPr/>
        </p:nvSpPr>
        <p:spPr>
          <a:xfrm>
            <a:off x="6708496" y="364617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3" name="[p1] Forma"/>
          <p:cNvSpPr/>
          <p:nvPr/>
        </p:nvSpPr>
        <p:spPr>
          <a:xfrm>
            <a:off x="7202272" y="347929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Si una se cae, levanta otra</a:t>
            </a:r>
            <a:endParaRPr lang="en-US" sz="1500" dirty="0"/>
          </a:p>
        </p:txBody>
      </p:sp>
      <p:sp>
        <p:nvSpPr>
          <p:cNvPr id="44" name="[p1] Forma"/>
          <p:cNvSpPr/>
          <p:nvPr/>
        </p:nvSpPr>
        <p:spPr>
          <a:xfrm>
            <a:off x="6690208" y="4142232"/>
            <a:ext cx="4614520" cy="0"/>
          </a:xfrm>
          <a:prstGeom prst="line">
            <a:avLst/>
          </a:prstGeom>
          <a:noFill/>
          <a:ln w="9525">
            <a:solidFill>
              <a:srgbClr val="DFE6F0"/>
            </a:solidFill>
            <a:prstDash val="solid"/>
          </a:ln>
        </p:spPr>
      </p:sp>
      <p:sp>
        <p:nvSpPr>
          <p:cNvPr id="45" name="[p1] Icono circle-check"/>
          <p:cNvSpPr/>
          <p:nvPr/>
        </p:nvSpPr>
        <p:spPr>
          <a:xfrm>
            <a:off x="6708496" y="430911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6" name="[p1] Forma"/>
          <p:cNvSpPr/>
          <p:nvPr/>
        </p:nvSpPr>
        <p:spPr>
          <a:xfrm>
            <a:off x="7202272" y="414223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Le da a cada servicio un nombre fijo</a:t>
            </a:r>
            <a:endParaRPr lang="en-US" sz="1500" dirty="0"/>
          </a:p>
        </p:txBody>
      </p:sp>
      <p:sp>
        <p:nvSpPr>
          <p:cNvPr id="47" name="[p1] Forma"/>
          <p:cNvSpPr/>
          <p:nvPr/>
        </p:nvSpPr>
        <p:spPr>
          <a:xfrm>
            <a:off x="6690208" y="4805172"/>
            <a:ext cx="4614520" cy="0"/>
          </a:xfrm>
          <a:prstGeom prst="line">
            <a:avLst/>
          </a:prstGeom>
          <a:noFill/>
          <a:ln w="9525">
            <a:solidFill>
              <a:srgbClr val="DFE6F0"/>
            </a:solidFill>
            <a:prstDash val="solid"/>
          </a:ln>
        </p:spPr>
      </p:sp>
      <p:sp>
        <p:nvSpPr>
          <p:cNvPr id="48" name="[p1] Icono circle-check"/>
          <p:cNvSpPr/>
          <p:nvPr/>
        </p:nvSpPr>
        <p:spPr>
          <a:xfrm>
            <a:off x="6708496" y="4972050"/>
            <a:ext cx="329184" cy="329184"/>
          </a:xfrm>
          <a:custGeom>
            <a:avLst/>
            <a:gdLst/>
            <a:ahLst/>
            <a:cxnLst/>
            <a:rect l="l" t="t" r="r" b="b"/>
            <a:pathLst>
              <a:path w="329184" h="329184">
                <a:moveTo>
                  <a:pt x="301752" y="164592"/>
                </a:moveTo>
                <a:cubicBezTo>
                  <a:pt x="301752" y="240343"/>
                  <a:pt x="240343" y="301752"/>
                  <a:pt x="164592" y="301752"/>
                </a:cubicBezTo>
                <a:cubicBezTo>
                  <a:pt x="88841" y="301752"/>
                  <a:pt x="27432" y="240343"/>
                  <a:pt x="27432" y="164592"/>
                </a:cubicBezTo>
                <a:cubicBezTo>
                  <a:pt x="27432" y="88841"/>
                  <a:pt x="88841" y="27432"/>
                  <a:pt x="164592" y="27432"/>
                </a:cubicBezTo>
                <a:cubicBezTo>
                  <a:pt x="240343" y="27432"/>
                  <a:pt x="301752" y="88841"/>
                  <a:pt x="301752" y="164592"/>
                </a:cubicBezTo>
                <a:close/>
                <a:moveTo>
                  <a:pt x="123444" y="164592"/>
                </a:moveTo>
                <a:lnTo>
                  <a:pt x="150876" y="192024"/>
                </a:lnTo>
                <a:lnTo>
                  <a:pt x="205740" y="137160"/>
                </a:lnTo>
              </a:path>
            </a:pathLst>
          </a:custGeom>
          <a:noFill/>
          <a:ln w="27432" cap="rnd">
            <a:solidFill>
              <a:srgbClr val="0A6648"/>
            </a:solidFill>
            <a:prstDash val="solid"/>
            <a:round/>
          </a:ln>
        </p:spPr>
      </p:sp>
      <p:sp>
        <p:nvSpPr>
          <p:cNvPr id="49" name="[p1] Forma"/>
          <p:cNvSpPr/>
          <p:nvPr/>
        </p:nvSpPr>
        <p:spPr>
          <a:xfrm>
            <a:off x="7202272" y="4805172"/>
            <a:ext cx="4157320" cy="662940"/>
          </a:xfrm>
          <a:prstGeom prst="rect">
            <a:avLst/>
          </a:prstGeom>
          <a:noFill/>
          <a:ln/>
        </p:spPr>
        <p:txBody>
          <a:bodyPr wrap="square" lIns="0" tIns="0" rIns="0" bIns="0" rtlCol="0" anchor="ctr">
            <a:normAutofit/>
          </a:bodyPr>
          <a:lstStyle/>
          <a:p>
            <a:pPr algn="l" indent="0" marL="0">
              <a:buNone/>
            </a:pPr>
            <a:r>
              <a:rPr lang="en-US" sz="1500" dirty="0">
                <a:solidFill>
                  <a:srgbClr val="0B1A3C"/>
                </a:solidFill>
                <a:latin typeface="Segoe UI" pitchFamily="34" charset="0"/>
                <a:ea typeface="Segoe UI" pitchFamily="34" charset="-122"/>
                <a:cs typeface="Segoe UI" pitchFamily="34" charset="-120"/>
              </a:rPr>
              <a:t>Puede correr más copias si hay carga</a:t>
            </a:r>
            <a:endParaRPr lang="en-US" sz="1500" dirty="0"/>
          </a:p>
        </p:txBody>
      </p:sp>
      <p:sp>
        <p:nvSpPr>
          <p:cNvPr id="50" name="[p1] Forma"/>
          <p:cNvSpPr/>
          <p:nvPr/>
        </p:nvSpPr>
        <p:spPr>
          <a:xfrm>
            <a:off x="5766664" y="3287268"/>
            <a:ext cx="658368" cy="658368"/>
          </a:xfrm>
          <a:prstGeom prst="ellipse">
            <a:avLst/>
          </a:prstGeom>
          <a:solidFill>
            <a:srgbClr val="2BA6CB"/>
          </a:solidFill>
          <a:ln w="38100">
            <a:solidFill>
              <a:srgbClr val="FFFFFF"/>
            </a:solidFill>
          </a:ln>
          <a:effectLst>
            <a:outerShdw sx="100000" sy="100000" kx="0" ky="0" algn="bl" rotWithShape="0" blurRad="114300" dist="50800" dir="16200000">
              <a:srgbClr val="2BA6CB">
                <a:alpha val="60000"/>
              </a:srgbClr>
            </a:outerShdw>
          </a:effectLst>
        </p:spPr>
        <p:txBody>
          <a:bodyPr wrap="square" lIns="0" tIns="0" rIns="0" bIns="0" rtlCol="0" anchor="ctr"/>
          <a:lstStyle/>
          <a:p>
            <a:pPr algn="ctr" indent="0" marL="0">
              <a:buNone/>
            </a:pPr>
            <a:r>
              <a:rPr lang="en-US" sz="2800" b="1" dirty="0">
                <a:solidFill>
                  <a:srgbClr val="0B1F3A"/>
                </a:solidFill>
                <a:latin typeface="Segoe UI Semibold" pitchFamily="34" charset="0"/>
                <a:ea typeface="Segoe UI Semibold" pitchFamily="34" charset="-122"/>
                <a:cs typeface="Segoe UI Semibold" pitchFamily="34" charset="-120"/>
              </a:rPr>
              <a:t>+</a:t>
            </a:r>
            <a:endParaRPr lang="en-US" sz="2800" dirty="0"/>
          </a:p>
        </p:txBody>
      </p:sp>
      <p:sp>
        <p:nvSpPr>
          <p:cNvPr id="51" name="Text 4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3"/>
                                        </p:tgtEl>
                                        <p:attrNameLst>
                                          <p:attrName>style.visibility</p:attrName>
                                        </p:attrNameLst>
                                      </p:cBhvr>
                                      <p:to>
                                        <p:strVal val="visible"/>
                                      </p:to>
                                    </p:set>
                                    <p:animEffect transition="in" filter="fade">
                                      <p:cBhvr>
                                        <p:cTn id="5" dur="400"/>
                                        <p:tgtEl>
                                          <p:spTgt spid="3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4"/>
                                        </p:tgtEl>
                                        <p:attrNameLst>
                                          <p:attrName>style.visibility</p:attrName>
                                        </p:attrNameLst>
                                      </p:cBhvr>
                                      <p:to>
                                        <p:strVal val="visible"/>
                                      </p:to>
                                    </p:set>
                                    <p:animEffect transition="in" filter="fade">
                                      <p:cBhvr>
                                        <p:cTn id="8" dur="400"/>
                                        <p:tgtEl>
                                          <p:spTgt spid="3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400"/>
                                        <p:tgtEl>
                                          <p:spTgt spid="3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400"/>
                                        <p:tgtEl>
                                          <p:spTgt spid="3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400"/>
                                        <p:tgtEl>
                                          <p:spTgt spid="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400"/>
                                        <p:tgtEl>
                                          <p:spTgt spid="3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400"/>
                                        <p:tgtEl>
                                          <p:spTgt spid="4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400"/>
                                        <p:tgtEl>
                                          <p:spTgt spid="4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400"/>
                                        <p:tgtEl>
                                          <p:spTgt spid="4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400"/>
                                        <p:tgtEl>
                                          <p:spTgt spid="4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400"/>
                                        <p:tgtEl>
                                          <p:spTgt spid="4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400"/>
                                        <p:tgtEl>
                                          <p:spTgt spid="4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400"/>
                                        <p:tgtEl>
                                          <p:spTgt spid="4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400"/>
                                        <p:tgtEl>
                                          <p:spTgt spid="4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400"/>
                                        <p:tgtEl>
                                          <p:spTgt spid="4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fade">
                                      <p:cBhvr>
                                        <p:cTn id="53" dur="400"/>
                                        <p:tgtEl>
                                          <p:spTgt spid="4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código a contenedor</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Una receta que da el mismo resultado en cualquier computadora.</a:t>
            </a:r>
            <a:endParaRPr lang="en-US" sz="1700" dirty="0"/>
          </a:p>
        </p:txBody>
      </p:sp>
      <p:sp>
        <p:nvSpPr>
          <p:cNvPr id="12" name="Shape 10"/>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3" name="Icono file-code"/>
          <p:cNvSpPr/>
          <p:nvPr/>
        </p:nvSpPr>
        <p:spPr>
          <a:xfrm>
            <a:off x="1588427" y="2901391"/>
            <a:ext cx="790042" cy="790042"/>
          </a:xfrm>
          <a:custGeom>
            <a:avLst/>
            <a:gdLst/>
            <a:ahLst/>
            <a:cxnLst/>
            <a:rect l="l" t="t" r="r" b="b"/>
            <a:pathLst>
              <a:path w="790042" h="790042">
                <a:moveTo>
                  <a:pt x="329184" y="411480"/>
                </a:moveTo>
                <a:lnTo>
                  <a:pt x="263347" y="493776"/>
                </a:lnTo>
                <a:lnTo>
                  <a:pt x="329184" y="576072"/>
                </a:lnTo>
                <a:moveTo>
                  <a:pt x="460858" y="411480"/>
                </a:moveTo>
                <a:lnTo>
                  <a:pt x="526694" y="493776"/>
                </a:lnTo>
                <a:lnTo>
                  <a:pt x="460858" y="576072"/>
                </a:lnTo>
                <a:moveTo>
                  <a:pt x="460858" y="65837"/>
                </a:moveTo>
                <a:lnTo>
                  <a:pt x="460858" y="197510"/>
                </a:lnTo>
                <a:cubicBezTo>
                  <a:pt x="460858" y="233871"/>
                  <a:pt x="490334" y="263347"/>
                  <a:pt x="526694" y="263347"/>
                </a:cubicBezTo>
                <a:lnTo>
                  <a:pt x="658368" y="263347"/>
                </a:lnTo>
                <a:moveTo>
                  <a:pt x="493776" y="65837"/>
                </a:moveTo>
                <a:lnTo>
                  <a:pt x="197510" y="65837"/>
                </a:lnTo>
                <a:cubicBezTo>
                  <a:pt x="161150" y="65837"/>
                  <a:pt x="131674" y="95313"/>
                  <a:pt x="131674" y="131674"/>
                </a:cubicBezTo>
                <a:lnTo>
                  <a:pt x="131674" y="658368"/>
                </a:lnTo>
                <a:cubicBezTo>
                  <a:pt x="131674" y="694729"/>
                  <a:pt x="161150" y="724205"/>
                  <a:pt x="197510" y="724205"/>
                </a:cubicBezTo>
                <a:lnTo>
                  <a:pt x="592531" y="724205"/>
                </a:lnTo>
                <a:cubicBezTo>
                  <a:pt x="628892" y="724205"/>
                  <a:pt x="658368" y="694729"/>
                  <a:pt x="658368" y="658368"/>
                </a:cubicBezTo>
                <a:lnTo>
                  <a:pt x="658368" y="230429"/>
                </a:lnTo>
                <a:close/>
              </a:path>
            </a:pathLst>
          </a:custGeom>
          <a:noFill/>
          <a:ln w="57607" cap="rnd">
            <a:solidFill>
              <a:srgbClr val="0B2350"/>
            </a:solidFill>
            <a:prstDash val="solid"/>
            <a:round/>
          </a:ln>
        </p:spPr>
      </p:sp>
      <p:sp>
        <p:nvSpPr>
          <p:cNvPr id="14" name="Text 12"/>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Text 13"/>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Dockerfile</a:t>
            </a:r>
            <a:endParaRPr lang="en-US" sz="1800" dirty="0"/>
          </a:p>
        </p:txBody>
      </p:sp>
      <p:sp>
        <p:nvSpPr>
          <p:cNvPr id="16" name="Text 14"/>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La receta: qué instalar y qué copiar.</a:t>
            </a:r>
            <a:endParaRPr lang="en-US" sz="1400" dirty="0"/>
          </a:p>
        </p:txBody>
      </p:sp>
      <p:sp>
        <p:nvSpPr>
          <p:cNvPr id="17" name="[p1] Forma"/>
          <p:cNvSpPr/>
          <p:nvPr/>
        </p:nvSpPr>
        <p:spPr>
          <a:xfrm>
            <a:off x="2806408" y="3296412"/>
            <a:ext cx="1095680" cy="0"/>
          </a:xfrm>
          <a:prstGeom prst="line">
            <a:avLst/>
          </a:prstGeom>
          <a:noFill/>
          <a:ln w="38100">
            <a:solidFill>
              <a:srgbClr val="2BA6CB"/>
            </a:solidFill>
            <a:prstDash val="solid"/>
            <a:tailEnd type="triangle"/>
          </a:ln>
        </p:spPr>
      </p:sp>
      <p:sp>
        <p:nvSpPr>
          <p:cNvPr id="18" name="[p1] Forma"/>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p1] Icono settings"/>
          <p:cNvSpPr/>
          <p:nvPr/>
        </p:nvSpPr>
        <p:spPr>
          <a:xfrm>
            <a:off x="4330027" y="2901391"/>
            <a:ext cx="790042" cy="790042"/>
          </a:xfrm>
          <a:custGeom>
            <a:avLst/>
            <a:gdLst/>
            <a:ahLst/>
            <a:cxnLst/>
            <a:rect l="l" t="t" r="r" b="b"/>
            <a:pathLst>
              <a:path w="790042" h="790042">
                <a:moveTo>
                  <a:pt x="402263" y="65837"/>
                </a:moveTo>
                <a:lnTo>
                  <a:pt x="387779" y="65837"/>
                </a:lnTo>
                <a:cubicBezTo>
                  <a:pt x="351418" y="65837"/>
                  <a:pt x="321942" y="95313"/>
                  <a:pt x="321942" y="131674"/>
                </a:cubicBezTo>
                <a:lnTo>
                  <a:pt x="321942" y="137599"/>
                </a:lnTo>
                <a:cubicBezTo>
                  <a:pt x="321918" y="161096"/>
                  <a:pt x="309373" y="182799"/>
                  <a:pt x="289024" y="194548"/>
                </a:cubicBezTo>
                <a:lnTo>
                  <a:pt x="274869" y="202777"/>
                </a:lnTo>
                <a:cubicBezTo>
                  <a:pt x="254499" y="214538"/>
                  <a:pt x="229402" y="214538"/>
                  <a:pt x="209032" y="202777"/>
                </a:cubicBezTo>
                <a:lnTo>
                  <a:pt x="204094" y="200144"/>
                </a:lnTo>
                <a:cubicBezTo>
                  <a:pt x="172638" y="181998"/>
                  <a:pt x="132428" y="192750"/>
                  <a:pt x="114227" y="224174"/>
                </a:cubicBezTo>
                <a:lnTo>
                  <a:pt x="106985" y="236683"/>
                </a:lnTo>
                <a:cubicBezTo>
                  <a:pt x="88839" y="268140"/>
                  <a:pt x="99591" y="308349"/>
                  <a:pt x="131015" y="326551"/>
                </a:cubicBezTo>
                <a:lnTo>
                  <a:pt x="135953" y="329842"/>
                </a:lnTo>
                <a:cubicBezTo>
                  <a:pt x="156201" y="341532"/>
                  <a:pt x="168730" y="363083"/>
                  <a:pt x="168871" y="386462"/>
                </a:cubicBezTo>
                <a:lnTo>
                  <a:pt x="168871" y="403250"/>
                </a:lnTo>
                <a:cubicBezTo>
                  <a:pt x="168965" y="426865"/>
                  <a:pt x="156404" y="448721"/>
                  <a:pt x="135953" y="460528"/>
                </a:cubicBezTo>
                <a:lnTo>
                  <a:pt x="131015" y="463491"/>
                </a:lnTo>
                <a:cubicBezTo>
                  <a:pt x="99591" y="481693"/>
                  <a:pt x="88839" y="521902"/>
                  <a:pt x="106985" y="553358"/>
                </a:cubicBezTo>
                <a:lnTo>
                  <a:pt x="114227" y="565867"/>
                </a:lnTo>
                <a:cubicBezTo>
                  <a:pt x="132428" y="597292"/>
                  <a:pt x="172638" y="608043"/>
                  <a:pt x="204094" y="589898"/>
                </a:cubicBezTo>
                <a:lnTo>
                  <a:pt x="209032" y="587264"/>
                </a:lnTo>
                <a:cubicBezTo>
                  <a:pt x="229402" y="575504"/>
                  <a:pt x="254499" y="575504"/>
                  <a:pt x="274869" y="587264"/>
                </a:cubicBezTo>
                <a:lnTo>
                  <a:pt x="289024" y="595494"/>
                </a:lnTo>
                <a:cubicBezTo>
                  <a:pt x="309373" y="607242"/>
                  <a:pt x="321918" y="628946"/>
                  <a:pt x="321942" y="652443"/>
                </a:cubicBezTo>
                <a:lnTo>
                  <a:pt x="321942" y="658368"/>
                </a:lnTo>
                <a:cubicBezTo>
                  <a:pt x="321942" y="694729"/>
                  <a:pt x="351418" y="724205"/>
                  <a:pt x="387779" y="724205"/>
                </a:cubicBezTo>
                <a:lnTo>
                  <a:pt x="402263" y="724205"/>
                </a:lnTo>
                <a:cubicBezTo>
                  <a:pt x="438624" y="724205"/>
                  <a:pt x="468100" y="694729"/>
                  <a:pt x="468100" y="658368"/>
                </a:cubicBezTo>
                <a:lnTo>
                  <a:pt x="468100" y="652443"/>
                </a:lnTo>
                <a:cubicBezTo>
                  <a:pt x="468124" y="628946"/>
                  <a:pt x="480669" y="607242"/>
                  <a:pt x="501018" y="595494"/>
                </a:cubicBezTo>
                <a:lnTo>
                  <a:pt x="515173" y="587264"/>
                </a:lnTo>
                <a:cubicBezTo>
                  <a:pt x="535543" y="575504"/>
                  <a:pt x="560640" y="575504"/>
                  <a:pt x="581010" y="587264"/>
                </a:cubicBezTo>
                <a:lnTo>
                  <a:pt x="585948" y="589898"/>
                </a:lnTo>
                <a:cubicBezTo>
                  <a:pt x="617404" y="608043"/>
                  <a:pt x="657613" y="597292"/>
                  <a:pt x="675815" y="565867"/>
                </a:cubicBezTo>
                <a:lnTo>
                  <a:pt x="683057" y="553029"/>
                </a:lnTo>
                <a:cubicBezTo>
                  <a:pt x="701203" y="521573"/>
                  <a:pt x="690451" y="481363"/>
                  <a:pt x="659026" y="463162"/>
                </a:cubicBezTo>
                <a:lnTo>
                  <a:pt x="654089" y="460528"/>
                </a:lnTo>
                <a:cubicBezTo>
                  <a:pt x="633637" y="448721"/>
                  <a:pt x="621076" y="426865"/>
                  <a:pt x="621170" y="403250"/>
                </a:cubicBezTo>
                <a:lnTo>
                  <a:pt x="621170" y="386791"/>
                </a:lnTo>
                <a:cubicBezTo>
                  <a:pt x="621076" y="363177"/>
                  <a:pt x="633637" y="341320"/>
                  <a:pt x="654089" y="329513"/>
                </a:cubicBezTo>
                <a:lnTo>
                  <a:pt x="659026" y="326551"/>
                </a:lnTo>
                <a:cubicBezTo>
                  <a:pt x="690451" y="308349"/>
                  <a:pt x="701203" y="268140"/>
                  <a:pt x="683057" y="236683"/>
                </a:cubicBezTo>
                <a:lnTo>
                  <a:pt x="675815" y="224174"/>
                </a:lnTo>
                <a:cubicBezTo>
                  <a:pt x="657613" y="192750"/>
                  <a:pt x="617404" y="181998"/>
                  <a:pt x="585948" y="200144"/>
                </a:cubicBezTo>
                <a:lnTo>
                  <a:pt x="581010" y="202777"/>
                </a:lnTo>
                <a:cubicBezTo>
                  <a:pt x="560640" y="214538"/>
                  <a:pt x="535543" y="214538"/>
                  <a:pt x="515173" y="202777"/>
                </a:cubicBezTo>
                <a:lnTo>
                  <a:pt x="501018" y="194548"/>
                </a:lnTo>
                <a:cubicBezTo>
                  <a:pt x="480669" y="182799"/>
                  <a:pt x="468124" y="161096"/>
                  <a:pt x="468100" y="137599"/>
                </a:cubicBezTo>
                <a:lnTo>
                  <a:pt x="468100" y="131674"/>
                </a:lnTo>
                <a:cubicBezTo>
                  <a:pt x="468100" y="95313"/>
                  <a:pt x="438624" y="65837"/>
                  <a:pt x="402263" y="65837"/>
                </a:cubicBezTo>
                <a:close/>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path>
            </a:pathLst>
          </a:custGeom>
          <a:noFill/>
          <a:ln w="57607" cap="rnd">
            <a:solidFill>
              <a:srgbClr val="0B2350"/>
            </a:solidFill>
            <a:prstDash val="solid"/>
            <a:round/>
          </a:ln>
        </p:spPr>
      </p:sp>
      <p:sp>
        <p:nvSpPr>
          <p:cNvPr id="20" name="[p1] Forma"/>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1"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Etapa build</a:t>
            </a:r>
            <a:endParaRPr lang="en-US" sz="1800" dirty="0"/>
          </a:p>
        </p:txBody>
      </p:sp>
      <p:sp>
        <p:nvSpPr>
          <p:cNvPr id="22"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Compila el JAR con Maven.</a:t>
            </a:r>
            <a:endParaRPr lang="en-US" sz="1400" dirty="0"/>
          </a:p>
        </p:txBody>
      </p:sp>
      <p:sp>
        <p:nvSpPr>
          <p:cNvPr id="23" name="[p2] Forma"/>
          <p:cNvSpPr/>
          <p:nvPr/>
        </p:nvSpPr>
        <p:spPr>
          <a:xfrm>
            <a:off x="5548008" y="3296412"/>
            <a:ext cx="1095680" cy="0"/>
          </a:xfrm>
          <a:prstGeom prst="line">
            <a:avLst/>
          </a:prstGeom>
          <a:noFill/>
          <a:ln w="38100">
            <a:solidFill>
              <a:srgbClr val="2BA6CB"/>
            </a:solidFill>
            <a:prstDash val="solid"/>
            <a:tailEnd type="triangle"/>
          </a:ln>
        </p:spPr>
      </p:sp>
      <p:sp>
        <p:nvSpPr>
          <p:cNvPr id="24" name="[p2] Forma"/>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p2] Icono package"/>
          <p:cNvSpPr/>
          <p:nvPr/>
        </p:nvSpPr>
        <p:spPr>
          <a:xfrm>
            <a:off x="70716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6E8A"/>
            </a:solidFill>
            <a:prstDash val="solid"/>
            <a:round/>
          </a:ln>
        </p:spPr>
      </p:sp>
      <p:sp>
        <p:nvSpPr>
          <p:cNvPr id="26" name="[p2] Forma"/>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7"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Imagen</a:t>
            </a:r>
            <a:endParaRPr lang="en-US" sz="1800" dirty="0"/>
          </a:p>
        </p:txBody>
      </p:sp>
      <p:sp>
        <p:nvSpPr>
          <p:cNvPr id="28"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Solo Java y el JAR: más liviana.</a:t>
            </a:r>
            <a:endParaRPr lang="en-US" sz="1400" dirty="0"/>
          </a:p>
        </p:txBody>
      </p:sp>
      <p:sp>
        <p:nvSpPr>
          <p:cNvPr id="29" name="[p3] Forma"/>
          <p:cNvSpPr/>
          <p:nvPr/>
        </p:nvSpPr>
        <p:spPr>
          <a:xfrm>
            <a:off x="8289608" y="3296412"/>
            <a:ext cx="1095680" cy="0"/>
          </a:xfrm>
          <a:prstGeom prst="line">
            <a:avLst/>
          </a:prstGeom>
          <a:noFill/>
          <a:ln w="38100">
            <a:solidFill>
              <a:srgbClr val="2BA6CB"/>
            </a:solidFill>
            <a:prstDash val="solid"/>
            <a:tailEnd type="triangle"/>
          </a:ln>
        </p:spPr>
      </p:sp>
      <p:sp>
        <p:nvSpPr>
          <p:cNvPr id="30" name="[p3] Forma"/>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p3] Icono container"/>
          <p:cNvSpPr/>
          <p:nvPr/>
        </p:nvSpPr>
        <p:spPr>
          <a:xfrm>
            <a:off x="9813226" y="2901391"/>
            <a:ext cx="790042" cy="790042"/>
          </a:xfrm>
          <a:custGeom>
            <a:avLst/>
            <a:gdLst/>
            <a:ahLst/>
            <a:cxnLst/>
            <a:rect l="l" t="t" r="r" b="b"/>
            <a:pathLst>
              <a:path w="790042" h="790042">
                <a:moveTo>
                  <a:pt x="724205" y="253472"/>
                </a:moveTo>
                <a:cubicBezTo>
                  <a:pt x="724205" y="233721"/>
                  <a:pt x="711037" y="213970"/>
                  <a:pt x="697870" y="204094"/>
                </a:cubicBezTo>
                <a:lnTo>
                  <a:pt x="490484" y="75712"/>
                </a:lnTo>
                <a:cubicBezTo>
                  <a:pt x="473134" y="65850"/>
                  <a:pt x="451873" y="65850"/>
                  <a:pt x="434523" y="75712"/>
                </a:cubicBezTo>
                <a:lnTo>
                  <a:pt x="95463" y="273223"/>
                </a:lnTo>
                <a:cubicBezTo>
                  <a:pt x="79004" y="279806"/>
                  <a:pt x="65837" y="299557"/>
                  <a:pt x="65837" y="319308"/>
                </a:cubicBezTo>
                <a:lnTo>
                  <a:pt x="65837" y="536570"/>
                </a:lnTo>
                <a:cubicBezTo>
                  <a:pt x="65837" y="553029"/>
                  <a:pt x="79004" y="576072"/>
                  <a:pt x="92172" y="585948"/>
                </a:cubicBezTo>
                <a:lnTo>
                  <a:pt x="299557" y="714329"/>
                </a:lnTo>
                <a:cubicBezTo>
                  <a:pt x="316908" y="724192"/>
                  <a:pt x="338169" y="724192"/>
                  <a:pt x="355519" y="714329"/>
                </a:cubicBezTo>
                <a:lnTo>
                  <a:pt x="694578" y="516819"/>
                </a:lnTo>
                <a:cubicBezTo>
                  <a:pt x="711037" y="506943"/>
                  <a:pt x="724205" y="483900"/>
                  <a:pt x="724205" y="467441"/>
                </a:cubicBezTo>
                <a:close/>
                <a:moveTo>
                  <a:pt x="329184" y="720913"/>
                </a:moveTo>
                <a:lnTo>
                  <a:pt x="329184" y="460858"/>
                </a:lnTo>
                <a:lnTo>
                  <a:pt x="69129" y="299557"/>
                </a:lnTo>
                <a:moveTo>
                  <a:pt x="329184" y="460858"/>
                </a:moveTo>
                <a:lnTo>
                  <a:pt x="720913" y="233721"/>
                </a:lnTo>
                <a:moveTo>
                  <a:pt x="460858" y="651784"/>
                </a:moveTo>
                <a:lnTo>
                  <a:pt x="460858" y="385145"/>
                </a:lnTo>
                <a:moveTo>
                  <a:pt x="592531" y="576072"/>
                </a:moveTo>
                <a:lnTo>
                  <a:pt x="592531" y="309433"/>
                </a:lnTo>
              </a:path>
            </a:pathLst>
          </a:custGeom>
          <a:noFill/>
          <a:ln w="57607" cap="rnd">
            <a:solidFill>
              <a:srgbClr val="0A6648"/>
            </a:solidFill>
            <a:prstDash val="solid"/>
            <a:round/>
          </a:ln>
        </p:spPr>
      </p:sp>
      <p:sp>
        <p:nvSpPr>
          <p:cNvPr id="32" name="[p3] Forma"/>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Contenedor</a:t>
            </a:r>
            <a:endParaRPr lang="en-US" sz="1800" dirty="0"/>
          </a:p>
        </p:txBody>
      </p:sp>
      <p:sp>
        <p:nvSpPr>
          <p:cNvPr id="34"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Corre con un usuario sin privilegios.</a:t>
            </a:r>
            <a:endParaRPr lang="en-US" sz="14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3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4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4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 el sistema con un comando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Ocho contenedores, una red y la configuración por variables de entorno.</a:t>
            </a:r>
            <a:endParaRPr lang="en-US" sz="1700" dirty="0"/>
          </a:p>
        </p:txBody>
      </p:sp>
      <p:sp>
        <p:nvSpPr>
          <p:cNvPr id="12" name="Shape 10"/>
          <p:cNvSpPr/>
          <p:nvPr/>
        </p:nvSpPr>
        <p:spPr>
          <a:xfrm>
            <a:off x="612648" y="1719072"/>
            <a:ext cx="10966399" cy="566928"/>
          </a:xfrm>
          <a:prstGeom prst="roundRect">
            <a:avLst>
              <a:gd name="adj" fmla="val 16129"/>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3" name="Icono terminal"/>
          <p:cNvSpPr/>
          <p:nvPr/>
        </p:nvSpPr>
        <p:spPr>
          <a:xfrm>
            <a:off x="813816" y="1856232"/>
            <a:ext cx="292608" cy="292608"/>
          </a:xfrm>
          <a:custGeom>
            <a:avLst/>
            <a:gdLst/>
            <a:ahLst/>
            <a:cxnLst/>
            <a:rect l="l" t="t" r="r" b="b"/>
            <a:pathLst>
              <a:path w="292608" h="292608">
                <a:moveTo>
                  <a:pt x="48768" y="207264"/>
                </a:moveTo>
                <a:lnTo>
                  <a:pt x="121920" y="134112"/>
                </a:lnTo>
                <a:lnTo>
                  <a:pt x="48768" y="60960"/>
                </a:lnTo>
                <a:moveTo>
                  <a:pt x="146304" y="231648"/>
                </a:moveTo>
                <a:lnTo>
                  <a:pt x="243840" y="231648"/>
                </a:lnTo>
              </a:path>
            </a:pathLst>
          </a:custGeom>
          <a:noFill/>
          <a:ln w="24384" cap="rnd">
            <a:solidFill>
              <a:srgbClr val="2BA6CB"/>
            </a:solidFill>
            <a:prstDash val="solid"/>
            <a:round/>
          </a:ln>
        </p:spPr>
      </p:sp>
      <p:sp>
        <p:nvSpPr>
          <p:cNvPr id="14" name="Text 12"/>
          <p:cNvSpPr/>
          <p:nvPr/>
        </p:nvSpPr>
        <p:spPr>
          <a:xfrm>
            <a:off x="1252728" y="1719072"/>
            <a:ext cx="10143439" cy="566928"/>
          </a:xfrm>
          <a:prstGeom prst="rect">
            <a:avLst/>
          </a:prstGeom>
          <a:noFill/>
          <a:ln/>
        </p:spPr>
        <p:txBody>
          <a:bodyPr wrap="square" lIns="0" tIns="0" rIns="0" bIns="0" rtlCol="0" anchor="ctr"/>
          <a:lstStyle/>
          <a:p>
            <a:pPr indent="0" marL="0">
              <a:buNone/>
            </a:pPr>
            <a:r>
              <a:rPr lang="en-US" sz="1800" b="1" dirty="0">
                <a:solidFill>
                  <a:srgbClr val="2BA6CB"/>
                </a:solidFill>
                <a:latin typeface="Consolas" pitchFamily="34" charset="0"/>
                <a:ea typeface="Consolas" pitchFamily="34" charset="-122"/>
                <a:cs typeface="Consolas" pitchFamily="34" charset="-120"/>
              </a:rPr>
              <a:t>$ </a:t>
            </a:r>
            <a:pPr indent="0" marL="0">
              <a:buNone/>
            </a:pPr>
            <a:r>
              <a:rPr lang="en-US" sz="1800" b="1" dirty="0">
                <a:solidFill>
                  <a:srgbClr val="FFFFFF"/>
                </a:solidFill>
                <a:latin typeface="Consolas" pitchFamily="34" charset="0"/>
                <a:ea typeface="Consolas" pitchFamily="34" charset="-122"/>
                <a:cs typeface="Consolas" pitchFamily="34" charset="-120"/>
              </a:rPr>
              <a:t>docker compose up --build -d</a:t>
            </a:r>
            <a:endParaRPr lang="en-US" sz="1800" dirty="0"/>
          </a:p>
        </p:txBody>
      </p:sp>
      <p:sp>
        <p:nvSpPr>
          <p:cNvPr id="15" name="Shape 13"/>
          <p:cNvSpPr/>
          <p:nvPr/>
        </p:nvSpPr>
        <p:spPr>
          <a:xfrm>
            <a:off x="61264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6" name="Shape 14"/>
          <p:cNvSpPr/>
          <p:nvPr/>
        </p:nvSpPr>
        <p:spPr>
          <a:xfrm>
            <a:off x="612648" y="2624328"/>
            <a:ext cx="64008" cy="1581912"/>
          </a:xfrm>
          <a:prstGeom prst="rect">
            <a:avLst/>
          </a:prstGeom>
          <a:solidFill>
            <a:srgbClr val="5B3FC4"/>
          </a:solidFill>
          <a:ln w="12700">
            <a:solidFill>
              <a:srgbClr val="5B3FC4"/>
            </a:solidFill>
            <a:prstDash val="solid"/>
          </a:ln>
        </p:spPr>
      </p:sp>
      <p:sp>
        <p:nvSpPr>
          <p:cNvPr id="17" name="Shape 15"/>
          <p:cNvSpPr/>
          <p:nvPr/>
        </p:nvSpPr>
        <p:spPr>
          <a:xfrm>
            <a:off x="813816" y="2679192"/>
            <a:ext cx="676656" cy="676656"/>
          </a:xfrm>
          <a:prstGeom prst="ellipse">
            <a:avLst/>
          </a:prstGeom>
          <a:solidFill>
            <a:srgbClr val="F1EEFD"/>
          </a:solidFill>
          <a:ln w="12700">
            <a:solidFill>
              <a:srgbClr val="F1EEFD"/>
            </a:solidFill>
            <a:prstDash val="solid"/>
          </a:ln>
        </p:spPr>
      </p:sp>
      <p:sp>
        <p:nvSpPr>
          <p:cNvPr id="18" name="Icono monitor"/>
          <p:cNvSpPr/>
          <p:nvPr/>
        </p:nvSpPr>
        <p:spPr>
          <a:xfrm>
            <a:off x="976213" y="2841589"/>
            <a:ext cx="351861" cy="351861"/>
          </a:xfrm>
          <a:custGeom>
            <a:avLst/>
            <a:gdLst/>
            <a:ahLst/>
            <a:cxnLst/>
            <a:rect l="l" t="t" r="r" b="b"/>
            <a:pathLst>
              <a:path w="351861" h="351861">
                <a:moveTo>
                  <a:pt x="58644" y="43983"/>
                </a:moveTo>
                <a:lnTo>
                  <a:pt x="293218" y="43983"/>
                </a:lnTo>
                <a:cubicBezTo>
                  <a:pt x="309412" y="43983"/>
                  <a:pt x="322539" y="57110"/>
                  <a:pt x="322539" y="73304"/>
                </a:cubicBezTo>
                <a:lnTo>
                  <a:pt x="322539" y="219913"/>
                </a:lnTo>
                <a:cubicBezTo>
                  <a:pt x="322539" y="236107"/>
                  <a:pt x="309412" y="249235"/>
                  <a:pt x="293218" y="249235"/>
                </a:cubicBezTo>
                <a:lnTo>
                  <a:pt x="58644" y="249235"/>
                </a:lnTo>
                <a:cubicBezTo>
                  <a:pt x="42450" y="249235"/>
                  <a:pt x="29322" y="236107"/>
                  <a:pt x="29322" y="219913"/>
                </a:cubicBezTo>
                <a:lnTo>
                  <a:pt x="29322" y="73304"/>
                </a:lnTo>
                <a:cubicBezTo>
                  <a:pt x="29322" y="57110"/>
                  <a:pt x="42450" y="43983"/>
                  <a:pt x="58644" y="43983"/>
                </a:cubicBezTo>
                <a:close/>
                <a:moveTo>
                  <a:pt x="117287" y="307878"/>
                </a:moveTo>
                <a:lnTo>
                  <a:pt x="234574" y="307878"/>
                </a:lnTo>
                <a:moveTo>
                  <a:pt x="175931" y="249235"/>
                </a:moveTo>
                <a:lnTo>
                  <a:pt x="175931" y="307878"/>
                </a:lnTo>
              </a:path>
            </a:pathLst>
          </a:custGeom>
          <a:noFill/>
          <a:ln w="29322" cap="rnd">
            <a:solidFill>
              <a:srgbClr val="5B3FC4"/>
            </a:solidFill>
            <a:prstDash val="solid"/>
            <a:round/>
          </a:ln>
        </p:spPr>
      </p:sp>
      <p:sp>
        <p:nvSpPr>
          <p:cNvPr id="19" name="Text 17"/>
          <p:cNvSpPr/>
          <p:nvPr/>
        </p:nvSpPr>
        <p:spPr>
          <a:xfrm>
            <a:off x="1636776" y="2679192"/>
            <a:ext cx="1443152" cy="676656"/>
          </a:xfrm>
          <a:prstGeom prst="rect">
            <a:avLst/>
          </a:prstGeom>
          <a:noFill/>
          <a:ln/>
        </p:spPr>
        <p:txBody>
          <a:bodyPr wrap="square" lIns="0" tIns="0" rIns="0" bIns="0" rtlCol="0" anchor="ctr">
            <a:normAutofit/>
          </a:bodyPr>
          <a:lstStyle/>
          <a:p>
            <a:pPr algn="l" indent="0" marL="0">
              <a:buNone/>
            </a:pPr>
            <a:r>
              <a:rPr lang="en-US" sz="1600" b="1" dirty="0">
                <a:solidFill>
                  <a:srgbClr val="5B3FC4"/>
                </a:solidFill>
                <a:latin typeface="Segoe UI Semibold" pitchFamily="34" charset="0"/>
                <a:ea typeface="Segoe UI Semibold" pitchFamily="34" charset="-122"/>
                <a:cs typeface="Segoe UI Semibold" pitchFamily="34" charset="-120"/>
              </a:rPr>
              <a:t>arka-lite-ui</a:t>
            </a:r>
            <a:endParaRPr lang="en-US" sz="1600" dirty="0"/>
          </a:p>
        </p:txBody>
      </p:sp>
      <p:sp>
        <p:nvSpPr>
          <p:cNvPr id="20" name="Text 18"/>
          <p:cNvSpPr/>
          <p:nvPr/>
        </p:nvSpPr>
        <p:spPr>
          <a:xfrm>
            <a:off x="86868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:8088 · la interfaz y su proxy</a:t>
            </a:r>
            <a:endParaRPr lang="en-US" sz="1600" dirty="0"/>
          </a:p>
        </p:txBody>
      </p:sp>
      <p:sp>
        <p:nvSpPr>
          <p:cNvPr id="21" name="Shape 19"/>
          <p:cNvSpPr/>
          <p:nvPr/>
        </p:nvSpPr>
        <p:spPr>
          <a:xfrm>
            <a:off x="339996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2" name="Shape 20"/>
          <p:cNvSpPr/>
          <p:nvPr/>
        </p:nvSpPr>
        <p:spPr>
          <a:xfrm>
            <a:off x="3399968" y="2624328"/>
            <a:ext cx="64008" cy="1581912"/>
          </a:xfrm>
          <a:prstGeom prst="rect">
            <a:avLst/>
          </a:prstGeom>
          <a:solidFill>
            <a:srgbClr val="0B2350"/>
          </a:solidFill>
          <a:ln w="12700">
            <a:solidFill>
              <a:srgbClr val="0B2350"/>
            </a:solidFill>
            <a:prstDash val="solid"/>
          </a:ln>
        </p:spPr>
      </p:sp>
      <p:sp>
        <p:nvSpPr>
          <p:cNvPr id="23" name="Shape 21"/>
          <p:cNvSpPr/>
          <p:nvPr/>
        </p:nvSpPr>
        <p:spPr>
          <a:xfrm>
            <a:off x="3601136" y="2679192"/>
            <a:ext cx="676656" cy="676656"/>
          </a:xfrm>
          <a:prstGeom prst="ellipse">
            <a:avLst/>
          </a:prstGeom>
          <a:solidFill>
            <a:srgbClr val="E8EEF8"/>
          </a:solidFill>
          <a:ln w="12700">
            <a:solidFill>
              <a:srgbClr val="E8EEF8"/>
            </a:solidFill>
            <a:prstDash val="solid"/>
          </a:ln>
        </p:spPr>
      </p:sp>
      <p:sp>
        <p:nvSpPr>
          <p:cNvPr id="24" name="Icono clipboard-list"/>
          <p:cNvSpPr/>
          <p:nvPr/>
        </p:nvSpPr>
        <p:spPr>
          <a:xfrm>
            <a:off x="3763533" y="2841589"/>
            <a:ext cx="351861" cy="351861"/>
          </a:xfrm>
          <a:custGeom>
            <a:avLst/>
            <a:gdLst/>
            <a:ahLst/>
            <a:cxnLst/>
            <a:rect l="l" t="t" r="r" b="b"/>
            <a:pathLst>
              <a:path w="351861" h="351861">
                <a:moveTo>
                  <a:pt x="131948" y="29322"/>
                </a:moveTo>
                <a:lnTo>
                  <a:pt x="219913" y="29322"/>
                </a:lnTo>
                <a:cubicBezTo>
                  <a:pt x="228010" y="29322"/>
                  <a:pt x="234574" y="35886"/>
                  <a:pt x="234574" y="43983"/>
                </a:cubicBezTo>
                <a:lnTo>
                  <a:pt x="234574" y="73304"/>
                </a:lnTo>
                <a:cubicBezTo>
                  <a:pt x="234574" y="81401"/>
                  <a:pt x="228010" y="87965"/>
                  <a:pt x="219913" y="87965"/>
                </a:cubicBezTo>
                <a:lnTo>
                  <a:pt x="131948" y="87965"/>
                </a:lnTo>
                <a:cubicBezTo>
                  <a:pt x="123851" y="87965"/>
                  <a:pt x="117287" y="81401"/>
                  <a:pt x="117287" y="73304"/>
                </a:cubicBezTo>
                <a:lnTo>
                  <a:pt x="117287" y="43983"/>
                </a:lnTo>
                <a:cubicBezTo>
                  <a:pt x="117287" y="35886"/>
                  <a:pt x="123851" y="29322"/>
                  <a:pt x="131948" y="29322"/>
                </a:cubicBezTo>
                <a:close/>
                <a:moveTo>
                  <a:pt x="234574" y="58644"/>
                </a:moveTo>
                <a:lnTo>
                  <a:pt x="263896" y="58644"/>
                </a:lnTo>
                <a:cubicBezTo>
                  <a:pt x="280090" y="58644"/>
                  <a:pt x="293218" y="71771"/>
                  <a:pt x="293218" y="87965"/>
                </a:cubicBezTo>
                <a:lnTo>
                  <a:pt x="293218" y="293218"/>
                </a:lnTo>
                <a:cubicBezTo>
                  <a:pt x="293218" y="309412"/>
                  <a:pt x="280090" y="322539"/>
                  <a:pt x="263896" y="322539"/>
                </a:cubicBezTo>
                <a:lnTo>
                  <a:pt x="87965" y="322539"/>
                </a:lnTo>
                <a:cubicBezTo>
                  <a:pt x="71771" y="322539"/>
                  <a:pt x="58644" y="309412"/>
                  <a:pt x="58644" y="293218"/>
                </a:cubicBezTo>
                <a:lnTo>
                  <a:pt x="58644" y="87965"/>
                </a:lnTo>
                <a:cubicBezTo>
                  <a:pt x="58644" y="71771"/>
                  <a:pt x="71771" y="58644"/>
                  <a:pt x="87965" y="58644"/>
                </a:cubicBezTo>
                <a:lnTo>
                  <a:pt x="117287" y="58644"/>
                </a:lnTo>
                <a:moveTo>
                  <a:pt x="175931" y="161270"/>
                </a:moveTo>
                <a:lnTo>
                  <a:pt x="234574" y="161270"/>
                </a:lnTo>
                <a:moveTo>
                  <a:pt x="175931" y="234574"/>
                </a:moveTo>
                <a:lnTo>
                  <a:pt x="234574" y="234574"/>
                </a:lnTo>
                <a:moveTo>
                  <a:pt x="117287" y="161270"/>
                </a:moveTo>
                <a:lnTo>
                  <a:pt x="117434" y="161270"/>
                </a:lnTo>
                <a:moveTo>
                  <a:pt x="117287" y="234574"/>
                </a:moveTo>
                <a:lnTo>
                  <a:pt x="117434" y="234574"/>
                </a:lnTo>
              </a:path>
            </a:pathLst>
          </a:custGeom>
          <a:noFill/>
          <a:ln w="29322" cap="rnd">
            <a:solidFill>
              <a:srgbClr val="0B2350"/>
            </a:solidFill>
            <a:prstDash val="solid"/>
            <a:round/>
          </a:ln>
        </p:spPr>
      </p:sp>
      <p:sp>
        <p:nvSpPr>
          <p:cNvPr id="25" name="Text 23"/>
          <p:cNvSpPr/>
          <p:nvPr/>
        </p:nvSpPr>
        <p:spPr>
          <a:xfrm>
            <a:off x="4424096" y="2679192"/>
            <a:ext cx="1443152" cy="676656"/>
          </a:xfrm>
          <a:prstGeom prst="rect">
            <a:avLst/>
          </a:prstGeom>
          <a:noFill/>
          <a:ln/>
        </p:spPr>
        <p:txBody>
          <a:bodyPr wrap="square" lIns="0" tIns="0" rIns="0" bIns="0" rtlCol="0" anchor="ctr">
            <a:normAutofit/>
          </a:bodyPr>
          <a:lstStyle/>
          <a:p>
            <a:pPr algn="l" indent="0" marL="0">
              <a:buNone/>
            </a:pPr>
            <a:r>
              <a:rPr lang="en-US" sz="950" b="1" dirty="0">
                <a:solidFill>
                  <a:srgbClr val="0B2350"/>
                </a:solidFill>
                <a:latin typeface="Segoe UI Semibold" pitchFamily="34" charset="0"/>
                <a:ea typeface="Segoe UI Semibold" pitchFamily="34" charset="-122"/>
                <a:cs typeface="Segoe UI Semibold" pitchFamily="34" charset="-120"/>
              </a:rPr>
              <a:t>servicio-solicitudes</a:t>
            </a:r>
            <a:endParaRPr lang="en-US" sz="950" dirty="0"/>
          </a:p>
        </p:txBody>
      </p:sp>
      <p:sp>
        <p:nvSpPr>
          <p:cNvPr id="26" name="Text 24"/>
          <p:cNvSpPr/>
          <p:nvPr/>
        </p:nvSpPr>
        <p:spPr>
          <a:xfrm>
            <a:off x="365600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:8080 · el trámite</a:t>
            </a:r>
            <a:endParaRPr lang="en-US" sz="1600" dirty="0"/>
          </a:p>
        </p:txBody>
      </p:sp>
      <p:sp>
        <p:nvSpPr>
          <p:cNvPr id="27" name="Shape 25"/>
          <p:cNvSpPr/>
          <p:nvPr/>
        </p:nvSpPr>
        <p:spPr>
          <a:xfrm>
            <a:off x="6187288"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8" name="Shape 26"/>
          <p:cNvSpPr/>
          <p:nvPr/>
        </p:nvSpPr>
        <p:spPr>
          <a:xfrm>
            <a:off x="6187288" y="2624328"/>
            <a:ext cx="64008" cy="1581912"/>
          </a:xfrm>
          <a:prstGeom prst="rect">
            <a:avLst/>
          </a:prstGeom>
          <a:solidFill>
            <a:srgbClr val="0B6E8A"/>
          </a:solidFill>
          <a:ln w="12700">
            <a:solidFill>
              <a:srgbClr val="0B6E8A"/>
            </a:solidFill>
            <a:prstDash val="solid"/>
          </a:ln>
        </p:spPr>
      </p:sp>
      <p:sp>
        <p:nvSpPr>
          <p:cNvPr id="29" name="Shape 27"/>
          <p:cNvSpPr/>
          <p:nvPr/>
        </p:nvSpPr>
        <p:spPr>
          <a:xfrm>
            <a:off x="6388456" y="2679192"/>
            <a:ext cx="676656" cy="676656"/>
          </a:xfrm>
          <a:prstGeom prst="ellipse">
            <a:avLst/>
          </a:prstGeom>
          <a:solidFill>
            <a:srgbClr val="E3F4FA"/>
          </a:solidFill>
          <a:ln w="12700">
            <a:solidFill>
              <a:srgbClr val="E3F4FA"/>
            </a:solidFill>
            <a:prstDash val="solid"/>
          </a:ln>
        </p:spPr>
      </p:sp>
      <p:sp>
        <p:nvSpPr>
          <p:cNvPr id="30" name="Icono bell"/>
          <p:cNvSpPr/>
          <p:nvPr/>
        </p:nvSpPr>
        <p:spPr>
          <a:xfrm>
            <a:off x="6550853" y="2841589"/>
            <a:ext cx="351861" cy="351861"/>
          </a:xfrm>
          <a:custGeom>
            <a:avLst/>
            <a:gdLst/>
            <a:ahLst/>
            <a:cxnLst/>
            <a:rect l="l" t="t" r="r" b="b"/>
            <a:pathLst>
              <a:path w="351861" h="351861">
                <a:moveTo>
                  <a:pt x="150538" y="307878"/>
                </a:moveTo>
                <a:cubicBezTo>
                  <a:pt x="155776" y="316950"/>
                  <a:pt x="165455" y="322538"/>
                  <a:pt x="175931" y="322538"/>
                </a:cubicBezTo>
                <a:cubicBezTo>
                  <a:pt x="186406" y="322538"/>
                  <a:pt x="196085" y="316950"/>
                  <a:pt x="201323" y="307878"/>
                </a:cubicBezTo>
                <a:moveTo>
                  <a:pt x="47824" y="224693"/>
                </a:moveTo>
                <a:cubicBezTo>
                  <a:pt x="43911" y="228982"/>
                  <a:pt x="42897" y="235176"/>
                  <a:pt x="45239" y="240488"/>
                </a:cubicBezTo>
                <a:cubicBezTo>
                  <a:pt x="47581" y="245801"/>
                  <a:pt x="52838" y="249231"/>
                  <a:pt x="58644" y="249235"/>
                </a:cubicBezTo>
                <a:lnTo>
                  <a:pt x="293218" y="249235"/>
                </a:lnTo>
                <a:cubicBezTo>
                  <a:pt x="299023" y="249237"/>
                  <a:pt x="304282" y="245814"/>
                  <a:pt x="306631" y="240505"/>
                </a:cubicBezTo>
                <a:cubicBezTo>
                  <a:pt x="308979" y="235196"/>
                  <a:pt x="307974" y="229001"/>
                  <a:pt x="304067" y="224707"/>
                </a:cubicBezTo>
                <a:cubicBezTo>
                  <a:pt x="284568" y="204607"/>
                  <a:pt x="263896" y="183246"/>
                  <a:pt x="263896" y="117287"/>
                </a:cubicBezTo>
                <a:cubicBezTo>
                  <a:pt x="263896" y="68705"/>
                  <a:pt x="224512" y="29322"/>
                  <a:pt x="175931" y="29322"/>
                </a:cubicBezTo>
                <a:cubicBezTo>
                  <a:pt x="127349" y="29322"/>
                  <a:pt x="87965" y="68705"/>
                  <a:pt x="87965" y="117287"/>
                </a:cubicBezTo>
                <a:cubicBezTo>
                  <a:pt x="87965" y="183246"/>
                  <a:pt x="67279" y="204607"/>
                  <a:pt x="47824" y="224693"/>
                </a:cubicBezTo>
              </a:path>
            </a:pathLst>
          </a:custGeom>
          <a:noFill/>
          <a:ln w="29322" cap="rnd">
            <a:solidFill>
              <a:srgbClr val="0B6E8A"/>
            </a:solidFill>
            <a:prstDash val="solid"/>
            <a:round/>
          </a:ln>
        </p:spPr>
      </p:sp>
      <p:sp>
        <p:nvSpPr>
          <p:cNvPr id="31" name="Text 29"/>
          <p:cNvSpPr/>
          <p:nvPr/>
        </p:nvSpPr>
        <p:spPr>
          <a:xfrm>
            <a:off x="7211416" y="2679192"/>
            <a:ext cx="1443152" cy="676656"/>
          </a:xfrm>
          <a:prstGeom prst="rect">
            <a:avLst/>
          </a:prstGeom>
          <a:noFill/>
          <a:ln/>
        </p:spPr>
        <p:txBody>
          <a:bodyPr wrap="square" lIns="0" tIns="0" rIns="0" bIns="0" rtlCol="0" anchor="ctr">
            <a:normAutofit/>
          </a:bodyPr>
          <a:lstStyle/>
          <a:p>
            <a:pPr algn="l" indent="0" marL="0">
              <a:buNone/>
            </a:pPr>
            <a:r>
              <a:rPr lang="en-US" sz="850" b="1" dirty="0">
                <a:solidFill>
                  <a:srgbClr val="0B6E8A"/>
                </a:solidFill>
                <a:latin typeface="Segoe UI Semibold" pitchFamily="34" charset="0"/>
                <a:ea typeface="Segoe UI Semibold" pitchFamily="34" charset="-122"/>
                <a:cs typeface="Segoe UI Semibold" pitchFamily="34" charset="-120"/>
              </a:rPr>
              <a:t>servicio-notificaciones</a:t>
            </a:r>
            <a:endParaRPr lang="en-US" sz="850" dirty="0"/>
          </a:p>
        </p:txBody>
      </p:sp>
      <p:sp>
        <p:nvSpPr>
          <p:cNvPr id="32" name="Text 30"/>
          <p:cNvSpPr/>
          <p:nvPr/>
        </p:nvSpPr>
        <p:spPr>
          <a:xfrm>
            <a:off x="6443320"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:8081 · los avisos</a:t>
            </a:r>
            <a:endParaRPr lang="en-US" sz="1600" dirty="0"/>
          </a:p>
        </p:txBody>
      </p:sp>
      <p:sp>
        <p:nvSpPr>
          <p:cNvPr id="33" name="Shape 31"/>
          <p:cNvSpPr/>
          <p:nvPr/>
        </p:nvSpPr>
        <p:spPr>
          <a:xfrm>
            <a:off x="8974607" y="2496312"/>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4" name="Shape 32"/>
          <p:cNvSpPr/>
          <p:nvPr/>
        </p:nvSpPr>
        <p:spPr>
          <a:xfrm>
            <a:off x="8974607" y="2624328"/>
            <a:ext cx="64008" cy="1581912"/>
          </a:xfrm>
          <a:prstGeom prst="rect">
            <a:avLst/>
          </a:prstGeom>
          <a:solidFill>
            <a:srgbClr val="55627E"/>
          </a:solidFill>
          <a:ln w="12700">
            <a:solidFill>
              <a:srgbClr val="55627E"/>
            </a:solidFill>
            <a:prstDash val="solid"/>
          </a:ln>
        </p:spPr>
      </p:sp>
      <p:sp>
        <p:nvSpPr>
          <p:cNvPr id="35" name="Shape 33"/>
          <p:cNvSpPr/>
          <p:nvPr/>
        </p:nvSpPr>
        <p:spPr>
          <a:xfrm>
            <a:off x="9175775" y="2679192"/>
            <a:ext cx="676656" cy="676656"/>
          </a:xfrm>
          <a:prstGeom prst="ellipse">
            <a:avLst/>
          </a:prstGeom>
          <a:solidFill>
            <a:srgbClr val="F4F7FB"/>
          </a:solidFill>
          <a:ln w="12700">
            <a:solidFill>
              <a:srgbClr val="F4F7FB"/>
            </a:solidFill>
            <a:prstDash val="solid"/>
          </a:ln>
        </p:spPr>
      </p:sp>
      <p:sp>
        <p:nvSpPr>
          <p:cNvPr id="36" name="Icono database"/>
          <p:cNvSpPr/>
          <p:nvPr/>
        </p:nvSpPr>
        <p:spPr>
          <a:xfrm>
            <a:off x="9338173" y="2841589"/>
            <a:ext cx="351861" cy="351861"/>
          </a:xfrm>
          <a:custGeom>
            <a:avLst/>
            <a:gdLst/>
            <a:ahLst/>
            <a:cxnLst/>
            <a:rect l="l" t="t" r="r" b="b"/>
            <a:pathLst>
              <a:path w="351861" h="351861">
                <a:moveTo>
                  <a:pt x="307878" y="73304"/>
                </a:moveTo>
                <a:cubicBezTo>
                  <a:pt x="307878" y="97595"/>
                  <a:pt x="248803" y="117287"/>
                  <a:pt x="175931" y="117287"/>
                </a:cubicBezTo>
                <a:cubicBezTo>
                  <a:pt x="103058" y="117287"/>
                  <a:pt x="43983" y="97595"/>
                  <a:pt x="43983" y="73304"/>
                </a:cubicBezTo>
                <a:cubicBezTo>
                  <a:pt x="43983" y="49013"/>
                  <a:pt x="103058" y="29322"/>
                  <a:pt x="175931" y="29322"/>
                </a:cubicBezTo>
                <a:cubicBezTo>
                  <a:pt x="248803" y="29322"/>
                  <a:pt x="307878" y="49013"/>
                  <a:pt x="307878" y="73304"/>
                </a:cubicBezTo>
                <a:close/>
                <a:moveTo>
                  <a:pt x="43983" y="73304"/>
                </a:moveTo>
                <a:lnTo>
                  <a:pt x="43983" y="278557"/>
                </a:lnTo>
                <a:cubicBezTo>
                  <a:pt x="43983" y="302848"/>
                  <a:pt x="103058" y="322539"/>
                  <a:pt x="175931" y="322539"/>
                </a:cubicBezTo>
                <a:cubicBezTo>
                  <a:pt x="248803" y="322539"/>
                  <a:pt x="307878" y="302848"/>
                  <a:pt x="307878" y="278557"/>
                </a:cubicBezTo>
                <a:lnTo>
                  <a:pt x="307878" y="73304"/>
                </a:lnTo>
                <a:moveTo>
                  <a:pt x="43983" y="175931"/>
                </a:moveTo>
                <a:cubicBezTo>
                  <a:pt x="43983" y="200222"/>
                  <a:pt x="103058" y="219913"/>
                  <a:pt x="175931" y="219913"/>
                </a:cubicBezTo>
                <a:cubicBezTo>
                  <a:pt x="248803" y="219913"/>
                  <a:pt x="307878" y="200222"/>
                  <a:pt x="307878" y="175931"/>
                </a:cubicBezTo>
              </a:path>
            </a:pathLst>
          </a:custGeom>
          <a:noFill/>
          <a:ln w="29322" cap="rnd">
            <a:solidFill>
              <a:srgbClr val="55627E"/>
            </a:solidFill>
            <a:prstDash val="solid"/>
            <a:round/>
          </a:ln>
        </p:spPr>
      </p:sp>
      <p:sp>
        <p:nvSpPr>
          <p:cNvPr id="37" name="Text 35"/>
          <p:cNvSpPr/>
          <p:nvPr/>
        </p:nvSpPr>
        <p:spPr>
          <a:xfrm>
            <a:off x="9998735" y="2679192"/>
            <a:ext cx="1443152" cy="676656"/>
          </a:xfrm>
          <a:prstGeom prst="rect">
            <a:avLst/>
          </a:prstGeom>
          <a:noFill/>
          <a:ln/>
        </p:spPr>
        <p:txBody>
          <a:bodyPr wrap="square" lIns="0" tIns="0" rIns="0" bIns="0" rtlCol="0" anchor="ctr">
            <a:normAutofit/>
          </a:bodyPr>
          <a:lstStyle/>
          <a:p>
            <a:pPr algn="l" indent="0" marL="0">
              <a:buNone/>
            </a:pPr>
            <a:r>
              <a:rPr lang="en-US" sz="1350" b="1" dirty="0">
                <a:solidFill>
                  <a:srgbClr val="55627E"/>
                </a:solidFill>
                <a:latin typeface="Segoe UI Semibold" pitchFamily="34" charset="0"/>
                <a:ea typeface="Segoe UI Semibold" pitchFamily="34" charset="-122"/>
                <a:cs typeface="Segoe UI Semibold" pitchFamily="34" charset="-120"/>
              </a:rPr>
              <a:t>db-solicitudes</a:t>
            </a:r>
            <a:endParaRPr lang="en-US" sz="1350" dirty="0"/>
          </a:p>
        </p:txBody>
      </p:sp>
      <p:sp>
        <p:nvSpPr>
          <p:cNvPr id="38" name="Text 36"/>
          <p:cNvSpPr/>
          <p:nvPr/>
        </p:nvSpPr>
        <p:spPr>
          <a:xfrm>
            <a:off x="9230639" y="3502152"/>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PostgreSQL 17 · solo red interna</a:t>
            </a:r>
            <a:endParaRPr lang="en-US" sz="1600" dirty="0"/>
          </a:p>
        </p:txBody>
      </p:sp>
      <p:sp>
        <p:nvSpPr>
          <p:cNvPr id="39" name="Shape 37"/>
          <p:cNvSpPr/>
          <p:nvPr/>
        </p:nvSpPr>
        <p:spPr>
          <a:xfrm>
            <a:off x="61264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0" name="Shape 38"/>
          <p:cNvSpPr/>
          <p:nvPr/>
        </p:nvSpPr>
        <p:spPr>
          <a:xfrm>
            <a:off x="612648" y="4645152"/>
            <a:ext cx="64008" cy="1581912"/>
          </a:xfrm>
          <a:prstGeom prst="rect">
            <a:avLst/>
          </a:prstGeom>
          <a:solidFill>
            <a:srgbClr val="55627E"/>
          </a:solidFill>
          <a:ln w="12700">
            <a:solidFill>
              <a:srgbClr val="55627E"/>
            </a:solidFill>
            <a:prstDash val="solid"/>
          </a:ln>
        </p:spPr>
      </p:sp>
      <p:sp>
        <p:nvSpPr>
          <p:cNvPr id="41" name="Shape 39"/>
          <p:cNvSpPr/>
          <p:nvPr/>
        </p:nvSpPr>
        <p:spPr>
          <a:xfrm>
            <a:off x="813816" y="4700016"/>
            <a:ext cx="676656" cy="676656"/>
          </a:xfrm>
          <a:prstGeom prst="ellipse">
            <a:avLst/>
          </a:prstGeom>
          <a:solidFill>
            <a:srgbClr val="F4F7FB"/>
          </a:solidFill>
          <a:ln w="12700">
            <a:solidFill>
              <a:srgbClr val="F4F7FB"/>
            </a:solidFill>
            <a:prstDash val="solid"/>
          </a:ln>
        </p:spPr>
      </p:sp>
      <p:sp>
        <p:nvSpPr>
          <p:cNvPr id="42" name="Icono database"/>
          <p:cNvSpPr/>
          <p:nvPr/>
        </p:nvSpPr>
        <p:spPr>
          <a:xfrm>
            <a:off x="976213" y="4862413"/>
            <a:ext cx="351861" cy="351861"/>
          </a:xfrm>
          <a:custGeom>
            <a:avLst/>
            <a:gdLst/>
            <a:ahLst/>
            <a:cxnLst/>
            <a:rect l="l" t="t" r="r" b="b"/>
            <a:pathLst>
              <a:path w="351861" h="351861">
                <a:moveTo>
                  <a:pt x="307878" y="73304"/>
                </a:moveTo>
                <a:cubicBezTo>
                  <a:pt x="307878" y="97595"/>
                  <a:pt x="248803" y="117287"/>
                  <a:pt x="175931" y="117287"/>
                </a:cubicBezTo>
                <a:cubicBezTo>
                  <a:pt x="103058" y="117287"/>
                  <a:pt x="43983" y="97595"/>
                  <a:pt x="43983" y="73304"/>
                </a:cubicBezTo>
                <a:cubicBezTo>
                  <a:pt x="43983" y="49013"/>
                  <a:pt x="103058" y="29322"/>
                  <a:pt x="175931" y="29322"/>
                </a:cubicBezTo>
                <a:cubicBezTo>
                  <a:pt x="248803" y="29322"/>
                  <a:pt x="307878" y="49013"/>
                  <a:pt x="307878" y="73304"/>
                </a:cubicBezTo>
                <a:close/>
                <a:moveTo>
                  <a:pt x="43983" y="73304"/>
                </a:moveTo>
                <a:lnTo>
                  <a:pt x="43983" y="278557"/>
                </a:lnTo>
                <a:cubicBezTo>
                  <a:pt x="43983" y="302848"/>
                  <a:pt x="103058" y="322539"/>
                  <a:pt x="175931" y="322539"/>
                </a:cubicBezTo>
                <a:cubicBezTo>
                  <a:pt x="248803" y="322539"/>
                  <a:pt x="307878" y="302848"/>
                  <a:pt x="307878" y="278557"/>
                </a:cubicBezTo>
                <a:lnTo>
                  <a:pt x="307878" y="73304"/>
                </a:lnTo>
                <a:moveTo>
                  <a:pt x="43983" y="175931"/>
                </a:moveTo>
                <a:cubicBezTo>
                  <a:pt x="43983" y="200222"/>
                  <a:pt x="103058" y="219913"/>
                  <a:pt x="175931" y="219913"/>
                </a:cubicBezTo>
                <a:cubicBezTo>
                  <a:pt x="248803" y="219913"/>
                  <a:pt x="307878" y="200222"/>
                  <a:pt x="307878" y="175931"/>
                </a:cubicBezTo>
              </a:path>
            </a:pathLst>
          </a:custGeom>
          <a:noFill/>
          <a:ln w="29322" cap="rnd">
            <a:solidFill>
              <a:srgbClr val="55627E"/>
            </a:solidFill>
            <a:prstDash val="solid"/>
            <a:round/>
          </a:ln>
        </p:spPr>
      </p:sp>
      <p:sp>
        <p:nvSpPr>
          <p:cNvPr id="43" name="Text 41"/>
          <p:cNvSpPr/>
          <p:nvPr/>
        </p:nvSpPr>
        <p:spPr>
          <a:xfrm>
            <a:off x="1636776" y="4700016"/>
            <a:ext cx="1443152" cy="676656"/>
          </a:xfrm>
          <a:prstGeom prst="rect">
            <a:avLst/>
          </a:prstGeom>
          <a:noFill/>
          <a:ln/>
        </p:spPr>
        <p:txBody>
          <a:bodyPr wrap="square" lIns="0" tIns="0" rIns="0" bIns="0" rtlCol="0" anchor="ctr">
            <a:normAutofit/>
          </a:bodyPr>
          <a:lstStyle/>
          <a:p>
            <a:pPr algn="l" indent="0" marL="0">
              <a:buNone/>
            </a:pPr>
            <a:r>
              <a:rPr lang="en-US" sz="1150" b="1" dirty="0">
                <a:solidFill>
                  <a:srgbClr val="55627E"/>
                </a:solidFill>
                <a:latin typeface="Segoe UI Semibold" pitchFamily="34" charset="0"/>
                <a:ea typeface="Segoe UI Semibold" pitchFamily="34" charset="-122"/>
                <a:cs typeface="Segoe UI Semibold" pitchFamily="34" charset="-120"/>
              </a:rPr>
              <a:t>db-notificaciones</a:t>
            </a:r>
            <a:endParaRPr lang="en-US" sz="1150" dirty="0"/>
          </a:p>
        </p:txBody>
      </p:sp>
      <p:sp>
        <p:nvSpPr>
          <p:cNvPr id="44" name="Text 42"/>
          <p:cNvSpPr/>
          <p:nvPr/>
        </p:nvSpPr>
        <p:spPr>
          <a:xfrm>
            <a:off x="86868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PostgreSQL 17 · :5433</a:t>
            </a:r>
            <a:endParaRPr lang="en-US" sz="1600" dirty="0"/>
          </a:p>
        </p:txBody>
      </p:sp>
      <p:sp>
        <p:nvSpPr>
          <p:cNvPr id="45" name="Shape 43"/>
          <p:cNvSpPr/>
          <p:nvPr/>
        </p:nvSpPr>
        <p:spPr>
          <a:xfrm>
            <a:off x="339996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6" name="Shape 44"/>
          <p:cNvSpPr/>
          <p:nvPr/>
        </p:nvSpPr>
        <p:spPr>
          <a:xfrm>
            <a:off x="3399968" y="4645152"/>
            <a:ext cx="64008" cy="1581912"/>
          </a:xfrm>
          <a:prstGeom prst="rect">
            <a:avLst/>
          </a:prstGeom>
          <a:solidFill>
            <a:srgbClr val="8A4B06"/>
          </a:solidFill>
          <a:ln w="12700">
            <a:solidFill>
              <a:srgbClr val="8A4B06"/>
            </a:solidFill>
            <a:prstDash val="solid"/>
          </a:ln>
        </p:spPr>
      </p:sp>
      <p:sp>
        <p:nvSpPr>
          <p:cNvPr id="47" name="Shape 45"/>
          <p:cNvSpPr/>
          <p:nvPr/>
        </p:nvSpPr>
        <p:spPr>
          <a:xfrm>
            <a:off x="3601136" y="4700016"/>
            <a:ext cx="676656" cy="676656"/>
          </a:xfrm>
          <a:prstGeom prst="ellipse">
            <a:avLst/>
          </a:prstGeom>
          <a:solidFill>
            <a:srgbClr val="FCEFD6"/>
          </a:solidFill>
          <a:ln w="12700">
            <a:solidFill>
              <a:srgbClr val="FCEFD6"/>
            </a:solidFill>
            <a:prstDash val="solid"/>
          </a:ln>
        </p:spPr>
      </p:sp>
      <p:sp>
        <p:nvSpPr>
          <p:cNvPr id="48" name="Icono scan-eye"/>
          <p:cNvSpPr/>
          <p:nvPr/>
        </p:nvSpPr>
        <p:spPr>
          <a:xfrm>
            <a:off x="3763533" y="4862413"/>
            <a:ext cx="351861" cy="351861"/>
          </a:xfrm>
          <a:custGeom>
            <a:avLst/>
            <a:gdLst/>
            <a:ahLst/>
            <a:cxnLst/>
            <a:rect l="l" t="t" r="r" b="b"/>
            <a:pathLst>
              <a:path w="351861" h="351861">
                <a:moveTo>
                  <a:pt x="43983" y="102626"/>
                </a:moveTo>
                <a:lnTo>
                  <a:pt x="43983" y="73304"/>
                </a:lnTo>
                <a:cubicBezTo>
                  <a:pt x="43983" y="57110"/>
                  <a:pt x="57110" y="43983"/>
                  <a:pt x="73304" y="43983"/>
                </a:cubicBezTo>
                <a:lnTo>
                  <a:pt x="102626" y="43983"/>
                </a:lnTo>
                <a:moveTo>
                  <a:pt x="249235" y="43983"/>
                </a:moveTo>
                <a:lnTo>
                  <a:pt x="278557" y="43983"/>
                </a:lnTo>
                <a:cubicBezTo>
                  <a:pt x="294751" y="43983"/>
                  <a:pt x="307878" y="57110"/>
                  <a:pt x="307878" y="73304"/>
                </a:cubicBezTo>
                <a:lnTo>
                  <a:pt x="307878" y="102626"/>
                </a:lnTo>
                <a:moveTo>
                  <a:pt x="307878" y="249235"/>
                </a:moveTo>
                <a:lnTo>
                  <a:pt x="307878" y="278557"/>
                </a:lnTo>
                <a:cubicBezTo>
                  <a:pt x="307878" y="294751"/>
                  <a:pt x="294751" y="307878"/>
                  <a:pt x="278557" y="307878"/>
                </a:cubicBezTo>
                <a:lnTo>
                  <a:pt x="249235" y="307878"/>
                </a:lnTo>
                <a:moveTo>
                  <a:pt x="102626" y="307878"/>
                </a:moveTo>
                <a:lnTo>
                  <a:pt x="73304" y="307878"/>
                </a:lnTo>
                <a:cubicBezTo>
                  <a:pt x="57110" y="307878"/>
                  <a:pt x="43983" y="294751"/>
                  <a:pt x="43983" y="278557"/>
                </a:cubicBezTo>
                <a:lnTo>
                  <a:pt x="43983" y="249235"/>
                </a:lnTo>
                <a:moveTo>
                  <a:pt x="190591" y="175931"/>
                </a:moveTo>
                <a:cubicBezTo>
                  <a:pt x="190591" y="184028"/>
                  <a:pt x="184028" y="190591"/>
                  <a:pt x="175931" y="190591"/>
                </a:cubicBezTo>
                <a:cubicBezTo>
                  <a:pt x="167834" y="190591"/>
                  <a:pt x="161270" y="184028"/>
                  <a:pt x="161270" y="175931"/>
                </a:cubicBezTo>
                <a:cubicBezTo>
                  <a:pt x="161270" y="167834"/>
                  <a:pt x="167834" y="161270"/>
                  <a:pt x="175931" y="161270"/>
                </a:cubicBezTo>
                <a:cubicBezTo>
                  <a:pt x="184028" y="161270"/>
                  <a:pt x="190591" y="167834"/>
                  <a:pt x="190591" y="175931"/>
                </a:cubicBezTo>
                <a:close/>
                <a:moveTo>
                  <a:pt x="277736" y="180769"/>
                </a:moveTo>
                <a:cubicBezTo>
                  <a:pt x="278831" y="177636"/>
                  <a:pt x="278831" y="174225"/>
                  <a:pt x="277736" y="171092"/>
                </a:cubicBezTo>
                <a:cubicBezTo>
                  <a:pt x="260852" y="129722"/>
                  <a:pt x="220613" y="102683"/>
                  <a:pt x="175931" y="102683"/>
                </a:cubicBezTo>
                <a:cubicBezTo>
                  <a:pt x="131248" y="102683"/>
                  <a:pt x="91009" y="129722"/>
                  <a:pt x="74125" y="171092"/>
                </a:cubicBezTo>
                <a:cubicBezTo>
                  <a:pt x="73030" y="174225"/>
                  <a:pt x="73030" y="177636"/>
                  <a:pt x="74125" y="180769"/>
                </a:cubicBezTo>
                <a:cubicBezTo>
                  <a:pt x="91009" y="222139"/>
                  <a:pt x="131248" y="249178"/>
                  <a:pt x="175931" y="249178"/>
                </a:cubicBezTo>
                <a:cubicBezTo>
                  <a:pt x="220613" y="249178"/>
                  <a:pt x="260852" y="222139"/>
                  <a:pt x="277736" y="180769"/>
                </a:cubicBezTo>
              </a:path>
            </a:pathLst>
          </a:custGeom>
          <a:noFill/>
          <a:ln w="29322" cap="rnd">
            <a:solidFill>
              <a:srgbClr val="8A4B06"/>
            </a:solidFill>
            <a:prstDash val="solid"/>
            <a:round/>
          </a:ln>
        </p:spPr>
      </p:sp>
      <p:sp>
        <p:nvSpPr>
          <p:cNvPr id="49" name="Text 47"/>
          <p:cNvSpPr/>
          <p:nvPr/>
        </p:nvSpPr>
        <p:spPr>
          <a:xfrm>
            <a:off x="4424096"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promtail</a:t>
            </a:r>
            <a:endParaRPr lang="en-US" sz="1800" dirty="0"/>
          </a:p>
        </p:txBody>
      </p:sp>
      <p:sp>
        <p:nvSpPr>
          <p:cNvPr id="50" name="Text 48"/>
          <p:cNvSpPr/>
          <p:nvPr/>
        </p:nvSpPr>
        <p:spPr>
          <a:xfrm>
            <a:off x="365600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recoge los logs</a:t>
            </a:r>
            <a:endParaRPr lang="en-US" sz="1600" dirty="0"/>
          </a:p>
        </p:txBody>
      </p:sp>
      <p:sp>
        <p:nvSpPr>
          <p:cNvPr id="51" name="Shape 49"/>
          <p:cNvSpPr/>
          <p:nvPr/>
        </p:nvSpPr>
        <p:spPr>
          <a:xfrm>
            <a:off x="6187288"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2" name="Shape 50"/>
          <p:cNvSpPr/>
          <p:nvPr/>
        </p:nvSpPr>
        <p:spPr>
          <a:xfrm>
            <a:off x="6187288" y="4645152"/>
            <a:ext cx="64008" cy="1581912"/>
          </a:xfrm>
          <a:prstGeom prst="rect">
            <a:avLst/>
          </a:prstGeom>
          <a:solidFill>
            <a:srgbClr val="8A4B06"/>
          </a:solidFill>
          <a:ln w="12700">
            <a:solidFill>
              <a:srgbClr val="8A4B06"/>
            </a:solidFill>
            <a:prstDash val="solid"/>
          </a:ln>
        </p:spPr>
      </p:sp>
      <p:sp>
        <p:nvSpPr>
          <p:cNvPr id="53" name="Shape 51"/>
          <p:cNvSpPr/>
          <p:nvPr/>
        </p:nvSpPr>
        <p:spPr>
          <a:xfrm>
            <a:off x="6388456" y="4700016"/>
            <a:ext cx="676656" cy="676656"/>
          </a:xfrm>
          <a:prstGeom prst="ellipse">
            <a:avLst/>
          </a:prstGeom>
          <a:solidFill>
            <a:srgbClr val="FCEFD6"/>
          </a:solidFill>
          <a:ln w="12700">
            <a:solidFill>
              <a:srgbClr val="FCEFD6"/>
            </a:solidFill>
            <a:prstDash val="solid"/>
          </a:ln>
        </p:spPr>
      </p:sp>
      <p:sp>
        <p:nvSpPr>
          <p:cNvPr id="54" name="Icono archive"/>
          <p:cNvSpPr/>
          <p:nvPr/>
        </p:nvSpPr>
        <p:spPr>
          <a:xfrm>
            <a:off x="6550853" y="4862413"/>
            <a:ext cx="351861" cy="351861"/>
          </a:xfrm>
          <a:custGeom>
            <a:avLst/>
            <a:gdLst/>
            <a:ahLst/>
            <a:cxnLst/>
            <a:rect l="l" t="t" r="r" b="b"/>
            <a:pathLst>
              <a:path w="351861" h="351861">
                <a:moveTo>
                  <a:pt x="43983" y="43983"/>
                </a:moveTo>
                <a:lnTo>
                  <a:pt x="307878" y="43983"/>
                </a:lnTo>
                <a:cubicBezTo>
                  <a:pt x="315975" y="43983"/>
                  <a:pt x="322539" y="50547"/>
                  <a:pt x="322539" y="58644"/>
                </a:cubicBezTo>
                <a:lnTo>
                  <a:pt x="322539" y="102626"/>
                </a:lnTo>
                <a:cubicBezTo>
                  <a:pt x="322539" y="110723"/>
                  <a:pt x="315975" y="117287"/>
                  <a:pt x="307878" y="117287"/>
                </a:cubicBezTo>
                <a:lnTo>
                  <a:pt x="43983" y="117287"/>
                </a:lnTo>
                <a:cubicBezTo>
                  <a:pt x="35886" y="117287"/>
                  <a:pt x="29322" y="110723"/>
                  <a:pt x="29322" y="102626"/>
                </a:cubicBezTo>
                <a:lnTo>
                  <a:pt x="29322" y="58644"/>
                </a:lnTo>
                <a:cubicBezTo>
                  <a:pt x="29322" y="50547"/>
                  <a:pt x="35886" y="43983"/>
                  <a:pt x="43983" y="43983"/>
                </a:cubicBezTo>
                <a:close/>
                <a:moveTo>
                  <a:pt x="58644" y="117287"/>
                </a:moveTo>
                <a:lnTo>
                  <a:pt x="58644" y="278557"/>
                </a:lnTo>
                <a:cubicBezTo>
                  <a:pt x="58644" y="294751"/>
                  <a:pt x="71771" y="307878"/>
                  <a:pt x="87965" y="307878"/>
                </a:cubicBezTo>
                <a:lnTo>
                  <a:pt x="263896" y="307878"/>
                </a:lnTo>
                <a:cubicBezTo>
                  <a:pt x="280090" y="307878"/>
                  <a:pt x="293218" y="294751"/>
                  <a:pt x="293218" y="278557"/>
                </a:cubicBezTo>
                <a:lnTo>
                  <a:pt x="293218" y="117287"/>
                </a:lnTo>
                <a:moveTo>
                  <a:pt x="146609" y="175931"/>
                </a:moveTo>
                <a:lnTo>
                  <a:pt x="205252" y="175931"/>
                </a:lnTo>
              </a:path>
            </a:pathLst>
          </a:custGeom>
          <a:noFill/>
          <a:ln w="29322" cap="rnd">
            <a:solidFill>
              <a:srgbClr val="8A4B06"/>
            </a:solidFill>
            <a:prstDash val="solid"/>
            <a:round/>
          </a:ln>
        </p:spPr>
      </p:sp>
      <p:sp>
        <p:nvSpPr>
          <p:cNvPr id="55" name="Text 53"/>
          <p:cNvSpPr/>
          <p:nvPr/>
        </p:nvSpPr>
        <p:spPr>
          <a:xfrm>
            <a:off x="7211416"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loki</a:t>
            </a:r>
            <a:endParaRPr lang="en-US" sz="1800" dirty="0"/>
          </a:p>
        </p:txBody>
      </p:sp>
      <p:sp>
        <p:nvSpPr>
          <p:cNvPr id="56" name="Text 54"/>
          <p:cNvSpPr/>
          <p:nvPr/>
        </p:nvSpPr>
        <p:spPr>
          <a:xfrm>
            <a:off x="6443320"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:3100 · guarda los logs</a:t>
            </a:r>
            <a:endParaRPr lang="en-US" sz="1600" dirty="0"/>
          </a:p>
        </p:txBody>
      </p:sp>
      <p:sp>
        <p:nvSpPr>
          <p:cNvPr id="57" name="Shape 55"/>
          <p:cNvSpPr/>
          <p:nvPr/>
        </p:nvSpPr>
        <p:spPr>
          <a:xfrm>
            <a:off x="8974607" y="4517136"/>
            <a:ext cx="2604440" cy="1837944"/>
          </a:xfrm>
          <a:prstGeom prst="roundRect">
            <a:avLst>
              <a:gd name="adj" fmla="val 6965"/>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8" name="Shape 56"/>
          <p:cNvSpPr/>
          <p:nvPr/>
        </p:nvSpPr>
        <p:spPr>
          <a:xfrm>
            <a:off x="8974607" y="4645152"/>
            <a:ext cx="64008" cy="1581912"/>
          </a:xfrm>
          <a:prstGeom prst="rect">
            <a:avLst/>
          </a:prstGeom>
          <a:solidFill>
            <a:srgbClr val="8A4B06"/>
          </a:solidFill>
          <a:ln w="12700">
            <a:solidFill>
              <a:srgbClr val="8A4B06"/>
            </a:solidFill>
            <a:prstDash val="solid"/>
          </a:ln>
        </p:spPr>
      </p:sp>
      <p:sp>
        <p:nvSpPr>
          <p:cNvPr id="59" name="Shape 57"/>
          <p:cNvSpPr/>
          <p:nvPr/>
        </p:nvSpPr>
        <p:spPr>
          <a:xfrm>
            <a:off x="9175775" y="4700016"/>
            <a:ext cx="676656" cy="676656"/>
          </a:xfrm>
          <a:prstGeom prst="ellipse">
            <a:avLst/>
          </a:prstGeom>
          <a:solidFill>
            <a:srgbClr val="FCEFD6"/>
          </a:solidFill>
          <a:ln w="12700">
            <a:solidFill>
              <a:srgbClr val="FCEFD6"/>
            </a:solidFill>
            <a:prstDash val="solid"/>
          </a:ln>
        </p:spPr>
      </p:sp>
      <p:sp>
        <p:nvSpPr>
          <p:cNvPr id="60" name="Icono chart-line"/>
          <p:cNvSpPr/>
          <p:nvPr/>
        </p:nvSpPr>
        <p:spPr>
          <a:xfrm>
            <a:off x="9338173" y="4862413"/>
            <a:ext cx="351861" cy="351861"/>
          </a:xfrm>
          <a:custGeom>
            <a:avLst/>
            <a:gdLst/>
            <a:ahLst/>
            <a:cxnLst/>
            <a:rect l="l" t="t" r="r" b="b"/>
            <a:pathLst>
              <a:path w="351861" h="351861">
                <a:moveTo>
                  <a:pt x="43983" y="43983"/>
                </a:moveTo>
                <a:lnTo>
                  <a:pt x="43983" y="278557"/>
                </a:lnTo>
                <a:cubicBezTo>
                  <a:pt x="43983" y="294751"/>
                  <a:pt x="57110" y="307878"/>
                  <a:pt x="73304" y="307878"/>
                </a:cubicBezTo>
                <a:lnTo>
                  <a:pt x="307878" y="307878"/>
                </a:lnTo>
                <a:moveTo>
                  <a:pt x="278557" y="131948"/>
                </a:moveTo>
                <a:lnTo>
                  <a:pt x="205252" y="205252"/>
                </a:lnTo>
                <a:lnTo>
                  <a:pt x="146609" y="146609"/>
                </a:lnTo>
                <a:lnTo>
                  <a:pt x="102626" y="190591"/>
                </a:lnTo>
              </a:path>
            </a:pathLst>
          </a:custGeom>
          <a:noFill/>
          <a:ln w="29322" cap="rnd">
            <a:solidFill>
              <a:srgbClr val="8A4B06"/>
            </a:solidFill>
            <a:prstDash val="solid"/>
            <a:round/>
          </a:ln>
        </p:spPr>
      </p:sp>
      <p:sp>
        <p:nvSpPr>
          <p:cNvPr id="61" name="Text 59"/>
          <p:cNvSpPr/>
          <p:nvPr/>
        </p:nvSpPr>
        <p:spPr>
          <a:xfrm>
            <a:off x="9998735" y="4700016"/>
            <a:ext cx="1443152" cy="676656"/>
          </a:xfrm>
          <a:prstGeom prst="rect">
            <a:avLst/>
          </a:prstGeom>
          <a:noFill/>
          <a:ln/>
        </p:spPr>
        <p:txBody>
          <a:bodyPr wrap="square" lIns="0" tIns="0" rIns="0" bIns="0" rtlCol="0" anchor="ctr">
            <a:normAutofit/>
          </a:bodyPr>
          <a:lstStyle/>
          <a:p>
            <a:pPr algn="l" indent="0" marL="0">
              <a:buNone/>
            </a:pPr>
            <a:r>
              <a:rPr lang="en-US" sz="1800" b="1" dirty="0">
                <a:solidFill>
                  <a:srgbClr val="8A4B06"/>
                </a:solidFill>
                <a:latin typeface="Segoe UI Semibold" pitchFamily="34" charset="0"/>
                <a:ea typeface="Segoe UI Semibold" pitchFamily="34" charset="-122"/>
                <a:cs typeface="Segoe UI Semibold" pitchFamily="34" charset="-120"/>
              </a:rPr>
              <a:t>grafana</a:t>
            </a:r>
            <a:endParaRPr lang="en-US" sz="1800" dirty="0"/>
          </a:p>
        </p:txBody>
      </p:sp>
      <p:sp>
        <p:nvSpPr>
          <p:cNvPr id="62" name="Text 60"/>
          <p:cNvSpPr/>
          <p:nvPr/>
        </p:nvSpPr>
        <p:spPr>
          <a:xfrm>
            <a:off x="9230639" y="5522976"/>
            <a:ext cx="2192960" cy="704088"/>
          </a:xfrm>
          <a:prstGeom prst="rect">
            <a:avLst/>
          </a:prstGeom>
          <a:noFill/>
          <a:ln/>
        </p:spPr>
        <p:txBody>
          <a:bodyPr wrap="square" lIns="0" tIns="0" rIns="0" bIns="0" rtlCol="0" anchor="t">
            <a:normAutofit/>
          </a:bodyPr>
          <a:lstStyle/>
          <a:p>
            <a:pPr algn="l" indent="0" marL="0">
              <a:buNone/>
            </a:pPr>
            <a:r>
              <a:rPr lang="en-US" sz="1600" dirty="0">
                <a:solidFill>
                  <a:srgbClr val="0B1A3C"/>
                </a:solidFill>
                <a:latin typeface="Segoe UI" pitchFamily="34" charset="0"/>
                <a:ea typeface="Segoe UI" pitchFamily="34" charset="-122"/>
                <a:cs typeface="Segoe UI" pitchFamily="34" charset="-120"/>
              </a:rPr>
              <a:t>:3000 · busca en los logs</a:t>
            </a:r>
            <a:endParaRPr lang="en-US" sz="1600" dirty="0"/>
          </a:p>
        </p:txBody>
      </p:sp>
      <p:sp>
        <p:nvSpPr>
          <p:cNvPr id="63" name="Text 6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6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red de Compose: nombres adentro, puertos afuera</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Adentro, cada contenedor se llama por su nombre; afuera, solo se publica lo que hace falta.</a:t>
            </a:r>
            <a:endParaRPr lang="en-US" sz="1700" dirty="0"/>
          </a:p>
        </p:txBody>
      </p:sp>
      <p:sp>
        <p:nvSpPr>
          <p:cNvPr id="12" name="Shape 10"/>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13" name="Text 11"/>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CONTENEDOR</a:t>
            </a:r>
            <a:endParaRPr lang="en-US" sz="1150" dirty="0"/>
          </a:p>
        </p:txBody>
      </p:sp>
      <p:sp>
        <p:nvSpPr>
          <p:cNvPr id="14" name="Text 12"/>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SU NOMBRE DENTRO DE LA RED</a:t>
            </a:r>
            <a:endParaRPr lang="en-US" sz="1150" dirty="0"/>
          </a:p>
        </p:txBody>
      </p:sp>
      <p:sp>
        <p:nvSpPr>
          <p:cNvPr id="15" name="Text 13"/>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DESDE NUESTRA COMPUTADORA</a:t>
            </a:r>
            <a:endParaRPr lang="en-US" sz="1150" dirty="0"/>
          </a:p>
        </p:txBody>
      </p:sp>
      <p:sp>
        <p:nvSpPr>
          <p:cNvPr id="16" name="Shape 14"/>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7" name="Shape 15"/>
          <p:cNvSpPr/>
          <p:nvPr/>
        </p:nvSpPr>
        <p:spPr>
          <a:xfrm>
            <a:off x="612648" y="2359152"/>
            <a:ext cx="64008" cy="546811"/>
          </a:xfrm>
          <a:prstGeom prst="rect">
            <a:avLst/>
          </a:prstGeom>
          <a:solidFill>
            <a:srgbClr val="5B3FC4"/>
          </a:solidFill>
          <a:ln w="12700">
            <a:solidFill>
              <a:srgbClr val="5B3FC4"/>
            </a:solidFill>
            <a:prstDash val="solid"/>
          </a:ln>
        </p:spPr>
      </p:sp>
      <p:sp>
        <p:nvSpPr>
          <p:cNvPr id="18" name="Shape 16"/>
          <p:cNvSpPr/>
          <p:nvPr/>
        </p:nvSpPr>
        <p:spPr>
          <a:xfrm>
            <a:off x="772668" y="2376526"/>
            <a:ext cx="512064" cy="512064"/>
          </a:xfrm>
          <a:prstGeom prst="ellipse">
            <a:avLst/>
          </a:prstGeom>
          <a:solidFill>
            <a:srgbClr val="F1EEFD"/>
          </a:solidFill>
          <a:ln w="12700">
            <a:solidFill>
              <a:srgbClr val="F1EEFD"/>
            </a:solidFill>
            <a:prstDash val="solid"/>
          </a:ln>
        </p:spPr>
      </p:sp>
      <p:sp>
        <p:nvSpPr>
          <p:cNvPr id="19" name="Icono monitor"/>
          <p:cNvSpPr/>
          <p:nvPr/>
        </p:nvSpPr>
        <p:spPr>
          <a:xfrm>
            <a:off x="895563" y="2499421"/>
            <a:ext cx="266273" cy="266273"/>
          </a:xfrm>
          <a:custGeom>
            <a:avLst/>
            <a:gdLst/>
            <a:ahLst/>
            <a:cxnLst/>
            <a:rect l="l" t="t" r="r" b="b"/>
            <a:pathLst>
              <a:path w="266273" h="266273">
                <a:moveTo>
                  <a:pt x="44379" y="33284"/>
                </a:moveTo>
                <a:lnTo>
                  <a:pt x="221894" y="33284"/>
                </a:lnTo>
                <a:cubicBezTo>
                  <a:pt x="234149" y="33284"/>
                  <a:pt x="244084" y="43219"/>
                  <a:pt x="244084" y="55474"/>
                </a:cubicBezTo>
                <a:lnTo>
                  <a:pt x="244084" y="166421"/>
                </a:lnTo>
                <a:cubicBezTo>
                  <a:pt x="244084" y="178676"/>
                  <a:pt x="234149" y="188610"/>
                  <a:pt x="221894" y="188610"/>
                </a:cubicBezTo>
                <a:lnTo>
                  <a:pt x="44379" y="188610"/>
                </a:lnTo>
                <a:cubicBezTo>
                  <a:pt x="32124" y="188610"/>
                  <a:pt x="22189" y="178676"/>
                  <a:pt x="22189" y="166421"/>
                </a:cubicBezTo>
                <a:lnTo>
                  <a:pt x="22189" y="55474"/>
                </a:lnTo>
                <a:cubicBezTo>
                  <a:pt x="22189" y="43219"/>
                  <a:pt x="32124" y="33284"/>
                  <a:pt x="44379" y="33284"/>
                </a:cubicBezTo>
                <a:close/>
                <a:moveTo>
                  <a:pt x="88758" y="232989"/>
                </a:moveTo>
                <a:lnTo>
                  <a:pt x="177516" y="232989"/>
                </a:lnTo>
                <a:moveTo>
                  <a:pt x="133137" y="188610"/>
                </a:moveTo>
                <a:lnTo>
                  <a:pt x="133137" y="232989"/>
                </a:lnTo>
              </a:path>
            </a:pathLst>
          </a:custGeom>
          <a:noFill/>
          <a:ln w="22189" cap="rnd">
            <a:solidFill>
              <a:srgbClr val="5B3FC4"/>
            </a:solidFill>
            <a:prstDash val="solid"/>
            <a:round/>
          </a:ln>
        </p:spPr>
      </p:sp>
      <p:sp>
        <p:nvSpPr>
          <p:cNvPr id="20" name="Text 18"/>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La UI</a:t>
            </a:r>
            <a:endParaRPr lang="en-US" sz="1500" dirty="0"/>
          </a:p>
        </p:txBody>
      </p:sp>
      <p:sp>
        <p:nvSpPr>
          <p:cNvPr id="21" name="Shape 19"/>
          <p:cNvSpPr/>
          <p:nvPr/>
        </p:nvSpPr>
        <p:spPr>
          <a:xfrm>
            <a:off x="4140961" y="2395728"/>
            <a:ext cx="0" cy="473659"/>
          </a:xfrm>
          <a:prstGeom prst="line">
            <a:avLst/>
          </a:prstGeom>
          <a:noFill/>
          <a:ln w="9525">
            <a:solidFill>
              <a:srgbClr val="DFE6F0"/>
            </a:solidFill>
            <a:prstDash val="solid"/>
          </a:ln>
        </p:spPr>
      </p:sp>
      <p:sp>
        <p:nvSpPr>
          <p:cNvPr id="22" name="Text 20"/>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arka-lite-ui:8080</a:t>
            </a:r>
            <a:endParaRPr lang="en-US" sz="1400" dirty="0"/>
          </a:p>
        </p:txBody>
      </p:sp>
      <p:sp>
        <p:nvSpPr>
          <p:cNvPr id="23" name="Shape 21"/>
          <p:cNvSpPr/>
          <p:nvPr/>
        </p:nvSpPr>
        <p:spPr>
          <a:xfrm>
            <a:off x="8114733" y="2395728"/>
            <a:ext cx="0" cy="473659"/>
          </a:xfrm>
          <a:prstGeom prst="line">
            <a:avLst/>
          </a:prstGeom>
          <a:noFill/>
          <a:ln w="9525">
            <a:solidFill>
              <a:srgbClr val="DFE6F0"/>
            </a:solidFill>
            <a:prstDash val="solid"/>
          </a:ln>
        </p:spPr>
      </p:sp>
      <p:sp>
        <p:nvSpPr>
          <p:cNvPr id="24" name="Text 22"/>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localhost:8088</a:t>
            </a:r>
            <a:endParaRPr lang="en-US" sz="1400" dirty="0"/>
          </a:p>
        </p:txBody>
      </p:sp>
      <p:sp>
        <p:nvSpPr>
          <p:cNvPr id="25"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6" name="[p1] Forma"/>
          <p:cNvSpPr/>
          <p:nvPr/>
        </p:nvSpPr>
        <p:spPr>
          <a:xfrm>
            <a:off x="612648" y="3198571"/>
            <a:ext cx="64008" cy="546811"/>
          </a:xfrm>
          <a:prstGeom prst="rect">
            <a:avLst/>
          </a:prstGeom>
          <a:solidFill>
            <a:srgbClr val="0B2350"/>
          </a:solidFill>
          <a:ln w="12700">
            <a:solidFill>
              <a:srgbClr val="0B2350"/>
            </a:solidFill>
            <a:prstDash val="solid"/>
          </a:ln>
        </p:spPr>
      </p:sp>
      <p:sp>
        <p:nvSpPr>
          <p:cNvPr id="27" name="[p1] Forma"/>
          <p:cNvSpPr/>
          <p:nvPr/>
        </p:nvSpPr>
        <p:spPr>
          <a:xfrm>
            <a:off x="772668" y="3215945"/>
            <a:ext cx="512064" cy="512064"/>
          </a:xfrm>
          <a:prstGeom prst="ellipse">
            <a:avLst/>
          </a:prstGeom>
          <a:solidFill>
            <a:srgbClr val="E8EEF8"/>
          </a:solidFill>
          <a:ln w="12700">
            <a:solidFill>
              <a:srgbClr val="E8EEF8"/>
            </a:solidFill>
            <a:prstDash val="solid"/>
          </a:ln>
        </p:spPr>
      </p:sp>
      <p:sp>
        <p:nvSpPr>
          <p:cNvPr id="28" name="[p1] Icono clipboard-list"/>
          <p:cNvSpPr/>
          <p:nvPr/>
        </p:nvSpPr>
        <p:spPr>
          <a:xfrm>
            <a:off x="895563" y="3338840"/>
            <a:ext cx="266273" cy="266273"/>
          </a:xfrm>
          <a:custGeom>
            <a:avLst/>
            <a:gdLst/>
            <a:ahLst/>
            <a:cxnLst/>
            <a:rect l="l" t="t" r="r" b="b"/>
            <a:pathLst>
              <a:path w="266273" h="266273">
                <a:moveTo>
                  <a:pt x="99852" y="22189"/>
                </a:moveTo>
                <a:lnTo>
                  <a:pt x="166421" y="22189"/>
                </a:lnTo>
                <a:cubicBezTo>
                  <a:pt x="172548" y="22189"/>
                  <a:pt x="177516" y="27157"/>
                  <a:pt x="177516" y="33284"/>
                </a:cubicBezTo>
                <a:lnTo>
                  <a:pt x="177516" y="55474"/>
                </a:lnTo>
                <a:cubicBezTo>
                  <a:pt x="177516" y="61601"/>
                  <a:pt x="172548" y="66568"/>
                  <a:pt x="166421" y="66568"/>
                </a:cubicBezTo>
                <a:lnTo>
                  <a:pt x="99852" y="66568"/>
                </a:lnTo>
                <a:cubicBezTo>
                  <a:pt x="93725" y="66568"/>
                  <a:pt x="88758" y="61601"/>
                  <a:pt x="88758" y="55474"/>
                </a:cubicBezTo>
                <a:lnTo>
                  <a:pt x="88758" y="33284"/>
                </a:lnTo>
                <a:cubicBezTo>
                  <a:pt x="88758" y="27157"/>
                  <a:pt x="93725" y="22189"/>
                  <a:pt x="99852" y="22189"/>
                </a:cubicBezTo>
                <a:close/>
                <a:moveTo>
                  <a:pt x="177516" y="44379"/>
                </a:moveTo>
                <a:lnTo>
                  <a:pt x="199705" y="44379"/>
                </a:lnTo>
                <a:cubicBezTo>
                  <a:pt x="211960" y="44379"/>
                  <a:pt x="221894" y="54313"/>
                  <a:pt x="221894" y="66568"/>
                </a:cubicBezTo>
                <a:lnTo>
                  <a:pt x="221894" y="221894"/>
                </a:lnTo>
                <a:cubicBezTo>
                  <a:pt x="221894" y="234149"/>
                  <a:pt x="211960" y="244084"/>
                  <a:pt x="199705" y="244084"/>
                </a:cubicBezTo>
                <a:lnTo>
                  <a:pt x="66568" y="244084"/>
                </a:lnTo>
                <a:cubicBezTo>
                  <a:pt x="54313" y="244084"/>
                  <a:pt x="44379" y="234149"/>
                  <a:pt x="44379" y="221894"/>
                </a:cubicBezTo>
                <a:lnTo>
                  <a:pt x="44379" y="66568"/>
                </a:lnTo>
                <a:cubicBezTo>
                  <a:pt x="44379" y="54313"/>
                  <a:pt x="54313" y="44379"/>
                  <a:pt x="66568" y="44379"/>
                </a:cubicBezTo>
                <a:lnTo>
                  <a:pt x="88758" y="44379"/>
                </a:lnTo>
                <a:moveTo>
                  <a:pt x="133137" y="122042"/>
                </a:moveTo>
                <a:lnTo>
                  <a:pt x="177516" y="122042"/>
                </a:lnTo>
                <a:moveTo>
                  <a:pt x="133137" y="177516"/>
                </a:moveTo>
                <a:lnTo>
                  <a:pt x="177516" y="177516"/>
                </a:lnTo>
                <a:moveTo>
                  <a:pt x="88758" y="122042"/>
                </a:moveTo>
                <a:lnTo>
                  <a:pt x="88869" y="122042"/>
                </a:lnTo>
                <a:moveTo>
                  <a:pt x="88758" y="177516"/>
                </a:moveTo>
                <a:lnTo>
                  <a:pt x="88869" y="177516"/>
                </a:lnTo>
              </a:path>
            </a:pathLst>
          </a:custGeom>
          <a:noFill/>
          <a:ln w="22189" cap="rnd">
            <a:solidFill>
              <a:srgbClr val="0B2350"/>
            </a:solidFill>
            <a:prstDash val="solid"/>
            <a:round/>
          </a:ln>
        </p:spPr>
      </p:sp>
      <p:sp>
        <p:nvSpPr>
          <p:cNvPr id="29"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Solicitudes</a:t>
            </a:r>
            <a:endParaRPr lang="en-US" sz="1500" dirty="0"/>
          </a:p>
        </p:txBody>
      </p:sp>
      <p:sp>
        <p:nvSpPr>
          <p:cNvPr id="30" name="[p1] Forma"/>
          <p:cNvSpPr/>
          <p:nvPr/>
        </p:nvSpPr>
        <p:spPr>
          <a:xfrm>
            <a:off x="4140961" y="3235147"/>
            <a:ext cx="0" cy="473659"/>
          </a:xfrm>
          <a:prstGeom prst="line">
            <a:avLst/>
          </a:prstGeom>
          <a:noFill/>
          <a:ln w="9525">
            <a:solidFill>
              <a:srgbClr val="DFE6F0"/>
            </a:solidFill>
            <a:prstDash val="solid"/>
          </a:ln>
        </p:spPr>
      </p:sp>
      <p:sp>
        <p:nvSpPr>
          <p:cNvPr id="31"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servicio-solicitudes:8080</a:t>
            </a:r>
            <a:endParaRPr lang="en-US" sz="1400" dirty="0"/>
          </a:p>
        </p:txBody>
      </p:sp>
      <p:sp>
        <p:nvSpPr>
          <p:cNvPr id="32" name="[p1] Forma"/>
          <p:cNvSpPr/>
          <p:nvPr/>
        </p:nvSpPr>
        <p:spPr>
          <a:xfrm>
            <a:off x="8114733" y="3235147"/>
            <a:ext cx="0" cy="473659"/>
          </a:xfrm>
          <a:prstGeom prst="line">
            <a:avLst/>
          </a:prstGeom>
          <a:noFill/>
          <a:ln w="9525">
            <a:solidFill>
              <a:srgbClr val="DFE6F0"/>
            </a:solidFill>
            <a:prstDash val="solid"/>
          </a:ln>
        </p:spPr>
      </p:sp>
      <p:sp>
        <p:nvSpPr>
          <p:cNvPr id="33"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localhost:18080</a:t>
            </a:r>
            <a:endParaRPr lang="en-US" sz="1400" dirty="0"/>
          </a:p>
        </p:txBody>
      </p:sp>
      <p:sp>
        <p:nvSpPr>
          <p:cNvPr id="34"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5"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6"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7" name="[p2] Icono bell"/>
          <p:cNvSpPr/>
          <p:nvPr/>
        </p:nvSpPr>
        <p:spPr>
          <a:xfrm>
            <a:off x="895563" y="4178259"/>
            <a:ext cx="266273" cy="266273"/>
          </a:xfrm>
          <a:custGeom>
            <a:avLst/>
            <a:gdLst/>
            <a:ahLst/>
            <a:cxnLst/>
            <a:rect l="l" t="t" r="r" b="b"/>
            <a:pathLst>
              <a:path w="266273" h="266273">
                <a:moveTo>
                  <a:pt x="113921" y="232989"/>
                </a:moveTo>
                <a:cubicBezTo>
                  <a:pt x="117884" y="239854"/>
                  <a:pt x="125210" y="244083"/>
                  <a:pt x="133137" y="244083"/>
                </a:cubicBezTo>
                <a:cubicBezTo>
                  <a:pt x="141064" y="244083"/>
                  <a:pt x="148389" y="239854"/>
                  <a:pt x="152353" y="232989"/>
                </a:cubicBezTo>
                <a:moveTo>
                  <a:pt x="36191" y="170038"/>
                </a:moveTo>
                <a:cubicBezTo>
                  <a:pt x="33230" y="173283"/>
                  <a:pt x="32463" y="177971"/>
                  <a:pt x="34235" y="181991"/>
                </a:cubicBezTo>
                <a:cubicBezTo>
                  <a:pt x="36007" y="186011"/>
                  <a:pt x="39985" y="188607"/>
                  <a:pt x="44379" y="188610"/>
                </a:cubicBezTo>
                <a:lnTo>
                  <a:pt x="221894" y="188610"/>
                </a:lnTo>
                <a:cubicBezTo>
                  <a:pt x="226287" y="188612"/>
                  <a:pt x="230268" y="186021"/>
                  <a:pt x="232045" y="182003"/>
                </a:cubicBezTo>
                <a:cubicBezTo>
                  <a:pt x="233822" y="177986"/>
                  <a:pt x="233061" y="173298"/>
                  <a:pt x="230104" y="170049"/>
                </a:cubicBezTo>
                <a:cubicBezTo>
                  <a:pt x="215349" y="154838"/>
                  <a:pt x="199705" y="138673"/>
                  <a:pt x="199705" y="88758"/>
                </a:cubicBezTo>
                <a:cubicBezTo>
                  <a:pt x="199705" y="51993"/>
                  <a:pt x="169901" y="22189"/>
                  <a:pt x="133137" y="22189"/>
                </a:cubicBezTo>
                <a:cubicBezTo>
                  <a:pt x="96372" y="22189"/>
                  <a:pt x="66568" y="51993"/>
                  <a:pt x="66568" y="88758"/>
                </a:cubicBezTo>
                <a:cubicBezTo>
                  <a:pt x="66568" y="138673"/>
                  <a:pt x="50914" y="154838"/>
                  <a:pt x="36191" y="170038"/>
                </a:cubicBezTo>
              </a:path>
            </a:pathLst>
          </a:custGeom>
          <a:noFill/>
          <a:ln w="22189" cap="rnd">
            <a:solidFill>
              <a:srgbClr val="0B6E8A"/>
            </a:solidFill>
            <a:prstDash val="solid"/>
            <a:round/>
          </a:ln>
        </p:spPr>
      </p:sp>
      <p:sp>
        <p:nvSpPr>
          <p:cNvPr id="38"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Notificaciones</a:t>
            </a:r>
            <a:endParaRPr lang="en-US" sz="1500" dirty="0"/>
          </a:p>
        </p:txBody>
      </p:sp>
      <p:sp>
        <p:nvSpPr>
          <p:cNvPr id="39" name="[p2] Forma"/>
          <p:cNvSpPr/>
          <p:nvPr/>
        </p:nvSpPr>
        <p:spPr>
          <a:xfrm>
            <a:off x="4140961" y="4074566"/>
            <a:ext cx="0" cy="473659"/>
          </a:xfrm>
          <a:prstGeom prst="line">
            <a:avLst/>
          </a:prstGeom>
          <a:noFill/>
          <a:ln w="9525">
            <a:solidFill>
              <a:srgbClr val="DFE6F0"/>
            </a:solidFill>
            <a:prstDash val="solid"/>
          </a:ln>
        </p:spPr>
      </p:sp>
      <p:sp>
        <p:nvSpPr>
          <p:cNvPr id="40"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servicio-notificaciones:8080</a:t>
            </a:r>
            <a:endParaRPr lang="en-US" sz="1400" dirty="0"/>
          </a:p>
        </p:txBody>
      </p:sp>
      <p:sp>
        <p:nvSpPr>
          <p:cNvPr id="41" name="[p2] Forma"/>
          <p:cNvSpPr/>
          <p:nvPr/>
        </p:nvSpPr>
        <p:spPr>
          <a:xfrm>
            <a:off x="8114733" y="4074566"/>
            <a:ext cx="0" cy="473659"/>
          </a:xfrm>
          <a:prstGeom prst="line">
            <a:avLst/>
          </a:prstGeom>
          <a:noFill/>
          <a:ln w="9525">
            <a:solidFill>
              <a:srgbClr val="DFE6F0"/>
            </a:solidFill>
            <a:prstDash val="solid"/>
          </a:ln>
        </p:spPr>
      </p:sp>
      <p:sp>
        <p:nvSpPr>
          <p:cNvPr id="42"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localhost:18081</a:t>
            </a:r>
            <a:endParaRPr lang="en-US" sz="1400" dirty="0"/>
          </a:p>
        </p:txBody>
      </p:sp>
      <p:sp>
        <p:nvSpPr>
          <p:cNvPr id="43"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4" name="[p3] Forma"/>
          <p:cNvSpPr/>
          <p:nvPr/>
        </p:nvSpPr>
        <p:spPr>
          <a:xfrm>
            <a:off x="612648" y="4877410"/>
            <a:ext cx="64008" cy="546811"/>
          </a:xfrm>
          <a:prstGeom prst="rect">
            <a:avLst/>
          </a:prstGeom>
          <a:solidFill>
            <a:srgbClr val="55627E"/>
          </a:solidFill>
          <a:ln w="12700">
            <a:solidFill>
              <a:srgbClr val="55627E"/>
            </a:solidFill>
            <a:prstDash val="solid"/>
          </a:ln>
        </p:spPr>
      </p:sp>
      <p:sp>
        <p:nvSpPr>
          <p:cNvPr id="45" name="[p3] Forma"/>
          <p:cNvSpPr/>
          <p:nvPr/>
        </p:nvSpPr>
        <p:spPr>
          <a:xfrm>
            <a:off x="772668" y="4894783"/>
            <a:ext cx="512064" cy="512064"/>
          </a:xfrm>
          <a:prstGeom prst="ellipse">
            <a:avLst/>
          </a:prstGeom>
          <a:solidFill>
            <a:srgbClr val="F4F7FB"/>
          </a:solidFill>
          <a:ln w="12700">
            <a:solidFill>
              <a:srgbClr val="F4F7FB"/>
            </a:solidFill>
            <a:prstDash val="solid"/>
          </a:ln>
        </p:spPr>
      </p:sp>
      <p:sp>
        <p:nvSpPr>
          <p:cNvPr id="46" name="[p3] Icono database"/>
          <p:cNvSpPr/>
          <p:nvPr/>
        </p:nvSpPr>
        <p:spPr>
          <a:xfrm>
            <a:off x="895563" y="5017679"/>
            <a:ext cx="266273" cy="266273"/>
          </a:xfrm>
          <a:custGeom>
            <a:avLst/>
            <a:gdLst/>
            <a:ahLst/>
            <a:cxnLst/>
            <a:rect l="l" t="t" r="r" b="b"/>
            <a:pathLst>
              <a:path w="266273" h="266273">
                <a:moveTo>
                  <a:pt x="232989" y="55474"/>
                </a:moveTo>
                <a:cubicBezTo>
                  <a:pt x="232989" y="73856"/>
                  <a:pt x="188284" y="88758"/>
                  <a:pt x="133137" y="88758"/>
                </a:cubicBezTo>
                <a:cubicBezTo>
                  <a:pt x="77990" y="88758"/>
                  <a:pt x="33284" y="73856"/>
                  <a:pt x="33284" y="55474"/>
                </a:cubicBezTo>
                <a:cubicBezTo>
                  <a:pt x="33284" y="37091"/>
                  <a:pt x="77990" y="22189"/>
                  <a:pt x="133137" y="22189"/>
                </a:cubicBezTo>
                <a:cubicBezTo>
                  <a:pt x="188284" y="22189"/>
                  <a:pt x="232989" y="37091"/>
                  <a:pt x="232989" y="55474"/>
                </a:cubicBezTo>
                <a:close/>
                <a:moveTo>
                  <a:pt x="33284" y="55474"/>
                </a:moveTo>
                <a:lnTo>
                  <a:pt x="33284" y="210800"/>
                </a:lnTo>
                <a:cubicBezTo>
                  <a:pt x="33284" y="229182"/>
                  <a:pt x="77990" y="244084"/>
                  <a:pt x="133137" y="244084"/>
                </a:cubicBezTo>
                <a:cubicBezTo>
                  <a:pt x="188284" y="244084"/>
                  <a:pt x="232989" y="229182"/>
                  <a:pt x="232989" y="210800"/>
                </a:cubicBezTo>
                <a:lnTo>
                  <a:pt x="232989" y="55474"/>
                </a:lnTo>
                <a:moveTo>
                  <a:pt x="33284" y="133137"/>
                </a:moveTo>
                <a:cubicBezTo>
                  <a:pt x="33284" y="151519"/>
                  <a:pt x="77990" y="166421"/>
                  <a:pt x="133137" y="166421"/>
                </a:cubicBezTo>
                <a:cubicBezTo>
                  <a:pt x="188284" y="166421"/>
                  <a:pt x="232989" y="151519"/>
                  <a:pt x="232989" y="133137"/>
                </a:cubicBezTo>
              </a:path>
            </a:pathLst>
          </a:custGeom>
          <a:noFill/>
          <a:ln w="22189" cap="rnd">
            <a:solidFill>
              <a:srgbClr val="55627E"/>
            </a:solidFill>
            <a:prstDash val="solid"/>
            <a:round/>
          </a:ln>
        </p:spPr>
      </p:sp>
      <p:sp>
        <p:nvSpPr>
          <p:cNvPr id="47"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Base de solicitudes</a:t>
            </a:r>
            <a:endParaRPr lang="en-US" sz="1500" dirty="0"/>
          </a:p>
        </p:txBody>
      </p:sp>
      <p:sp>
        <p:nvSpPr>
          <p:cNvPr id="48" name="[p3] Forma"/>
          <p:cNvSpPr/>
          <p:nvPr/>
        </p:nvSpPr>
        <p:spPr>
          <a:xfrm>
            <a:off x="4140961" y="4913986"/>
            <a:ext cx="0" cy="473659"/>
          </a:xfrm>
          <a:prstGeom prst="line">
            <a:avLst/>
          </a:prstGeom>
          <a:noFill/>
          <a:ln w="9525">
            <a:solidFill>
              <a:srgbClr val="DFE6F0"/>
            </a:solidFill>
            <a:prstDash val="solid"/>
          </a:ln>
        </p:spPr>
      </p:sp>
      <p:sp>
        <p:nvSpPr>
          <p:cNvPr id="49"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db-solicitudes:5432</a:t>
            </a:r>
            <a:endParaRPr lang="en-US" sz="1400" dirty="0"/>
          </a:p>
        </p:txBody>
      </p:sp>
      <p:sp>
        <p:nvSpPr>
          <p:cNvPr id="50" name="[p3] Forma"/>
          <p:cNvSpPr/>
          <p:nvPr/>
        </p:nvSpPr>
        <p:spPr>
          <a:xfrm>
            <a:off x="8114733" y="4913986"/>
            <a:ext cx="0" cy="473659"/>
          </a:xfrm>
          <a:prstGeom prst="line">
            <a:avLst/>
          </a:prstGeom>
          <a:noFill/>
          <a:ln w="9525">
            <a:solidFill>
              <a:srgbClr val="DFE6F0"/>
            </a:solidFill>
            <a:prstDash val="solid"/>
          </a:ln>
        </p:spPr>
      </p:sp>
      <p:sp>
        <p:nvSpPr>
          <p:cNvPr id="51"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No se publica</a:t>
            </a:r>
            <a:endParaRPr lang="en-US" sz="1400" dirty="0"/>
          </a:p>
        </p:txBody>
      </p:sp>
      <p:sp>
        <p:nvSpPr>
          <p:cNvPr id="52"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53" name="[p4] Forma"/>
          <p:cNvSpPr/>
          <p:nvPr/>
        </p:nvSpPr>
        <p:spPr>
          <a:xfrm>
            <a:off x="612648" y="5716829"/>
            <a:ext cx="64008" cy="546811"/>
          </a:xfrm>
          <a:prstGeom prst="rect">
            <a:avLst/>
          </a:prstGeom>
          <a:solidFill>
            <a:srgbClr val="55627E"/>
          </a:solidFill>
          <a:ln w="12700">
            <a:solidFill>
              <a:srgbClr val="55627E"/>
            </a:solidFill>
            <a:prstDash val="solid"/>
          </a:ln>
        </p:spPr>
      </p:sp>
      <p:sp>
        <p:nvSpPr>
          <p:cNvPr id="54" name="[p4] Forma"/>
          <p:cNvSpPr/>
          <p:nvPr/>
        </p:nvSpPr>
        <p:spPr>
          <a:xfrm>
            <a:off x="772668" y="5734202"/>
            <a:ext cx="512064" cy="512064"/>
          </a:xfrm>
          <a:prstGeom prst="ellipse">
            <a:avLst/>
          </a:prstGeom>
          <a:solidFill>
            <a:srgbClr val="F4F7FB"/>
          </a:solidFill>
          <a:ln w="12700">
            <a:solidFill>
              <a:srgbClr val="F4F7FB"/>
            </a:solidFill>
            <a:prstDash val="solid"/>
          </a:ln>
        </p:spPr>
      </p:sp>
      <p:sp>
        <p:nvSpPr>
          <p:cNvPr id="55" name="[p4] Icono database"/>
          <p:cNvSpPr/>
          <p:nvPr/>
        </p:nvSpPr>
        <p:spPr>
          <a:xfrm>
            <a:off x="895563" y="5857098"/>
            <a:ext cx="266273" cy="266273"/>
          </a:xfrm>
          <a:custGeom>
            <a:avLst/>
            <a:gdLst/>
            <a:ahLst/>
            <a:cxnLst/>
            <a:rect l="l" t="t" r="r" b="b"/>
            <a:pathLst>
              <a:path w="266273" h="266273">
                <a:moveTo>
                  <a:pt x="232989" y="55474"/>
                </a:moveTo>
                <a:cubicBezTo>
                  <a:pt x="232989" y="73856"/>
                  <a:pt x="188284" y="88758"/>
                  <a:pt x="133137" y="88758"/>
                </a:cubicBezTo>
                <a:cubicBezTo>
                  <a:pt x="77990" y="88758"/>
                  <a:pt x="33284" y="73856"/>
                  <a:pt x="33284" y="55474"/>
                </a:cubicBezTo>
                <a:cubicBezTo>
                  <a:pt x="33284" y="37091"/>
                  <a:pt x="77990" y="22189"/>
                  <a:pt x="133137" y="22189"/>
                </a:cubicBezTo>
                <a:cubicBezTo>
                  <a:pt x="188284" y="22189"/>
                  <a:pt x="232989" y="37091"/>
                  <a:pt x="232989" y="55474"/>
                </a:cubicBezTo>
                <a:close/>
                <a:moveTo>
                  <a:pt x="33284" y="55474"/>
                </a:moveTo>
                <a:lnTo>
                  <a:pt x="33284" y="210800"/>
                </a:lnTo>
                <a:cubicBezTo>
                  <a:pt x="33284" y="229182"/>
                  <a:pt x="77990" y="244084"/>
                  <a:pt x="133137" y="244084"/>
                </a:cubicBezTo>
                <a:cubicBezTo>
                  <a:pt x="188284" y="244084"/>
                  <a:pt x="232989" y="229182"/>
                  <a:pt x="232989" y="210800"/>
                </a:cubicBezTo>
                <a:lnTo>
                  <a:pt x="232989" y="55474"/>
                </a:lnTo>
                <a:moveTo>
                  <a:pt x="33284" y="133137"/>
                </a:moveTo>
                <a:cubicBezTo>
                  <a:pt x="33284" y="151519"/>
                  <a:pt x="77990" y="166421"/>
                  <a:pt x="133137" y="166421"/>
                </a:cubicBezTo>
                <a:cubicBezTo>
                  <a:pt x="188284" y="166421"/>
                  <a:pt x="232989" y="151519"/>
                  <a:pt x="232989" y="133137"/>
                </a:cubicBezTo>
              </a:path>
            </a:pathLst>
          </a:custGeom>
          <a:noFill/>
          <a:ln w="22189" cap="rnd">
            <a:solidFill>
              <a:srgbClr val="55627E"/>
            </a:solidFill>
            <a:prstDash val="solid"/>
            <a:round/>
          </a:ln>
        </p:spPr>
      </p:sp>
      <p:sp>
        <p:nvSpPr>
          <p:cNvPr id="56"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Base de notificaciones</a:t>
            </a:r>
            <a:endParaRPr lang="en-US" sz="1500" dirty="0"/>
          </a:p>
        </p:txBody>
      </p:sp>
      <p:sp>
        <p:nvSpPr>
          <p:cNvPr id="57" name="[p4] Forma"/>
          <p:cNvSpPr/>
          <p:nvPr/>
        </p:nvSpPr>
        <p:spPr>
          <a:xfrm>
            <a:off x="4140961" y="5753405"/>
            <a:ext cx="0" cy="473659"/>
          </a:xfrm>
          <a:prstGeom prst="line">
            <a:avLst/>
          </a:prstGeom>
          <a:noFill/>
          <a:ln w="9525">
            <a:solidFill>
              <a:srgbClr val="DFE6F0"/>
            </a:solidFill>
            <a:prstDash val="solid"/>
          </a:ln>
        </p:spPr>
      </p:sp>
      <p:sp>
        <p:nvSpPr>
          <p:cNvPr id="58"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db-notificaciones:5432</a:t>
            </a:r>
            <a:endParaRPr lang="en-US" sz="1400" dirty="0"/>
          </a:p>
        </p:txBody>
      </p:sp>
      <p:sp>
        <p:nvSpPr>
          <p:cNvPr id="59" name="[p4] Forma"/>
          <p:cNvSpPr/>
          <p:nvPr/>
        </p:nvSpPr>
        <p:spPr>
          <a:xfrm>
            <a:off x="8114733" y="5753405"/>
            <a:ext cx="0" cy="473659"/>
          </a:xfrm>
          <a:prstGeom prst="line">
            <a:avLst/>
          </a:prstGeom>
          <a:noFill/>
          <a:ln w="9525">
            <a:solidFill>
              <a:srgbClr val="DFE6F0"/>
            </a:solidFill>
            <a:prstDash val="solid"/>
          </a:ln>
        </p:spPr>
      </p:sp>
      <p:sp>
        <p:nvSpPr>
          <p:cNvPr id="60"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localhost:5433</a:t>
            </a:r>
            <a:endParaRPr lang="en-US" sz="1400" dirty="0"/>
          </a:p>
        </p:txBody>
      </p:sp>
      <p:sp>
        <p:nvSpPr>
          <p:cNvPr id="61" name="Text 5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6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4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4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4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4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4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4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400"/>
                                        <p:tgtEl>
                                          <p:spTgt spid="42"/>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4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4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4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400"/>
                                        <p:tgtEl>
                                          <p:spTgt spid="4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fade">
                                      <p:cBhvr>
                                        <p:cTn id="75" dur="400"/>
                                        <p:tgtEl>
                                          <p:spTgt spid="4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fade">
                                      <p:cBhvr>
                                        <p:cTn id="78" dur="400"/>
                                        <p:tgtEl>
                                          <p:spTgt spid="4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9"/>
                                        </p:tgtEl>
                                        <p:attrNameLst>
                                          <p:attrName>style.visibility</p:attrName>
                                        </p:attrNameLst>
                                      </p:cBhvr>
                                      <p:to>
                                        <p:strVal val="visible"/>
                                      </p:to>
                                    </p:set>
                                    <p:animEffect transition="in" filter="fade">
                                      <p:cBhvr>
                                        <p:cTn id="81" dur="400"/>
                                        <p:tgtEl>
                                          <p:spTgt spid="4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fade">
                                      <p:cBhvr>
                                        <p:cTn id="84" dur="400"/>
                                        <p:tgtEl>
                                          <p:spTgt spid="5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400"/>
                                        <p:tgtEl>
                                          <p:spTgt spid="51"/>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2"/>
                                        </p:tgtEl>
                                        <p:attrNameLst>
                                          <p:attrName>style.visibility</p:attrName>
                                        </p:attrNameLst>
                                      </p:cBhvr>
                                      <p:to>
                                        <p:strVal val="visible"/>
                                      </p:to>
                                    </p:set>
                                    <p:animEffect transition="in" filter="fade">
                                      <p:cBhvr>
                                        <p:cTn id="92" dur="400"/>
                                        <p:tgtEl>
                                          <p:spTgt spid="5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3"/>
                                        </p:tgtEl>
                                        <p:attrNameLst>
                                          <p:attrName>style.visibility</p:attrName>
                                        </p:attrNameLst>
                                      </p:cBhvr>
                                      <p:to>
                                        <p:strVal val="visible"/>
                                      </p:to>
                                    </p:set>
                                    <p:animEffect transition="in" filter="fade">
                                      <p:cBhvr>
                                        <p:cTn id="95" dur="400"/>
                                        <p:tgtEl>
                                          <p:spTgt spid="5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fade">
                                      <p:cBhvr>
                                        <p:cTn id="98" dur="400"/>
                                        <p:tgtEl>
                                          <p:spTgt spid="5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5"/>
                                        </p:tgtEl>
                                        <p:attrNameLst>
                                          <p:attrName>style.visibility</p:attrName>
                                        </p:attrNameLst>
                                      </p:cBhvr>
                                      <p:to>
                                        <p:strVal val="visible"/>
                                      </p:to>
                                    </p:set>
                                    <p:animEffect transition="in" filter="fade">
                                      <p:cBhvr>
                                        <p:cTn id="101" dur="400"/>
                                        <p:tgtEl>
                                          <p:spTgt spid="5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fade">
                                      <p:cBhvr>
                                        <p:cTn id="104" dur="400"/>
                                        <p:tgtEl>
                                          <p:spTgt spid="5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7"/>
                                        </p:tgtEl>
                                        <p:attrNameLst>
                                          <p:attrName>style.visibility</p:attrName>
                                        </p:attrNameLst>
                                      </p:cBhvr>
                                      <p:to>
                                        <p:strVal val="visible"/>
                                      </p:to>
                                    </p:set>
                                    <p:animEffect transition="in" filter="fade">
                                      <p:cBhvr>
                                        <p:cTn id="107" dur="400"/>
                                        <p:tgtEl>
                                          <p:spTgt spid="5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8"/>
                                        </p:tgtEl>
                                        <p:attrNameLst>
                                          <p:attrName>style.visibility</p:attrName>
                                        </p:attrNameLst>
                                      </p:cBhvr>
                                      <p:to>
                                        <p:strVal val="visible"/>
                                      </p:to>
                                    </p:set>
                                    <p:animEffect transition="in" filter="fade">
                                      <p:cBhvr>
                                        <p:cTn id="110" dur="400"/>
                                        <p:tgtEl>
                                          <p:spTgt spid="5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4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fade">
                                      <p:cBhvr>
                                        <p:cTn id="116"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orden de arranque: nadie empieza antes de tiempo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contenedor espera a que lo que necesita esté sano: así no hay errores al arrancar.</a:t>
            </a:r>
            <a:endParaRPr lang="en-US" sz="1700" dirty="0"/>
          </a:p>
        </p:txBody>
      </p:sp>
      <p:sp>
        <p:nvSpPr>
          <p:cNvPr id="12" name="Shape 10"/>
          <p:cNvSpPr/>
          <p:nvPr/>
        </p:nvSpPr>
        <p:spPr>
          <a:xfrm>
            <a:off x="1251928" y="2564892"/>
            <a:ext cx="1463040" cy="1463040"/>
          </a:xfrm>
          <a:prstGeom prst="ellipse">
            <a:avLst/>
          </a:prstGeom>
          <a:solidFill>
            <a:srgbClr val="F4F7FB"/>
          </a:solidFill>
          <a:ln w="31750">
            <a:solidFill>
              <a:srgbClr val="55627E"/>
            </a:solidFill>
            <a:prstDash val="solid"/>
          </a:ln>
          <a:effectLst>
            <a:outerShdw sx="100000" sy="100000" kx="0" ky="0" algn="bl" rotWithShape="0" blurRad="76200" dist="19050" dir="5400000">
              <a:srgbClr val="0B1F3A">
                <a:alpha val="14000"/>
              </a:srgbClr>
            </a:outerShdw>
          </a:effectLst>
        </p:spPr>
      </p:sp>
      <p:sp>
        <p:nvSpPr>
          <p:cNvPr id="13" name="Icono database"/>
          <p:cNvSpPr/>
          <p:nvPr/>
        </p:nvSpPr>
        <p:spPr>
          <a:xfrm>
            <a:off x="1588427" y="2901391"/>
            <a:ext cx="790042" cy="790042"/>
          </a:xfrm>
          <a:custGeom>
            <a:avLst/>
            <a:gdLst/>
            <a:ahLst/>
            <a:cxnLst/>
            <a:rect l="l" t="t" r="r" b="b"/>
            <a:pathLst>
              <a:path w="790042" h="790042">
                <a:moveTo>
                  <a:pt x="691286" y="164592"/>
                </a:moveTo>
                <a:cubicBezTo>
                  <a:pt x="691286" y="219133"/>
                  <a:pt x="558644" y="263347"/>
                  <a:pt x="395021" y="263347"/>
                </a:cubicBezTo>
                <a:cubicBezTo>
                  <a:pt x="231398" y="263347"/>
                  <a:pt x="98755" y="219133"/>
                  <a:pt x="98755" y="164592"/>
                </a:cubicBezTo>
                <a:cubicBezTo>
                  <a:pt x="98755" y="110051"/>
                  <a:pt x="231398" y="65837"/>
                  <a:pt x="395021" y="65837"/>
                </a:cubicBezTo>
                <a:cubicBezTo>
                  <a:pt x="558644" y="65837"/>
                  <a:pt x="691286" y="110051"/>
                  <a:pt x="691286" y="164592"/>
                </a:cubicBezTo>
                <a:close/>
                <a:moveTo>
                  <a:pt x="98755" y="164592"/>
                </a:moveTo>
                <a:lnTo>
                  <a:pt x="98755" y="625450"/>
                </a:lnTo>
                <a:cubicBezTo>
                  <a:pt x="98755" y="679991"/>
                  <a:pt x="231398" y="724205"/>
                  <a:pt x="395021" y="724205"/>
                </a:cubicBezTo>
                <a:cubicBezTo>
                  <a:pt x="558644" y="724205"/>
                  <a:pt x="691286" y="679991"/>
                  <a:pt x="691286" y="625450"/>
                </a:cubicBezTo>
                <a:lnTo>
                  <a:pt x="691286" y="164592"/>
                </a:lnTo>
                <a:moveTo>
                  <a:pt x="98755" y="395021"/>
                </a:moveTo>
                <a:cubicBezTo>
                  <a:pt x="98755" y="449562"/>
                  <a:pt x="231398" y="493776"/>
                  <a:pt x="395021" y="493776"/>
                </a:cubicBezTo>
                <a:cubicBezTo>
                  <a:pt x="558644" y="493776"/>
                  <a:pt x="691286" y="449562"/>
                  <a:pt x="691286" y="395021"/>
                </a:cubicBezTo>
              </a:path>
            </a:pathLst>
          </a:custGeom>
          <a:noFill/>
          <a:ln w="57607" cap="rnd">
            <a:solidFill>
              <a:srgbClr val="55627E"/>
            </a:solidFill>
            <a:prstDash val="solid"/>
            <a:round/>
          </a:ln>
        </p:spPr>
      </p:sp>
      <p:sp>
        <p:nvSpPr>
          <p:cNvPr id="14" name="Text 12"/>
          <p:cNvSpPr/>
          <p:nvPr/>
        </p:nvSpPr>
        <p:spPr>
          <a:xfrm>
            <a:off x="1215352" y="2528316"/>
            <a:ext cx="347472" cy="347472"/>
          </a:xfrm>
          <a:prstGeom prst="ellipse">
            <a:avLst/>
          </a:prstGeom>
          <a:solidFill>
            <a:srgbClr val="55627E"/>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Text 13"/>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Las bases</a:t>
            </a:r>
            <a:endParaRPr lang="en-US" sz="1800" dirty="0"/>
          </a:p>
        </p:txBody>
      </p:sp>
      <p:sp>
        <p:nvSpPr>
          <p:cNvPr id="16" name="Text 14"/>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pg_isready: ya aceptan conexiones.</a:t>
            </a:r>
            <a:endParaRPr lang="en-US" sz="1400" dirty="0"/>
          </a:p>
        </p:txBody>
      </p:sp>
      <p:sp>
        <p:nvSpPr>
          <p:cNvPr id="17" name="[p1] Forma"/>
          <p:cNvSpPr/>
          <p:nvPr/>
        </p:nvSpPr>
        <p:spPr>
          <a:xfrm>
            <a:off x="2806408" y="3296412"/>
            <a:ext cx="1095680" cy="0"/>
          </a:xfrm>
          <a:prstGeom prst="line">
            <a:avLst/>
          </a:prstGeom>
          <a:noFill/>
          <a:ln w="38100">
            <a:solidFill>
              <a:srgbClr val="2BA6CB"/>
            </a:solidFill>
            <a:prstDash val="solid"/>
            <a:tailEnd type="triangle"/>
          </a:ln>
        </p:spPr>
      </p:sp>
      <p:sp>
        <p:nvSpPr>
          <p:cNvPr id="18" name="[p1] Forma"/>
          <p:cNvSpPr/>
          <p:nvPr/>
        </p:nvSpPr>
        <p:spPr>
          <a:xfrm>
            <a:off x="39935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19" name="[p1] Icono bell"/>
          <p:cNvSpPr/>
          <p:nvPr/>
        </p:nvSpPr>
        <p:spPr>
          <a:xfrm>
            <a:off x="4330027" y="2901391"/>
            <a:ext cx="790042" cy="790042"/>
          </a:xfrm>
          <a:custGeom>
            <a:avLst/>
            <a:gdLst/>
            <a:ahLst/>
            <a:cxnLst/>
            <a:rect l="l" t="t" r="r" b="b"/>
            <a:pathLst>
              <a:path w="790042" h="790042">
                <a:moveTo>
                  <a:pt x="338006" y="691286"/>
                </a:moveTo>
                <a:cubicBezTo>
                  <a:pt x="349767" y="711655"/>
                  <a:pt x="371501" y="724202"/>
                  <a:pt x="395021" y="724202"/>
                </a:cubicBezTo>
                <a:cubicBezTo>
                  <a:pt x="418541" y="724202"/>
                  <a:pt x="440274" y="711655"/>
                  <a:pt x="452035" y="691286"/>
                </a:cubicBezTo>
                <a:moveTo>
                  <a:pt x="107380" y="504507"/>
                </a:moveTo>
                <a:cubicBezTo>
                  <a:pt x="98594" y="514138"/>
                  <a:pt x="96318" y="528045"/>
                  <a:pt x="101577" y="539974"/>
                </a:cubicBezTo>
                <a:cubicBezTo>
                  <a:pt x="106835" y="551902"/>
                  <a:pt x="118638" y="559603"/>
                  <a:pt x="131674" y="559613"/>
                </a:cubicBezTo>
                <a:lnTo>
                  <a:pt x="658368" y="559613"/>
                </a:lnTo>
                <a:cubicBezTo>
                  <a:pt x="671402" y="559617"/>
                  <a:pt x="683212" y="551931"/>
                  <a:pt x="688485" y="540010"/>
                </a:cubicBezTo>
                <a:cubicBezTo>
                  <a:pt x="693757" y="528090"/>
                  <a:pt x="691500" y="514181"/>
                  <a:pt x="682728" y="504540"/>
                </a:cubicBezTo>
                <a:cubicBezTo>
                  <a:pt x="638946" y="459409"/>
                  <a:pt x="592531" y="411447"/>
                  <a:pt x="592531" y="263347"/>
                </a:cubicBezTo>
                <a:cubicBezTo>
                  <a:pt x="592531" y="154265"/>
                  <a:pt x="504103" y="65837"/>
                  <a:pt x="395021" y="65837"/>
                </a:cubicBezTo>
                <a:cubicBezTo>
                  <a:pt x="285939" y="65837"/>
                  <a:pt x="197510" y="154265"/>
                  <a:pt x="197510" y="263347"/>
                </a:cubicBezTo>
                <a:cubicBezTo>
                  <a:pt x="197510" y="411447"/>
                  <a:pt x="151063" y="459409"/>
                  <a:pt x="107380" y="504507"/>
                </a:cubicBezTo>
              </a:path>
            </a:pathLst>
          </a:custGeom>
          <a:noFill/>
          <a:ln w="57607" cap="rnd">
            <a:solidFill>
              <a:srgbClr val="0B6E8A"/>
            </a:solidFill>
            <a:prstDash val="solid"/>
            <a:round/>
          </a:ln>
        </p:spPr>
      </p:sp>
      <p:sp>
        <p:nvSpPr>
          <p:cNvPr id="20" name="[p1] Forma"/>
          <p:cNvSpPr/>
          <p:nvPr/>
        </p:nvSpPr>
        <p:spPr>
          <a:xfrm>
            <a:off x="39569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1"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Notificaciones</a:t>
            </a:r>
            <a:endParaRPr lang="en-US" sz="1800" dirty="0"/>
          </a:p>
        </p:txBody>
      </p:sp>
      <p:sp>
        <p:nvSpPr>
          <p:cNvPr id="22"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Arranca cuando su base está sana.</a:t>
            </a:r>
            <a:endParaRPr lang="en-US" sz="1400" dirty="0"/>
          </a:p>
        </p:txBody>
      </p:sp>
      <p:sp>
        <p:nvSpPr>
          <p:cNvPr id="23" name="[p2] Forma"/>
          <p:cNvSpPr/>
          <p:nvPr/>
        </p:nvSpPr>
        <p:spPr>
          <a:xfrm>
            <a:off x="5548008" y="3296412"/>
            <a:ext cx="1095680" cy="0"/>
          </a:xfrm>
          <a:prstGeom prst="line">
            <a:avLst/>
          </a:prstGeom>
          <a:noFill/>
          <a:ln w="38100">
            <a:solidFill>
              <a:srgbClr val="2BA6CB"/>
            </a:solidFill>
            <a:prstDash val="solid"/>
            <a:tailEnd type="triangle"/>
          </a:ln>
        </p:spPr>
      </p:sp>
      <p:sp>
        <p:nvSpPr>
          <p:cNvPr id="24" name="[p2] Forma"/>
          <p:cNvSpPr/>
          <p:nvPr/>
        </p:nvSpPr>
        <p:spPr>
          <a:xfrm>
            <a:off x="67351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5" name="[p2] Icono clipboard-list"/>
          <p:cNvSpPr/>
          <p:nvPr/>
        </p:nvSpPr>
        <p:spPr>
          <a:xfrm>
            <a:off x="7071627" y="2901391"/>
            <a:ext cx="790042" cy="790042"/>
          </a:xfrm>
          <a:custGeom>
            <a:avLst/>
            <a:gdLst/>
            <a:ahLst/>
            <a:cxnLst/>
            <a:rect l="l" t="t" r="r" b="b"/>
            <a:pathLst>
              <a:path w="790042" h="790042">
                <a:moveTo>
                  <a:pt x="296266" y="65837"/>
                </a:moveTo>
                <a:lnTo>
                  <a:pt x="493776" y="65837"/>
                </a:lnTo>
                <a:cubicBezTo>
                  <a:pt x="511956" y="65837"/>
                  <a:pt x="526694" y="80575"/>
                  <a:pt x="526694" y="98755"/>
                </a:cubicBezTo>
                <a:lnTo>
                  <a:pt x="526694" y="164592"/>
                </a:lnTo>
                <a:cubicBezTo>
                  <a:pt x="526694" y="182772"/>
                  <a:pt x="511956" y="197510"/>
                  <a:pt x="493776" y="197510"/>
                </a:cubicBezTo>
                <a:lnTo>
                  <a:pt x="296266" y="197510"/>
                </a:lnTo>
                <a:cubicBezTo>
                  <a:pt x="278085" y="197510"/>
                  <a:pt x="263347" y="182772"/>
                  <a:pt x="263347" y="164592"/>
                </a:cubicBezTo>
                <a:lnTo>
                  <a:pt x="263347" y="98755"/>
                </a:lnTo>
                <a:cubicBezTo>
                  <a:pt x="263347" y="80575"/>
                  <a:pt x="278085" y="65837"/>
                  <a:pt x="296266" y="65837"/>
                </a:cubicBezTo>
                <a:close/>
                <a:moveTo>
                  <a:pt x="526694" y="131674"/>
                </a:moveTo>
                <a:lnTo>
                  <a:pt x="592531" y="131674"/>
                </a:lnTo>
                <a:cubicBezTo>
                  <a:pt x="628892" y="131674"/>
                  <a:pt x="658368" y="161150"/>
                  <a:pt x="658368" y="197510"/>
                </a:cubicBezTo>
                <a:lnTo>
                  <a:pt x="658368" y="658368"/>
                </a:lnTo>
                <a:cubicBezTo>
                  <a:pt x="658368" y="694729"/>
                  <a:pt x="628892" y="724205"/>
                  <a:pt x="592531" y="724205"/>
                </a:cubicBezTo>
                <a:lnTo>
                  <a:pt x="197510" y="724205"/>
                </a:lnTo>
                <a:cubicBezTo>
                  <a:pt x="161150" y="724205"/>
                  <a:pt x="131674" y="694729"/>
                  <a:pt x="131674" y="658368"/>
                </a:cubicBezTo>
                <a:lnTo>
                  <a:pt x="131674" y="197510"/>
                </a:lnTo>
                <a:cubicBezTo>
                  <a:pt x="131674" y="161150"/>
                  <a:pt x="161150" y="131674"/>
                  <a:pt x="197510" y="131674"/>
                </a:cubicBezTo>
                <a:lnTo>
                  <a:pt x="263347" y="131674"/>
                </a:lnTo>
                <a:moveTo>
                  <a:pt x="395021" y="362102"/>
                </a:moveTo>
                <a:lnTo>
                  <a:pt x="526694" y="362102"/>
                </a:lnTo>
                <a:moveTo>
                  <a:pt x="395021" y="526694"/>
                </a:moveTo>
                <a:lnTo>
                  <a:pt x="526694" y="526694"/>
                </a:lnTo>
                <a:moveTo>
                  <a:pt x="263347" y="362102"/>
                </a:moveTo>
                <a:lnTo>
                  <a:pt x="263676" y="362102"/>
                </a:lnTo>
                <a:moveTo>
                  <a:pt x="263347" y="526694"/>
                </a:moveTo>
                <a:lnTo>
                  <a:pt x="263676" y="526694"/>
                </a:lnTo>
              </a:path>
            </a:pathLst>
          </a:custGeom>
          <a:noFill/>
          <a:ln w="57607" cap="rnd">
            <a:solidFill>
              <a:srgbClr val="0B2350"/>
            </a:solidFill>
            <a:prstDash val="solid"/>
            <a:round/>
          </a:ln>
        </p:spPr>
      </p:sp>
      <p:sp>
        <p:nvSpPr>
          <p:cNvPr id="26" name="[p2] Forma"/>
          <p:cNvSpPr/>
          <p:nvPr/>
        </p:nvSpPr>
        <p:spPr>
          <a:xfrm>
            <a:off x="66985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7"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Solicitudes</a:t>
            </a:r>
            <a:endParaRPr lang="en-US" sz="1800" dirty="0"/>
          </a:p>
        </p:txBody>
      </p:sp>
      <p:sp>
        <p:nvSpPr>
          <p:cNvPr id="28"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Espera a su base y a notificaciones.</a:t>
            </a:r>
            <a:endParaRPr lang="en-US" sz="1400" dirty="0"/>
          </a:p>
        </p:txBody>
      </p:sp>
      <p:sp>
        <p:nvSpPr>
          <p:cNvPr id="29" name="[p3] Forma"/>
          <p:cNvSpPr/>
          <p:nvPr/>
        </p:nvSpPr>
        <p:spPr>
          <a:xfrm>
            <a:off x="8289608" y="3296412"/>
            <a:ext cx="1095680" cy="0"/>
          </a:xfrm>
          <a:prstGeom prst="line">
            <a:avLst/>
          </a:prstGeom>
          <a:noFill/>
          <a:ln w="38100">
            <a:solidFill>
              <a:srgbClr val="2BA6CB"/>
            </a:solidFill>
            <a:prstDash val="solid"/>
            <a:tailEnd type="triangle"/>
          </a:ln>
        </p:spPr>
      </p:sp>
      <p:sp>
        <p:nvSpPr>
          <p:cNvPr id="30" name="[p3] Forma"/>
          <p:cNvSpPr/>
          <p:nvPr/>
        </p:nvSpPr>
        <p:spPr>
          <a:xfrm>
            <a:off x="9476727" y="2564892"/>
            <a:ext cx="1463040" cy="1463040"/>
          </a:xfrm>
          <a:prstGeom prst="ellipse">
            <a:avLst/>
          </a:prstGeom>
          <a:solidFill>
            <a:srgbClr val="F1EEFD"/>
          </a:solidFill>
          <a:ln w="31750">
            <a:solidFill>
              <a:srgbClr val="5B3FC4"/>
            </a:solidFill>
            <a:prstDash val="solid"/>
          </a:ln>
          <a:effectLst>
            <a:outerShdw sx="100000" sy="100000" kx="0" ky="0" algn="bl" rotWithShape="0" blurRad="76200" dist="19050" dir="5400000">
              <a:srgbClr val="0B1F3A">
                <a:alpha val="14000"/>
              </a:srgbClr>
            </a:outerShdw>
          </a:effectLst>
        </p:spPr>
      </p:sp>
      <p:sp>
        <p:nvSpPr>
          <p:cNvPr id="31" name="[p3] Icono monitor"/>
          <p:cNvSpPr/>
          <p:nvPr/>
        </p:nvSpPr>
        <p:spPr>
          <a:xfrm>
            <a:off x="9813226" y="2901391"/>
            <a:ext cx="790042" cy="790042"/>
          </a:xfrm>
          <a:custGeom>
            <a:avLst/>
            <a:gdLst/>
            <a:ahLst/>
            <a:cxnLst/>
            <a:rect l="l" t="t" r="r" b="b"/>
            <a:pathLst>
              <a:path w="790042" h="790042">
                <a:moveTo>
                  <a:pt x="131674" y="98755"/>
                </a:moveTo>
                <a:lnTo>
                  <a:pt x="658368" y="98755"/>
                </a:lnTo>
                <a:cubicBezTo>
                  <a:pt x="694729" y="98755"/>
                  <a:pt x="724205" y="128231"/>
                  <a:pt x="724205" y="164592"/>
                </a:cubicBezTo>
                <a:lnTo>
                  <a:pt x="724205" y="493776"/>
                </a:lnTo>
                <a:cubicBezTo>
                  <a:pt x="724205" y="530137"/>
                  <a:pt x="694729" y="559613"/>
                  <a:pt x="658368" y="559613"/>
                </a:cubicBezTo>
                <a:lnTo>
                  <a:pt x="131674" y="559613"/>
                </a:lnTo>
                <a:cubicBezTo>
                  <a:pt x="95313" y="559613"/>
                  <a:pt x="65837" y="530137"/>
                  <a:pt x="65837" y="493776"/>
                </a:cubicBezTo>
                <a:lnTo>
                  <a:pt x="65837" y="164592"/>
                </a:lnTo>
                <a:cubicBezTo>
                  <a:pt x="65837" y="128231"/>
                  <a:pt x="95313" y="98755"/>
                  <a:pt x="131674" y="98755"/>
                </a:cubicBezTo>
                <a:close/>
                <a:moveTo>
                  <a:pt x="263347" y="691286"/>
                </a:moveTo>
                <a:lnTo>
                  <a:pt x="526694" y="691286"/>
                </a:lnTo>
                <a:moveTo>
                  <a:pt x="395021" y="559613"/>
                </a:moveTo>
                <a:lnTo>
                  <a:pt x="395021" y="691286"/>
                </a:lnTo>
              </a:path>
            </a:pathLst>
          </a:custGeom>
          <a:noFill/>
          <a:ln w="57607" cap="rnd">
            <a:solidFill>
              <a:srgbClr val="5B3FC4"/>
            </a:solidFill>
            <a:prstDash val="solid"/>
            <a:round/>
          </a:ln>
        </p:spPr>
      </p:sp>
      <p:sp>
        <p:nvSpPr>
          <p:cNvPr id="32" name="[p3] Forma"/>
          <p:cNvSpPr/>
          <p:nvPr/>
        </p:nvSpPr>
        <p:spPr>
          <a:xfrm>
            <a:off x="9440151" y="2528316"/>
            <a:ext cx="347472" cy="347472"/>
          </a:xfrm>
          <a:prstGeom prst="ellipse">
            <a:avLst/>
          </a:prstGeom>
          <a:solidFill>
            <a:srgbClr val="5B3F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UI</a:t>
            </a:r>
            <a:endParaRPr lang="en-US" sz="1800" dirty="0"/>
          </a:p>
        </p:txBody>
      </p:sp>
      <p:sp>
        <p:nvSpPr>
          <p:cNvPr id="34"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Arranca al final y vigila su salud.</a:t>
            </a:r>
            <a:endParaRPr lang="en-US" sz="14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3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4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4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Sin instalar nada: GitHub Codespaces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sistema completo, levantado en la nube desde una rama: cualquiera lo prueba o lo muestra.</a:t>
            </a:r>
            <a:endParaRPr lang="en-US" sz="1700" dirty="0"/>
          </a:p>
        </p:txBody>
      </p:sp>
      <p:sp>
        <p:nvSpPr>
          <p:cNvPr id="12" name="Shape 10"/>
          <p:cNvSpPr/>
          <p:nvPr/>
        </p:nvSpPr>
        <p:spPr>
          <a:xfrm>
            <a:off x="1024128" y="235064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3" name="Icono git-branch"/>
          <p:cNvSpPr/>
          <p:nvPr/>
        </p:nvSpPr>
        <p:spPr>
          <a:xfrm>
            <a:off x="1339302" y="2665822"/>
            <a:ext cx="739973" cy="739973"/>
          </a:xfrm>
          <a:custGeom>
            <a:avLst/>
            <a:gdLst/>
            <a:ahLst/>
            <a:cxnLst/>
            <a:rect l="l" t="t" r="r" b="b"/>
            <a:pathLst>
              <a:path w="739973" h="739973">
                <a:moveTo>
                  <a:pt x="184993" y="92497"/>
                </a:moveTo>
                <a:lnTo>
                  <a:pt x="184993" y="462483"/>
                </a:lnTo>
                <a:moveTo>
                  <a:pt x="647476" y="184993"/>
                </a:moveTo>
                <a:cubicBezTo>
                  <a:pt x="647476" y="236078"/>
                  <a:pt x="606064" y="277490"/>
                  <a:pt x="554980" y="277490"/>
                </a:cubicBezTo>
                <a:cubicBezTo>
                  <a:pt x="503895" y="277490"/>
                  <a:pt x="462483" y="236078"/>
                  <a:pt x="462483" y="184993"/>
                </a:cubicBezTo>
                <a:cubicBezTo>
                  <a:pt x="462483" y="133909"/>
                  <a:pt x="503895" y="92497"/>
                  <a:pt x="554980" y="92497"/>
                </a:cubicBezTo>
                <a:cubicBezTo>
                  <a:pt x="606064" y="92497"/>
                  <a:pt x="647476" y="133909"/>
                  <a:pt x="647476" y="184993"/>
                </a:cubicBezTo>
                <a:close/>
                <a:moveTo>
                  <a:pt x="277490" y="554980"/>
                </a:moveTo>
                <a:cubicBezTo>
                  <a:pt x="277490" y="606064"/>
                  <a:pt x="236078" y="647476"/>
                  <a:pt x="184993" y="647476"/>
                </a:cubicBezTo>
                <a:cubicBezTo>
                  <a:pt x="133909" y="647476"/>
                  <a:pt x="92497" y="606064"/>
                  <a:pt x="92497" y="554980"/>
                </a:cubicBezTo>
                <a:cubicBezTo>
                  <a:pt x="92497" y="503895"/>
                  <a:pt x="133909" y="462483"/>
                  <a:pt x="184993" y="462483"/>
                </a:cubicBezTo>
                <a:cubicBezTo>
                  <a:pt x="236078" y="462483"/>
                  <a:pt x="277490" y="503895"/>
                  <a:pt x="277490" y="554980"/>
                </a:cubicBezTo>
                <a:close/>
                <a:moveTo>
                  <a:pt x="554980" y="277490"/>
                </a:moveTo>
                <a:cubicBezTo>
                  <a:pt x="554980" y="430743"/>
                  <a:pt x="430743" y="554980"/>
                  <a:pt x="277490" y="554980"/>
                </a:cubicBezTo>
              </a:path>
            </a:pathLst>
          </a:custGeom>
          <a:noFill/>
          <a:ln w="53956" cap="rnd">
            <a:solidFill>
              <a:srgbClr val="0B2350"/>
            </a:solidFill>
            <a:prstDash val="solid"/>
            <a:round/>
          </a:ln>
        </p:spPr>
      </p:sp>
      <p:sp>
        <p:nvSpPr>
          <p:cNvPr id="14" name="Text 12"/>
          <p:cNvSpPr/>
          <p:nvPr/>
        </p:nvSpPr>
        <p:spPr>
          <a:xfrm>
            <a:off x="987552" y="231407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Text 13"/>
          <p:cNvSpPr/>
          <p:nvPr/>
        </p:nvSpPr>
        <p:spPr>
          <a:xfrm>
            <a:off x="65836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Una rama</a:t>
            </a:r>
            <a:endParaRPr lang="en-US" sz="1800" dirty="0"/>
          </a:p>
        </p:txBody>
      </p:sp>
      <p:sp>
        <p:nvSpPr>
          <p:cNvPr id="16" name="Text 14"/>
          <p:cNvSpPr/>
          <p:nvPr/>
        </p:nvSpPr>
        <p:spPr>
          <a:xfrm>
            <a:off x="72237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Code › Codespaces › Crear.</a:t>
            </a:r>
            <a:endParaRPr lang="en-US" sz="1400" dirty="0"/>
          </a:p>
        </p:txBody>
      </p:sp>
      <p:sp>
        <p:nvSpPr>
          <p:cNvPr id="17" name="[p1] Forma"/>
          <p:cNvSpPr/>
          <p:nvPr/>
        </p:nvSpPr>
        <p:spPr>
          <a:xfrm>
            <a:off x="2485888" y="3035808"/>
            <a:ext cx="640080" cy="0"/>
          </a:xfrm>
          <a:prstGeom prst="line">
            <a:avLst/>
          </a:prstGeom>
          <a:noFill/>
          <a:ln w="38100">
            <a:solidFill>
              <a:srgbClr val="2BA6CB"/>
            </a:solidFill>
            <a:prstDash val="solid"/>
            <a:tailEnd type="triangle"/>
          </a:ln>
        </p:spPr>
      </p:sp>
      <p:sp>
        <p:nvSpPr>
          <p:cNvPr id="18" name="[p1] Forma"/>
          <p:cNvSpPr/>
          <p:nvPr/>
        </p:nvSpPr>
        <p:spPr>
          <a:xfrm>
            <a:off x="3217408" y="235064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p1] Icono cloud"/>
          <p:cNvSpPr/>
          <p:nvPr/>
        </p:nvSpPr>
        <p:spPr>
          <a:xfrm>
            <a:off x="3532581" y="2665822"/>
            <a:ext cx="739973" cy="739973"/>
          </a:xfrm>
          <a:custGeom>
            <a:avLst/>
            <a:gdLst/>
            <a:ahLst/>
            <a:cxnLst/>
            <a:rect l="l" t="t" r="r" b="b"/>
            <a:pathLst>
              <a:path w="739973" h="739973">
                <a:moveTo>
                  <a:pt x="539563" y="585812"/>
                </a:moveTo>
                <a:lnTo>
                  <a:pt x="277490" y="585812"/>
                </a:lnTo>
                <a:cubicBezTo>
                  <a:pt x="166361" y="585783"/>
                  <a:pt x="73420" y="501375"/>
                  <a:pt x="62722" y="390762"/>
                </a:cubicBezTo>
                <a:cubicBezTo>
                  <a:pt x="52024" y="280150"/>
                  <a:pt x="127068" y="179495"/>
                  <a:pt x="236132" y="158172"/>
                </a:cubicBezTo>
                <a:cubicBezTo>
                  <a:pt x="345195" y="136848"/>
                  <a:pt x="452623" y="201826"/>
                  <a:pt x="484374" y="308322"/>
                </a:cubicBezTo>
                <a:lnTo>
                  <a:pt x="539563" y="308322"/>
                </a:lnTo>
                <a:cubicBezTo>
                  <a:pt x="616190" y="308322"/>
                  <a:pt x="678308" y="370440"/>
                  <a:pt x="678308" y="447067"/>
                </a:cubicBezTo>
                <a:cubicBezTo>
                  <a:pt x="678308" y="523694"/>
                  <a:pt x="616190" y="585812"/>
                  <a:pt x="539563" y="585812"/>
                </a:cubicBezTo>
                <a:close/>
              </a:path>
            </a:pathLst>
          </a:custGeom>
          <a:noFill/>
          <a:ln w="53956" cap="rnd">
            <a:solidFill>
              <a:srgbClr val="0B2350"/>
            </a:solidFill>
            <a:prstDash val="solid"/>
            <a:round/>
          </a:ln>
        </p:spPr>
      </p:sp>
      <p:sp>
        <p:nvSpPr>
          <p:cNvPr id="20" name="[p1] Forma"/>
          <p:cNvSpPr/>
          <p:nvPr/>
        </p:nvSpPr>
        <p:spPr>
          <a:xfrm>
            <a:off x="3180832" y="231407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1" name="[p1] Forma"/>
          <p:cNvSpPr/>
          <p:nvPr/>
        </p:nvSpPr>
        <p:spPr>
          <a:xfrm>
            <a:off x="2851648" y="3848984"/>
            <a:ext cx="2101840" cy="420624"/>
          </a:xfrm>
          <a:prstGeom prst="rect">
            <a:avLst/>
          </a:prstGeom>
          <a:noFill/>
          <a:ln/>
        </p:spPr>
        <p:txBody>
          <a:bodyPr wrap="square" lIns="0" tIns="0" rIns="0" bIns="0" rtlCol="0" anchor="t">
            <a:normAutofit/>
          </a:bodyPr>
          <a:lstStyle/>
          <a:p>
            <a:pPr algn="ctr" indent="0" marL="0">
              <a:buNone/>
            </a:pPr>
            <a:r>
              <a:rPr lang="en-US" sz="1550" b="1" dirty="0">
                <a:solidFill>
                  <a:srgbClr val="0B1A3C"/>
                </a:solidFill>
                <a:latin typeface="Segoe UI Semibold" pitchFamily="34" charset="0"/>
                <a:ea typeface="Segoe UI Semibold" pitchFamily="34" charset="-122"/>
                <a:cs typeface="Segoe UI Semibold" pitchFamily="34" charset="-120"/>
              </a:rPr>
              <a:t>Máquina en la nube</a:t>
            </a:r>
            <a:endParaRPr lang="en-US" sz="1550" dirty="0"/>
          </a:p>
        </p:txBody>
      </p:sp>
      <p:sp>
        <p:nvSpPr>
          <p:cNvPr id="22" name="[p1] Forma"/>
          <p:cNvSpPr/>
          <p:nvPr/>
        </p:nvSpPr>
        <p:spPr>
          <a:xfrm>
            <a:off x="291565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4 núcleos y Docker adentro.</a:t>
            </a:r>
            <a:endParaRPr lang="en-US" sz="1400" dirty="0"/>
          </a:p>
        </p:txBody>
      </p:sp>
      <p:sp>
        <p:nvSpPr>
          <p:cNvPr id="23" name="[p2] Forma"/>
          <p:cNvSpPr/>
          <p:nvPr/>
        </p:nvSpPr>
        <p:spPr>
          <a:xfrm>
            <a:off x="4679168" y="3035808"/>
            <a:ext cx="640080" cy="0"/>
          </a:xfrm>
          <a:prstGeom prst="line">
            <a:avLst/>
          </a:prstGeom>
          <a:noFill/>
          <a:ln w="38100">
            <a:solidFill>
              <a:srgbClr val="2BA6CB"/>
            </a:solidFill>
            <a:prstDash val="solid"/>
            <a:tailEnd type="triangle"/>
          </a:ln>
        </p:spPr>
      </p:sp>
      <p:sp>
        <p:nvSpPr>
          <p:cNvPr id="24" name="[p2] Forma"/>
          <p:cNvSpPr/>
          <p:nvPr/>
        </p:nvSpPr>
        <p:spPr>
          <a:xfrm>
            <a:off x="5410688" y="235064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p2] Icono container"/>
          <p:cNvSpPr/>
          <p:nvPr/>
        </p:nvSpPr>
        <p:spPr>
          <a:xfrm>
            <a:off x="5725861" y="2665822"/>
            <a:ext cx="739973" cy="739973"/>
          </a:xfrm>
          <a:custGeom>
            <a:avLst/>
            <a:gdLst/>
            <a:ahLst/>
            <a:cxnLst/>
            <a:rect l="l" t="t" r="r" b="b"/>
            <a:pathLst>
              <a:path w="739973" h="739973">
                <a:moveTo>
                  <a:pt x="678308" y="237408"/>
                </a:moveTo>
                <a:cubicBezTo>
                  <a:pt x="678308" y="218909"/>
                  <a:pt x="665975" y="200409"/>
                  <a:pt x="653643" y="191160"/>
                </a:cubicBezTo>
                <a:lnTo>
                  <a:pt x="459400" y="70914"/>
                </a:lnTo>
                <a:cubicBezTo>
                  <a:pt x="443149" y="61676"/>
                  <a:pt x="423236" y="61676"/>
                  <a:pt x="406985" y="70914"/>
                </a:cubicBezTo>
                <a:lnTo>
                  <a:pt x="89413" y="255907"/>
                </a:lnTo>
                <a:cubicBezTo>
                  <a:pt x="73997" y="262074"/>
                  <a:pt x="61664" y="280573"/>
                  <a:pt x="61664" y="299072"/>
                </a:cubicBezTo>
                <a:lnTo>
                  <a:pt x="61664" y="502565"/>
                </a:lnTo>
                <a:cubicBezTo>
                  <a:pt x="61664" y="517981"/>
                  <a:pt x="73997" y="539563"/>
                  <a:pt x="86330" y="548813"/>
                </a:cubicBezTo>
                <a:lnTo>
                  <a:pt x="280573" y="669059"/>
                </a:lnTo>
                <a:cubicBezTo>
                  <a:pt x="296824" y="678296"/>
                  <a:pt x="316737" y="678296"/>
                  <a:pt x="332988" y="669059"/>
                </a:cubicBezTo>
                <a:lnTo>
                  <a:pt x="650559" y="484065"/>
                </a:lnTo>
                <a:cubicBezTo>
                  <a:pt x="665975" y="474816"/>
                  <a:pt x="678308" y="453233"/>
                  <a:pt x="678308" y="437817"/>
                </a:cubicBezTo>
                <a:close/>
                <a:moveTo>
                  <a:pt x="308322" y="675225"/>
                </a:moveTo>
                <a:lnTo>
                  <a:pt x="308322" y="431651"/>
                </a:lnTo>
                <a:lnTo>
                  <a:pt x="64748" y="280573"/>
                </a:lnTo>
                <a:moveTo>
                  <a:pt x="308322" y="431651"/>
                </a:moveTo>
                <a:lnTo>
                  <a:pt x="675225" y="218909"/>
                </a:lnTo>
                <a:moveTo>
                  <a:pt x="431651" y="610477"/>
                </a:moveTo>
                <a:lnTo>
                  <a:pt x="431651" y="360737"/>
                </a:lnTo>
                <a:moveTo>
                  <a:pt x="554980" y="539563"/>
                </a:moveTo>
                <a:lnTo>
                  <a:pt x="554980" y="289823"/>
                </a:lnTo>
              </a:path>
            </a:pathLst>
          </a:custGeom>
          <a:noFill/>
          <a:ln w="53956" cap="rnd">
            <a:solidFill>
              <a:srgbClr val="0B6E8A"/>
            </a:solidFill>
            <a:prstDash val="solid"/>
            <a:round/>
          </a:ln>
        </p:spPr>
      </p:sp>
      <p:sp>
        <p:nvSpPr>
          <p:cNvPr id="26" name="[p2] Forma"/>
          <p:cNvSpPr/>
          <p:nvPr/>
        </p:nvSpPr>
        <p:spPr>
          <a:xfrm>
            <a:off x="5374112" y="231407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7" name="[p2] Forma"/>
          <p:cNvSpPr/>
          <p:nvPr/>
        </p:nvSpPr>
        <p:spPr>
          <a:xfrm>
            <a:off x="504492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levantar.sh</a:t>
            </a:r>
            <a:endParaRPr lang="en-US" sz="1800" dirty="0"/>
          </a:p>
        </p:txBody>
      </p:sp>
      <p:sp>
        <p:nvSpPr>
          <p:cNvPr id="28" name="[p2] Forma"/>
          <p:cNvSpPr/>
          <p:nvPr/>
        </p:nvSpPr>
        <p:spPr>
          <a:xfrm>
            <a:off x="510893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Construye y levanta los 8 contenedores.</a:t>
            </a:r>
            <a:endParaRPr lang="en-US" sz="1400" dirty="0"/>
          </a:p>
        </p:txBody>
      </p:sp>
      <p:sp>
        <p:nvSpPr>
          <p:cNvPr id="29" name="[p3] Forma"/>
          <p:cNvSpPr/>
          <p:nvPr/>
        </p:nvSpPr>
        <p:spPr>
          <a:xfrm>
            <a:off x="6872448" y="3035808"/>
            <a:ext cx="640080" cy="0"/>
          </a:xfrm>
          <a:prstGeom prst="line">
            <a:avLst/>
          </a:prstGeom>
          <a:noFill/>
          <a:ln w="38100">
            <a:solidFill>
              <a:srgbClr val="2BA6CB"/>
            </a:solidFill>
            <a:prstDash val="solid"/>
            <a:tailEnd type="triangle"/>
          </a:ln>
        </p:spPr>
      </p:sp>
      <p:sp>
        <p:nvSpPr>
          <p:cNvPr id="30" name="[p3] Forma"/>
          <p:cNvSpPr/>
          <p:nvPr/>
        </p:nvSpPr>
        <p:spPr>
          <a:xfrm>
            <a:off x="7603968" y="235064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1" name="[p3] Icono globe"/>
          <p:cNvSpPr/>
          <p:nvPr/>
        </p:nvSpPr>
        <p:spPr>
          <a:xfrm>
            <a:off x="7919141" y="2665822"/>
            <a:ext cx="739973" cy="739973"/>
          </a:xfrm>
          <a:custGeom>
            <a:avLst/>
            <a:gdLst/>
            <a:ahLst/>
            <a:cxnLst/>
            <a:rect l="l" t="t" r="r" b="b"/>
            <a:pathLst>
              <a:path w="739973" h="739973">
                <a:moveTo>
                  <a:pt x="678308" y="369986"/>
                </a:moveTo>
                <a:cubicBezTo>
                  <a:pt x="678308" y="540268"/>
                  <a:pt x="540268" y="678308"/>
                  <a:pt x="369986" y="678308"/>
                </a:cubicBezTo>
                <a:cubicBezTo>
                  <a:pt x="199705" y="678308"/>
                  <a:pt x="61664" y="540268"/>
                  <a:pt x="61664" y="369986"/>
                </a:cubicBezTo>
                <a:cubicBezTo>
                  <a:pt x="61664" y="199705"/>
                  <a:pt x="199705" y="61664"/>
                  <a:pt x="369986" y="61664"/>
                </a:cubicBezTo>
                <a:cubicBezTo>
                  <a:pt x="540268" y="61664"/>
                  <a:pt x="678308" y="199705"/>
                  <a:pt x="678308" y="369986"/>
                </a:cubicBezTo>
                <a:close/>
                <a:moveTo>
                  <a:pt x="369986" y="61664"/>
                </a:moveTo>
                <a:cubicBezTo>
                  <a:pt x="205548" y="234325"/>
                  <a:pt x="205548" y="505648"/>
                  <a:pt x="369986" y="678308"/>
                </a:cubicBezTo>
                <a:cubicBezTo>
                  <a:pt x="534425" y="505648"/>
                  <a:pt x="534425" y="234325"/>
                  <a:pt x="369986" y="61664"/>
                </a:cubicBezTo>
                <a:moveTo>
                  <a:pt x="61664" y="369986"/>
                </a:moveTo>
                <a:lnTo>
                  <a:pt x="678308" y="369986"/>
                </a:lnTo>
              </a:path>
            </a:pathLst>
          </a:custGeom>
          <a:noFill/>
          <a:ln w="53956" cap="rnd">
            <a:solidFill>
              <a:srgbClr val="0B6E8A"/>
            </a:solidFill>
            <a:prstDash val="solid"/>
            <a:round/>
          </a:ln>
        </p:spPr>
      </p:sp>
      <p:sp>
        <p:nvSpPr>
          <p:cNvPr id="32" name="[p3] Forma"/>
          <p:cNvSpPr/>
          <p:nvPr/>
        </p:nvSpPr>
        <p:spPr>
          <a:xfrm>
            <a:off x="7567392" y="231407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p3] Forma"/>
          <p:cNvSpPr/>
          <p:nvPr/>
        </p:nvSpPr>
        <p:spPr>
          <a:xfrm>
            <a:off x="7238208"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Puertos https</a:t>
            </a:r>
            <a:endParaRPr lang="en-US" sz="1800" dirty="0"/>
          </a:p>
        </p:txBody>
      </p:sp>
      <p:sp>
        <p:nvSpPr>
          <p:cNvPr id="34" name="[p3] Forma"/>
          <p:cNvSpPr/>
          <p:nvPr/>
        </p:nvSpPr>
        <p:spPr>
          <a:xfrm>
            <a:off x="7302216"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UI, Grafana y Swagger, privados.</a:t>
            </a:r>
            <a:endParaRPr lang="en-US" sz="1400" dirty="0"/>
          </a:p>
        </p:txBody>
      </p:sp>
      <p:sp>
        <p:nvSpPr>
          <p:cNvPr id="35" name="[p4] Forma"/>
          <p:cNvSpPr/>
          <p:nvPr/>
        </p:nvSpPr>
        <p:spPr>
          <a:xfrm>
            <a:off x="9065727" y="3035808"/>
            <a:ext cx="640080" cy="0"/>
          </a:xfrm>
          <a:prstGeom prst="line">
            <a:avLst/>
          </a:prstGeom>
          <a:noFill/>
          <a:ln w="38100">
            <a:solidFill>
              <a:srgbClr val="2BA6CB"/>
            </a:solidFill>
            <a:prstDash val="solid"/>
            <a:tailEnd type="triangle"/>
          </a:ln>
        </p:spPr>
      </p:sp>
      <p:sp>
        <p:nvSpPr>
          <p:cNvPr id="36" name="[p4] Forma"/>
          <p:cNvSpPr/>
          <p:nvPr/>
        </p:nvSpPr>
        <p:spPr>
          <a:xfrm>
            <a:off x="9797247" y="235064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7" name="[p4] Icono monitor"/>
          <p:cNvSpPr/>
          <p:nvPr/>
        </p:nvSpPr>
        <p:spPr>
          <a:xfrm>
            <a:off x="10112421" y="2665822"/>
            <a:ext cx="739973" cy="739973"/>
          </a:xfrm>
          <a:custGeom>
            <a:avLst/>
            <a:gdLst/>
            <a:ahLst/>
            <a:cxnLst/>
            <a:rect l="l" t="t" r="r" b="b"/>
            <a:pathLst>
              <a:path w="739973" h="739973">
                <a:moveTo>
                  <a:pt x="123329" y="92497"/>
                </a:moveTo>
                <a:lnTo>
                  <a:pt x="616644" y="92497"/>
                </a:lnTo>
                <a:cubicBezTo>
                  <a:pt x="650700" y="92497"/>
                  <a:pt x="678308" y="120105"/>
                  <a:pt x="678308" y="154161"/>
                </a:cubicBezTo>
                <a:lnTo>
                  <a:pt x="678308" y="462483"/>
                </a:lnTo>
                <a:cubicBezTo>
                  <a:pt x="678308" y="496539"/>
                  <a:pt x="650700" y="524147"/>
                  <a:pt x="616644" y="524147"/>
                </a:cubicBezTo>
                <a:lnTo>
                  <a:pt x="123329" y="524147"/>
                </a:lnTo>
                <a:cubicBezTo>
                  <a:pt x="89272" y="524147"/>
                  <a:pt x="61664" y="496539"/>
                  <a:pt x="61664" y="462483"/>
                </a:cubicBezTo>
                <a:lnTo>
                  <a:pt x="61664" y="154161"/>
                </a:lnTo>
                <a:cubicBezTo>
                  <a:pt x="61664" y="120105"/>
                  <a:pt x="89272" y="92497"/>
                  <a:pt x="123329" y="92497"/>
                </a:cubicBezTo>
                <a:close/>
                <a:moveTo>
                  <a:pt x="246658" y="647476"/>
                </a:moveTo>
                <a:lnTo>
                  <a:pt x="493315" y="647476"/>
                </a:lnTo>
                <a:moveTo>
                  <a:pt x="369986" y="524147"/>
                </a:moveTo>
                <a:lnTo>
                  <a:pt x="369986" y="647476"/>
                </a:lnTo>
              </a:path>
            </a:pathLst>
          </a:custGeom>
          <a:noFill/>
          <a:ln w="53956" cap="rnd">
            <a:solidFill>
              <a:srgbClr val="0A6648"/>
            </a:solidFill>
            <a:prstDash val="solid"/>
            <a:round/>
          </a:ln>
        </p:spPr>
      </p:sp>
      <p:sp>
        <p:nvSpPr>
          <p:cNvPr id="38" name="[p4] Forma"/>
          <p:cNvSpPr/>
          <p:nvPr/>
        </p:nvSpPr>
        <p:spPr>
          <a:xfrm>
            <a:off x="9760671" y="231407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39" name="[p4] Forma"/>
          <p:cNvSpPr/>
          <p:nvPr/>
        </p:nvSpPr>
        <p:spPr>
          <a:xfrm>
            <a:off x="9431487" y="384898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Usarlo</a:t>
            </a:r>
            <a:endParaRPr lang="en-US" sz="1800" dirty="0"/>
          </a:p>
        </p:txBody>
      </p:sp>
      <p:sp>
        <p:nvSpPr>
          <p:cNvPr id="40" name="[p4] Forma"/>
          <p:cNvSpPr/>
          <p:nvPr/>
        </p:nvSpPr>
        <p:spPr>
          <a:xfrm>
            <a:off x="9495495" y="428789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Desde el navegador.</a:t>
            </a:r>
            <a:endParaRPr lang="en-US" sz="1400" dirty="0"/>
          </a:p>
        </p:txBody>
      </p:sp>
      <p:sp>
        <p:nvSpPr>
          <p:cNvPr id="41" name="Shape 39"/>
          <p:cNvSpPr/>
          <p:nvPr/>
        </p:nvSpPr>
        <p:spPr>
          <a:xfrm>
            <a:off x="0" y="5961888"/>
            <a:ext cx="12191695" cy="475488"/>
          </a:xfrm>
          <a:prstGeom prst="rect">
            <a:avLst/>
          </a:prstGeom>
          <a:solidFill>
            <a:srgbClr val="0B2350"/>
          </a:solidFill>
          <a:ln w="12700">
            <a:solidFill>
              <a:srgbClr val="0B2350"/>
            </a:solidFill>
            <a:prstDash val="solid"/>
          </a:ln>
        </p:spPr>
      </p:sp>
      <p:sp>
        <p:nvSpPr>
          <p:cNvPr id="42"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43" name="Text 41"/>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Probar o mostrar el sistema no depende de la computadora de nadie ni de la red de la oficina.</a:t>
            </a:r>
            <a:endParaRPr lang="en-US" sz="140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4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4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4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00"/>
                                        <p:tgtEl>
                                          <p:spTgt spid="34"/>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400"/>
                                        <p:tgtEl>
                                          <p:spTgt spid="3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400"/>
                                        <p:tgtEl>
                                          <p:spTgt spid="3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400"/>
                                        <p:tgtEl>
                                          <p:spTgt spid="3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4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400"/>
                                        <p:tgtEl>
                                          <p:spTgt spid="3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del push a la imagen publicada</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CI comprueba cada cambio; CD deja la imagen lista para desplegar.</a:t>
            </a:r>
            <a:endParaRPr lang="en-US" sz="1700" dirty="0"/>
          </a:p>
        </p:txBody>
      </p:sp>
      <p:sp>
        <p:nvSpPr>
          <p:cNvPr id="12" name="Shape 10"/>
          <p:cNvSpPr/>
          <p:nvPr/>
        </p:nvSpPr>
        <p:spPr>
          <a:xfrm>
            <a:off x="612648" y="1719072"/>
            <a:ext cx="10966399" cy="1897380"/>
          </a:xfrm>
          <a:prstGeom prst="roundRect">
            <a:avLst>
              <a:gd name="adj" fmla="val 6747"/>
            </a:avLst>
          </a:prstGeom>
          <a:solidFill>
            <a:srgbClr val="F0F4FA"/>
          </a:solidFill>
          <a:ln w="12700">
            <a:solidFill>
              <a:srgbClr val="AAB2C2"/>
            </a:solidFill>
            <a:prstDash val="solid"/>
          </a:ln>
        </p:spPr>
      </p:sp>
      <p:sp>
        <p:nvSpPr>
          <p:cNvPr id="13" name="Text 11"/>
          <p:cNvSpPr/>
          <p:nvPr/>
        </p:nvSpPr>
        <p:spPr>
          <a:xfrm>
            <a:off x="612648" y="1719072"/>
            <a:ext cx="1874520" cy="1897380"/>
          </a:xfrm>
          <a:prstGeom prst="roundRect">
            <a:avLst>
              <a:gd name="adj" fmla="val 6829"/>
            </a:avLst>
          </a:prstGeom>
          <a:solidFill>
            <a:srgbClr val="0B2350"/>
          </a:solidFill>
          <a:ln>
            <a:solidFill>
              <a:srgbClr val="0B2350"/>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Pull Request hacia main</a:t>
            </a:r>
            <a:endParaRPr lang="en-US" sz="1600" dirty="0"/>
          </a:p>
        </p:txBody>
      </p:sp>
      <p:sp>
        <p:nvSpPr>
          <p:cNvPr id="14" name="Shape 12"/>
          <p:cNvSpPr/>
          <p:nvPr/>
        </p:nvSpPr>
        <p:spPr>
          <a:xfrm>
            <a:off x="4634728" y="2080260"/>
            <a:ext cx="4888200" cy="0"/>
          </a:xfrm>
          <a:prstGeom prst="line">
            <a:avLst/>
          </a:prstGeom>
          <a:noFill/>
          <a:ln w="25400">
            <a:solidFill>
              <a:srgbClr val="0B6E8A"/>
            </a:solidFill>
            <a:prstDash val="solid"/>
          </a:ln>
        </p:spPr>
      </p:sp>
      <p:sp>
        <p:nvSpPr>
          <p:cNvPr id="15" name="Shape 13"/>
          <p:cNvSpPr/>
          <p:nvPr/>
        </p:nvSpPr>
        <p:spPr>
          <a:xfrm>
            <a:off x="4634728" y="2080260"/>
            <a:ext cx="0" cy="73152"/>
          </a:xfrm>
          <a:prstGeom prst="line">
            <a:avLst/>
          </a:prstGeom>
          <a:noFill/>
          <a:ln w="25400">
            <a:solidFill>
              <a:srgbClr val="0B6E8A"/>
            </a:solidFill>
            <a:prstDash val="solid"/>
          </a:ln>
        </p:spPr>
      </p:sp>
      <p:sp>
        <p:nvSpPr>
          <p:cNvPr id="16" name="Shape 14"/>
          <p:cNvSpPr/>
          <p:nvPr/>
        </p:nvSpPr>
        <p:spPr>
          <a:xfrm>
            <a:off x="9522927" y="2080260"/>
            <a:ext cx="0" cy="73152"/>
          </a:xfrm>
          <a:prstGeom prst="line">
            <a:avLst/>
          </a:prstGeom>
          <a:noFill/>
          <a:ln w="25400">
            <a:solidFill>
              <a:srgbClr val="0B6E8A"/>
            </a:solidFill>
            <a:prstDash val="solid"/>
          </a:ln>
        </p:spPr>
      </p:sp>
      <p:sp>
        <p:nvSpPr>
          <p:cNvPr id="17" name="Text 15"/>
          <p:cNvSpPr/>
          <p:nvPr/>
        </p:nvSpPr>
        <p:spPr>
          <a:xfrm>
            <a:off x="5924398" y="1751076"/>
            <a:ext cx="2308860" cy="274320"/>
          </a:xfrm>
          <a:prstGeom prst="roundRect">
            <a:avLst>
              <a:gd name="adj" fmla="val 50000"/>
            </a:avLst>
          </a:prstGeom>
          <a:solidFill>
            <a:srgbClr val="0B6E8A"/>
          </a:solidFill>
          <a:ln>
            <a:solidFill>
              <a:srgbClr val="0B6E8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CI · integración continua</a:t>
            </a:r>
            <a:endParaRPr lang="en-US" sz="1000" dirty="0"/>
          </a:p>
        </p:txBody>
      </p:sp>
      <p:sp>
        <p:nvSpPr>
          <p:cNvPr id="18" name="Shape 16"/>
          <p:cNvSpPr/>
          <p:nvPr/>
        </p:nvSpPr>
        <p:spPr>
          <a:xfrm>
            <a:off x="2761488"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19" name="Shape 17"/>
          <p:cNvSpPr/>
          <p:nvPr/>
        </p:nvSpPr>
        <p:spPr>
          <a:xfrm>
            <a:off x="3176900" y="2263140"/>
            <a:ext cx="457200" cy="457200"/>
          </a:xfrm>
          <a:prstGeom prst="ellipse">
            <a:avLst/>
          </a:prstGeom>
          <a:solidFill>
            <a:srgbClr val="E8EEF8"/>
          </a:solidFill>
          <a:ln w="12700">
            <a:solidFill>
              <a:srgbClr val="E8EEF8"/>
            </a:solidFill>
            <a:prstDash val="solid"/>
          </a:ln>
        </p:spPr>
      </p:sp>
      <p:sp>
        <p:nvSpPr>
          <p:cNvPr id="20" name="Icono git-pull-request"/>
          <p:cNvSpPr/>
          <p:nvPr/>
        </p:nvSpPr>
        <p:spPr>
          <a:xfrm>
            <a:off x="3286628" y="2372868"/>
            <a:ext cx="237744" cy="237744"/>
          </a:xfrm>
          <a:custGeom>
            <a:avLst/>
            <a:gdLst/>
            <a:ahLst/>
            <a:cxnLst/>
            <a:rect l="l" t="t" r="r" b="b"/>
            <a:pathLst>
              <a:path w="237744" h="237744">
                <a:moveTo>
                  <a:pt x="208026" y="178308"/>
                </a:moveTo>
                <a:cubicBezTo>
                  <a:pt x="208026" y="194721"/>
                  <a:pt x="194721" y="208026"/>
                  <a:pt x="178308" y="208026"/>
                </a:cubicBezTo>
                <a:cubicBezTo>
                  <a:pt x="161895" y="208026"/>
                  <a:pt x="148590" y="194721"/>
                  <a:pt x="148590" y="178308"/>
                </a:cubicBezTo>
                <a:cubicBezTo>
                  <a:pt x="148590" y="161895"/>
                  <a:pt x="161895" y="148590"/>
                  <a:pt x="178308" y="148590"/>
                </a:cubicBezTo>
                <a:cubicBezTo>
                  <a:pt x="194721" y="148590"/>
                  <a:pt x="208026" y="161895"/>
                  <a:pt x="208026" y="178308"/>
                </a:cubicBezTo>
                <a:close/>
                <a:moveTo>
                  <a:pt x="89154" y="59436"/>
                </a:moveTo>
                <a:cubicBezTo>
                  <a:pt x="89154" y="75849"/>
                  <a:pt x="75849" y="89154"/>
                  <a:pt x="59436" y="89154"/>
                </a:cubicBezTo>
                <a:cubicBezTo>
                  <a:pt x="43023" y="89154"/>
                  <a:pt x="29718" y="75849"/>
                  <a:pt x="29718" y="59436"/>
                </a:cubicBezTo>
                <a:cubicBezTo>
                  <a:pt x="29718" y="43023"/>
                  <a:pt x="43023" y="29718"/>
                  <a:pt x="59436" y="29718"/>
                </a:cubicBezTo>
                <a:cubicBezTo>
                  <a:pt x="75849" y="29718"/>
                  <a:pt x="89154" y="43023"/>
                  <a:pt x="89154" y="59436"/>
                </a:cubicBezTo>
                <a:close/>
                <a:moveTo>
                  <a:pt x="128778" y="59436"/>
                </a:moveTo>
                <a:lnTo>
                  <a:pt x="158496" y="59436"/>
                </a:lnTo>
                <a:cubicBezTo>
                  <a:pt x="169438" y="59436"/>
                  <a:pt x="178308" y="68306"/>
                  <a:pt x="178308" y="79248"/>
                </a:cubicBezTo>
                <a:lnTo>
                  <a:pt x="178308" y="148590"/>
                </a:lnTo>
                <a:moveTo>
                  <a:pt x="59436" y="89154"/>
                </a:moveTo>
                <a:lnTo>
                  <a:pt x="59436" y="208026"/>
                </a:lnTo>
              </a:path>
            </a:pathLst>
          </a:custGeom>
          <a:noFill/>
          <a:ln w="19812" cap="rnd">
            <a:solidFill>
              <a:srgbClr val="0B2350"/>
            </a:solidFill>
            <a:prstDash val="solid"/>
            <a:round/>
          </a:ln>
        </p:spPr>
      </p:sp>
      <p:sp>
        <p:nvSpPr>
          <p:cNvPr id="21" name="Text 19"/>
          <p:cNvSpPr/>
          <p:nvPr/>
        </p:nvSpPr>
        <p:spPr>
          <a:xfrm>
            <a:off x="2834640" y="2756916"/>
            <a:ext cx="1141720" cy="292608"/>
          </a:xfrm>
          <a:prstGeom prst="rect">
            <a:avLst/>
          </a:prstGeom>
          <a:noFill/>
          <a:ln/>
        </p:spPr>
        <p:txBody>
          <a:bodyPr wrap="square" lIns="0" tIns="0" rIns="0" bIns="0" rtlCol="0" anchor="ctr">
            <a:normAutofit/>
          </a:bodyPr>
          <a:lstStyle/>
          <a:p>
            <a:pPr algn="ctr" indent="0" marL="0">
              <a:buNone/>
            </a:pPr>
            <a:r>
              <a:rPr lang="en-US" sz="1350" b="1" dirty="0">
                <a:solidFill>
                  <a:srgbClr val="0B2350"/>
                </a:solidFill>
                <a:latin typeface="Segoe UI Semibold" pitchFamily="34" charset="0"/>
                <a:ea typeface="Segoe UI Semibold" pitchFamily="34" charset="-122"/>
                <a:cs typeface="Segoe UI Semibold" pitchFamily="34" charset="-120"/>
              </a:rPr>
              <a:t>Abres el PR</a:t>
            </a:r>
            <a:endParaRPr lang="en-US" sz="1350" dirty="0"/>
          </a:p>
        </p:txBody>
      </p:sp>
      <p:sp>
        <p:nvSpPr>
          <p:cNvPr id="22" name="Text 20"/>
          <p:cNvSpPr/>
          <p:nvPr/>
        </p:nvSpPr>
        <p:spPr>
          <a:xfrm>
            <a:off x="2852928" y="3049524"/>
            <a:ext cx="1105144"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Desde tu rama feat/…</a:t>
            </a:r>
            <a:endParaRPr lang="en-US" sz="1100" dirty="0"/>
          </a:p>
        </p:txBody>
      </p:sp>
      <p:sp>
        <p:nvSpPr>
          <p:cNvPr id="23" name="Shape 21"/>
          <p:cNvSpPr/>
          <p:nvPr/>
        </p:nvSpPr>
        <p:spPr>
          <a:xfrm>
            <a:off x="4122664" y="2811780"/>
            <a:ext cx="402336" cy="0"/>
          </a:xfrm>
          <a:prstGeom prst="line">
            <a:avLst/>
          </a:prstGeom>
          <a:noFill/>
          <a:ln w="31750">
            <a:solidFill>
              <a:srgbClr val="0B2350"/>
            </a:solidFill>
            <a:prstDash val="solid"/>
            <a:tailEnd type="triangle"/>
          </a:ln>
        </p:spPr>
      </p:sp>
      <p:sp>
        <p:nvSpPr>
          <p:cNvPr id="24" name="Shape 22"/>
          <p:cNvSpPr/>
          <p:nvPr/>
        </p:nvSpPr>
        <p:spPr>
          <a:xfrm>
            <a:off x="4598152"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5013564" y="2263140"/>
            <a:ext cx="457200" cy="457200"/>
          </a:xfrm>
          <a:prstGeom prst="ellipse">
            <a:avLst/>
          </a:prstGeom>
          <a:solidFill>
            <a:srgbClr val="E8EEF8"/>
          </a:solidFill>
          <a:ln w="12700">
            <a:solidFill>
              <a:srgbClr val="E8EEF8"/>
            </a:solidFill>
            <a:prstDash val="solid"/>
          </a:ln>
        </p:spPr>
      </p:sp>
      <p:sp>
        <p:nvSpPr>
          <p:cNvPr id="26" name="Icono flask-conical"/>
          <p:cNvSpPr/>
          <p:nvPr/>
        </p:nvSpPr>
        <p:spPr>
          <a:xfrm>
            <a:off x="5123292" y="2372868"/>
            <a:ext cx="237744" cy="237744"/>
          </a:xfrm>
          <a:custGeom>
            <a:avLst/>
            <a:gdLst/>
            <a:ahLst/>
            <a:cxnLst/>
            <a:rect l="l" t="t" r="r" b="b"/>
            <a:pathLst>
              <a:path w="237744" h="237744">
                <a:moveTo>
                  <a:pt x="138684" y="19812"/>
                </a:moveTo>
                <a:lnTo>
                  <a:pt x="138684" y="79248"/>
                </a:lnTo>
                <a:cubicBezTo>
                  <a:pt x="138683" y="82571"/>
                  <a:pt x="139517" y="85842"/>
                  <a:pt x="141111" y="88758"/>
                </a:cubicBezTo>
                <a:lnTo>
                  <a:pt x="195693" y="188610"/>
                </a:lnTo>
                <a:cubicBezTo>
                  <a:pt x="199052" y="194749"/>
                  <a:pt x="198923" y="202205"/>
                  <a:pt x="195354" y="208224"/>
                </a:cubicBezTo>
                <a:cubicBezTo>
                  <a:pt x="191785" y="214243"/>
                  <a:pt x="185306" y="217934"/>
                  <a:pt x="178308" y="217932"/>
                </a:cubicBezTo>
                <a:lnTo>
                  <a:pt x="59436" y="217932"/>
                </a:lnTo>
                <a:cubicBezTo>
                  <a:pt x="52438" y="217934"/>
                  <a:pt x="45959" y="214243"/>
                  <a:pt x="42390" y="208224"/>
                </a:cubicBezTo>
                <a:cubicBezTo>
                  <a:pt x="38821" y="202205"/>
                  <a:pt x="38692" y="194749"/>
                  <a:pt x="42051" y="188610"/>
                </a:cubicBezTo>
                <a:lnTo>
                  <a:pt x="96633" y="88758"/>
                </a:lnTo>
                <a:cubicBezTo>
                  <a:pt x="98227" y="85842"/>
                  <a:pt x="99061" y="82571"/>
                  <a:pt x="99060" y="79248"/>
                </a:cubicBezTo>
                <a:lnTo>
                  <a:pt x="99060" y="19812"/>
                </a:lnTo>
                <a:moveTo>
                  <a:pt x="63923" y="148590"/>
                </a:moveTo>
                <a:lnTo>
                  <a:pt x="173821" y="148590"/>
                </a:lnTo>
                <a:moveTo>
                  <a:pt x="84201" y="19812"/>
                </a:moveTo>
                <a:lnTo>
                  <a:pt x="153543" y="19812"/>
                </a:lnTo>
              </a:path>
            </a:pathLst>
          </a:custGeom>
          <a:noFill/>
          <a:ln w="19812" cap="rnd">
            <a:solidFill>
              <a:srgbClr val="0B2350"/>
            </a:solidFill>
            <a:prstDash val="solid"/>
            <a:round/>
          </a:ln>
        </p:spPr>
      </p:sp>
      <p:sp>
        <p:nvSpPr>
          <p:cNvPr id="27" name="Text 25"/>
          <p:cNvSpPr/>
          <p:nvPr/>
        </p:nvSpPr>
        <p:spPr>
          <a:xfrm>
            <a:off x="4671304" y="2756916"/>
            <a:ext cx="1141720" cy="292608"/>
          </a:xfrm>
          <a:prstGeom prst="rect">
            <a:avLst/>
          </a:prstGeom>
          <a:noFill/>
          <a:ln/>
        </p:spPr>
        <p:txBody>
          <a:bodyPr wrap="square" lIns="0" tIns="0" rIns="0" bIns="0" rtlCol="0" anchor="ctr">
            <a:normAutofit/>
          </a:bodyPr>
          <a:lstStyle/>
          <a:p>
            <a:pPr algn="ctr" indent="0" marL="0">
              <a:buNone/>
            </a:pPr>
            <a:r>
              <a:rPr lang="en-US" sz="950" b="1" dirty="0">
                <a:solidFill>
                  <a:srgbClr val="0B2350"/>
                </a:solidFill>
                <a:latin typeface="Segoe UI Semibold" pitchFamily="34" charset="0"/>
                <a:ea typeface="Segoe UI Semibold" pitchFamily="34" charset="-122"/>
                <a:cs typeface="Segoe UI Semibold" pitchFamily="34" charset="-120"/>
              </a:rPr>
              <a:t>Compila y prueba</a:t>
            </a:r>
            <a:endParaRPr lang="en-US" sz="950" dirty="0"/>
          </a:p>
        </p:txBody>
      </p:sp>
      <p:sp>
        <p:nvSpPr>
          <p:cNvPr id="28" name="Text 26"/>
          <p:cNvSpPr/>
          <p:nvPr/>
        </p:nvSpPr>
        <p:spPr>
          <a:xfrm>
            <a:off x="4689592" y="3049524"/>
            <a:ext cx="1105144" cy="347472"/>
          </a:xfrm>
          <a:prstGeom prst="rect">
            <a:avLst/>
          </a:prstGeom>
          <a:noFill/>
          <a:ln/>
        </p:spPr>
        <p:txBody>
          <a:bodyPr wrap="square" lIns="0" tIns="0" rIns="0" bIns="0" rtlCol="0" anchor="t">
            <a:normAutofit/>
          </a:bodyPr>
          <a:lstStyle/>
          <a:p>
            <a:pPr algn="ctr" indent="0" marL="0">
              <a:buNone/>
            </a:pPr>
            <a:r>
              <a:rPr lang="en-US" sz="850" dirty="0">
                <a:solidFill>
                  <a:srgbClr val="0B1A3C"/>
                </a:solidFill>
                <a:latin typeface="Segoe UI" pitchFamily="34" charset="0"/>
                <a:ea typeface="Segoe UI" pitchFamily="34" charset="-122"/>
                <a:cs typeface="Segoe UI" pitchFamily="34" charset="-120"/>
              </a:rPr>
              <a:t>mvn verify con PostgreSQL temporal</a:t>
            </a:r>
            <a:endParaRPr lang="en-US" sz="850" dirty="0"/>
          </a:p>
        </p:txBody>
      </p:sp>
      <p:sp>
        <p:nvSpPr>
          <p:cNvPr id="29" name="Shape 27"/>
          <p:cNvSpPr/>
          <p:nvPr/>
        </p:nvSpPr>
        <p:spPr>
          <a:xfrm>
            <a:off x="5959328" y="2811780"/>
            <a:ext cx="402336" cy="0"/>
          </a:xfrm>
          <a:prstGeom prst="line">
            <a:avLst/>
          </a:prstGeom>
          <a:noFill/>
          <a:ln w="31750">
            <a:solidFill>
              <a:srgbClr val="0B2350"/>
            </a:solidFill>
            <a:prstDash val="solid"/>
            <a:tailEnd type="triangle"/>
          </a:ln>
        </p:spPr>
      </p:sp>
      <p:sp>
        <p:nvSpPr>
          <p:cNvPr id="30" name="Shape 28"/>
          <p:cNvSpPr/>
          <p:nvPr/>
        </p:nvSpPr>
        <p:spPr>
          <a:xfrm>
            <a:off x="6434816"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1" name="Shape 29"/>
          <p:cNvSpPr/>
          <p:nvPr/>
        </p:nvSpPr>
        <p:spPr>
          <a:xfrm>
            <a:off x="6850228" y="2263140"/>
            <a:ext cx="457200" cy="457200"/>
          </a:xfrm>
          <a:prstGeom prst="ellipse">
            <a:avLst/>
          </a:prstGeom>
          <a:solidFill>
            <a:srgbClr val="E8EEF8"/>
          </a:solidFill>
          <a:ln w="12700">
            <a:solidFill>
              <a:srgbClr val="E8EEF8"/>
            </a:solidFill>
            <a:prstDash val="solid"/>
          </a:ln>
        </p:spPr>
      </p:sp>
      <p:sp>
        <p:nvSpPr>
          <p:cNvPr id="32" name="Icono power"/>
          <p:cNvSpPr/>
          <p:nvPr/>
        </p:nvSpPr>
        <p:spPr>
          <a:xfrm>
            <a:off x="6959956" y="2372868"/>
            <a:ext cx="237744" cy="237744"/>
          </a:xfrm>
          <a:custGeom>
            <a:avLst/>
            <a:gdLst/>
            <a:ahLst/>
            <a:cxnLst/>
            <a:rect l="l" t="t" r="r" b="b"/>
            <a:pathLst>
              <a:path w="237744" h="237744">
                <a:moveTo>
                  <a:pt x="118872" y="19812"/>
                </a:moveTo>
                <a:lnTo>
                  <a:pt x="118872" y="118872"/>
                </a:lnTo>
                <a:moveTo>
                  <a:pt x="182270" y="65380"/>
                </a:moveTo>
                <a:cubicBezTo>
                  <a:pt x="217026" y="100148"/>
                  <a:pt x="217078" y="156490"/>
                  <a:pt x="182386" y="191323"/>
                </a:cubicBezTo>
                <a:cubicBezTo>
                  <a:pt x="147695" y="226156"/>
                  <a:pt x="91353" y="226332"/>
                  <a:pt x="56444" y="191717"/>
                </a:cubicBezTo>
                <a:cubicBezTo>
                  <a:pt x="21534" y="157103"/>
                  <a:pt x="21233" y="100762"/>
                  <a:pt x="55771" y="65776"/>
                </a:cubicBezTo>
              </a:path>
            </a:pathLst>
          </a:custGeom>
          <a:noFill/>
          <a:ln w="19812" cap="rnd">
            <a:solidFill>
              <a:srgbClr val="0B2350"/>
            </a:solidFill>
            <a:prstDash val="solid"/>
            <a:round/>
          </a:ln>
        </p:spPr>
      </p:sp>
      <p:sp>
        <p:nvSpPr>
          <p:cNvPr id="33" name="Text 31"/>
          <p:cNvSpPr/>
          <p:nvPr/>
        </p:nvSpPr>
        <p:spPr>
          <a:xfrm>
            <a:off x="6507968" y="2756916"/>
            <a:ext cx="1141720" cy="292608"/>
          </a:xfrm>
          <a:prstGeom prst="rect">
            <a:avLst/>
          </a:prstGeom>
          <a:noFill/>
          <a:ln/>
        </p:spPr>
        <p:txBody>
          <a:bodyPr wrap="square" lIns="0" tIns="0" rIns="0" bIns="0" rtlCol="0" anchor="ctr">
            <a:normAutofit/>
          </a:bodyPr>
          <a:lstStyle/>
          <a:p>
            <a:pPr algn="ctr" indent="0" marL="0">
              <a:buNone/>
            </a:pPr>
            <a:r>
              <a:rPr lang="en-US" sz="1400" b="1" dirty="0">
                <a:solidFill>
                  <a:srgbClr val="0B2350"/>
                </a:solidFill>
                <a:latin typeface="Segoe UI Semibold" pitchFamily="34" charset="0"/>
                <a:ea typeface="Segoe UI Semibold" pitchFamily="34" charset="-122"/>
                <a:cs typeface="Segoe UI Semibold" pitchFamily="34" charset="-120"/>
              </a:rPr>
              <a:t>Arranca</a:t>
            </a:r>
            <a:endParaRPr lang="en-US" sz="1400" dirty="0"/>
          </a:p>
        </p:txBody>
      </p:sp>
      <p:sp>
        <p:nvSpPr>
          <p:cNvPr id="34" name="Text 32"/>
          <p:cNvSpPr/>
          <p:nvPr/>
        </p:nvSpPr>
        <p:spPr>
          <a:xfrm>
            <a:off x="6526256" y="3049524"/>
            <a:ext cx="1105144" cy="347472"/>
          </a:xfrm>
          <a:prstGeom prst="rect">
            <a:avLst/>
          </a:prstGeom>
          <a:noFill/>
          <a:ln/>
        </p:spPr>
        <p:txBody>
          <a:bodyPr wrap="square" lIns="0" tIns="0" rIns="0" bIns="0" rtlCol="0" anchor="t">
            <a:normAutofit/>
          </a:bodyPr>
          <a:lstStyle/>
          <a:p>
            <a:pPr algn="ctr" indent="0" marL="0">
              <a:buNone/>
            </a:pPr>
            <a:r>
              <a:rPr lang="en-US" sz="900" dirty="0">
                <a:solidFill>
                  <a:srgbClr val="0B1A3C"/>
                </a:solidFill>
                <a:latin typeface="Segoe UI" pitchFamily="34" charset="0"/>
                <a:ea typeface="Segoe UI" pitchFamily="34" charset="-122"/>
                <a:cs typeface="Segoe UI" pitchFamily="34" charset="-120"/>
              </a:rPr>
              <a:t>El servicio responde de verdad</a:t>
            </a:r>
            <a:endParaRPr lang="en-US" sz="900" dirty="0"/>
          </a:p>
        </p:txBody>
      </p:sp>
      <p:sp>
        <p:nvSpPr>
          <p:cNvPr id="35" name="Shape 33"/>
          <p:cNvSpPr/>
          <p:nvPr/>
        </p:nvSpPr>
        <p:spPr>
          <a:xfrm>
            <a:off x="7795992" y="2811780"/>
            <a:ext cx="402336" cy="0"/>
          </a:xfrm>
          <a:prstGeom prst="line">
            <a:avLst/>
          </a:prstGeom>
          <a:noFill/>
          <a:ln w="31750">
            <a:solidFill>
              <a:srgbClr val="0B2350"/>
            </a:solidFill>
            <a:prstDash val="solid"/>
            <a:tailEnd type="triangle"/>
          </a:ln>
        </p:spPr>
      </p:sp>
      <p:sp>
        <p:nvSpPr>
          <p:cNvPr id="36" name="Shape 34"/>
          <p:cNvSpPr/>
          <p:nvPr/>
        </p:nvSpPr>
        <p:spPr>
          <a:xfrm>
            <a:off x="8271480"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37" name="Shape 35"/>
          <p:cNvSpPr/>
          <p:nvPr/>
        </p:nvSpPr>
        <p:spPr>
          <a:xfrm>
            <a:off x="8686891" y="2263140"/>
            <a:ext cx="457200" cy="457200"/>
          </a:xfrm>
          <a:prstGeom prst="ellipse">
            <a:avLst/>
          </a:prstGeom>
          <a:solidFill>
            <a:srgbClr val="E8EEF8"/>
          </a:solidFill>
          <a:ln w="12700">
            <a:solidFill>
              <a:srgbClr val="E8EEF8"/>
            </a:solidFill>
            <a:prstDash val="solid"/>
          </a:ln>
        </p:spPr>
      </p:sp>
      <p:sp>
        <p:nvSpPr>
          <p:cNvPr id="38" name="Icono package"/>
          <p:cNvSpPr/>
          <p:nvPr/>
        </p:nvSpPr>
        <p:spPr>
          <a:xfrm>
            <a:off x="8796619" y="2372868"/>
            <a:ext cx="237744" cy="237744"/>
          </a:xfrm>
          <a:custGeom>
            <a:avLst/>
            <a:gdLst/>
            <a:ahLst/>
            <a:cxnLst/>
            <a:rect l="l" t="t" r="r" b="b"/>
            <a:pathLst>
              <a:path w="237744" h="237744">
                <a:moveTo>
                  <a:pt x="108966" y="215257"/>
                </a:moveTo>
                <a:cubicBezTo>
                  <a:pt x="115096" y="218796"/>
                  <a:pt x="122648" y="218796"/>
                  <a:pt x="128778" y="215257"/>
                </a:cubicBezTo>
                <a:lnTo>
                  <a:pt x="198120" y="175633"/>
                </a:lnTo>
                <a:cubicBezTo>
                  <a:pt x="204244" y="172098"/>
                  <a:pt x="208019" y="165567"/>
                  <a:pt x="208026" y="158496"/>
                </a:cubicBezTo>
                <a:lnTo>
                  <a:pt x="208026" y="79248"/>
                </a:lnTo>
                <a:cubicBezTo>
                  <a:pt x="208019" y="72177"/>
                  <a:pt x="204244" y="65646"/>
                  <a:pt x="198120" y="62111"/>
                </a:cubicBezTo>
                <a:lnTo>
                  <a:pt x="128778" y="22487"/>
                </a:lnTo>
                <a:cubicBezTo>
                  <a:pt x="122648" y="18948"/>
                  <a:pt x="115096" y="18948"/>
                  <a:pt x="108966" y="22487"/>
                </a:cubicBezTo>
                <a:lnTo>
                  <a:pt x="39624" y="62111"/>
                </a:lnTo>
                <a:cubicBezTo>
                  <a:pt x="33500" y="65646"/>
                  <a:pt x="29725" y="72177"/>
                  <a:pt x="29718" y="79248"/>
                </a:cubicBezTo>
                <a:lnTo>
                  <a:pt x="29718" y="158496"/>
                </a:lnTo>
                <a:cubicBezTo>
                  <a:pt x="29725" y="165567"/>
                  <a:pt x="33500" y="172098"/>
                  <a:pt x="39624" y="175633"/>
                </a:cubicBezTo>
                <a:close/>
                <a:moveTo>
                  <a:pt x="118872" y="217932"/>
                </a:moveTo>
                <a:lnTo>
                  <a:pt x="118872" y="118872"/>
                </a:lnTo>
                <a:moveTo>
                  <a:pt x="32690" y="69342"/>
                </a:moveTo>
                <a:lnTo>
                  <a:pt x="108996" y="116237"/>
                </a:lnTo>
                <a:cubicBezTo>
                  <a:pt x="115110" y="119753"/>
                  <a:pt x="122634" y="119753"/>
                  <a:pt x="128748" y="116237"/>
                </a:cubicBezTo>
                <a:lnTo>
                  <a:pt x="205054" y="69342"/>
                </a:lnTo>
                <a:moveTo>
                  <a:pt x="74295" y="42299"/>
                </a:moveTo>
                <a:lnTo>
                  <a:pt x="163449" y="93315"/>
                </a:lnTo>
              </a:path>
            </a:pathLst>
          </a:custGeom>
          <a:noFill/>
          <a:ln w="19812" cap="rnd">
            <a:solidFill>
              <a:srgbClr val="0B2350"/>
            </a:solidFill>
            <a:prstDash val="solid"/>
            <a:round/>
          </a:ln>
        </p:spPr>
      </p:sp>
      <p:sp>
        <p:nvSpPr>
          <p:cNvPr id="39" name="Text 37"/>
          <p:cNvSpPr/>
          <p:nvPr/>
        </p:nvSpPr>
        <p:spPr>
          <a:xfrm>
            <a:off x="8344632" y="2756916"/>
            <a:ext cx="1141720" cy="292608"/>
          </a:xfrm>
          <a:prstGeom prst="rect">
            <a:avLst/>
          </a:prstGeom>
          <a:noFill/>
          <a:ln/>
        </p:spPr>
        <p:txBody>
          <a:bodyPr wrap="square" lIns="0" tIns="0" rIns="0" bIns="0" rtlCol="0" anchor="ctr">
            <a:normAutofit/>
          </a:bodyPr>
          <a:lstStyle/>
          <a:p>
            <a:pPr algn="ctr" indent="0" marL="0">
              <a:buNone/>
            </a:pPr>
            <a:r>
              <a:rPr lang="en-US" sz="900" b="1" dirty="0">
                <a:solidFill>
                  <a:srgbClr val="0B2350"/>
                </a:solidFill>
                <a:latin typeface="Segoe UI Semibold" pitchFamily="34" charset="0"/>
                <a:ea typeface="Segoe UI Semibold" pitchFamily="34" charset="-122"/>
                <a:cs typeface="Segoe UI Semibold" pitchFamily="34" charset="-120"/>
              </a:rPr>
              <a:t>Construye la imagen</a:t>
            </a:r>
            <a:endParaRPr lang="en-US" sz="900" dirty="0"/>
          </a:p>
        </p:txBody>
      </p:sp>
      <p:sp>
        <p:nvSpPr>
          <p:cNvPr id="40" name="Text 38"/>
          <p:cNvSpPr/>
          <p:nvPr/>
        </p:nvSpPr>
        <p:spPr>
          <a:xfrm>
            <a:off x="8362920" y="3049524"/>
            <a:ext cx="1105144" cy="347472"/>
          </a:xfrm>
          <a:prstGeom prst="rect">
            <a:avLst/>
          </a:prstGeom>
          <a:noFill/>
          <a:ln/>
        </p:spPr>
        <p:txBody>
          <a:bodyPr wrap="square" lIns="0" tIns="0" rIns="0" bIns="0" rtlCol="0" anchor="t">
            <a:normAutofit/>
          </a:bodyPr>
          <a:lstStyle/>
          <a:p>
            <a:pPr algn="ctr" indent="0" marL="0">
              <a:buNone/>
            </a:pPr>
            <a:r>
              <a:rPr lang="en-US" sz="1150" dirty="0">
                <a:solidFill>
                  <a:srgbClr val="0B1A3C"/>
                </a:solidFill>
                <a:latin typeface="Segoe UI" pitchFamily="34" charset="0"/>
                <a:ea typeface="Segoe UI" pitchFamily="34" charset="-122"/>
                <a:cs typeface="Segoe UI" pitchFamily="34" charset="-120"/>
              </a:rPr>
              <a:t>docker build</a:t>
            </a:r>
            <a:endParaRPr lang="en-US" sz="1150" dirty="0"/>
          </a:p>
        </p:txBody>
      </p:sp>
      <p:sp>
        <p:nvSpPr>
          <p:cNvPr id="41" name="Shape 39"/>
          <p:cNvSpPr/>
          <p:nvPr/>
        </p:nvSpPr>
        <p:spPr>
          <a:xfrm>
            <a:off x="9632655" y="2811780"/>
            <a:ext cx="402336" cy="0"/>
          </a:xfrm>
          <a:prstGeom prst="line">
            <a:avLst/>
          </a:prstGeom>
          <a:noFill/>
          <a:ln w="31750">
            <a:solidFill>
              <a:srgbClr val="0B2350"/>
            </a:solidFill>
            <a:prstDash val="solid"/>
            <a:tailEnd type="triangle"/>
          </a:ln>
        </p:spPr>
      </p:sp>
      <p:sp>
        <p:nvSpPr>
          <p:cNvPr id="42" name="Shape 40"/>
          <p:cNvSpPr/>
          <p:nvPr/>
        </p:nvSpPr>
        <p:spPr>
          <a:xfrm>
            <a:off x="10108143" y="2171700"/>
            <a:ext cx="1288024" cy="1280160"/>
          </a:xfrm>
          <a:prstGeom prst="roundRect">
            <a:avLst>
              <a:gd name="adj" fmla="val 10000"/>
            </a:avLst>
          </a:prstGeom>
          <a:solidFill>
            <a:srgbClr val="FFFFFF"/>
          </a:solidFill>
          <a:ln w="12700">
            <a:solidFill>
              <a:srgbClr val="919CB0"/>
            </a:solidFill>
            <a:prstDash val="solid"/>
          </a:ln>
          <a:effectLst>
            <a:outerShdw sx="100000" sy="100000" kx="0" ky="0" algn="bl" rotWithShape="0" blurRad="76200" dist="19050" dir="5400000">
              <a:srgbClr val="0B1F3A">
                <a:alpha val="14000"/>
              </a:srgbClr>
            </a:outerShdw>
          </a:effectLst>
        </p:spPr>
      </p:sp>
      <p:sp>
        <p:nvSpPr>
          <p:cNvPr id="43" name="Shape 41"/>
          <p:cNvSpPr/>
          <p:nvPr/>
        </p:nvSpPr>
        <p:spPr>
          <a:xfrm>
            <a:off x="10523555" y="2263140"/>
            <a:ext cx="457200" cy="457200"/>
          </a:xfrm>
          <a:prstGeom prst="ellipse">
            <a:avLst/>
          </a:prstGeom>
          <a:solidFill>
            <a:srgbClr val="E8EEF8"/>
          </a:solidFill>
          <a:ln w="12700">
            <a:solidFill>
              <a:srgbClr val="E8EEF8"/>
            </a:solidFill>
            <a:prstDash val="solid"/>
          </a:ln>
        </p:spPr>
      </p:sp>
      <p:sp>
        <p:nvSpPr>
          <p:cNvPr id="44" name="Icono circle-check"/>
          <p:cNvSpPr/>
          <p:nvPr/>
        </p:nvSpPr>
        <p:spPr>
          <a:xfrm>
            <a:off x="10633283" y="2372868"/>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89154" y="118872"/>
                </a:moveTo>
                <a:lnTo>
                  <a:pt x="108966" y="138684"/>
                </a:lnTo>
                <a:lnTo>
                  <a:pt x="148590" y="99060"/>
                </a:lnTo>
              </a:path>
            </a:pathLst>
          </a:custGeom>
          <a:noFill/>
          <a:ln w="19812" cap="rnd">
            <a:solidFill>
              <a:srgbClr val="0B2350"/>
            </a:solidFill>
            <a:prstDash val="solid"/>
            <a:round/>
          </a:ln>
        </p:spPr>
      </p:sp>
      <p:sp>
        <p:nvSpPr>
          <p:cNvPr id="45" name="Text 43"/>
          <p:cNvSpPr/>
          <p:nvPr/>
        </p:nvSpPr>
        <p:spPr>
          <a:xfrm>
            <a:off x="10181295" y="2756916"/>
            <a:ext cx="1141720" cy="292608"/>
          </a:xfrm>
          <a:prstGeom prst="rect">
            <a:avLst/>
          </a:prstGeom>
          <a:noFill/>
          <a:ln/>
        </p:spPr>
        <p:txBody>
          <a:bodyPr wrap="square" lIns="0" tIns="0" rIns="0" bIns="0" rtlCol="0" anchor="ctr">
            <a:normAutofit/>
          </a:bodyPr>
          <a:lstStyle/>
          <a:p>
            <a:pPr algn="ctr" indent="0" marL="0">
              <a:buNone/>
            </a:pPr>
            <a:r>
              <a:rPr lang="en-US" sz="1250" b="1" dirty="0">
                <a:solidFill>
                  <a:srgbClr val="0B2350"/>
                </a:solidFill>
                <a:latin typeface="Segoe UI Semibold" pitchFamily="34" charset="0"/>
                <a:ea typeface="Segoe UI Semibold" pitchFamily="34" charset="-122"/>
                <a:cs typeface="Segoe UI Semibold" pitchFamily="34" charset="-120"/>
              </a:rPr>
              <a:t>Verde o rojo</a:t>
            </a:r>
            <a:endParaRPr lang="en-US" sz="1250" dirty="0"/>
          </a:p>
        </p:txBody>
      </p:sp>
      <p:sp>
        <p:nvSpPr>
          <p:cNvPr id="46" name="Text 44"/>
          <p:cNvSpPr/>
          <p:nvPr/>
        </p:nvSpPr>
        <p:spPr>
          <a:xfrm>
            <a:off x="10199583" y="3049524"/>
            <a:ext cx="1105144"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El resultado queda en el PR</a:t>
            </a:r>
            <a:endParaRPr lang="en-US" sz="1100" dirty="0"/>
          </a:p>
        </p:txBody>
      </p:sp>
      <p:sp>
        <p:nvSpPr>
          <p:cNvPr id="47" name="[p1] Forma"/>
          <p:cNvSpPr/>
          <p:nvPr/>
        </p:nvSpPr>
        <p:spPr>
          <a:xfrm>
            <a:off x="612648" y="3936492"/>
            <a:ext cx="10966399" cy="1897380"/>
          </a:xfrm>
          <a:prstGeom prst="roundRect">
            <a:avLst>
              <a:gd name="adj" fmla="val 6747"/>
            </a:avLst>
          </a:prstGeom>
          <a:solidFill>
            <a:srgbClr val="ECF6F1"/>
          </a:solidFill>
          <a:ln w="12700">
            <a:solidFill>
              <a:srgbClr val="A9C9BF"/>
            </a:solidFill>
            <a:prstDash val="solid"/>
          </a:ln>
        </p:spPr>
      </p:sp>
      <p:sp>
        <p:nvSpPr>
          <p:cNvPr id="48" name="[p1] Forma"/>
          <p:cNvSpPr/>
          <p:nvPr/>
        </p:nvSpPr>
        <p:spPr>
          <a:xfrm>
            <a:off x="612648" y="3936492"/>
            <a:ext cx="1874520" cy="1897380"/>
          </a:xfrm>
          <a:prstGeom prst="roundRect">
            <a:avLst>
              <a:gd name="adj" fmla="val 6829"/>
            </a:avLst>
          </a:prstGeom>
          <a:solidFill>
            <a:srgbClr val="0A6648"/>
          </a:solidFill>
          <a:ln>
            <a:solidFill>
              <a:srgbClr val="0A6648"/>
            </a:solidFill>
          </a:ln>
        </p:spPr>
        <p:txBody>
          <a:bodyPr wrap="square" lIns="101600" tIns="101600" rIns="101600" bIns="10160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Fusión a main</a:t>
            </a:r>
            <a:endParaRPr lang="en-US" sz="1600" dirty="0"/>
          </a:p>
        </p:txBody>
      </p:sp>
      <p:sp>
        <p:nvSpPr>
          <p:cNvPr id="49" name="[p1] Forma"/>
          <p:cNvSpPr/>
          <p:nvPr/>
        </p:nvSpPr>
        <p:spPr>
          <a:xfrm>
            <a:off x="5093894" y="4297680"/>
            <a:ext cx="1674038" cy="0"/>
          </a:xfrm>
          <a:prstGeom prst="line">
            <a:avLst/>
          </a:prstGeom>
          <a:noFill/>
          <a:ln w="25400">
            <a:solidFill>
              <a:srgbClr val="0B6E8A"/>
            </a:solidFill>
            <a:prstDash val="solid"/>
          </a:ln>
        </p:spPr>
      </p:sp>
      <p:sp>
        <p:nvSpPr>
          <p:cNvPr id="50" name="[p1] Forma"/>
          <p:cNvSpPr/>
          <p:nvPr/>
        </p:nvSpPr>
        <p:spPr>
          <a:xfrm>
            <a:off x="5093894" y="4297680"/>
            <a:ext cx="0" cy="73152"/>
          </a:xfrm>
          <a:prstGeom prst="line">
            <a:avLst/>
          </a:prstGeom>
          <a:noFill/>
          <a:ln w="25400">
            <a:solidFill>
              <a:srgbClr val="0B6E8A"/>
            </a:solidFill>
            <a:prstDash val="solid"/>
          </a:ln>
        </p:spPr>
      </p:sp>
      <p:sp>
        <p:nvSpPr>
          <p:cNvPr id="51" name="[p1] Forma"/>
          <p:cNvSpPr/>
          <p:nvPr/>
        </p:nvSpPr>
        <p:spPr>
          <a:xfrm>
            <a:off x="6767932" y="4297680"/>
            <a:ext cx="0" cy="73152"/>
          </a:xfrm>
          <a:prstGeom prst="line">
            <a:avLst/>
          </a:prstGeom>
          <a:noFill/>
          <a:ln w="25400">
            <a:solidFill>
              <a:srgbClr val="0B6E8A"/>
            </a:solidFill>
            <a:prstDash val="solid"/>
          </a:ln>
        </p:spPr>
      </p:sp>
      <p:sp>
        <p:nvSpPr>
          <p:cNvPr id="52" name="[p1] Forma"/>
          <p:cNvSpPr/>
          <p:nvPr/>
        </p:nvSpPr>
        <p:spPr>
          <a:xfrm>
            <a:off x="5670309" y="3968496"/>
            <a:ext cx="521208" cy="274320"/>
          </a:xfrm>
          <a:prstGeom prst="roundRect">
            <a:avLst>
              <a:gd name="adj" fmla="val 50000"/>
            </a:avLst>
          </a:prstGeom>
          <a:solidFill>
            <a:srgbClr val="0B6E8A"/>
          </a:solidFill>
          <a:ln>
            <a:solidFill>
              <a:srgbClr val="0B6E8A"/>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CI</a:t>
            </a:r>
            <a:endParaRPr lang="en-US" sz="1000" dirty="0"/>
          </a:p>
        </p:txBody>
      </p:sp>
      <p:sp>
        <p:nvSpPr>
          <p:cNvPr id="53" name="[p1] Forma"/>
          <p:cNvSpPr/>
          <p:nvPr/>
        </p:nvSpPr>
        <p:spPr>
          <a:xfrm>
            <a:off x="7389724" y="4297680"/>
            <a:ext cx="1674038" cy="0"/>
          </a:xfrm>
          <a:prstGeom prst="line">
            <a:avLst/>
          </a:prstGeom>
          <a:noFill/>
          <a:ln w="25400">
            <a:solidFill>
              <a:srgbClr val="0A6648"/>
            </a:solidFill>
            <a:prstDash val="solid"/>
          </a:ln>
        </p:spPr>
      </p:sp>
      <p:sp>
        <p:nvSpPr>
          <p:cNvPr id="54" name="[p1] Forma"/>
          <p:cNvSpPr/>
          <p:nvPr/>
        </p:nvSpPr>
        <p:spPr>
          <a:xfrm>
            <a:off x="7389724" y="4297680"/>
            <a:ext cx="0" cy="73152"/>
          </a:xfrm>
          <a:prstGeom prst="line">
            <a:avLst/>
          </a:prstGeom>
          <a:noFill/>
          <a:ln w="25400">
            <a:solidFill>
              <a:srgbClr val="0A6648"/>
            </a:solidFill>
            <a:prstDash val="solid"/>
          </a:ln>
        </p:spPr>
      </p:sp>
      <p:sp>
        <p:nvSpPr>
          <p:cNvPr id="55" name="[p1] Forma"/>
          <p:cNvSpPr/>
          <p:nvPr/>
        </p:nvSpPr>
        <p:spPr>
          <a:xfrm>
            <a:off x="9063761" y="4297680"/>
            <a:ext cx="0" cy="73152"/>
          </a:xfrm>
          <a:prstGeom prst="line">
            <a:avLst/>
          </a:prstGeom>
          <a:noFill/>
          <a:ln w="25400">
            <a:solidFill>
              <a:srgbClr val="0A6648"/>
            </a:solidFill>
            <a:prstDash val="solid"/>
          </a:ln>
        </p:spPr>
      </p:sp>
      <p:sp>
        <p:nvSpPr>
          <p:cNvPr id="56" name="[p1] Forma"/>
          <p:cNvSpPr/>
          <p:nvPr/>
        </p:nvSpPr>
        <p:spPr>
          <a:xfrm>
            <a:off x="7227760" y="3968496"/>
            <a:ext cx="1997964" cy="274320"/>
          </a:xfrm>
          <a:prstGeom prst="roundRect">
            <a:avLst>
              <a:gd name="adj" fmla="val 50000"/>
            </a:avLst>
          </a:prstGeom>
          <a:solidFill>
            <a:srgbClr val="0A6648"/>
          </a:solidFill>
          <a:ln>
            <a:solidFill>
              <a:srgbClr val="0A6648"/>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CD · entrega continua</a:t>
            </a:r>
            <a:endParaRPr lang="en-US" sz="1000" dirty="0"/>
          </a:p>
        </p:txBody>
      </p:sp>
      <p:sp>
        <p:nvSpPr>
          <p:cNvPr id="57" name="[p1] Forma"/>
          <p:cNvSpPr/>
          <p:nvPr/>
        </p:nvSpPr>
        <p:spPr>
          <a:xfrm>
            <a:off x="9685553" y="4297680"/>
            <a:ext cx="1674038" cy="0"/>
          </a:xfrm>
          <a:prstGeom prst="line">
            <a:avLst/>
          </a:prstGeom>
          <a:noFill/>
          <a:ln w="25400">
            <a:solidFill>
              <a:srgbClr val="8A4B06"/>
            </a:solidFill>
            <a:prstDash val="solid"/>
          </a:ln>
        </p:spPr>
      </p:sp>
      <p:sp>
        <p:nvSpPr>
          <p:cNvPr id="58" name="[p1] Forma"/>
          <p:cNvSpPr/>
          <p:nvPr/>
        </p:nvSpPr>
        <p:spPr>
          <a:xfrm>
            <a:off x="9685553" y="4297680"/>
            <a:ext cx="0" cy="73152"/>
          </a:xfrm>
          <a:prstGeom prst="line">
            <a:avLst/>
          </a:prstGeom>
          <a:noFill/>
          <a:ln w="25400">
            <a:solidFill>
              <a:srgbClr val="8A4B06"/>
            </a:solidFill>
            <a:prstDash val="solid"/>
          </a:ln>
        </p:spPr>
      </p:sp>
      <p:sp>
        <p:nvSpPr>
          <p:cNvPr id="59" name="[p1] Forma"/>
          <p:cNvSpPr/>
          <p:nvPr/>
        </p:nvSpPr>
        <p:spPr>
          <a:xfrm>
            <a:off x="11359591" y="4297680"/>
            <a:ext cx="0" cy="73152"/>
          </a:xfrm>
          <a:prstGeom prst="line">
            <a:avLst/>
          </a:prstGeom>
          <a:noFill/>
          <a:ln w="25400">
            <a:solidFill>
              <a:srgbClr val="8A4B06"/>
            </a:solidFill>
            <a:prstDash val="solid"/>
          </a:ln>
        </p:spPr>
      </p:sp>
      <p:sp>
        <p:nvSpPr>
          <p:cNvPr id="60" name="[p1] Forma"/>
          <p:cNvSpPr/>
          <p:nvPr/>
        </p:nvSpPr>
        <p:spPr>
          <a:xfrm>
            <a:off x="9912210" y="3968496"/>
            <a:ext cx="1220724" cy="274320"/>
          </a:xfrm>
          <a:prstGeom prst="roundRect">
            <a:avLst>
              <a:gd name="adj" fmla="val 50000"/>
            </a:avLst>
          </a:prstGeom>
          <a:solidFill>
            <a:srgbClr val="8A4B06"/>
          </a:solidFill>
          <a:ln>
            <a:solidFill>
              <a:srgbClr val="8A4B06"/>
            </a:solid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Hoy, a mano</a:t>
            </a:r>
            <a:endParaRPr lang="en-US" sz="1000" dirty="0"/>
          </a:p>
        </p:txBody>
      </p:sp>
      <p:sp>
        <p:nvSpPr>
          <p:cNvPr id="61" name="[p1] Forma"/>
          <p:cNvSpPr/>
          <p:nvPr/>
        </p:nvSpPr>
        <p:spPr>
          <a:xfrm>
            <a:off x="276148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62" name="[p1] Forma"/>
          <p:cNvSpPr/>
          <p:nvPr/>
        </p:nvSpPr>
        <p:spPr>
          <a:xfrm>
            <a:off x="3406483" y="4480560"/>
            <a:ext cx="457200" cy="457200"/>
          </a:xfrm>
          <a:prstGeom prst="ellipse">
            <a:avLst/>
          </a:prstGeom>
          <a:solidFill>
            <a:srgbClr val="E1F1EA"/>
          </a:solidFill>
          <a:ln w="12700">
            <a:solidFill>
              <a:srgbClr val="E1F1EA"/>
            </a:solidFill>
            <a:prstDash val="solid"/>
          </a:ln>
        </p:spPr>
      </p:sp>
      <p:sp>
        <p:nvSpPr>
          <p:cNvPr id="63" name="[p1] Icono git-merge"/>
          <p:cNvSpPr/>
          <p:nvPr/>
        </p:nvSpPr>
        <p:spPr>
          <a:xfrm>
            <a:off x="3516211" y="4590288"/>
            <a:ext cx="237744" cy="237744"/>
          </a:xfrm>
          <a:custGeom>
            <a:avLst/>
            <a:gdLst/>
            <a:ahLst/>
            <a:cxnLst/>
            <a:rect l="l" t="t" r="r" b="b"/>
            <a:pathLst>
              <a:path w="237744" h="237744">
                <a:moveTo>
                  <a:pt x="208026" y="178308"/>
                </a:moveTo>
                <a:cubicBezTo>
                  <a:pt x="208026" y="194721"/>
                  <a:pt x="194721" y="208026"/>
                  <a:pt x="178308" y="208026"/>
                </a:cubicBezTo>
                <a:cubicBezTo>
                  <a:pt x="161895" y="208026"/>
                  <a:pt x="148590" y="194721"/>
                  <a:pt x="148590" y="178308"/>
                </a:cubicBezTo>
                <a:cubicBezTo>
                  <a:pt x="148590" y="161895"/>
                  <a:pt x="161895" y="148590"/>
                  <a:pt x="178308" y="148590"/>
                </a:cubicBezTo>
                <a:cubicBezTo>
                  <a:pt x="194721" y="148590"/>
                  <a:pt x="208026" y="161895"/>
                  <a:pt x="208026" y="178308"/>
                </a:cubicBezTo>
                <a:close/>
                <a:moveTo>
                  <a:pt x="89154" y="59436"/>
                </a:moveTo>
                <a:cubicBezTo>
                  <a:pt x="89154" y="75849"/>
                  <a:pt x="75849" y="89154"/>
                  <a:pt x="59436" y="89154"/>
                </a:cubicBezTo>
                <a:cubicBezTo>
                  <a:pt x="43023" y="89154"/>
                  <a:pt x="29718" y="75849"/>
                  <a:pt x="29718" y="59436"/>
                </a:cubicBezTo>
                <a:cubicBezTo>
                  <a:pt x="29718" y="43023"/>
                  <a:pt x="43023" y="29718"/>
                  <a:pt x="59436" y="29718"/>
                </a:cubicBezTo>
                <a:cubicBezTo>
                  <a:pt x="75849" y="29718"/>
                  <a:pt x="89154" y="43023"/>
                  <a:pt x="89154" y="59436"/>
                </a:cubicBezTo>
                <a:close/>
                <a:moveTo>
                  <a:pt x="59436" y="208026"/>
                </a:moveTo>
                <a:lnTo>
                  <a:pt x="59436" y="89154"/>
                </a:lnTo>
                <a:cubicBezTo>
                  <a:pt x="59436" y="138392"/>
                  <a:pt x="99352" y="178308"/>
                  <a:pt x="148590" y="178308"/>
                </a:cubicBezTo>
              </a:path>
            </a:pathLst>
          </a:custGeom>
          <a:noFill/>
          <a:ln w="19812" cap="rnd">
            <a:solidFill>
              <a:srgbClr val="0A6648"/>
            </a:solidFill>
            <a:prstDash val="solid"/>
            <a:round/>
          </a:ln>
        </p:spPr>
      </p:sp>
      <p:sp>
        <p:nvSpPr>
          <p:cNvPr id="64" name="[p1] Forma"/>
          <p:cNvSpPr/>
          <p:nvPr/>
        </p:nvSpPr>
        <p:spPr>
          <a:xfrm>
            <a:off x="283464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Fusionas a main</a:t>
            </a:r>
            <a:endParaRPr lang="en-US" sz="1400" dirty="0"/>
          </a:p>
        </p:txBody>
      </p:sp>
      <p:sp>
        <p:nvSpPr>
          <p:cNvPr id="65" name="[p1] Forma"/>
          <p:cNvSpPr/>
          <p:nvPr/>
        </p:nvSpPr>
        <p:spPr>
          <a:xfrm>
            <a:off x="285292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Después de la revisión</a:t>
            </a:r>
            <a:endParaRPr lang="en-US" sz="1100" dirty="0"/>
          </a:p>
        </p:txBody>
      </p:sp>
      <p:sp>
        <p:nvSpPr>
          <p:cNvPr id="66" name="[p1] Forma"/>
          <p:cNvSpPr/>
          <p:nvPr/>
        </p:nvSpPr>
        <p:spPr>
          <a:xfrm>
            <a:off x="4581830" y="5029200"/>
            <a:ext cx="402336" cy="0"/>
          </a:xfrm>
          <a:prstGeom prst="line">
            <a:avLst/>
          </a:prstGeom>
          <a:noFill/>
          <a:ln w="31750">
            <a:solidFill>
              <a:srgbClr val="0A6648"/>
            </a:solidFill>
            <a:prstDash val="solid"/>
            <a:tailEnd type="triangle"/>
          </a:ln>
        </p:spPr>
      </p:sp>
      <p:sp>
        <p:nvSpPr>
          <p:cNvPr id="67" name="[p1] Forma"/>
          <p:cNvSpPr/>
          <p:nvPr/>
        </p:nvSpPr>
        <p:spPr>
          <a:xfrm>
            <a:off x="505731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68" name="[p1] Forma"/>
          <p:cNvSpPr/>
          <p:nvPr/>
        </p:nvSpPr>
        <p:spPr>
          <a:xfrm>
            <a:off x="5702313" y="4480560"/>
            <a:ext cx="457200" cy="457200"/>
          </a:xfrm>
          <a:prstGeom prst="ellipse">
            <a:avLst/>
          </a:prstGeom>
          <a:solidFill>
            <a:srgbClr val="E1F1EA"/>
          </a:solidFill>
          <a:ln w="12700">
            <a:solidFill>
              <a:srgbClr val="E1F1EA"/>
            </a:solidFill>
            <a:prstDash val="solid"/>
          </a:ln>
        </p:spPr>
      </p:sp>
      <p:sp>
        <p:nvSpPr>
          <p:cNvPr id="69" name="[p1] Icono flask-conical"/>
          <p:cNvSpPr/>
          <p:nvPr/>
        </p:nvSpPr>
        <p:spPr>
          <a:xfrm>
            <a:off x="5812041" y="4590288"/>
            <a:ext cx="237744" cy="237744"/>
          </a:xfrm>
          <a:custGeom>
            <a:avLst/>
            <a:gdLst/>
            <a:ahLst/>
            <a:cxnLst/>
            <a:rect l="l" t="t" r="r" b="b"/>
            <a:pathLst>
              <a:path w="237744" h="237744">
                <a:moveTo>
                  <a:pt x="138684" y="19812"/>
                </a:moveTo>
                <a:lnTo>
                  <a:pt x="138684" y="79248"/>
                </a:lnTo>
                <a:cubicBezTo>
                  <a:pt x="138683" y="82571"/>
                  <a:pt x="139517" y="85842"/>
                  <a:pt x="141111" y="88758"/>
                </a:cubicBezTo>
                <a:lnTo>
                  <a:pt x="195693" y="188610"/>
                </a:lnTo>
                <a:cubicBezTo>
                  <a:pt x="199052" y="194749"/>
                  <a:pt x="198923" y="202205"/>
                  <a:pt x="195354" y="208224"/>
                </a:cubicBezTo>
                <a:cubicBezTo>
                  <a:pt x="191785" y="214243"/>
                  <a:pt x="185306" y="217934"/>
                  <a:pt x="178308" y="217932"/>
                </a:cubicBezTo>
                <a:lnTo>
                  <a:pt x="59436" y="217932"/>
                </a:lnTo>
                <a:cubicBezTo>
                  <a:pt x="52438" y="217934"/>
                  <a:pt x="45959" y="214243"/>
                  <a:pt x="42390" y="208224"/>
                </a:cubicBezTo>
                <a:cubicBezTo>
                  <a:pt x="38821" y="202205"/>
                  <a:pt x="38692" y="194749"/>
                  <a:pt x="42051" y="188610"/>
                </a:cubicBezTo>
                <a:lnTo>
                  <a:pt x="96633" y="88758"/>
                </a:lnTo>
                <a:cubicBezTo>
                  <a:pt x="98227" y="85842"/>
                  <a:pt x="99061" y="82571"/>
                  <a:pt x="99060" y="79248"/>
                </a:cubicBezTo>
                <a:lnTo>
                  <a:pt x="99060" y="19812"/>
                </a:lnTo>
                <a:moveTo>
                  <a:pt x="63923" y="148590"/>
                </a:moveTo>
                <a:lnTo>
                  <a:pt x="173821" y="148590"/>
                </a:lnTo>
                <a:moveTo>
                  <a:pt x="84201" y="19812"/>
                </a:moveTo>
                <a:lnTo>
                  <a:pt x="153543" y="19812"/>
                </a:lnTo>
              </a:path>
            </a:pathLst>
          </a:custGeom>
          <a:noFill/>
          <a:ln w="19812" cap="rnd">
            <a:solidFill>
              <a:srgbClr val="0A6648"/>
            </a:solidFill>
            <a:prstDash val="solid"/>
            <a:round/>
          </a:ln>
        </p:spPr>
      </p:sp>
      <p:sp>
        <p:nvSpPr>
          <p:cNvPr id="70" name="[p1] Forma"/>
          <p:cNvSpPr/>
          <p:nvPr/>
        </p:nvSpPr>
        <p:spPr>
          <a:xfrm>
            <a:off x="513047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El mismo CI</a:t>
            </a:r>
            <a:endParaRPr lang="en-US" sz="1400" dirty="0"/>
          </a:p>
        </p:txBody>
      </p:sp>
      <p:sp>
        <p:nvSpPr>
          <p:cNvPr id="71" name="[p1] Forma"/>
          <p:cNvSpPr/>
          <p:nvPr/>
        </p:nvSpPr>
        <p:spPr>
          <a:xfrm>
            <a:off x="514875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Compila, prueba y arranca</a:t>
            </a:r>
            <a:endParaRPr lang="en-US" sz="1100" dirty="0"/>
          </a:p>
        </p:txBody>
      </p:sp>
      <p:sp>
        <p:nvSpPr>
          <p:cNvPr id="72" name="[p1] Forma"/>
          <p:cNvSpPr/>
          <p:nvPr/>
        </p:nvSpPr>
        <p:spPr>
          <a:xfrm>
            <a:off x="6877660" y="5029200"/>
            <a:ext cx="402336" cy="0"/>
          </a:xfrm>
          <a:prstGeom prst="line">
            <a:avLst/>
          </a:prstGeom>
          <a:noFill/>
          <a:ln w="31750">
            <a:solidFill>
              <a:srgbClr val="0A6648"/>
            </a:solidFill>
            <a:prstDash val="solid"/>
            <a:tailEnd type="triangle"/>
          </a:ln>
        </p:spPr>
      </p:sp>
      <p:sp>
        <p:nvSpPr>
          <p:cNvPr id="73" name="[p1] Forma"/>
          <p:cNvSpPr/>
          <p:nvPr/>
        </p:nvSpPr>
        <p:spPr>
          <a:xfrm>
            <a:off x="7353148"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74" name="[p1] Forma"/>
          <p:cNvSpPr/>
          <p:nvPr/>
        </p:nvSpPr>
        <p:spPr>
          <a:xfrm>
            <a:off x="7998142" y="4480560"/>
            <a:ext cx="457200" cy="457200"/>
          </a:xfrm>
          <a:prstGeom prst="ellipse">
            <a:avLst/>
          </a:prstGeom>
          <a:solidFill>
            <a:srgbClr val="E1F1EA"/>
          </a:solidFill>
          <a:ln w="12700">
            <a:solidFill>
              <a:srgbClr val="E1F1EA"/>
            </a:solidFill>
            <a:prstDash val="solid"/>
          </a:ln>
        </p:spPr>
      </p:sp>
      <p:sp>
        <p:nvSpPr>
          <p:cNvPr id="75" name="[p1] Icono cloud-upload"/>
          <p:cNvSpPr/>
          <p:nvPr/>
        </p:nvSpPr>
        <p:spPr>
          <a:xfrm>
            <a:off x="8107870" y="4590288"/>
            <a:ext cx="237744" cy="237744"/>
          </a:xfrm>
          <a:custGeom>
            <a:avLst/>
            <a:gdLst/>
            <a:ahLst/>
            <a:cxnLst/>
            <a:rect l="l" t="t" r="r" b="b"/>
            <a:pathLst>
              <a:path w="237744" h="237744">
                <a:moveTo>
                  <a:pt x="118872" y="128778"/>
                </a:moveTo>
                <a:lnTo>
                  <a:pt x="118872" y="208026"/>
                </a:lnTo>
                <a:moveTo>
                  <a:pt x="39624" y="147589"/>
                </a:moveTo>
                <a:cubicBezTo>
                  <a:pt x="19465" y="126993"/>
                  <a:pt x="14147" y="96074"/>
                  <a:pt x="26267" y="69925"/>
                </a:cubicBezTo>
                <a:cubicBezTo>
                  <a:pt x="38388" y="43777"/>
                  <a:pt x="65418" y="27852"/>
                  <a:pt x="94164" y="29924"/>
                </a:cubicBezTo>
                <a:cubicBezTo>
                  <a:pt x="122910" y="31995"/>
                  <a:pt x="147378" y="51632"/>
                  <a:pt x="155623" y="79248"/>
                </a:cubicBezTo>
                <a:lnTo>
                  <a:pt x="173355" y="79248"/>
                </a:lnTo>
                <a:cubicBezTo>
                  <a:pt x="192992" y="79246"/>
                  <a:pt x="210318" y="92094"/>
                  <a:pt x="216018" y="110886"/>
                </a:cubicBezTo>
                <a:cubicBezTo>
                  <a:pt x="221718" y="129678"/>
                  <a:pt x="214449" y="149986"/>
                  <a:pt x="198120" y="160893"/>
                </a:cubicBezTo>
                <a:moveTo>
                  <a:pt x="79248" y="168402"/>
                </a:moveTo>
                <a:lnTo>
                  <a:pt x="118872" y="128778"/>
                </a:lnTo>
                <a:lnTo>
                  <a:pt x="158496" y="168402"/>
                </a:lnTo>
              </a:path>
            </a:pathLst>
          </a:custGeom>
          <a:noFill/>
          <a:ln w="19812" cap="rnd">
            <a:solidFill>
              <a:srgbClr val="0A6648"/>
            </a:solidFill>
            <a:prstDash val="solid"/>
            <a:round/>
          </a:ln>
        </p:spPr>
      </p:sp>
      <p:sp>
        <p:nvSpPr>
          <p:cNvPr id="76" name="[p1] Forma"/>
          <p:cNvSpPr/>
          <p:nvPr/>
        </p:nvSpPr>
        <p:spPr>
          <a:xfrm>
            <a:off x="7426300"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Publica en GHCR</a:t>
            </a:r>
            <a:endParaRPr lang="en-US" sz="1400" dirty="0"/>
          </a:p>
        </p:txBody>
      </p:sp>
      <p:sp>
        <p:nvSpPr>
          <p:cNvPr id="77" name="[p1] Forma"/>
          <p:cNvSpPr/>
          <p:nvPr/>
        </p:nvSpPr>
        <p:spPr>
          <a:xfrm>
            <a:off x="7444588"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La imagen, con el SHA del commit</a:t>
            </a:r>
            <a:endParaRPr lang="en-US" sz="1100" dirty="0"/>
          </a:p>
        </p:txBody>
      </p:sp>
      <p:sp>
        <p:nvSpPr>
          <p:cNvPr id="78" name="[p1] Forma"/>
          <p:cNvSpPr/>
          <p:nvPr/>
        </p:nvSpPr>
        <p:spPr>
          <a:xfrm>
            <a:off x="9173489" y="5029200"/>
            <a:ext cx="402336" cy="0"/>
          </a:xfrm>
          <a:prstGeom prst="line">
            <a:avLst/>
          </a:prstGeom>
          <a:noFill/>
          <a:ln w="31750">
            <a:solidFill>
              <a:srgbClr val="0A6648"/>
            </a:solidFill>
            <a:prstDash val="solid"/>
            <a:tailEnd type="triangle"/>
          </a:ln>
        </p:spPr>
      </p:sp>
      <p:sp>
        <p:nvSpPr>
          <p:cNvPr id="79" name="[p1] Forma"/>
          <p:cNvSpPr/>
          <p:nvPr/>
        </p:nvSpPr>
        <p:spPr>
          <a:xfrm>
            <a:off x="9648977" y="4389120"/>
            <a:ext cx="1747190" cy="1280160"/>
          </a:xfrm>
          <a:prstGeom prst="roundRect">
            <a:avLst>
              <a:gd name="adj" fmla="val 10000"/>
            </a:avLst>
          </a:prstGeom>
          <a:solidFill>
            <a:srgbClr val="FFFFFF"/>
          </a:solidFill>
          <a:ln w="12700">
            <a:solidFill>
              <a:srgbClr val="91BAAD"/>
            </a:solidFill>
            <a:prstDash val="solid"/>
          </a:ln>
          <a:effectLst>
            <a:outerShdw sx="100000" sy="100000" kx="0" ky="0" algn="bl" rotWithShape="0" blurRad="76200" dist="19050" dir="5400000">
              <a:srgbClr val="0B1F3A">
                <a:alpha val="14000"/>
              </a:srgbClr>
            </a:outerShdw>
          </a:effectLst>
        </p:spPr>
      </p:sp>
      <p:sp>
        <p:nvSpPr>
          <p:cNvPr id="80" name="[p1] Forma"/>
          <p:cNvSpPr/>
          <p:nvPr/>
        </p:nvSpPr>
        <p:spPr>
          <a:xfrm>
            <a:off x="10293972" y="4480560"/>
            <a:ext cx="457200" cy="457200"/>
          </a:xfrm>
          <a:prstGeom prst="ellipse">
            <a:avLst/>
          </a:prstGeom>
          <a:solidFill>
            <a:srgbClr val="E1F1EA"/>
          </a:solidFill>
          <a:ln w="12700">
            <a:solidFill>
              <a:srgbClr val="E1F1EA"/>
            </a:solidFill>
            <a:prstDash val="solid"/>
          </a:ln>
        </p:spPr>
      </p:sp>
      <p:sp>
        <p:nvSpPr>
          <p:cNvPr id="81" name="[p1] Icono ship-wheel"/>
          <p:cNvSpPr/>
          <p:nvPr/>
        </p:nvSpPr>
        <p:spPr>
          <a:xfrm>
            <a:off x="10403700" y="4590288"/>
            <a:ext cx="237744" cy="237744"/>
          </a:xfrm>
          <a:custGeom>
            <a:avLst/>
            <a:gdLst/>
            <a:ahLst/>
            <a:cxnLst/>
            <a:rect l="l" t="t" r="r" b="b"/>
            <a:pathLst>
              <a:path w="237744" h="237744">
                <a:moveTo>
                  <a:pt x="198120" y="118872"/>
                </a:moveTo>
                <a:cubicBezTo>
                  <a:pt x="198120" y="162639"/>
                  <a:pt x="162639" y="198120"/>
                  <a:pt x="118872" y="198120"/>
                </a:cubicBezTo>
                <a:cubicBezTo>
                  <a:pt x="75105" y="198120"/>
                  <a:pt x="39624" y="162639"/>
                  <a:pt x="39624" y="118872"/>
                </a:cubicBezTo>
                <a:cubicBezTo>
                  <a:pt x="39624" y="75105"/>
                  <a:pt x="75105" y="39624"/>
                  <a:pt x="118872" y="39624"/>
                </a:cubicBezTo>
                <a:cubicBezTo>
                  <a:pt x="162639" y="39624"/>
                  <a:pt x="198120" y="75105"/>
                  <a:pt x="198120" y="118872"/>
                </a:cubicBezTo>
                <a:close/>
                <a:moveTo>
                  <a:pt x="118872" y="19812"/>
                </a:moveTo>
                <a:lnTo>
                  <a:pt x="118872" y="94107"/>
                </a:lnTo>
                <a:moveTo>
                  <a:pt x="188214" y="49530"/>
                </a:moveTo>
                <a:lnTo>
                  <a:pt x="136406" y="101338"/>
                </a:lnTo>
                <a:moveTo>
                  <a:pt x="217932" y="118872"/>
                </a:moveTo>
                <a:lnTo>
                  <a:pt x="143637" y="118872"/>
                </a:lnTo>
                <a:moveTo>
                  <a:pt x="188214" y="188214"/>
                </a:moveTo>
                <a:lnTo>
                  <a:pt x="136406" y="136406"/>
                </a:lnTo>
                <a:moveTo>
                  <a:pt x="118872" y="143637"/>
                </a:moveTo>
                <a:lnTo>
                  <a:pt x="118872" y="217932"/>
                </a:lnTo>
                <a:moveTo>
                  <a:pt x="101338" y="136406"/>
                </a:moveTo>
                <a:lnTo>
                  <a:pt x="49530" y="188214"/>
                </a:lnTo>
                <a:moveTo>
                  <a:pt x="94107" y="118872"/>
                </a:moveTo>
                <a:lnTo>
                  <a:pt x="19812" y="118872"/>
                </a:lnTo>
                <a:moveTo>
                  <a:pt x="101338" y="101338"/>
                </a:moveTo>
                <a:lnTo>
                  <a:pt x="49530" y="49530"/>
                </a:lnTo>
                <a:moveTo>
                  <a:pt x="143637" y="118872"/>
                </a:moveTo>
                <a:cubicBezTo>
                  <a:pt x="143637" y="132549"/>
                  <a:pt x="132549" y="143637"/>
                  <a:pt x="118872" y="143637"/>
                </a:cubicBezTo>
                <a:cubicBezTo>
                  <a:pt x="105195" y="143637"/>
                  <a:pt x="94107" y="132549"/>
                  <a:pt x="94107" y="118872"/>
                </a:cubicBezTo>
                <a:cubicBezTo>
                  <a:pt x="94107" y="105195"/>
                  <a:pt x="105195" y="94107"/>
                  <a:pt x="118872" y="94107"/>
                </a:cubicBezTo>
                <a:cubicBezTo>
                  <a:pt x="132549" y="94107"/>
                  <a:pt x="143637" y="105195"/>
                  <a:pt x="143637" y="118872"/>
                </a:cubicBezTo>
                <a:close/>
              </a:path>
            </a:pathLst>
          </a:custGeom>
          <a:noFill/>
          <a:ln w="19812" cap="rnd">
            <a:solidFill>
              <a:srgbClr val="0A6648"/>
            </a:solidFill>
            <a:prstDash val="solid"/>
            <a:round/>
          </a:ln>
        </p:spPr>
      </p:sp>
      <p:sp>
        <p:nvSpPr>
          <p:cNvPr id="82" name="[p1] Forma"/>
          <p:cNvSpPr/>
          <p:nvPr/>
        </p:nvSpPr>
        <p:spPr>
          <a:xfrm>
            <a:off x="9722129" y="4974336"/>
            <a:ext cx="1600886" cy="292608"/>
          </a:xfrm>
          <a:prstGeom prst="rect">
            <a:avLst/>
          </a:prstGeom>
          <a:noFill/>
          <a:ln/>
        </p:spPr>
        <p:txBody>
          <a:bodyPr wrap="square" lIns="0" tIns="0" rIns="0" bIns="0" rtlCol="0" anchor="ctr">
            <a:normAutofit/>
          </a:bodyPr>
          <a:lstStyle/>
          <a:p>
            <a:pPr algn="ctr" indent="0" marL="0">
              <a:buNone/>
            </a:pPr>
            <a:r>
              <a:rPr lang="en-US" sz="1400" b="1" dirty="0">
                <a:solidFill>
                  <a:srgbClr val="0A6648"/>
                </a:solidFill>
                <a:latin typeface="Segoe UI Semibold" pitchFamily="34" charset="0"/>
                <a:ea typeface="Segoe UI Semibold" pitchFamily="34" charset="-122"/>
                <a:cs typeface="Segoe UI Semibold" pitchFamily="34" charset="-120"/>
              </a:rPr>
              <a:t>Despliegue</a:t>
            </a:r>
            <a:endParaRPr lang="en-US" sz="1400" dirty="0"/>
          </a:p>
        </p:txBody>
      </p:sp>
      <p:sp>
        <p:nvSpPr>
          <p:cNvPr id="83" name="[p1] Forma"/>
          <p:cNvSpPr/>
          <p:nvPr/>
        </p:nvSpPr>
        <p:spPr>
          <a:xfrm>
            <a:off x="9740417" y="5266944"/>
            <a:ext cx="1564310" cy="347472"/>
          </a:xfrm>
          <a:prstGeom prst="rect">
            <a:avLst/>
          </a:prstGeom>
          <a:noFill/>
          <a:ln/>
        </p:spPr>
        <p:txBody>
          <a:bodyPr wrap="square" lIns="0" tIns="0" rIns="0" bIns="0" rtlCol="0" anchor="t">
            <a:normAutofit/>
          </a:bodyPr>
          <a:lstStyle/>
          <a:p>
            <a:pPr algn="ctr" indent="0" marL="0">
              <a:buNone/>
            </a:pPr>
            <a:r>
              <a:rPr lang="en-US" sz="1100" dirty="0">
                <a:solidFill>
                  <a:srgbClr val="0B1A3C"/>
                </a:solidFill>
                <a:latin typeface="Segoe UI" pitchFamily="34" charset="0"/>
                <a:ea typeface="Segoe UI" pitchFamily="34" charset="-122"/>
                <a:cs typeface="Segoe UI" pitchFamily="34" charset="-120"/>
              </a:rPr>
              <a:t>kubectl apply -f k8s/ · manual</a:t>
            </a:r>
            <a:endParaRPr lang="en-US" sz="1100" dirty="0"/>
          </a:p>
        </p:txBody>
      </p:sp>
      <p:sp>
        <p:nvSpPr>
          <p:cNvPr id="84" name="Shape 82"/>
          <p:cNvSpPr/>
          <p:nvPr/>
        </p:nvSpPr>
        <p:spPr>
          <a:xfrm>
            <a:off x="0" y="5961888"/>
            <a:ext cx="12191695" cy="475488"/>
          </a:xfrm>
          <a:prstGeom prst="rect">
            <a:avLst/>
          </a:prstGeom>
          <a:solidFill>
            <a:srgbClr val="0B2350"/>
          </a:solidFill>
          <a:ln w="12700">
            <a:solidFill>
              <a:srgbClr val="0B2350"/>
            </a:solidFill>
            <a:prstDash val="solid"/>
          </a:ln>
        </p:spPr>
      </p:sp>
      <p:sp>
        <p:nvSpPr>
          <p:cNvPr id="85" name="Icono target"/>
          <p:cNvSpPr/>
          <p:nvPr/>
        </p:nvSpPr>
        <p:spPr>
          <a:xfrm>
            <a:off x="612648" y="6071616"/>
            <a:ext cx="256032" cy="256032"/>
          </a:xfrm>
          <a:custGeom>
            <a:avLst/>
            <a:gdLst/>
            <a:ahLst/>
            <a:cxnLst/>
            <a:rect l="l" t="t" r="r" b="b"/>
            <a:pathLst>
              <a:path w="256032" h="256032">
                <a:moveTo>
                  <a:pt x="234696" y="128016"/>
                </a:moveTo>
                <a:cubicBezTo>
                  <a:pt x="234696" y="186934"/>
                  <a:pt x="186934" y="234696"/>
                  <a:pt x="128016" y="234696"/>
                </a:cubicBezTo>
                <a:cubicBezTo>
                  <a:pt x="69098" y="234696"/>
                  <a:pt x="21336" y="186934"/>
                  <a:pt x="21336" y="128016"/>
                </a:cubicBezTo>
                <a:cubicBezTo>
                  <a:pt x="21336" y="69098"/>
                  <a:pt x="69098" y="21336"/>
                  <a:pt x="128016" y="21336"/>
                </a:cubicBezTo>
                <a:cubicBezTo>
                  <a:pt x="186934" y="21336"/>
                  <a:pt x="234696" y="69098"/>
                  <a:pt x="234696" y="128016"/>
                </a:cubicBezTo>
                <a:close/>
                <a:moveTo>
                  <a:pt x="192024" y="128016"/>
                </a:moveTo>
                <a:cubicBezTo>
                  <a:pt x="192024" y="163367"/>
                  <a:pt x="163367" y="192024"/>
                  <a:pt x="128016" y="192024"/>
                </a:cubicBezTo>
                <a:cubicBezTo>
                  <a:pt x="92665" y="192024"/>
                  <a:pt x="64008" y="163367"/>
                  <a:pt x="64008" y="128016"/>
                </a:cubicBezTo>
                <a:cubicBezTo>
                  <a:pt x="64008" y="92665"/>
                  <a:pt x="92665" y="64008"/>
                  <a:pt x="128016" y="64008"/>
                </a:cubicBezTo>
                <a:cubicBezTo>
                  <a:pt x="163367" y="64008"/>
                  <a:pt x="192024" y="92665"/>
                  <a:pt x="192024" y="128016"/>
                </a:cubicBezTo>
                <a:close/>
                <a:moveTo>
                  <a:pt x="149352" y="128016"/>
                </a:moveTo>
                <a:cubicBezTo>
                  <a:pt x="149352" y="139800"/>
                  <a:pt x="139800" y="149352"/>
                  <a:pt x="128016" y="149352"/>
                </a:cubicBezTo>
                <a:cubicBezTo>
                  <a:pt x="116232" y="149352"/>
                  <a:pt x="106680" y="139800"/>
                  <a:pt x="106680" y="128016"/>
                </a:cubicBezTo>
                <a:cubicBezTo>
                  <a:pt x="106680" y="116232"/>
                  <a:pt x="116232" y="106680"/>
                  <a:pt x="128016" y="106680"/>
                </a:cubicBezTo>
                <a:cubicBezTo>
                  <a:pt x="139800" y="106680"/>
                  <a:pt x="149352" y="116232"/>
                  <a:pt x="149352" y="128016"/>
                </a:cubicBezTo>
                <a:close/>
              </a:path>
            </a:pathLst>
          </a:custGeom>
          <a:noFill/>
          <a:ln w="21336" cap="rnd">
            <a:solidFill>
              <a:srgbClr val="2BA6CB"/>
            </a:solidFill>
            <a:prstDash val="solid"/>
            <a:round/>
          </a:ln>
        </p:spPr>
      </p:sp>
      <p:sp>
        <p:nvSpPr>
          <p:cNvPr id="86" name="Text 84"/>
          <p:cNvSpPr/>
          <p:nvPr/>
        </p:nvSpPr>
        <p:spPr>
          <a:xfrm>
            <a:off x="978408" y="5961888"/>
            <a:ext cx="1060063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Un cambio roto se detecta en el Pull Request, en minutos, antes de llegar a main.</a:t>
            </a:r>
            <a:endParaRPr lang="en-US" sz="1400" dirty="0"/>
          </a:p>
        </p:txBody>
      </p:sp>
      <p:sp>
        <p:nvSpPr>
          <p:cNvPr id="87" name="Text 8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8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4" fill="hold">
                      <p:stCondLst>
                        <p:cond delay="indefinite"/>
                      </p:stCondLst>
                      <p:childTnLst>
                        <p:par>
                          <p:cTn id="11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7"/>
                                        </p:tgtEl>
                                        <p:attrNameLst>
                                          <p:attrName>style.visibility</p:attrName>
                                        </p:attrNameLst>
                                      </p:cBhvr>
                                      <p:to>
                                        <p:strVal val="visible"/>
                                      </p:to>
                                    </p:set>
                                    <p:animEffect transition="in" filter="fade">
                                      <p:cBhvr>
                                        <p:cTn id="5" dur="400"/>
                                        <p:tgtEl>
                                          <p:spTgt spid="4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8"/>
                                        </p:tgtEl>
                                        <p:attrNameLst>
                                          <p:attrName>style.visibility</p:attrName>
                                        </p:attrNameLst>
                                      </p:cBhvr>
                                      <p:to>
                                        <p:strVal val="visible"/>
                                      </p:to>
                                    </p:set>
                                    <p:animEffect transition="in" filter="fade">
                                      <p:cBhvr>
                                        <p:cTn id="8" dur="400"/>
                                        <p:tgtEl>
                                          <p:spTgt spid="4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fade">
                                      <p:cBhvr>
                                        <p:cTn id="11" dur="400"/>
                                        <p:tgtEl>
                                          <p:spTgt spid="4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fade">
                                      <p:cBhvr>
                                        <p:cTn id="14" dur="400"/>
                                        <p:tgtEl>
                                          <p:spTgt spid="5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400"/>
                                        <p:tgtEl>
                                          <p:spTgt spid="5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400"/>
                                        <p:tgtEl>
                                          <p:spTgt spid="5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400"/>
                                        <p:tgtEl>
                                          <p:spTgt spid="5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fade">
                                      <p:cBhvr>
                                        <p:cTn id="26" dur="400"/>
                                        <p:tgtEl>
                                          <p:spTgt spid="5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fade">
                                      <p:cBhvr>
                                        <p:cTn id="29" dur="400"/>
                                        <p:tgtEl>
                                          <p:spTgt spid="5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400"/>
                                        <p:tgtEl>
                                          <p:spTgt spid="5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fade">
                                      <p:cBhvr>
                                        <p:cTn id="35" dur="400"/>
                                        <p:tgtEl>
                                          <p:spTgt spid="5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400"/>
                                        <p:tgtEl>
                                          <p:spTgt spid="5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fade">
                                      <p:cBhvr>
                                        <p:cTn id="41" dur="400"/>
                                        <p:tgtEl>
                                          <p:spTgt spid="5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400"/>
                                        <p:tgtEl>
                                          <p:spTgt spid="6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400"/>
                                        <p:tgtEl>
                                          <p:spTgt spid="6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400"/>
                                        <p:tgtEl>
                                          <p:spTgt spid="6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fade">
                                      <p:cBhvr>
                                        <p:cTn id="53" dur="400"/>
                                        <p:tgtEl>
                                          <p:spTgt spid="6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4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fade">
                                      <p:cBhvr>
                                        <p:cTn id="59" dur="400"/>
                                        <p:tgtEl>
                                          <p:spTgt spid="6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400"/>
                                        <p:tgtEl>
                                          <p:spTgt spid="6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animEffect transition="in" filter="fade">
                                      <p:cBhvr>
                                        <p:cTn id="65" dur="400"/>
                                        <p:tgtEl>
                                          <p:spTgt spid="6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8"/>
                                        </p:tgtEl>
                                        <p:attrNameLst>
                                          <p:attrName>style.visibility</p:attrName>
                                        </p:attrNameLst>
                                      </p:cBhvr>
                                      <p:to>
                                        <p:strVal val="visible"/>
                                      </p:to>
                                    </p:set>
                                    <p:animEffect transition="in" filter="fade">
                                      <p:cBhvr>
                                        <p:cTn id="68" dur="400"/>
                                        <p:tgtEl>
                                          <p:spTgt spid="6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9"/>
                                        </p:tgtEl>
                                        <p:attrNameLst>
                                          <p:attrName>style.visibility</p:attrName>
                                        </p:attrNameLst>
                                      </p:cBhvr>
                                      <p:to>
                                        <p:strVal val="visible"/>
                                      </p:to>
                                    </p:set>
                                    <p:animEffect transition="in" filter="fade">
                                      <p:cBhvr>
                                        <p:cTn id="71" dur="400"/>
                                        <p:tgtEl>
                                          <p:spTgt spid="6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fade">
                                      <p:cBhvr>
                                        <p:cTn id="74" dur="400"/>
                                        <p:tgtEl>
                                          <p:spTgt spid="7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1"/>
                                        </p:tgtEl>
                                        <p:attrNameLst>
                                          <p:attrName>style.visibility</p:attrName>
                                        </p:attrNameLst>
                                      </p:cBhvr>
                                      <p:to>
                                        <p:strVal val="visible"/>
                                      </p:to>
                                    </p:set>
                                    <p:animEffect transition="in" filter="fade">
                                      <p:cBhvr>
                                        <p:cTn id="77" dur="400"/>
                                        <p:tgtEl>
                                          <p:spTgt spid="7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fade">
                                      <p:cBhvr>
                                        <p:cTn id="80" dur="400"/>
                                        <p:tgtEl>
                                          <p:spTgt spid="7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fade">
                                      <p:cBhvr>
                                        <p:cTn id="83" dur="400"/>
                                        <p:tgtEl>
                                          <p:spTgt spid="7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4"/>
                                        </p:tgtEl>
                                        <p:attrNameLst>
                                          <p:attrName>style.visibility</p:attrName>
                                        </p:attrNameLst>
                                      </p:cBhvr>
                                      <p:to>
                                        <p:strVal val="visible"/>
                                      </p:to>
                                    </p:set>
                                    <p:animEffect transition="in" filter="fade">
                                      <p:cBhvr>
                                        <p:cTn id="86" dur="400"/>
                                        <p:tgtEl>
                                          <p:spTgt spid="7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5"/>
                                        </p:tgtEl>
                                        <p:attrNameLst>
                                          <p:attrName>style.visibility</p:attrName>
                                        </p:attrNameLst>
                                      </p:cBhvr>
                                      <p:to>
                                        <p:strVal val="visible"/>
                                      </p:to>
                                    </p:set>
                                    <p:animEffect transition="in" filter="fade">
                                      <p:cBhvr>
                                        <p:cTn id="89" dur="400"/>
                                        <p:tgtEl>
                                          <p:spTgt spid="7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6"/>
                                        </p:tgtEl>
                                        <p:attrNameLst>
                                          <p:attrName>style.visibility</p:attrName>
                                        </p:attrNameLst>
                                      </p:cBhvr>
                                      <p:to>
                                        <p:strVal val="visible"/>
                                      </p:to>
                                    </p:set>
                                    <p:animEffect transition="in" filter="fade">
                                      <p:cBhvr>
                                        <p:cTn id="92" dur="400"/>
                                        <p:tgtEl>
                                          <p:spTgt spid="7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77"/>
                                        </p:tgtEl>
                                        <p:attrNameLst>
                                          <p:attrName>style.visibility</p:attrName>
                                        </p:attrNameLst>
                                      </p:cBhvr>
                                      <p:to>
                                        <p:strVal val="visible"/>
                                      </p:to>
                                    </p:set>
                                    <p:animEffect transition="in" filter="fade">
                                      <p:cBhvr>
                                        <p:cTn id="95" dur="400"/>
                                        <p:tgtEl>
                                          <p:spTgt spid="7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8"/>
                                        </p:tgtEl>
                                        <p:attrNameLst>
                                          <p:attrName>style.visibility</p:attrName>
                                        </p:attrNameLst>
                                      </p:cBhvr>
                                      <p:to>
                                        <p:strVal val="visible"/>
                                      </p:to>
                                    </p:set>
                                    <p:animEffect transition="in" filter="fade">
                                      <p:cBhvr>
                                        <p:cTn id="98" dur="400"/>
                                        <p:tgtEl>
                                          <p:spTgt spid="7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79"/>
                                        </p:tgtEl>
                                        <p:attrNameLst>
                                          <p:attrName>style.visibility</p:attrName>
                                        </p:attrNameLst>
                                      </p:cBhvr>
                                      <p:to>
                                        <p:strVal val="visible"/>
                                      </p:to>
                                    </p:set>
                                    <p:animEffect transition="in" filter="fade">
                                      <p:cBhvr>
                                        <p:cTn id="101" dur="400"/>
                                        <p:tgtEl>
                                          <p:spTgt spid="7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80"/>
                                        </p:tgtEl>
                                        <p:attrNameLst>
                                          <p:attrName>style.visibility</p:attrName>
                                        </p:attrNameLst>
                                      </p:cBhvr>
                                      <p:to>
                                        <p:strVal val="visible"/>
                                      </p:to>
                                    </p:set>
                                    <p:animEffect transition="in" filter="fade">
                                      <p:cBhvr>
                                        <p:cTn id="104" dur="400"/>
                                        <p:tgtEl>
                                          <p:spTgt spid="8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1"/>
                                        </p:tgtEl>
                                        <p:attrNameLst>
                                          <p:attrName>style.visibility</p:attrName>
                                        </p:attrNameLst>
                                      </p:cBhvr>
                                      <p:to>
                                        <p:strVal val="visible"/>
                                      </p:to>
                                    </p:set>
                                    <p:animEffect transition="in" filter="fade">
                                      <p:cBhvr>
                                        <p:cTn id="107" dur="400"/>
                                        <p:tgtEl>
                                          <p:spTgt spid="8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2"/>
                                        </p:tgtEl>
                                        <p:attrNameLst>
                                          <p:attrName>style.visibility</p:attrName>
                                        </p:attrNameLst>
                                      </p:cBhvr>
                                      <p:to>
                                        <p:strVal val="visible"/>
                                      </p:to>
                                    </p:set>
                                    <p:animEffect transition="in" filter="fade">
                                      <p:cBhvr>
                                        <p:cTn id="110" dur="400"/>
                                        <p:tgtEl>
                                          <p:spTgt spid="8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3"/>
                                        </p:tgtEl>
                                        <p:attrNameLst>
                                          <p:attrName>style.visibility</p:attrName>
                                        </p:attrNameLst>
                                      </p:cBhvr>
                                      <p:to>
                                        <p:strVal val="visible"/>
                                      </p:to>
                                    </p:set>
                                    <p:animEffect transition="in" filter="fade">
                                      <p:cBhvr>
                                        <p:cTn id="113"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del pipeline: tres trabajos en paralelo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Cada servicio y la UI se prueban por separado y al mismo tiempo: si algo falla, se sabe dónde.</a:t>
            </a:r>
            <a:endParaRPr lang="en-US" sz="1700" dirty="0"/>
          </a:p>
        </p:txBody>
      </p:sp>
      <p:sp>
        <p:nvSpPr>
          <p:cNvPr id="12" name="Shape 10"/>
          <p:cNvSpPr/>
          <p:nvPr/>
        </p:nvSpPr>
        <p:spPr>
          <a:xfrm>
            <a:off x="612648" y="1719072"/>
            <a:ext cx="10966399" cy="1411224"/>
          </a:xfrm>
          <a:prstGeom prst="roundRect">
            <a:avLst>
              <a:gd name="adj" fmla="val 7775"/>
            </a:avLst>
          </a:prstGeom>
          <a:solidFill>
            <a:srgbClr val="EEF2FA"/>
          </a:solidFill>
          <a:ln w="12700">
            <a:solidFill>
              <a:srgbClr val="B6BDCB"/>
            </a:solidFill>
            <a:prstDash val="solid"/>
          </a:ln>
        </p:spPr>
      </p:sp>
      <p:sp>
        <p:nvSpPr>
          <p:cNvPr id="13" name="Text 11"/>
          <p:cNvSpPr/>
          <p:nvPr/>
        </p:nvSpPr>
        <p:spPr>
          <a:xfrm>
            <a:off x="612648" y="1719072"/>
            <a:ext cx="1600200" cy="1411224"/>
          </a:xfrm>
          <a:prstGeom prst="roundRect">
            <a:avLst>
              <a:gd name="adj" fmla="val 7775"/>
            </a:avLst>
          </a:prstGeom>
          <a:solidFill>
            <a:srgbClr val="0B2350"/>
          </a:solidFill>
          <a:ln>
            <a:solidFill>
              <a:srgbClr val="0B2350"/>
            </a:solidFill>
          </a:ln>
        </p:spPr>
        <p:txBody>
          <a:bodyPr wrap="square" lIns="0" tIns="76200" rIns="76200" bIns="0" rtlCol="0" anchor="ctr"/>
          <a:lstStyle/>
          <a:p>
            <a:pPr algn="ctr" indent="0" marL="0">
              <a:buNone/>
            </a:pPr>
            <a:r>
              <a:rPr lang="en-US" sz="1186" b="1" spc="100" kern="0" dirty="0">
                <a:solidFill>
                  <a:srgbClr val="FFFFFF"/>
                </a:solidFill>
                <a:latin typeface="Segoe UI" pitchFamily="34" charset="0"/>
                <a:ea typeface="Segoe UI" pitchFamily="34" charset="-122"/>
                <a:cs typeface="Segoe UI" pitchFamily="34" charset="-120"/>
              </a:rPr>
              <a:t>SOLICITUDES</a:t>
            </a:r>
            <a:endParaRPr lang="en-US" sz="1186" dirty="0"/>
          </a:p>
        </p:txBody>
      </p:sp>
      <p:sp>
        <p:nvSpPr>
          <p:cNvPr id="14" name="Shape 12"/>
          <p:cNvSpPr/>
          <p:nvPr/>
        </p:nvSpPr>
        <p:spPr>
          <a:xfrm>
            <a:off x="2395728"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2542032" y="2141220"/>
            <a:ext cx="566928" cy="566928"/>
          </a:xfrm>
          <a:prstGeom prst="ellipse">
            <a:avLst/>
          </a:prstGeom>
          <a:solidFill>
            <a:srgbClr val="E8EEF8"/>
          </a:solidFill>
          <a:ln w="12700">
            <a:solidFill>
              <a:srgbClr val="E8EEF8"/>
            </a:solidFill>
            <a:prstDash val="solid"/>
          </a:ln>
        </p:spPr>
      </p:sp>
      <p:sp>
        <p:nvSpPr>
          <p:cNvPr id="16" name="Icono flask-conical"/>
          <p:cNvSpPr/>
          <p:nvPr/>
        </p:nvSpPr>
        <p:spPr>
          <a:xfrm>
            <a:off x="2678095" y="2277283"/>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B2350"/>
            </a:solidFill>
            <a:prstDash val="solid"/>
            <a:round/>
          </a:ln>
        </p:spPr>
      </p:sp>
      <p:sp>
        <p:nvSpPr>
          <p:cNvPr id="17" name="Text 15"/>
          <p:cNvSpPr/>
          <p:nvPr/>
        </p:nvSpPr>
        <p:spPr>
          <a:xfrm>
            <a:off x="3255264"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Compila y prueba</a:t>
            </a:r>
            <a:endParaRPr lang="en-US" sz="1500" dirty="0"/>
          </a:p>
        </p:txBody>
      </p:sp>
      <p:sp>
        <p:nvSpPr>
          <p:cNvPr id="18" name="Text 16"/>
          <p:cNvSpPr/>
          <p:nvPr/>
        </p:nvSpPr>
        <p:spPr>
          <a:xfrm>
            <a:off x="3255264"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mvn verify con su PostgreSQL</a:t>
            </a:r>
            <a:endParaRPr lang="en-US" sz="1200" dirty="0"/>
          </a:p>
        </p:txBody>
      </p:sp>
      <p:sp>
        <p:nvSpPr>
          <p:cNvPr id="19" name="Shape 17"/>
          <p:cNvSpPr/>
          <p:nvPr/>
        </p:nvSpPr>
        <p:spPr>
          <a:xfrm>
            <a:off x="4698416"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4844720" y="2141220"/>
            <a:ext cx="566928" cy="566928"/>
          </a:xfrm>
          <a:prstGeom prst="ellipse">
            <a:avLst/>
          </a:prstGeom>
          <a:solidFill>
            <a:srgbClr val="E8EEF8"/>
          </a:solidFill>
          <a:ln w="12700">
            <a:solidFill>
              <a:srgbClr val="E8EEF8"/>
            </a:solidFill>
            <a:prstDash val="solid"/>
          </a:ln>
        </p:spPr>
      </p:sp>
      <p:sp>
        <p:nvSpPr>
          <p:cNvPr id="21" name="Icono power"/>
          <p:cNvSpPr/>
          <p:nvPr/>
        </p:nvSpPr>
        <p:spPr>
          <a:xfrm>
            <a:off x="4980783" y="2277283"/>
            <a:ext cx="294803" cy="294803"/>
          </a:xfrm>
          <a:custGeom>
            <a:avLst/>
            <a:gdLst/>
            <a:ahLst/>
            <a:cxnLst/>
            <a:rect l="l" t="t" r="r" b="b"/>
            <a:pathLst>
              <a:path w="294803" h="294803">
                <a:moveTo>
                  <a:pt x="147401" y="24567"/>
                </a:moveTo>
                <a:lnTo>
                  <a:pt x="147401" y="147401"/>
                </a:lnTo>
                <a:moveTo>
                  <a:pt x="226015" y="81071"/>
                </a:moveTo>
                <a:cubicBezTo>
                  <a:pt x="269113" y="124184"/>
                  <a:pt x="269177" y="194048"/>
                  <a:pt x="226159" y="237240"/>
                </a:cubicBezTo>
                <a:cubicBezTo>
                  <a:pt x="183141" y="280433"/>
                  <a:pt x="113278" y="280652"/>
                  <a:pt x="69990" y="237730"/>
                </a:cubicBezTo>
                <a:cubicBezTo>
                  <a:pt x="26703" y="194807"/>
                  <a:pt x="26329" y="124944"/>
                  <a:pt x="69156" y="81562"/>
                </a:cubicBezTo>
              </a:path>
            </a:pathLst>
          </a:custGeom>
          <a:noFill/>
          <a:ln w="24567" cap="rnd">
            <a:solidFill>
              <a:srgbClr val="0B2350"/>
            </a:solidFill>
            <a:prstDash val="solid"/>
            <a:round/>
          </a:ln>
        </p:spPr>
      </p:sp>
      <p:sp>
        <p:nvSpPr>
          <p:cNvPr id="22" name="Text 20"/>
          <p:cNvSpPr/>
          <p:nvPr/>
        </p:nvSpPr>
        <p:spPr>
          <a:xfrm>
            <a:off x="5557952"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Arranca</a:t>
            </a:r>
            <a:endParaRPr lang="en-US" sz="1500" dirty="0"/>
          </a:p>
        </p:txBody>
      </p:sp>
      <p:sp>
        <p:nvSpPr>
          <p:cNvPr id="23" name="Text 21"/>
          <p:cNvSpPr/>
          <p:nvPr/>
        </p:nvSpPr>
        <p:spPr>
          <a:xfrm>
            <a:off x="5557952"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Espera ver CAM-002</a:t>
            </a:r>
            <a:endParaRPr lang="en-US" sz="1200" dirty="0"/>
          </a:p>
        </p:txBody>
      </p:sp>
      <p:sp>
        <p:nvSpPr>
          <p:cNvPr id="24" name="Shape 22"/>
          <p:cNvSpPr/>
          <p:nvPr/>
        </p:nvSpPr>
        <p:spPr>
          <a:xfrm>
            <a:off x="7001104"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5" name="Shape 23"/>
          <p:cNvSpPr/>
          <p:nvPr/>
        </p:nvSpPr>
        <p:spPr>
          <a:xfrm>
            <a:off x="7147408" y="2141220"/>
            <a:ext cx="566928" cy="566928"/>
          </a:xfrm>
          <a:prstGeom prst="ellipse">
            <a:avLst/>
          </a:prstGeom>
          <a:solidFill>
            <a:srgbClr val="E8EEF8"/>
          </a:solidFill>
          <a:ln w="12700">
            <a:solidFill>
              <a:srgbClr val="E8EEF8"/>
            </a:solidFill>
            <a:prstDash val="solid"/>
          </a:ln>
        </p:spPr>
      </p:sp>
      <p:sp>
        <p:nvSpPr>
          <p:cNvPr id="26" name="Icono package"/>
          <p:cNvSpPr/>
          <p:nvPr/>
        </p:nvSpPr>
        <p:spPr>
          <a:xfrm>
            <a:off x="7283470" y="2277283"/>
            <a:ext cx="294803" cy="294803"/>
          </a:xfrm>
          <a:custGeom>
            <a:avLst/>
            <a:gdLst/>
            <a:ahLst/>
            <a:cxnLst/>
            <a:rect l="l" t="t" r="r" b="b"/>
            <a:pathLst>
              <a:path w="294803" h="294803">
                <a:moveTo>
                  <a:pt x="135118" y="266919"/>
                </a:moveTo>
                <a:cubicBezTo>
                  <a:pt x="142719" y="271308"/>
                  <a:pt x="152084" y="271308"/>
                  <a:pt x="159685" y="266919"/>
                </a:cubicBezTo>
                <a:lnTo>
                  <a:pt x="245669" y="217785"/>
                </a:lnTo>
                <a:cubicBezTo>
                  <a:pt x="253262" y="213401"/>
                  <a:pt x="257943" y="205303"/>
                  <a:pt x="257952" y="196535"/>
                </a:cubicBez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close/>
                <a:moveTo>
                  <a:pt x="147401" y="270236"/>
                </a:moveTo>
                <a:lnTo>
                  <a:pt x="147401" y="147401"/>
                </a:lnTo>
                <a:moveTo>
                  <a:pt x="40535" y="85984"/>
                </a:moveTo>
                <a:lnTo>
                  <a:pt x="135155" y="144134"/>
                </a:lnTo>
                <a:cubicBezTo>
                  <a:pt x="142737" y="148494"/>
                  <a:pt x="152066" y="148494"/>
                  <a:pt x="159648" y="144134"/>
                </a:cubicBezTo>
                <a:lnTo>
                  <a:pt x="254267" y="85984"/>
                </a:lnTo>
                <a:moveTo>
                  <a:pt x="92126" y="52450"/>
                </a:moveTo>
                <a:lnTo>
                  <a:pt x="202677" y="115710"/>
                </a:lnTo>
              </a:path>
            </a:pathLst>
          </a:custGeom>
          <a:noFill/>
          <a:ln w="24567" cap="rnd">
            <a:solidFill>
              <a:srgbClr val="0B2350"/>
            </a:solidFill>
            <a:prstDash val="solid"/>
            <a:round/>
          </a:ln>
        </p:spPr>
      </p:sp>
      <p:sp>
        <p:nvSpPr>
          <p:cNvPr id="27" name="Text 25"/>
          <p:cNvSpPr/>
          <p:nvPr/>
        </p:nvSpPr>
        <p:spPr>
          <a:xfrm>
            <a:off x="7860640"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Imagen</a:t>
            </a:r>
            <a:endParaRPr lang="en-US" sz="1500" dirty="0"/>
          </a:p>
        </p:txBody>
      </p:sp>
      <p:sp>
        <p:nvSpPr>
          <p:cNvPr id="28" name="Text 26"/>
          <p:cNvSpPr/>
          <p:nvPr/>
        </p:nvSpPr>
        <p:spPr>
          <a:xfrm>
            <a:off x="7860640"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docker build</a:t>
            </a:r>
            <a:endParaRPr lang="en-US" sz="1200" dirty="0"/>
          </a:p>
        </p:txBody>
      </p:sp>
      <p:sp>
        <p:nvSpPr>
          <p:cNvPr id="29" name="Shape 27"/>
          <p:cNvSpPr/>
          <p:nvPr/>
        </p:nvSpPr>
        <p:spPr>
          <a:xfrm>
            <a:off x="9303791" y="1810512"/>
            <a:ext cx="2138096" cy="1228344"/>
          </a:xfrm>
          <a:prstGeom prst="roundRect">
            <a:avLst>
              <a:gd name="adj" fmla="val 1042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0" name="Shape 28"/>
          <p:cNvSpPr/>
          <p:nvPr/>
        </p:nvSpPr>
        <p:spPr>
          <a:xfrm>
            <a:off x="9450095" y="2141220"/>
            <a:ext cx="566928" cy="566928"/>
          </a:xfrm>
          <a:prstGeom prst="ellipse">
            <a:avLst/>
          </a:prstGeom>
          <a:solidFill>
            <a:srgbClr val="E8EEF8"/>
          </a:solidFill>
          <a:ln w="12700">
            <a:solidFill>
              <a:srgbClr val="E8EEF8"/>
            </a:solidFill>
            <a:prstDash val="solid"/>
          </a:ln>
        </p:spPr>
      </p:sp>
      <p:sp>
        <p:nvSpPr>
          <p:cNvPr id="31" name="Icono cloud-upload"/>
          <p:cNvSpPr/>
          <p:nvPr/>
        </p:nvSpPr>
        <p:spPr>
          <a:xfrm>
            <a:off x="9586158" y="2277283"/>
            <a:ext cx="294803" cy="294803"/>
          </a:xfrm>
          <a:custGeom>
            <a:avLst/>
            <a:gdLst/>
            <a:ahLst/>
            <a:cxnLst/>
            <a:rect l="l" t="t" r="r" b="b"/>
            <a:pathLst>
              <a:path w="294803" h="294803">
                <a:moveTo>
                  <a:pt x="147401" y="159685"/>
                </a:moveTo>
                <a:lnTo>
                  <a:pt x="147401" y="257952"/>
                </a:lnTo>
                <a:moveTo>
                  <a:pt x="49134" y="183011"/>
                </a:moveTo>
                <a:cubicBezTo>
                  <a:pt x="24136" y="157471"/>
                  <a:pt x="17543" y="119131"/>
                  <a:pt x="32572" y="86708"/>
                </a:cubicBezTo>
                <a:cubicBezTo>
                  <a:pt x="47601" y="54284"/>
                  <a:pt x="81119" y="34537"/>
                  <a:pt x="116764" y="37106"/>
                </a:cubicBezTo>
                <a:cubicBezTo>
                  <a:pt x="152409" y="39674"/>
                  <a:pt x="182749" y="64024"/>
                  <a:pt x="192973" y="98268"/>
                </a:cubicBezTo>
                <a:lnTo>
                  <a:pt x="214960" y="98268"/>
                </a:lnTo>
                <a:cubicBezTo>
                  <a:pt x="239310" y="98265"/>
                  <a:pt x="260794" y="114197"/>
                  <a:pt x="267862" y="137498"/>
                </a:cubicBezTo>
                <a:cubicBezTo>
                  <a:pt x="274930" y="160800"/>
                  <a:pt x="265917" y="185983"/>
                  <a:pt x="245669" y="199508"/>
                </a:cubicBezTo>
                <a:moveTo>
                  <a:pt x="98268" y="208818"/>
                </a:moveTo>
                <a:lnTo>
                  <a:pt x="147401" y="159685"/>
                </a:lnTo>
                <a:lnTo>
                  <a:pt x="196535" y="208818"/>
                </a:lnTo>
              </a:path>
            </a:pathLst>
          </a:custGeom>
          <a:noFill/>
          <a:ln w="24567" cap="rnd">
            <a:solidFill>
              <a:srgbClr val="0B2350"/>
            </a:solidFill>
            <a:prstDash val="solid"/>
            <a:round/>
          </a:ln>
        </p:spPr>
      </p:sp>
      <p:sp>
        <p:nvSpPr>
          <p:cNvPr id="32" name="Text 30"/>
          <p:cNvSpPr/>
          <p:nvPr/>
        </p:nvSpPr>
        <p:spPr>
          <a:xfrm>
            <a:off x="10163327" y="1847088"/>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Publica</a:t>
            </a:r>
            <a:endParaRPr lang="en-US" sz="1500" dirty="0"/>
          </a:p>
        </p:txBody>
      </p:sp>
      <p:sp>
        <p:nvSpPr>
          <p:cNvPr id="33" name="Text 31"/>
          <p:cNvSpPr/>
          <p:nvPr/>
        </p:nvSpPr>
        <p:spPr>
          <a:xfrm>
            <a:off x="10163327" y="2461260"/>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En GHCR, con el SHA</a:t>
            </a:r>
            <a:endParaRPr lang="en-US" sz="1200" dirty="0"/>
          </a:p>
        </p:txBody>
      </p:sp>
      <p:sp>
        <p:nvSpPr>
          <p:cNvPr id="34" name="[p1] Forma"/>
          <p:cNvSpPr/>
          <p:nvPr/>
        </p:nvSpPr>
        <p:spPr>
          <a:xfrm>
            <a:off x="612648" y="3331464"/>
            <a:ext cx="10966399" cy="1411224"/>
          </a:xfrm>
          <a:prstGeom prst="roundRect">
            <a:avLst>
              <a:gd name="adj" fmla="val 7775"/>
            </a:avLst>
          </a:prstGeom>
          <a:solidFill>
            <a:srgbClr val="EAF7FB"/>
          </a:solidFill>
          <a:ln w="12700">
            <a:solidFill>
              <a:srgbClr val="B6D4DC"/>
            </a:solidFill>
            <a:prstDash val="solid"/>
          </a:ln>
        </p:spPr>
      </p:sp>
      <p:sp>
        <p:nvSpPr>
          <p:cNvPr id="35" name="[p1] Forma"/>
          <p:cNvSpPr/>
          <p:nvPr/>
        </p:nvSpPr>
        <p:spPr>
          <a:xfrm>
            <a:off x="612648" y="3331464"/>
            <a:ext cx="1600200" cy="1411224"/>
          </a:xfrm>
          <a:prstGeom prst="roundRect">
            <a:avLst>
              <a:gd name="adj" fmla="val 7775"/>
            </a:avLst>
          </a:prstGeom>
          <a:solidFill>
            <a:srgbClr val="0B6E8A"/>
          </a:solidFill>
          <a:ln>
            <a:solidFill>
              <a:srgbClr val="0B6E8A"/>
            </a:solidFill>
          </a:ln>
        </p:spPr>
        <p:txBody>
          <a:bodyPr wrap="square" lIns="0" tIns="76200" rIns="76200" bIns="0" rtlCol="0" anchor="ctr"/>
          <a:lstStyle/>
          <a:p>
            <a:pPr algn="ctr" indent="0" marL="0">
              <a:buNone/>
            </a:pPr>
            <a:r>
              <a:rPr lang="en-US" sz="932" b="1" spc="100" kern="0" dirty="0">
                <a:solidFill>
                  <a:srgbClr val="FFFFFF"/>
                </a:solidFill>
                <a:latin typeface="Segoe UI" pitchFamily="34" charset="0"/>
                <a:ea typeface="Segoe UI" pitchFamily="34" charset="-122"/>
                <a:cs typeface="Segoe UI" pitchFamily="34" charset="-120"/>
              </a:rPr>
              <a:t>NOTIFICACIONES</a:t>
            </a:r>
            <a:endParaRPr lang="en-US" sz="932" dirty="0"/>
          </a:p>
        </p:txBody>
      </p:sp>
      <p:sp>
        <p:nvSpPr>
          <p:cNvPr id="36" name="[p1] Forma"/>
          <p:cNvSpPr/>
          <p:nvPr/>
        </p:nvSpPr>
        <p:spPr>
          <a:xfrm>
            <a:off x="2395728" y="3422904"/>
            <a:ext cx="2905658" cy="1228344"/>
          </a:xfrm>
          <a:prstGeom prst="roundRect">
            <a:avLst>
              <a:gd name="adj" fmla="val 1042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37" name="[p1] Forma"/>
          <p:cNvSpPr/>
          <p:nvPr/>
        </p:nvSpPr>
        <p:spPr>
          <a:xfrm>
            <a:off x="2542032" y="3753612"/>
            <a:ext cx="566928" cy="566928"/>
          </a:xfrm>
          <a:prstGeom prst="ellipse">
            <a:avLst/>
          </a:prstGeom>
          <a:solidFill>
            <a:srgbClr val="E3F4FA"/>
          </a:solidFill>
          <a:ln w="12700">
            <a:solidFill>
              <a:srgbClr val="E3F4FA"/>
            </a:solidFill>
            <a:prstDash val="solid"/>
          </a:ln>
        </p:spPr>
      </p:sp>
      <p:sp>
        <p:nvSpPr>
          <p:cNvPr id="38" name="[p1] Icono flask-conical"/>
          <p:cNvSpPr/>
          <p:nvPr/>
        </p:nvSpPr>
        <p:spPr>
          <a:xfrm>
            <a:off x="2678095" y="3889675"/>
            <a:ext cx="294803" cy="294803"/>
          </a:xfrm>
          <a:custGeom>
            <a:avLst/>
            <a:gdLst/>
            <a:ahLst/>
            <a:cxnLst/>
            <a:rect l="l" t="t" r="r" b="b"/>
            <a:pathLst>
              <a:path w="294803" h="294803">
                <a:moveTo>
                  <a:pt x="171968" y="24567"/>
                </a:moveTo>
                <a:lnTo>
                  <a:pt x="171968" y="98268"/>
                </a:lnTo>
                <a:cubicBezTo>
                  <a:pt x="171966" y="102388"/>
                  <a:pt x="173001" y="106444"/>
                  <a:pt x="174978" y="110060"/>
                </a:cubicBezTo>
                <a:lnTo>
                  <a:pt x="242659" y="233877"/>
                </a:lnTo>
                <a:cubicBezTo>
                  <a:pt x="246824" y="241489"/>
                  <a:pt x="246665" y="250734"/>
                  <a:pt x="242239" y="258198"/>
                </a:cubicBezTo>
                <a:cubicBezTo>
                  <a:pt x="237814" y="265662"/>
                  <a:pt x="229779" y="270238"/>
                  <a:pt x="221102" y="270236"/>
                </a:cubicBezTo>
                <a:lnTo>
                  <a:pt x="73701" y="270236"/>
                </a:lnTo>
                <a:cubicBezTo>
                  <a:pt x="65023" y="270238"/>
                  <a:pt x="56989" y="265662"/>
                  <a:pt x="52563" y="258198"/>
                </a:cubicBezTo>
                <a:cubicBezTo>
                  <a:pt x="48138" y="250734"/>
                  <a:pt x="47978" y="241489"/>
                  <a:pt x="52143" y="233877"/>
                </a:cubicBezTo>
                <a:lnTo>
                  <a:pt x="119825" y="110060"/>
                </a:lnTo>
                <a:cubicBezTo>
                  <a:pt x="121801" y="106444"/>
                  <a:pt x="122836" y="102388"/>
                  <a:pt x="122834" y="98268"/>
                </a:cubicBezTo>
                <a:lnTo>
                  <a:pt x="122834" y="24567"/>
                </a:lnTo>
                <a:moveTo>
                  <a:pt x="79265" y="184252"/>
                </a:moveTo>
                <a:lnTo>
                  <a:pt x="215538" y="184252"/>
                </a:lnTo>
                <a:moveTo>
                  <a:pt x="104409" y="24567"/>
                </a:moveTo>
                <a:lnTo>
                  <a:pt x="190393" y="24567"/>
                </a:lnTo>
              </a:path>
            </a:pathLst>
          </a:custGeom>
          <a:noFill/>
          <a:ln w="24567" cap="rnd">
            <a:solidFill>
              <a:srgbClr val="0B6E8A"/>
            </a:solidFill>
            <a:prstDash val="solid"/>
            <a:round/>
          </a:ln>
        </p:spPr>
      </p:sp>
      <p:sp>
        <p:nvSpPr>
          <p:cNvPr id="39" name="[p1] Forma"/>
          <p:cNvSpPr/>
          <p:nvPr/>
        </p:nvSpPr>
        <p:spPr>
          <a:xfrm>
            <a:off x="3255264" y="3459480"/>
            <a:ext cx="1954682" cy="595884"/>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Compila y prueba</a:t>
            </a:r>
            <a:endParaRPr lang="en-US" sz="1500" dirty="0"/>
          </a:p>
        </p:txBody>
      </p:sp>
      <p:sp>
        <p:nvSpPr>
          <p:cNvPr id="40" name="[p1] Forma"/>
          <p:cNvSpPr/>
          <p:nvPr/>
        </p:nvSpPr>
        <p:spPr>
          <a:xfrm>
            <a:off x="3255264" y="4073652"/>
            <a:ext cx="1954682"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mvn verify con su PostgreSQL</a:t>
            </a:r>
            <a:endParaRPr lang="en-US" sz="1200" dirty="0"/>
          </a:p>
        </p:txBody>
      </p:sp>
      <p:sp>
        <p:nvSpPr>
          <p:cNvPr id="41" name="[p1] Forma"/>
          <p:cNvSpPr/>
          <p:nvPr/>
        </p:nvSpPr>
        <p:spPr>
          <a:xfrm>
            <a:off x="5465978" y="3422904"/>
            <a:ext cx="2905658" cy="1228344"/>
          </a:xfrm>
          <a:prstGeom prst="roundRect">
            <a:avLst>
              <a:gd name="adj" fmla="val 1042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2" name="[p1] Forma"/>
          <p:cNvSpPr/>
          <p:nvPr/>
        </p:nvSpPr>
        <p:spPr>
          <a:xfrm>
            <a:off x="5612282" y="3753612"/>
            <a:ext cx="566928" cy="566928"/>
          </a:xfrm>
          <a:prstGeom prst="ellipse">
            <a:avLst/>
          </a:prstGeom>
          <a:solidFill>
            <a:srgbClr val="E3F4FA"/>
          </a:solidFill>
          <a:ln w="12700">
            <a:solidFill>
              <a:srgbClr val="E3F4FA"/>
            </a:solidFill>
            <a:prstDash val="solid"/>
          </a:ln>
        </p:spPr>
      </p:sp>
      <p:sp>
        <p:nvSpPr>
          <p:cNvPr id="43" name="[p1] Icono package"/>
          <p:cNvSpPr/>
          <p:nvPr/>
        </p:nvSpPr>
        <p:spPr>
          <a:xfrm>
            <a:off x="5748345" y="3889675"/>
            <a:ext cx="294803" cy="294803"/>
          </a:xfrm>
          <a:custGeom>
            <a:avLst/>
            <a:gdLst/>
            <a:ahLst/>
            <a:cxnLst/>
            <a:rect l="l" t="t" r="r" b="b"/>
            <a:pathLst>
              <a:path w="294803" h="294803">
                <a:moveTo>
                  <a:pt x="135118" y="266919"/>
                </a:moveTo>
                <a:cubicBezTo>
                  <a:pt x="142719" y="271308"/>
                  <a:pt x="152084" y="271308"/>
                  <a:pt x="159685" y="266919"/>
                </a:cubicBezTo>
                <a:lnTo>
                  <a:pt x="245669" y="217785"/>
                </a:lnTo>
                <a:cubicBezTo>
                  <a:pt x="253262" y="213401"/>
                  <a:pt x="257943" y="205303"/>
                  <a:pt x="257952" y="196535"/>
                </a:cubicBezTo>
                <a:lnTo>
                  <a:pt x="257952" y="98268"/>
                </a:lnTo>
                <a:cubicBezTo>
                  <a:pt x="257943" y="89500"/>
                  <a:pt x="253262" y="81401"/>
                  <a:pt x="245669" y="77017"/>
                </a:cubicBezTo>
                <a:lnTo>
                  <a:pt x="159685" y="27883"/>
                </a:lnTo>
                <a:cubicBezTo>
                  <a:pt x="152084" y="23495"/>
                  <a:pt x="142719" y="23495"/>
                  <a:pt x="135118" y="27883"/>
                </a:cubicBezTo>
                <a:lnTo>
                  <a:pt x="49134" y="77017"/>
                </a:lnTo>
                <a:cubicBezTo>
                  <a:pt x="41541" y="81401"/>
                  <a:pt x="36859" y="89500"/>
                  <a:pt x="36850" y="98268"/>
                </a:cubicBezTo>
                <a:lnTo>
                  <a:pt x="36850" y="196535"/>
                </a:lnTo>
                <a:cubicBezTo>
                  <a:pt x="36859" y="205303"/>
                  <a:pt x="41541" y="213401"/>
                  <a:pt x="49134" y="217785"/>
                </a:cubicBezTo>
                <a:close/>
                <a:moveTo>
                  <a:pt x="147401" y="270236"/>
                </a:moveTo>
                <a:lnTo>
                  <a:pt x="147401" y="147401"/>
                </a:lnTo>
                <a:moveTo>
                  <a:pt x="40535" y="85984"/>
                </a:moveTo>
                <a:lnTo>
                  <a:pt x="135155" y="144134"/>
                </a:lnTo>
                <a:cubicBezTo>
                  <a:pt x="142737" y="148494"/>
                  <a:pt x="152066" y="148494"/>
                  <a:pt x="159648" y="144134"/>
                </a:cubicBezTo>
                <a:lnTo>
                  <a:pt x="254267" y="85984"/>
                </a:lnTo>
                <a:moveTo>
                  <a:pt x="92126" y="52450"/>
                </a:moveTo>
                <a:lnTo>
                  <a:pt x="202677" y="115710"/>
                </a:lnTo>
              </a:path>
            </a:pathLst>
          </a:custGeom>
          <a:noFill/>
          <a:ln w="24567" cap="rnd">
            <a:solidFill>
              <a:srgbClr val="0B6E8A"/>
            </a:solidFill>
            <a:prstDash val="solid"/>
            <a:round/>
          </a:ln>
        </p:spPr>
      </p:sp>
      <p:sp>
        <p:nvSpPr>
          <p:cNvPr id="44" name="[p1] Forma"/>
          <p:cNvSpPr/>
          <p:nvPr/>
        </p:nvSpPr>
        <p:spPr>
          <a:xfrm>
            <a:off x="6325514" y="3459480"/>
            <a:ext cx="1954682" cy="595884"/>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Imagen</a:t>
            </a:r>
            <a:endParaRPr lang="en-US" sz="1500" dirty="0"/>
          </a:p>
        </p:txBody>
      </p:sp>
      <p:sp>
        <p:nvSpPr>
          <p:cNvPr id="45" name="[p1] Forma"/>
          <p:cNvSpPr/>
          <p:nvPr/>
        </p:nvSpPr>
        <p:spPr>
          <a:xfrm>
            <a:off x="6325514" y="4073652"/>
            <a:ext cx="1954682"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docker build</a:t>
            </a:r>
            <a:endParaRPr lang="en-US" sz="1200" dirty="0"/>
          </a:p>
        </p:txBody>
      </p:sp>
      <p:sp>
        <p:nvSpPr>
          <p:cNvPr id="46" name="[p1] Forma"/>
          <p:cNvSpPr/>
          <p:nvPr/>
        </p:nvSpPr>
        <p:spPr>
          <a:xfrm>
            <a:off x="8536229" y="3422904"/>
            <a:ext cx="2905658" cy="1228344"/>
          </a:xfrm>
          <a:prstGeom prst="roundRect">
            <a:avLst>
              <a:gd name="adj" fmla="val 10422"/>
            </a:avLst>
          </a:prstGeom>
          <a:solidFill>
            <a:srgbClr val="FFFFFF"/>
          </a:solidFill>
          <a:ln w="12700">
            <a:solidFill>
              <a:srgbClr val="9DC5D0"/>
            </a:solidFill>
            <a:prstDash val="solid"/>
          </a:ln>
          <a:effectLst>
            <a:outerShdw sx="100000" sy="100000" kx="0" ky="0" algn="bl" rotWithShape="0" blurRad="76200" dist="19050" dir="5400000">
              <a:srgbClr val="0B1F3A">
                <a:alpha val="14000"/>
              </a:srgbClr>
            </a:outerShdw>
          </a:effectLst>
        </p:spPr>
      </p:sp>
      <p:sp>
        <p:nvSpPr>
          <p:cNvPr id="47" name="[p1] Forma"/>
          <p:cNvSpPr/>
          <p:nvPr/>
        </p:nvSpPr>
        <p:spPr>
          <a:xfrm>
            <a:off x="8682533" y="3753612"/>
            <a:ext cx="566928" cy="566928"/>
          </a:xfrm>
          <a:prstGeom prst="ellipse">
            <a:avLst/>
          </a:prstGeom>
          <a:solidFill>
            <a:srgbClr val="E3F4FA"/>
          </a:solidFill>
          <a:ln w="12700">
            <a:solidFill>
              <a:srgbClr val="E3F4FA"/>
            </a:solidFill>
            <a:prstDash val="solid"/>
          </a:ln>
        </p:spPr>
      </p:sp>
      <p:sp>
        <p:nvSpPr>
          <p:cNvPr id="48" name="[p1] Icono cloud-upload"/>
          <p:cNvSpPr/>
          <p:nvPr/>
        </p:nvSpPr>
        <p:spPr>
          <a:xfrm>
            <a:off x="8818596" y="3889675"/>
            <a:ext cx="294803" cy="294803"/>
          </a:xfrm>
          <a:custGeom>
            <a:avLst/>
            <a:gdLst/>
            <a:ahLst/>
            <a:cxnLst/>
            <a:rect l="l" t="t" r="r" b="b"/>
            <a:pathLst>
              <a:path w="294803" h="294803">
                <a:moveTo>
                  <a:pt x="147401" y="159685"/>
                </a:moveTo>
                <a:lnTo>
                  <a:pt x="147401" y="257952"/>
                </a:lnTo>
                <a:moveTo>
                  <a:pt x="49134" y="183011"/>
                </a:moveTo>
                <a:cubicBezTo>
                  <a:pt x="24136" y="157471"/>
                  <a:pt x="17543" y="119131"/>
                  <a:pt x="32572" y="86708"/>
                </a:cubicBezTo>
                <a:cubicBezTo>
                  <a:pt x="47601" y="54284"/>
                  <a:pt x="81119" y="34537"/>
                  <a:pt x="116764" y="37106"/>
                </a:cubicBezTo>
                <a:cubicBezTo>
                  <a:pt x="152409" y="39674"/>
                  <a:pt x="182749" y="64024"/>
                  <a:pt x="192973" y="98268"/>
                </a:cubicBezTo>
                <a:lnTo>
                  <a:pt x="214960" y="98268"/>
                </a:lnTo>
                <a:cubicBezTo>
                  <a:pt x="239310" y="98265"/>
                  <a:pt x="260794" y="114197"/>
                  <a:pt x="267862" y="137498"/>
                </a:cubicBezTo>
                <a:cubicBezTo>
                  <a:pt x="274930" y="160800"/>
                  <a:pt x="265917" y="185983"/>
                  <a:pt x="245669" y="199508"/>
                </a:cubicBezTo>
                <a:moveTo>
                  <a:pt x="98268" y="208818"/>
                </a:moveTo>
                <a:lnTo>
                  <a:pt x="147401" y="159685"/>
                </a:lnTo>
                <a:lnTo>
                  <a:pt x="196535" y="208818"/>
                </a:lnTo>
              </a:path>
            </a:pathLst>
          </a:custGeom>
          <a:noFill/>
          <a:ln w="24567" cap="rnd">
            <a:solidFill>
              <a:srgbClr val="0B6E8A"/>
            </a:solidFill>
            <a:prstDash val="solid"/>
            <a:round/>
          </a:ln>
        </p:spPr>
      </p:sp>
      <p:sp>
        <p:nvSpPr>
          <p:cNvPr id="49" name="[p1] Forma"/>
          <p:cNvSpPr/>
          <p:nvPr/>
        </p:nvSpPr>
        <p:spPr>
          <a:xfrm>
            <a:off x="9395765" y="3459480"/>
            <a:ext cx="1954682" cy="595884"/>
          </a:xfrm>
          <a:prstGeom prst="rect">
            <a:avLst/>
          </a:prstGeom>
          <a:noFill/>
          <a:ln/>
        </p:spPr>
        <p:txBody>
          <a:bodyPr wrap="square" lIns="0" tIns="0" rIns="0" bIns="0" rtlCol="0" anchor="b">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Publica</a:t>
            </a:r>
            <a:endParaRPr lang="en-US" sz="1500" dirty="0"/>
          </a:p>
        </p:txBody>
      </p:sp>
      <p:sp>
        <p:nvSpPr>
          <p:cNvPr id="50" name="[p1] Forma"/>
          <p:cNvSpPr/>
          <p:nvPr/>
        </p:nvSpPr>
        <p:spPr>
          <a:xfrm>
            <a:off x="9395765" y="4073652"/>
            <a:ext cx="1954682"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En GHCR, con el SHA</a:t>
            </a:r>
            <a:endParaRPr lang="en-US" sz="1200" dirty="0"/>
          </a:p>
        </p:txBody>
      </p:sp>
      <p:sp>
        <p:nvSpPr>
          <p:cNvPr id="51" name="[p2] Forma"/>
          <p:cNvSpPr/>
          <p:nvPr/>
        </p:nvSpPr>
        <p:spPr>
          <a:xfrm>
            <a:off x="612648" y="4943856"/>
            <a:ext cx="10966399" cy="1411224"/>
          </a:xfrm>
          <a:prstGeom prst="roundRect">
            <a:avLst>
              <a:gd name="adj" fmla="val 7775"/>
            </a:avLst>
          </a:prstGeom>
          <a:solidFill>
            <a:srgbClr val="F5F2FE"/>
          </a:solidFill>
          <a:ln w="12700">
            <a:solidFill>
              <a:srgbClr val="CEC5ED"/>
            </a:solidFill>
            <a:prstDash val="solid"/>
          </a:ln>
        </p:spPr>
      </p:sp>
      <p:sp>
        <p:nvSpPr>
          <p:cNvPr id="52" name="[p2] Forma"/>
          <p:cNvSpPr/>
          <p:nvPr/>
        </p:nvSpPr>
        <p:spPr>
          <a:xfrm>
            <a:off x="612648" y="4943856"/>
            <a:ext cx="1600200" cy="1411224"/>
          </a:xfrm>
          <a:prstGeom prst="roundRect">
            <a:avLst>
              <a:gd name="adj" fmla="val 7775"/>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LA UI</a:t>
            </a:r>
            <a:endParaRPr lang="en-US" sz="1300" dirty="0"/>
          </a:p>
        </p:txBody>
      </p:sp>
      <p:sp>
        <p:nvSpPr>
          <p:cNvPr id="53" name="[p2] Forma"/>
          <p:cNvSpPr/>
          <p:nvPr/>
        </p:nvSpPr>
        <p:spPr>
          <a:xfrm>
            <a:off x="2395728"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54" name="[p2] Forma"/>
          <p:cNvSpPr/>
          <p:nvPr/>
        </p:nvSpPr>
        <p:spPr>
          <a:xfrm>
            <a:off x="2542032" y="5366004"/>
            <a:ext cx="566928" cy="566928"/>
          </a:xfrm>
          <a:prstGeom prst="ellipse">
            <a:avLst/>
          </a:prstGeom>
          <a:solidFill>
            <a:srgbClr val="F1EEFD"/>
          </a:solidFill>
          <a:ln w="12700">
            <a:solidFill>
              <a:srgbClr val="F1EEFD"/>
            </a:solidFill>
            <a:prstDash val="solid"/>
          </a:ln>
        </p:spPr>
      </p:sp>
      <p:sp>
        <p:nvSpPr>
          <p:cNvPr id="55" name="[p2] Icono list-checks"/>
          <p:cNvSpPr/>
          <p:nvPr/>
        </p:nvSpPr>
        <p:spPr>
          <a:xfrm>
            <a:off x="2678095" y="5502067"/>
            <a:ext cx="294803" cy="294803"/>
          </a:xfrm>
          <a:custGeom>
            <a:avLst/>
            <a:gdLst/>
            <a:ahLst/>
            <a:cxnLst/>
            <a:rect l="l" t="t" r="r" b="b"/>
            <a:pathLst>
              <a:path w="294803" h="294803">
                <a:moveTo>
                  <a:pt x="36850" y="208818"/>
                </a:moveTo>
                <a:lnTo>
                  <a:pt x="61417" y="233385"/>
                </a:lnTo>
                <a:lnTo>
                  <a:pt x="110551" y="184252"/>
                </a:lnTo>
                <a:moveTo>
                  <a:pt x="36850" y="85984"/>
                </a:moveTo>
                <a:lnTo>
                  <a:pt x="61417" y="110551"/>
                </a:lnTo>
                <a:lnTo>
                  <a:pt x="110551" y="61417"/>
                </a:lnTo>
                <a:moveTo>
                  <a:pt x="159685" y="73701"/>
                </a:moveTo>
                <a:lnTo>
                  <a:pt x="257952" y="73701"/>
                </a:lnTo>
                <a:moveTo>
                  <a:pt x="159685" y="147401"/>
                </a:moveTo>
                <a:lnTo>
                  <a:pt x="257952" y="147401"/>
                </a:lnTo>
                <a:moveTo>
                  <a:pt x="159685" y="221102"/>
                </a:moveTo>
                <a:lnTo>
                  <a:pt x="257952" y="221102"/>
                </a:lnTo>
              </a:path>
            </a:pathLst>
          </a:custGeom>
          <a:noFill/>
          <a:ln w="24567" cap="rnd">
            <a:solidFill>
              <a:srgbClr val="5B3FC4"/>
            </a:solidFill>
            <a:prstDash val="solid"/>
            <a:round/>
          </a:ln>
        </p:spPr>
      </p:sp>
      <p:sp>
        <p:nvSpPr>
          <p:cNvPr id="56" name="[p2] Forma"/>
          <p:cNvSpPr/>
          <p:nvPr/>
        </p:nvSpPr>
        <p:spPr>
          <a:xfrm>
            <a:off x="3255264"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Valida y prueba</a:t>
            </a:r>
            <a:endParaRPr lang="en-US" sz="1500" dirty="0"/>
          </a:p>
        </p:txBody>
      </p:sp>
      <p:sp>
        <p:nvSpPr>
          <p:cNvPr id="57" name="[p2] Forma"/>
          <p:cNvSpPr/>
          <p:nvPr/>
        </p:nvSpPr>
        <p:spPr>
          <a:xfrm>
            <a:off x="3255264" y="5686044"/>
            <a:ext cx="1187120" cy="522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Contenido, tipos y pruebas</a:t>
            </a:r>
            <a:endParaRPr lang="en-US" sz="1150" dirty="0"/>
          </a:p>
        </p:txBody>
      </p:sp>
      <p:sp>
        <p:nvSpPr>
          <p:cNvPr id="58" name="[p2] Forma"/>
          <p:cNvSpPr/>
          <p:nvPr/>
        </p:nvSpPr>
        <p:spPr>
          <a:xfrm>
            <a:off x="4698416"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59" name="[p2] Forma"/>
          <p:cNvSpPr/>
          <p:nvPr/>
        </p:nvSpPr>
        <p:spPr>
          <a:xfrm>
            <a:off x="4844720" y="5366004"/>
            <a:ext cx="566928" cy="566928"/>
          </a:xfrm>
          <a:prstGeom prst="ellipse">
            <a:avLst/>
          </a:prstGeom>
          <a:solidFill>
            <a:srgbClr val="F1EEFD"/>
          </a:solidFill>
          <a:ln w="12700">
            <a:solidFill>
              <a:srgbClr val="F1EEFD"/>
            </a:solidFill>
            <a:prstDash val="solid"/>
          </a:ln>
        </p:spPr>
      </p:sp>
      <p:sp>
        <p:nvSpPr>
          <p:cNvPr id="60" name="[p2] Icono settings"/>
          <p:cNvSpPr/>
          <p:nvPr/>
        </p:nvSpPr>
        <p:spPr>
          <a:xfrm>
            <a:off x="4980783" y="5502067"/>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5B3FC4"/>
            </a:solidFill>
            <a:prstDash val="solid"/>
            <a:round/>
          </a:ln>
        </p:spPr>
      </p:sp>
      <p:sp>
        <p:nvSpPr>
          <p:cNvPr id="61" name="[p2] Forma"/>
          <p:cNvSpPr/>
          <p:nvPr/>
        </p:nvSpPr>
        <p:spPr>
          <a:xfrm>
            <a:off x="5557952"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Construye</a:t>
            </a:r>
            <a:endParaRPr lang="en-US" sz="1500" dirty="0"/>
          </a:p>
        </p:txBody>
      </p:sp>
      <p:sp>
        <p:nvSpPr>
          <p:cNvPr id="62" name="[p2] Forma"/>
          <p:cNvSpPr/>
          <p:nvPr/>
        </p:nvSpPr>
        <p:spPr>
          <a:xfrm>
            <a:off x="5557952" y="5686044"/>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aplicación y su imagen</a:t>
            </a:r>
            <a:endParaRPr lang="en-US" sz="1200" dirty="0"/>
          </a:p>
        </p:txBody>
      </p:sp>
      <p:sp>
        <p:nvSpPr>
          <p:cNvPr id="63" name="[p2] Forma"/>
          <p:cNvSpPr/>
          <p:nvPr/>
        </p:nvSpPr>
        <p:spPr>
          <a:xfrm>
            <a:off x="7001104"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64" name="[p2] Forma"/>
          <p:cNvSpPr/>
          <p:nvPr/>
        </p:nvSpPr>
        <p:spPr>
          <a:xfrm>
            <a:off x="7147408" y="5366004"/>
            <a:ext cx="566928" cy="566928"/>
          </a:xfrm>
          <a:prstGeom prst="ellipse">
            <a:avLst/>
          </a:prstGeom>
          <a:solidFill>
            <a:srgbClr val="F1EEFD"/>
          </a:solidFill>
          <a:ln w="12700">
            <a:solidFill>
              <a:srgbClr val="F1EEFD"/>
            </a:solidFill>
            <a:prstDash val="solid"/>
          </a:ln>
        </p:spPr>
      </p:sp>
      <p:sp>
        <p:nvSpPr>
          <p:cNvPr id="65" name="[p2] Icono file-check"/>
          <p:cNvSpPr/>
          <p:nvPr/>
        </p:nvSpPr>
        <p:spPr>
          <a:xfrm>
            <a:off x="7283470" y="5502067"/>
            <a:ext cx="294803" cy="294803"/>
          </a:xfrm>
          <a:custGeom>
            <a:avLst/>
            <a:gdLst/>
            <a:ahLst/>
            <a:cxnLst/>
            <a:rect l="l" t="t" r="r" b="b"/>
            <a:pathLst>
              <a:path w="294803" h="294803">
                <a:moveTo>
                  <a:pt x="184252" y="24567"/>
                </a:moveTo>
                <a:lnTo>
                  <a:pt x="73701" y="24567"/>
                </a:lnTo>
                <a:cubicBezTo>
                  <a:pt x="60133" y="24567"/>
                  <a:pt x="49134" y="35566"/>
                  <a:pt x="49134" y="49134"/>
                </a:cubicBezTo>
                <a:lnTo>
                  <a:pt x="49134" y="245669"/>
                </a:lnTo>
                <a:cubicBezTo>
                  <a:pt x="49134" y="259237"/>
                  <a:pt x="60133" y="270236"/>
                  <a:pt x="73701" y="270236"/>
                </a:cubicBezTo>
                <a:lnTo>
                  <a:pt x="221102" y="270236"/>
                </a:lnTo>
                <a:cubicBezTo>
                  <a:pt x="234670" y="270236"/>
                  <a:pt x="245669" y="259237"/>
                  <a:pt x="245669" y="245669"/>
                </a:cubicBezTo>
                <a:lnTo>
                  <a:pt x="245669" y="85984"/>
                </a:lnTo>
                <a:close/>
                <a:moveTo>
                  <a:pt x="171968" y="24567"/>
                </a:moveTo>
                <a:lnTo>
                  <a:pt x="171968" y="73701"/>
                </a:lnTo>
                <a:cubicBezTo>
                  <a:pt x="171968" y="87269"/>
                  <a:pt x="182967" y="98268"/>
                  <a:pt x="196535" y="98268"/>
                </a:cubicBezTo>
                <a:lnTo>
                  <a:pt x="245669" y="98268"/>
                </a:lnTo>
                <a:moveTo>
                  <a:pt x="110551" y="184252"/>
                </a:moveTo>
                <a:lnTo>
                  <a:pt x="135118" y="208818"/>
                </a:lnTo>
                <a:lnTo>
                  <a:pt x="184252" y="159685"/>
                </a:lnTo>
              </a:path>
            </a:pathLst>
          </a:custGeom>
          <a:noFill/>
          <a:ln w="24567" cap="rnd">
            <a:solidFill>
              <a:srgbClr val="5B3FC4"/>
            </a:solidFill>
            <a:prstDash val="solid"/>
            <a:round/>
          </a:ln>
        </p:spPr>
      </p:sp>
      <p:sp>
        <p:nvSpPr>
          <p:cNvPr id="66" name="[p2] Forma"/>
          <p:cNvSpPr/>
          <p:nvPr/>
        </p:nvSpPr>
        <p:spPr>
          <a:xfrm>
            <a:off x="7860640"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Valida Compose</a:t>
            </a:r>
            <a:endParaRPr lang="en-US" sz="1500" dirty="0"/>
          </a:p>
        </p:txBody>
      </p:sp>
      <p:sp>
        <p:nvSpPr>
          <p:cNvPr id="67" name="[p2] Forma"/>
          <p:cNvSpPr/>
          <p:nvPr/>
        </p:nvSpPr>
        <p:spPr>
          <a:xfrm>
            <a:off x="7860640" y="5686044"/>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docker compose config</a:t>
            </a:r>
            <a:endParaRPr lang="en-US" sz="1200" dirty="0"/>
          </a:p>
        </p:txBody>
      </p:sp>
      <p:sp>
        <p:nvSpPr>
          <p:cNvPr id="68" name="[p2] Forma"/>
          <p:cNvSpPr/>
          <p:nvPr/>
        </p:nvSpPr>
        <p:spPr>
          <a:xfrm>
            <a:off x="9303791" y="5035296"/>
            <a:ext cx="2138096" cy="1228344"/>
          </a:xfrm>
          <a:prstGeom prst="roundRect">
            <a:avLst>
              <a:gd name="adj" fmla="val 1042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69" name="[p2] Forma"/>
          <p:cNvSpPr/>
          <p:nvPr/>
        </p:nvSpPr>
        <p:spPr>
          <a:xfrm>
            <a:off x="9450095" y="5366004"/>
            <a:ext cx="566928" cy="566928"/>
          </a:xfrm>
          <a:prstGeom prst="ellipse">
            <a:avLst/>
          </a:prstGeom>
          <a:solidFill>
            <a:srgbClr val="F1EEFD"/>
          </a:solidFill>
          <a:ln w="12700">
            <a:solidFill>
              <a:srgbClr val="F1EEFD"/>
            </a:solidFill>
            <a:prstDash val="solid"/>
          </a:ln>
        </p:spPr>
      </p:sp>
      <p:sp>
        <p:nvSpPr>
          <p:cNvPr id="70" name="[p2] Icono cloud-upload"/>
          <p:cNvSpPr/>
          <p:nvPr/>
        </p:nvSpPr>
        <p:spPr>
          <a:xfrm>
            <a:off x="9586158" y="5502067"/>
            <a:ext cx="294803" cy="294803"/>
          </a:xfrm>
          <a:custGeom>
            <a:avLst/>
            <a:gdLst/>
            <a:ahLst/>
            <a:cxnLst/>
            <a:rect l="l" t="t" r="r" b="b"/>
            <a:pathLst>
              <a:path w="294803" h="294803">
                <a:moveTo>
                  <a:pt x="147401" y="159685"/>
                </a:moveTo>
                <a:lnTo>
                  <a:pt x="147401" y="257952"/>
                </a:lnTo>
                <a:moveTo>
                  <a:pt x="49134" y="183011"/>
                </a:moveTo>
                <a:cubicBezTo>
                  <a:pt x="24136" y="157471"/>
                  <a:pt x="17543" y="119131"/>
                  <a:pt x="32572" y="86708"/>
                </a:cubicBezTo>
                <a:cubicBezTo>
                  <a:pt x="47601" y="54284"/>
                  <a:pt x="81119" y="34537"/>
                  <a:pt x="116764" y="37106"/>
                </a:cubicBezTo>
                <a:cubicBezTo>
                  <a:pt x="152409" y="39674"/>
                  <a:pt x="182749" y="64024"/>
                  <a:pt x="192973" y="98268"/>
                </a:cubicBezTo>
                <a:lnTo>
                  <a:pt x="214960" y="98268"/>
                </a:lnTo>
                <a:cubicBezTo>
                  <a:pt x="239310" y="98265"/>
                  <a:pt x="260794" y="114197"/>
                  <a:pt x="267862" y="137498"/>
                </a:cubicBezTo>
                <a:cubicBezTo>
                  <a:pt x="274930" y="160800"/>
                  <a:pt x="265917" y="185983"/>
                  <a:pt x="245669" y="199508"/>
                </a:cubicBezTo>
                <a:moveTo>
                  <a:pt x="98268" y="208818"/>
                </a:moveTo>
                <a:lnTo>
                  <a:pt x="147401" y="159685"/>
                </a:lnTo>
                <a:lnTo>
                  <a:pt x="196535" y="208818"/>
                </a:lnTo>
              </a:path>
            </a:pathLst>
          </a:custGeom>
          <a:noFill/>
          <a:ln w="24567" cap="rnd">
            <a:solidFill>
              <a:srgbClr val="5B3FC4"/>
            </a:solidFill>
            <a:prstDash val="solid"/>
            <a:round/>
          </a:ln>
        </p:spPr>
      </p:sp>
      <p:sp>
        <p:nvSpPr>
          <p:cNvPr id="71" name="[p2] Forma"/>
          <p:cNvSpPr/>
          <p:nvPr/>
        </p:nvSpPr>
        <p:spPr>
          <a:xfrm>
            <a:off x="10163327" y="5071872"/>
            <a:ext cx="1187120" cy="595884"/>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Publica</a:t>
            </a:r>
            <a:endParaRPr lang="en-US" sz="1500" dirty="0"/>
          </a:p>
        </p:txBody>
      </p:sp>
      <p:sp>
        <p:nvSpPr>
          <p:cNvPr id="72" name="[p2] Forma"/>
          <p:cNvSpPr/>
          <p:nvPr/>
        </p:nvSpPr>
        <p:spPr>
          <a:xfrm>
            <a:off x="10163327" y="5686044"/>
            <a:ext cx="1187120" cy="522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Solo al llegar a main</a:t>
            </a:r>
            <a:endParaRPr lang="en-US" sz="1200" dirty="0"/>
          </a:p>
        </p:txBody>
      </p:sp>
      <p:sp>
        <p:nvSpPr>
          <p:cNvPr id="73" name="Text 7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7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4"/>
                                        </p:tgtEl>
                                        <p:attrNameLst>
                                          <p:attrName>style.visibility</p:attrName>
                                        </p:attrNameLst>
                                      </p:cBhvr>
                                      <p:to>
                                        <p:strVal val="visible"/>
                                      </p:to>
                                    </p:set>
                                    <p:animEffect transition="in" filter="fade">
                                      <p:cBhvr>
                                        <p:cTn id="5" dur="400"/>
                                        <p:tgtEl>
                                          <p:spTgt spid="3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5"/>
                                        </p:tgtEl>
                                        <p:attrNameLst>
                                          <p:attrName>style.visibility</p:attrName>
                                        </p:attrNameLst>
                                      </p:cBhvr>
                                      <p:to>
                                        <p:strVal val="visible"/>
                                      </p:to>
                                    </p:set>
                                    <p:animEffect transition="in" filter="fade">
                                      <p:cBhvr>
                                        <p:cTn id="8" dur="400"/>
                                        <p:tgtEl>
                                          <p:spTgt spid="3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400"/>
                                        <p:tgtEl>
                                          <p:spTgt spid="3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400"/>
                                        <p:tgtEl>
                                          <p:spTgt spid="3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400"/>
                                        <p:tgtEl>
                                          <p:spTgt spid="3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400"/>
                                        <p:tgtEl>
                                          <p:spTgt spid="3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400"/>
                                        <p:tgtEl>
                                          <p:spTgt spid="4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4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4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4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4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4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4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40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400"/>
                                        <p:tgtEl>
                                          <p:spTgt spid="4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fade">
                                      <p:cBhvr>
                                        <p:cTn id="53" dur="400"/>
                                        <p:tgtEl>
                                          <p:spTgt spid="50"/>
                                        </p:tgtEl>
                                      </p:cBhvr>
                                    </p:animEffect>
                                  </p:childTnLst>
                                </p:cTn>
                              </p:par>
                            </p:childTnLst>
                          </p:cTn>
                        </p:par>
                      </p:childTnLst>
                    </p:cTn>
                  </p:par>
                  <p:par>
                    <p:cTn id="122" fill="hold">
                      <p:stCondLst>
                        <p:cond delay="indefinite"/>
                      </p:stCondLst>
                      <p:childTnLst>
                        <p:par>
                          <p:cTn id="123"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400"/>
                                        <p:tgtEl>
                                          <p:spTgt spid="5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400"/>
                                        <p:tgtEl>
                                          <p:spTgt spid="5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fade">
                                      <p:cBhvr>
                                        <p:cTn id="64" dur="400"/>
                                        <p:tgtEl>
                                          <p:spTgt spid="5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400"/>
                                        <p:tgtEl>
                                          <p:spTgt spid="5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400"/>
                                        <p:tgtEl>
                                          <p:spTgt spid="5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fade">
                                      <p:cBhvr>
                                        <p:cTn id="73" dur="400"/>
                                        <p:tgtEl>
                                          <p:spTgt spid="5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7"/>
                                        </p:tgtEl>
                                        <p:attrNameLst>
                                          <p:attrName>style.visibility</p:attrName>
                                        </p:attrNameLst>
                                      </p:cBhvr>
                                      <p:to>
                                        <p:strVal val="visible"/>
                                      </p:to>
                                    </p:set>
                                    <p:animEffect transition="in" filter="fade">
                                      <p:cBhvr>
                                        <p:cTn id="76" dur="400"/>
                                        <p:tgtEl>
                                          <p:spTgt spid="5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animEffect transition="in" filter="fade">
                                      <p:cBhvr>
                                        <p:cTn id="79" dur="400"/>
                                        <p:tgtEl>
                                          <p:spTgt spid="5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fade">
                                      <p:cBhvr>
                                        <p:cTn id="82" dur="400"/>
                                        <p:tgtEl>
                                          <p:spTgt spid="5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fade">
                                      <p:cBhvr>
                                        <p:cTn id="85" dur="400"/>
                                        <p:tgtEl>
                                          <p:spTgt spid="6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fade">
                                      <p:cBhvr>
                                        <p:cTn id="88" dur="400"/>
                                        <p:tgtEl>
                                          <p:spTgt spid="6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2"/>
                                        </p:tgtEl>
                                        <p:attrNameLst>
                                          <p:attrName>style.visibility</p:attrName>
                                        </p:attrNameLst>
                                      </p:cBhvr>
                                      <p:to>
                                        <p:strVal val="visible"/>
                                      </p:to>
                                    </p:set>
                                    <p:animEffect transition="in" filter="fade">
                                      <p:cBhvr>
                                        <p:cTn id="91" dur="400"/>
                                        <p:tgtEl>
                                          <p:spTgt spid="6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fade">
                                      <p:cBhvr>
                                        <p:cTn id="94" dur="400"/>
                                        <p:tgtEl>
                                          <p:spTgt spid="6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4"/>
                                        </p:tgtEl>
                                        <p:attrNameLst>
                                          <p:attrName>style.visibility</p:attrName>
                                        </p:attrNameLst>
                                      </p:cBhvr>
                                      <p:to>
                                        <p:strVal val="visible"/>
                                      </p:to>
                                    </p:set>
                                    <p:animEffect transition="in" filter="fade">
                                      <p:cBhvr>
                                        <p:cTn id="97" dur="400"/>
                                        <p:tgtEl>
                                          <p:spTgt spid="6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5"/>
                                        </p:tgtEl>
                                        <p:attrNameLst>
                                          <p:attrName>style.visibility</p:attrName>
                                        </p:attrNameLst>
                                      </p:cBhvr>
                                      <p:to>
                                        <p:strVal val="visible"/>
                                      </p:to>
                                    </p:set>
                                    <p:animEffect transition="in" filter="fade">
                                      <p:cBhvr>
                                        <p:cTn id="100" dur="400"/>
                                        <p:tgtEl>
                                          <p:spTgt spid="6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fade">
                                      <p:cBhvr>
                                        <p:cTn id="103" dur="400"/>
                                        <p:tgtEl>
                                          <p:spTgt spid="6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fade">
                                      <p:cBhvr>
                                        <p:cTn id="106" dur="400"/>
                                        <p:tgtEl>
                                          <p:spTgt spid="6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8"/>
                                        </p:tgtEl>
                                        <p:attrNameLst>
                                          <p:attrName>style.visibility</p:attrName>
                                        </p:attrNameLst>
                                      </p:cBhvr>
                                      <p:to>
                                        <p:strVal val="visible"/>
                                      </p:to>
                                    </p:set>
                                    <p:animEffect transition="in" filter="fade">
                                      <p:cBhvr>
                                        <p:cTn id="109" dur="400"/>
                                        <p:tgtEl>
                                          <p:spTgt spid="6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400"/>
                                        <p:tgtEl>
                                          <p:spTgt spid="6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70"/>
                                        </p:tgtEl>
                                        <p:attrNameLst>
                                          <p:attrName>style.visibility</p:attrName>
                                        </p:attrNameLst>
                                      </p:cBhvr>
                                      <p:to>
                                        <p:strVal val="visible"/>
                                      </p:to>
                                    </p:set>
                                    <p:animEffect transition="in" filter="fade">
                                      <p:cBhvr>
                                        <p:cTn id="115" dur="400"/>
                                        <p:tgtEl>
                                          <p:spTgt spid="7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1"/>
                                        </p:tgtEl>
                                        <p:attrNameLst>
                                          <p:attrName>style.visibility</p:attrName>
                                        </p:attrNameLst>
                                      </p:cBhvr>
                                      <p:to>
                                        <p:strVal val="visible"/>
                                      </p:to>
                                    </p:set>
                                    <p:animEffect transition="in" filter="fade">
                                      <p:cBhvr>
                                        <p:cTn id="118" dur="400"/>
                                        <p:tgtEl>
                                          <p:spTgt spid="7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72"/>
                                        </p:tgtEl>
                                        <p:attrNameLst>
                                          <p:attrName>style.visibility</p:attrName>
                                        </p:attrNameLst>
                                      </p:cBhvr>
                                      <p:to>
                                        <p:strVal val="visible"/>
                                      </p:to>
                                    </p:set>
                                    <p:animEffect transition="in" filter="fade">
                                      <p:cBhvr>
                                        <p:cTn id="121"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cambio rompe algo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El pipeline es la red de seguridad: un error se detiene en el Pull Request, no en producción.</a:t>
            </a:r>
            <a:endParaRPr lang="en-US" sz="1700" dirty="0"/>
          </a:p>
        </p:txBody>
      </p:sp>
      <p:sp>
        <p:nvSpPr>
          <p:cNvPr id="12" name="Shape 10"/>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2648" y="1828800"/>
            <a:ext cx="82296" cy="530352"/>
          </a:xfrm>
          <a:prstGeom prst="rect">
            <a:avLst/>
          </a:prstGeom>
          <a:solidFill>
            <a:srgbClr val="AB243E"/>
          </a:solidFill>
          <a:ln w="12700">
            <a:solidFill>
              <a:srgbClr val="AB243E"/>
            </a:solidFill>
            <a:prstDash val="solid"/>
          </a:ln>
        </p:spPr>
      </p:sp>
      <p:sp>
        <p:nvSpPr>
          <p:cNvPr id="14" name="Shape 12"/>
          <p:cNvSpPr/>
          <p:nvPr/>
        </p:nvSpPr>
        <p:spPr>
          <a:xfrm>
            <a:off x="886968" y="1819656"/>
            <a:ext cx="548640" cy="548640"/>
          </a:xfrm>
          <a:prstGeom prst="ellipse">
            <a:avLst/>
          </a:prstGeom>
          <a:solidFill>
            <a:srgbClr val="AB243E"/>
          </a:solidFill>
          <a:ln w="12700">
            <a:solidFill>
              <a:srgbClr val="AB243E"/>
            </a:solidFill>
            <a:prstDash val="solid"/>
          </a:ln>
        </p:spPr>
      </p:sp>
      <p:sp>
        <p:nvSpPr>
          <p:cNvPr id="15" name="Icono bug"/>
          <p:cNvSpPr/>
          <p:nvPr/>
        </p:nvSpPr>
        <p:spPr>
          <a:xfrm>
            <a:off x="1018642" y="1951330"/>
            <a:ext cx="285293" cy="285293"/>
          </a:xfrm>
          <a:custGeom>
            <a:avLst/>
            <a:gdLst/>
            <a:ahLst/>
            <a:cxnLst/>
            <a:rect l="l" t="t" r="r" b="b"/>
            <a:pathLst>
              <a:path w="285293" h="285293">
                <a:moveTo>
                  <a:pt x="95098" y="23774"/>
                </a:moveTo>
                <a:lnTo>
                  <a:pt x="117446" y="46122"/>
                </a:lnTo>
                <a:moveTo>
                  <a:pt x="167847" y="46122"/>
                </a:moveTo>
                <a:lnTo>
                  <a:pt x="190195" y="23774"/>
                </a:lnTo>
                <a:moveTo>
                  <a:pt x="106985" y="84756"/>
                </a:moveTo>
                <a:lnTo>
                  <a:pt x="106985" y="72869"/>
                </a:lnTo>
                <a:cubicBezTo>
                  <a:pt x="106398" y="59747"/>
                  <a:pt x="113064" y="47364"/>
                  <a:pt x="124339" y="40628"/>
                </a:cubicBezTo>
                <a:cubicBezTo>
                  <a:pt x="135615" y="33892"/>
                  <a:pt x="149678" y="33892"/>
                  <a:pt x="160954" y="40628"/>
                </a:cubicBezTo>
                <a:cubicBezTo>
                  <a:pt x="172229" y="47364"/>
                  <a:pt x="178895" y="59747"/>
                  <a:pt x="178308" y="72869"/>
                </a:cubicBezTo>
                <a:lnTo>
                  <a:pt x="178308" y="84756"/>
                </a:lnTo>
                <a:moveTo>
                  <a:pt x="142646" y="237744"/>
                </a:moveTo>
                <a:cubicBezTo>
                  <a:pt x="103419" y="237744"/>
                  <a:pt x="71323" y="205649"/>
                  <a:pt x="71323" y="166421"/>
                </a:cubicBezTo>
                <a:lnTo>
                  <a:pt x="71323" y="130759"/>
                </a:lnTo>
                <a:cubicBezTo>
                  <a:pt x="71323" y="104499"/>
                  <a:pt x="92612" y="83210"/>
                  <a:pt x="118872" y="83210"/>
                </a:cubicBezTo>
                <a:lnTo>
                  <a:pt x="166421" y="83210"/>
                </a:lnTo>
                <a:cubicBezTo>
                  <a:pt x="192681" y="83210"/>
                  <a:pt x="213970" y="104499"/>
                  <a:pt x="213970" y="130759"/>
                </a:cubicBezTo>
                <a:lnTo>
                  <a:pt x="213970" y="166421"/>
                </a:lnTo>
                <a:cubicBezTo>
                  <a:pt x="213970" y="205649"/>
                  <a:pt x="181874" y="237744"/>
                  <a:pt x="142646" y="237744"/>
                </a:cubicBezTo>
                <a:moveTo>
                  <a:pt x="142646" y="237744"/>
                </a:moveTo>
                <a:lnTo>
                  <a:pt x="142646" y="130759"/>
                </a:lnTo>
                <a:moveTo>
                  <a:pt x="77623" y="106985"/>
                </a:moveTo>
                <a:cubicBezTo>
                  <a:pt x="54681" y="104607"/>
                  <a:pt x="35662" y="84399"/>
                  <a:pt x="35662" y="59436"/>
                </a:cubicBezTo>
                <a:moveTo>
                  <a:pt x="71323" y="154534"/>
                </a:moveTo>
                <a:lnTo>
                  <a:pt x="23774" y="154534"/>
                </a:lnTo>
                <a:moveTo>
                  <a:pt x="35662" y="249631"/>
                </a:moveTo>
                <a:cubicBezTo>
                  <a:pt x="35662" y="224668"/>
                  <a:pt x="55870" y="203271"/>
                  <a:pt x="80833" y="202082"/>
                </a:cubicBezTo>
                <a:moveTo>
                  <a:pt x="249275" y="59436"/>
                </a:moveTo>
                <a:cubicBezTo>
                  <a:pt x="249275" y="84399"/>
                  <a:pt x="230255" y="104607"/>
                  <a:pt x="207669" y="106985"/>
                </a:cubicBezTo>
                <a:moveTo>
                  <a:pt x="261518" y="154534"/>
                </a:moveTo>
                <a:lnTo>
                  <a:pt x="213970" y="154534"/>
                </a:lnTo>
                <a:moveTo>
                  <a:pt x="204460" y="202082"/>
                </a:moveTo>
                <a:cubicBezTo>
                  <a:pt x="229423" y="203271"/>
                  <a:pt x="249631" y="224668"/>
                  <a:pt x="249631" y="249631"/>
                </a:cubicBezTo>
              </a:path>
            </a:pathLst>
          </a:custGeom>
          <a:noFill/>
          <a:ln w="23774" cap="rnd">
            <a:solidFill>
              <a:srgbClr val="FFFFFF"/>
            </a:solidFill>
            <a:prstDash val="solid"/>
            <a:round/>
          </a:ln>
        </p:spPr>
      </p:sp>
      <p:sp>
        <p:nvSpPr>
          <p:cNvPr id="16" name="Text 14"/>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7" name="Text 15"/>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500" b="1" dirty="0">
                <a:solidFill>
                  <a:srgbClr val="AB243E"/>
                </a:solidFill>
                <a:latin typeface="Segoe UI" pitchFamily="34" charset="0"/>
                <a:ea typeface="Segoe UI" pitchFamily="34" charset="-122"/>
                <a:cs typeface="Segoe UI" pitchFamily="34" charset="-120"/>
              </a:rPr>
              <a:t>Un cambio rompe una regla</a:t>
            </a:r>
            <a:pPr indent="0" marL="0">
              <a:buNone/>
            </a:pPr>
            <a:r>
              <a:rPr lang="en-US" sz="1500" dirty="0">
                <a:solidFill>
                  <a:srgbClr val="0B1A3C"/>
                </a:solidFill>
                <a:latin typeface="Segoe UI" pitchFamily="34" charset="0"/>
                <a:ea typeface="Segoe UI" pitchFamily="34" charset="-122"/>
                <a:cs typeface="Segoe UI" pitchFamily="34" charset="-120"/>
              </a:rPr>
              <a:t>   Por ejemplo, ahora deja enviar dos veces la misma solicitud.</a:t>
            </a:r>
            <a:endParaRPr lang="en-US" sz="1500" dirty="0"/>
          </a:p>
        </p:txBody>
      </p:sp>
      <p:sp>
        <p:nvSpPr>
          <p:cNvPr id="18"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19"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0"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1" name="[p5] Icono shield-check"/>
          <p:cNvSpPr/>
          <p:nvPr/>
        </p:nvSpPr>
        <p:spPr>
          <a:xfrm>
            <a:off x="1018642" y="5837530"/>
            <a:ext cx="285293" cy="285293"/>
          </a:xfrm>
          <a:custGeom>
            <a:avLst/>
            <a:gdLst/>
            <a:ahLst/>
            <a:cxnLst/>
            <a:rect l="l" t="t" r="r" b="b"/>
            <a:pathLst>
              <a:path w="285293" h="285293">
                <a:moveTo>
                  <a:pt x="237744" y="154534"/>
                </a:moveTo>
                <a:cubicBezTo>
                  <a:pt x="237744" y="213970"/>
                  <a:pt x="196139" y="243688"/>
                  <a:pt x="146688" y="260924"/>
                </a:cubicBezTo>
                <a:cubicBezTo>
                  <a:pt x="144099" y="261802"/>
                  <a:pt x="141286" y="261760"/>
                  <a:pt x="138724" y="260805"/>
                </a:cubicBezTo>
                <a:cubicBezTo>
                  <a:pt x="89154" y="243688"/>
                  <a:pt x="47549" y="213970"/>
                  <a:pt x="47549" y="154534"/>
                </a:cubicBezTo>
                <a:lnTo>
                  <a:pt x="47549" y="71323"/>
                </a:lnTo>
                <a:cubicBezTo>
                  <a:pt x="47549" y="64758"/>
                  <a:pt x="52871" y="59436"/>
                  <a:pt x="59436" y="59436"/>
                </a:cubicBezTo>
                <a:cubicBezTo>
                  <a:pt x="83210" y="59436"/>
                  <a:pt x="112928" y="45171"/>
                  <a:pt x="133612" y="27103"/>
                </a:cubicBezTo>
                <a:cubicBezTo>
                  <a:pt x="138815" y="22658"/>
                  <a:pt x="146478" y="22658"/>
                  <a:pt x="151681" y="27103"/>
                </a:cubicBezTo>
                <a:cubicBezTo>
                  <a:pt x="172483" y="45290"/>
                  <a:pt x="202082" y="59436"/>
                  <a:pt x="225857" y="59436"/>
                </a:cubicBezTo>
                <a:cubicBezTo>
                  <a:pt x="232422" y="59436"/>
                  <a:pt x="237744" y="64758"/>
                  <a:pt x="237744" y="71323"/>
                </a:cubicBezTo>
                <a:close/>
                <a:moveTo>
                  <a:pt x="106985" y="142646"/>
                </a:moveTo>
                <a:lnTo>
                  <a:pt x="130759" y="166421"/>
                </a:lnTo>
                <a:lnTo>
                  <a:pt x="178308" y="118872"/>
                </a:lnTo>
              </a:path>
            </a:pathLst>
          </a:custGeom>
          <a:noFill/>
          <a:ln w="23774" cap="rnd">
            <a:solidFill>
              <a:srgbClr val="FFFFFF"/>
            </a:solidFill>
            <a:prstDash val="solid"/>
            <a:round/>
          </a:ln>
        </p:spPr>
      </p:sp>
      <p:sp>
        <p:nvSpPr>
          <p:cNvPr id="22"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3"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350" b="1" dirty="0">
                <a:solidFill>
                  <a:srgbClr val="0A6648"/>
                </a:solidFill>
                <a:latin typeface="Segoe UI" pitchFamily="34" charset="0"/>
                <a:ea typeface="Segoe UI" pitchFamily="34" charset="-122"/>
                <a:cs typeface="Segoe UI" pitchFamily="34" charset="-120"/>
              </a:rPr>
              <a:t>El error nunca llegó a main</a:t>
            </a:r>
            <a:pPr indent="0" marL="0">
              <a:buNone/>
            </a:pPr>
            <a:r>
              <a:rPr lang="en-US" sz="1350" dirty="0">
                <a:solidFill>
                  <a:srgbClr val="0B1A3C"/>
                </a:solidFill>
                <a:latin typeface="Segoe UI" pitchFamily="34" charset="0"/>
                <a:ea typeface="Segoe UI" pitchFamily="34" charset="-122"/>
                <a:cs typeface="Segoe UI" pitchFamily="34" charset="-120"/>
              </a:rPr>
              <a:t>   Y no se publicó ninguna imagen: publicar va después de las pruebas.</a:t>
            </a:r>
            <a:endParaRPr lang="en-US" sz="1350" dirty="0"/>
          </a:p>
        </p:txBody>
      </p:sp>
      <p:sp>
        <p:nvSpPr>
          <p:cNvPr id="24" name="[p5] Forma"/>
          <p:cNvSpPr/>
          <p:nvPr/>
        </p:nvSpPr>
        <p:spPr>
          <a:xfrm>
            <a:off x="10208247" y="5367528"/>
            <a:ext cx="0" cy="219456"/>
          </a:xfrm>
          <a:prstGeom prst="line">
            <a:avLst/>
          </a:prstGeom>
          <a:noFill/>
          <a:ln w="25400">
            <a:solidFill>
              <a:srgbClr val="0A6648"/>
            </a:solidFill>
            <a:prstDash val="dash"/>
            <a:tailEnd type="triangle"/>
          </a:ln>
        </p:spPr>
      </p:sp>
      <p:sp>
        <p:nvSpPr>
          <p:cNvPr id="25" name="[p1] Forma"/>
          <p:cNvSpPr/>
          <p:nvPr/>
        </p:nvSpPr>
        <p:spPr>
          <a:xfrm>
            <a:off x="2631940" y="2487168"/>
            <a:ext cx="0" cy="1005108"/>
          </a:xfrm>
          <a:prstGeom prst="line">
            <a:avLst/>
          </a:prstGeom>
          <a:noFill/>
          <a:ln w="25400">
            <a:solidFill>
              <a:srgbClr val="AB243E"/>
            </a:solidFill>
            <a:prstDash val="dash"/>
            <a:tailEnd type="triangle"/>
          </a:ln>
        </p:spPr>
      </p:sp>
      <p:sp>
        <p:nvSpPr>
          <p:cNvPr id="26" name="[p1] Forma"/>
          <p:cNvSpPr/>
          <p:nvPr/>
        </p:nvSpPr>
        <p:spPr>
          <a:xfrm>
            <a:off x="1983448" y="3602004"/>
            <a:ext cx="8224799" cy="0"/>
          </a:xfrm>
          <a:prstGeom prst="line">
            <a:avLst/>
          </a:prstGeom>
          <a:noFill/>
          <a:ln w="50800">
            <a:solidFill>
              <a:srgbClr val="6BC1DB"/>
            </a:solidFill>
            <a:prstDash val="solid"/>
          </a:ln>
        </p:spPr>
      </p:sp>
      <p:sp>
        <p:nvSpPr>
          <p:cNvPr id="27" name="[p1] Forma"/>
          <p:cNvSpPr/>
          <p:nvPr/>
        </p:nvSpPr>
        <p:spPr>
          <a:xfrm>
            <a:off x="15719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push</a:t>
            </a:r>
            <a:endParaRPr lang="en-US" sz="1100" dirty="0"/>
          </a:p>
        </p:txBody>
      </p:sp>
      <p:sp>
        <p:nvSpPr>
          <p:cNvPr id="28" name="[p1] Forma"/>
          <p:cNvSpPr/>
          <p:nvPr/>
        </p:nvSpPr>
        <p:spPr>
          <a:xfrm>
            <a:off x="1563555" y="3182112"/>
            <a:ext cx="839785" cy="839785"/>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9" name="[p1] Icono git-pull-request"/>
          <p:cNvSpPr/>
          <p:nvPr/>
        </p:nvSpPr>
        <p:spPr>
          <a:xfrm>
            <a:off x="1756706" y="3375263"/>
            <a:ext cx="453484" cy="453484"/>
          </a:xfrm>
          <a:custGeom>
            <a:avLst/>
            <a:gdLst/>
            <a:ahLst/>
            <a:cxnLst/>
            <a:rect l="l" t="t" r="r" b="b"/>
            <a:pathLst>
              <a:path w="453484" h="453484">
                <a:moveTo>
                  <a:pt x="396798" y="340113"/>
                </a:moveTo>
                <a:cubicBezTo>
                  <a:pt x="396798" y="371419"/>
                  <a:pt x="371419" y="396798"/>
                  <a:pt x="340113" y="396798"/>
                </a:cubicBezTo>
                <a:cubicBezTo>
                  <a:pt x="308806" y="396798"/>
                  <a:pt x="283427" y="371419"/>
                  <a:pt x="283427" y="340113"/>
                </a:cubicBezTo>
                <a:cubicBezTo>
                  <a:pt x="283427" y="308806"/>
                  <a:pt x="308806" y="283427"/>
                  <a:pt x="340113" y="283427"/>
                </a:cubicBezTo>
                <a:cubicBezTo>
                  <a:pt x="371419" y="283427"/>
                  <a:pt x="396798" y="308806"/>
                  <a:pt x="396798" y="340113"/>
                </a:cubicBezTo>
                <a:close/>
                <a:moveTo>
                  <a:pt x="170056" y="113371"/>
                </a:moveTo>
                <a:cubicBezTo>
                  <a:pt x="170056" y="144677"/>
                  <a:pt x="144677" y="170056"/>
                  <a:pt x="113371" y="170056"/>
                </a:cubicBezTo>
                <a:cubicBezTo>
                  <a:pt x="82064" y="170056"/>
                  <a:pt x="56685" y="144677"/>
                  <a:pt x="56685" y="113371"/>
                </a:cubicBezTo>
                <a:cubicBezTo>
                  <a:pt x="56685" y="82064"/>
                  <a:pt x="82064" y="56685"/>
                  <a:pt x="113371" y="56685"/>
                </a:cubicBezTo>
                <a:cubicBezTo>
                  <a:pt x="144677" y="56685"/>
                  <a:pt x="170056" y="82064"/>
                  <a:pt x="170056" y="113371"/>
                </a:cubicBezTo>
                <a:close/>
                <a:moveTo>
                  <a:pt x="245637" y="113371"/>
                </a:moveTo>
                <a:lnTo>
                  <a:pt x="302323" y="113371"/>
                </a:lnTo>
                <a:cubicBezTo>
                  <a:pt x="323194" y="113371"/>
                  <a:pt x="340113" y="130290"/>
                  <a:pt x="340113" y="151161"/>
                </a:cubicBezTo>
                <a:lnTo>
                  <a:pt x="340113" y="283427"/>
                </a:lnTo>
                <a:moveTo>
                  <a:pt x="113371" y="170056"/>
                </a:moveTo>
                <a:lnTo>
                  <a:pt x="113371" y="396798"/>
                </a:lnTo>
              </a:path>
            </a:pathLst>
          </a:custGeom>
          <a:noFill/>
          <a:ln w="33067" cap="rnd">
            <a:solidFill>
              <a:srgbClr val="0B2350"/>
            </a:solidFill>
            <a:prstDash val="solid"/>
            <a:round/>
          </a:ln>
        </p:spPr>
      </p:sp>
      <p:sp>
        <p:nvSpPr>
          <p:cNvPr id="30" name="[p2] Forma"/>
          <p:cNvSpPr/>
          <p:nvPr/>
        </p:nvSpPr>
        <p:spPr>
          <a:xfrm>
            <a:off x="2476492" y="3602004"/>
            <a:ext cx="1755511" cy="0"/>
          </a:xfrm>
          <a:prstGeom prst="line">
            <a:avLst/>
          </a:prstGeom>
          <a:noFill/>
          <a:ln w="38100">
            <a:solidFill>
              <a:srgbClr val="2BA6CB"/>
            </a:solidFill>
            <a:prstDash val="solid"/>
            <a:tailEnd type="triangle"/>
          </a:ln>
        </p:spPr>
      </p:sp>
      <p:sp>
        <p:nvSpPr>
          <p:cNvPr id="31"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2350"/>
                </a:solidFill>
                <a:latin typeface="Segoe UI Semibold" pitchFamily="34" charset="0"/>
                <a:ea typeface="Segoe UI Semibold" pitchFamily="34" charset="-122"/>
                <a:cs typeface="Segoe UI Semibold" pitchFamily="34" charset="-120"/>
              </a:rPr>
              <a:t>Se actualiza el PR</a:t>
            </a:r>
            <a:endParaRPr lang="en-US" sz="1700" dirty="0"/>
          </a:p>
        </p:txBody>
      </p:sp>
      <p:sp>
        <p:nvSpPr>
          <p:cNvPr id="32"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El pipeline arranca solo.</a:t>
            </a:r>
            <a:endParaRPr lang="en-US" sz="1300" dirty="0"/>
          </a:p>
        </p:txBody>
      </p:sp>
      <p:sp>
        <p:nvSpPr>
          <p:cNvPr id="33" name="[p2] Forma"/>
          <p:cNvSpPr/>
          <p:nvPr/>
        </p:nvSpPr>
        <p:spPr>
          <a:xfrm>
            <a:off x="4176408" y="2724912"/>
            <a:ext cx="109728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minutos</a:t>
            </a:r>
            <a:endParaRPr lang="en-US" sz="1100" dirty="0"/>
          </a:p>
        </p:txBody>
      </p:sp>
      <p:sp>
        <p:nvSpPr>
          <p:cNvPr id="34" name="[p2] Forma"/>
          <p:cNvSpPr/>
          <p:nvPr/>
        </p:nvSpPr>
        <p:spPr>
          <a:xfrm>
            <a:off x="4305155" y="3182112"/>
            <a:ext cx="839785" cy="839785"/>
          </a:xfrm>
          <a:prstGeom prst="ellipse">
            <a:avLst/>
          </a:prstGeom>
          <a:solidFill>
            <a:srgbClr val="F7E3E7"/>
          </a:solidFill>
          <a:ln w="31750">
            <a:solidFill>
              <a:srgbClr val="AB243E"/>
            </a:solidFill>
            <a:prstDash val="solid"/>
          </a:ln>
          <a:effectLst>
            <a:outerShdw sx="100000" sy="100000" kx="0" ky="0" algn="bl" rotWithShape="0" blurRad="76200" dist="19050" dir="5400000">
              <a:srgbClr val="0B1F3A">
                <a:alpha val="14000"/>
              </a:srgbClr>
            </a:outerShdw>
          </a:effectLst>
        </p:spPr>
      </p:sp>
      <p:sp>
        <p:nvSpPr>
          <p:cNvPr id="35" name="[p2] Icono flask-conical"/>
          <p:cNvSpPr/>
          <p:nvPr/>
        </p:nvSpPr>
        <p:spPr>
          <a:xfrm>
            <a:off x="4498306" y="3375263"/>
            <a:ext cx="453484" cy="453484"/>
          </a:xfrm>
          <a:custGeom>
            <a:avLst/>
            <a:gdLst/>
            <a:ahLst/>
            <a:cxnLst/>
            <a:rect l="l" t="t" r="r" b="b"/>
            <a:pathLst>
              <a:path w="453484" h="453484">
                <a:moveTo>
                  <a:pt x="264532" y="37790"/>
                </a:moveTo>
                <a:lnTo>
                  <a:pt x="264532" y="151161"/>
                </a:lnTo>
                <a:cubicBezTo>
                  <a:pt x="264530" y="157500"/>
                  <a:pt x="266122" y="163738"/>
                  <a:pt x="269162" y="169301"/>
                </a:cubicBezTo>
                <a:lnTo>
                  <a:pt x="373274" y="359764"/>
                </a:lnTo>
                <a:cubicBezTo>
                  <a:pt x="379681" y="371474"/>
                  <a:pt x="379435" y="385695"/>
                  <a:pt x="372628" y="397176"/>
                </a:cubicBezTo>
                <a:cubicBezTo>
                  <a:pt x="365820" y="408658"/>
                  <a:pt x="353461" y="415697"/>
                  <a:pt x="340113" y="415694"/>
                </a:cubicBezTo>
                <a:lnTo>
                  <a:pt x="113371" y="415694"/>
                </a:lnTo>
                <a:cubicBezTo>
                  <a:pt x="100023" y="415697"/>
                  <a:pt x="87663" y="408658"/>
                  <a:pt x="80856" y="397176"/>
                </a:cubicBezTo>
                <a:cubicBezTo>
                  <a:pt x="74048" y="385695"/>
                  <a:pt x="73803" y="371474"/>
                  <a:pt x="80210" y="359764"/>
                </a:cubicBezTo>
                <a:lnTo>
                  <a:pt x="184322" y="169301"/>
                </a:lnTo>
                <a:cubicBezTo>
                  <a:pt x="187362" y="163738"/>
                  <a:pt x="188954" y="157500"/>
                  <a:pt x="188952" y="151161"/>
                </a:cubicBezTo>
                <a:lnTo>
                  <a:pt x="188952" y="37790"/>
                </a:lnTo>
                <a:moveTo>
                  <a:pt x="121930" y="283427"/>
                </a:moveTo>
                <a:lnTo>
                  <a:pt x="331553" y="283427"/>
                </a:lnTo>
                <a:moveTo>
                  <a:pt x="160609" y="37790"/>
                </a:moveTo>
                <a:lnTo>
                  <a:pt x="292875" y="37790"/>
                </a:lnTo>
              </a:path>
            </a:pathLst>
          </a:custGeom>
          <a:noFill/>
          <a:ln w="33067" cap="rnd">
            <a:solidFill>
              <a:srgbClr val="AB243E"/>
            </a:solidFill>
            <a:prstDash val="solid"/>
            <a:round/>
          </a:ln>
        </p:spPr>
      </p:sp>
      <p:sp>
        <p:nvSpPr>
          <p:cNvPr id="36" name="[p3] Forma"/>
          <p:cNvSpPr/>
          <p:nvPr/>
        </p:nvSpPr>
        <p:spPr>
          <a:xfrm>
            <a:off x="5218092" y="3602004"/>
            <a:ext cx="1755511" cy="0"/>
          </a:xfrm>
          <a:prstGeom prst="line">
            <a:avLst/>
          </a:prstGeom>
          <a:noFill/>
          <a:ln w="38100">
            <a:solidFill>
              <a:srgbClr val="2BA6CB"/>
            </a:solidFill>
            <a:prstDash val="solid"/>
            <a:tailEnd type="triangle"/>
          </a:ln>
        </p:spPr>
      </p:sp>
      <p:sp>
        <p:nvSpPr>
          <p:cNvPr id="37"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AB243E"/>
                </a:solidFill>
                <a:latin typeface="Segoe UI Semibold" pitchFamily="34" charset="0"/>
                <a:ea typeface="Segoe UI Semibold" pitchFamily="34" charset="-122"/>
                <a:cs typeface="Segoe UI Semibold" pitchFamily="34" charset="-120"/>
              </a:rPr>
              <a:t>Falla una prueba</a:t>
            </a:r>
            <a:endParaRPr lang="en-US" sz="1700" dirty="0"/>
          </a:p>
        </p:txBody>
      </p:sp>
      <p:sp>
        <p:nvSpPr>
          <p:cNvPr id="38"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de esa regla: queda en rojo.</a:t>
            </a:r>
            <a:endParaRPr lang="en-US" sz="1300" dirty="0"/>
          </a:p>
        </p:txBody>
      </p:sp>
      <p:sp>
        <p:nvSpPr>
          <p:cNvPr id="39" name="[p3] Forma"/>
          <p:cNvSpPr/>
          <p:nvPr/>
        </p:nvSpPr>
        <p:spPr>
          <a:xfrm>
            <a:off x="6872288" y="2724912"/>
            <a:ext cx="11887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en el PR</a:t>
            </a:r>
            <a:endParaRPr lang="en-US" sz="1100" dirty="0"/>
          </a:p>
        </p:txBody>
      </p:sp>
      <p:sp>
        <p:nvSpPr>
          <p:cNvPr id="40" name="[p3] Forma"/>
          <p:cNvSpPr/>
          <p:nvPr/>
        </p:nvSpPr>
        <p:spPr>
          <a:xfrm>
            <a:off x="70467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41" name="[p3] Icono eye"/>
          <p:cNvSpPr/>
          <p:nvPr/>
        </p:nvSpPr>
        <p:spPr>
          <a:xfrm>
            <a:off x="7239906" y="3375263"/>
            <a:ext cx="453484" cy="453484"/>
          </a:xfrm>
          <a:custGeom>
            <a:avLst/>
            <a:gdLst/>
            <a:ahLst/>
            <a:cxnLst/>
            <a:rect l="l" t="t" r="r" b="b"/>
            <a:pathLst>
              <a:path w="453484" h="453484">
                <a:moveTo>
                  <a:pt x="38962" y="233317"/>
                </a:moveTo>
                <a:cubicBezTo>
                  <a:pt x="37387" y="229075"/>
                  <a:pt x="37387" y="224409"/>
                  <a:pt x="38962" y="220166"/>
                </a:cubicBezTo>
                <a:cubicBezTo>
                  <a:pt x="70328" y="144112"/>
                  <a:pt x="144473" y="94487"/>
                  <a:pt x="226742" y="94487"/>
                </a:cubicBezTo>
                <a:cubicBezTo>
                  <a:pt x="309011" y="94487"/>
                  <a:pt x="383156" y="144112"/>
                  <a:pt x="414522" y="220166"/>
                </a:cubicBezTo>
                <a:cubicBezTo>
                  <a:pt x="416097" y="224409"/>
                  <a:pt x="416097" y="229075"/>
                  <a:pt x="414522" y="233317"/>
                </a:cubicBezTo>
                <a:cubicBezTo>
                  <a:pt x="383156" y="309372"/>
                  <a:pt x="309011" y="358996"/>
                  <a:pt x="226742" y="358996"/>
                </a:cubicBezTo>
                <a:cubicBezTo>
                  <a:pt x="144473" y="358996"/>
                  <a:pt x="70328" y="309372"/>
                  <a:pt x="38962" y="233317"/>
                </a:cubicBezTo>
                <a:moveTo>
                  <a:pt x="283427" y="226742"/>
                </a:moveTo>
                <a:cubicBezTo>
                  <a:pt x="283427" y="258048"/>
                  <a:pt x="258048" y="283427"/>
                  <a:pt x="226742" y="283427"/>
                </a:cubicBezTo>
                <a:cubicBezTo>
                  <a:pt x="195435" y="283427"/>
                  <a:pt x="170056" y="258048"/>
                  <a:pt x="170056" y="226742"/>
                </a:cubicBezTo>
                <a:cubicBezTo>
                  <a:pt x="170056" y="195435"/>
                  <a:pt x="195435" y="170056"/>
                  <a:pt x="226742" y="170056"/>
                </a:cubicBezTo>
                <a:cubicBezTo>
                  <a:pt x="258048" y="170056"/>
                  <a:pt x="283427" y="195435"/>
                  <a:pt x="283427" y="226742"/>
                </a:cubicBezTo>
                <a:close/>
              </a:path>
            </a:pathLst>
          </a:custGeom>
          <a:noFill/>
          <a:ln w="33067" cap="rnd">
            <a:solidFill>
              <a:srgbClr val="8A4B06"/>
            </a:solidFill>
            <a:prstDash val="solid"/>
            <a:round/>
          </a:ln>
        </p:spPr>
      </p:sp>
      <p:sp>
        <p:nvSpPr>
          <p:cNvPr id="42" name="[p4] Forma"/>
          <p:cNvSpPr/>
          <p:nvPr/>
        </p:nvSpPr>
        <p:spPr>
          <a:xfrm>
            <a:off x="7959692" y="3602004"/>
            <a:ext cx="1755511" cy="0"/>
          </a:xfrm>
          <a:prstGeom prst="line">
            <a:avLst/>
          </a:prstGeom>
          <a:noFill/>
          <a:ln w="38100">
            <a:solidFill>
              <a:srgbClr val="2BA6CB"/>
            </a:solidFill>
            <a:prstDash val="solid"/>
            <a:tailEnd type="triangle"/>
          </a:ln>
        </p:spPr>
      </p:sp>
      <p:sp>
        <p:nvSpPr>
          <p:cNvPr id="43"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Se ve</a:t>
            </a:r>
            <a:endParaRPr lang="en-US" sz="1700" dirty="0"/>
          </a:p>
        </p:txBody>
      </p:sp>
      <p:sp>
        <p:nvSpPr>
          <p:cNvPr id="44"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Qué trabajo, qué paso y por qué.</a:t>
            </a:r>
            <a:endParaRPr lang="en-US" sz="1300" dirty="0"/>
          </a:p>
        </p:txBody>
      </p:sp>
      <p:sp>
        <p:nvSpPr>
          <p:cNvPr id="45" name="[p4] Forma"/>
          <p:cNvSpPr/>
          <p:nvPr/>
        </p:nvSpPr>
        <p:spPr>
          <a:xfrm>
            <a:off x="9522447" y="2724912"/>
            <a:ext cx="13716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corrección</a:t>
            </a:r>
            <a:endParaRPr lang="en-US" sz="1100" dirty="0"/>
          </a:p>
        </p:txBody>
      </p:sp>
      <p:sp>
        <p:nvSpPr>
          <p:cNvPr id="46" name="[p4] Forma"/>
          <p:cNvSpPr/>
          <p:nvPr/>
        </p:nvSpPr>
        <p:spPr>
          <a:xfrm>
            <a:off x="97883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7" name="[p4] Icono refresh-cw"/>
          <p:cNvSpPr/>
          <p:nvPr/>
        </p:nvSpPr>
        <p:spPr>
          <a:xfrm>
            <a:off x="9981505" y="3375263"/>
            <a:ext cx="453484" cy="453484"/>
          </a:xfrm>
          <a:custGeom>
            <a:avLst/>
            <a:gdLst/>
            <a:ahLst/>
            <a:cxnLst/>
            <a:rect l="l" t="t" r="r" b="b"/>
            <a:pathLst>
              <a:path w="453484" h="453484">
                <a:moveTo>
                  <a:pt x="56685" y="226742"/>
                </a:moveTo>
                <a:cubicBezTo>
                  <a:pt x="56685" y="132822"/>
                  <a:pt x="132822" y="56685"/>
                  <a:pt x="226742" y="56685"/>
                </a:cubicBezTo>
                <a:cubicBezTo>
                  <a:pt x="274283" y="56864"/>
                  <a:pt x="319915" y="75415"/>
                  <a:pt x="354095" y="108458"/>
                </a:cubicBezTo>
                <a:lnTo>
                  <a:pt x="396798" y="151161"/>
                </a:lnTo>
                <a:moveTo>
                  <a:pt x="396798" y="56685"/>
                </a:moveTo>
                <a:lnTo>
                  <a:pt x="396798" y="151161"/>
                </a:lnTo>
                <a:lnTo>
                  <a:pt x="302323" y="151161"/>
                </a:lnTo>
                <a:moveTo>
                  <a:pt x="396798" y="226742"/>
                </a:moveTo>
                <a:cubicBezTo>
                  <a:pt x="396798" y="320662"/>
                  <a:pt x="320662" y="396798"/>
                  <a:pt x="226742" y="396798"/>
                </a:cubicBezTo>
                <a:cubicBezTo>
                  <a:pt x="179201" y="396620"/>
                  <a:pt x="133569" y="378069"/>
                  <a:pt x="99389" y="345026"/>
                </a:cubicBezTo>
                <a:lnTo>
                  <a:pt x="56685" y="302323"/>
                </a:lnTo>
                <a:moveTo>
                  <a:pt x="151161" y="302323"/>
                </a:moveTo>
                <a:lnTo>
                  <a:pt x="56685" y="302323"/>
                </a:lnTo>
                <a:lnTo>
                  <a:pt x="56685" y="396798"/>
                </a:lnTo>
              </a:path>
            </a:pathLst>
          </a:custGeom>
          <a:noFill/>
          <a:ln w="33067" cap="rnd">
            <a:solidFill>
              <a:srgbClr val="0B6E8A"/>
            </a:solidFill>
            <a:prstDash val="solid"/>
            <a:round/>
          </a:ln>
        </p:spPr>
      </p:sp>
      <p:sp>
        <p:nvSpPr>
          <p:cNvPr id="48"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Se corrige</a:t>
            </a:r>
            <a:endParaRPr lang="en-US" sz="1700" dirty="0"/>
          </a:p>
        </p:txBody>
      </p:sp>
      <p:sp>
        <p:nvSpPr>
          <p:cNvPr id="49"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Nuevo push: vuelve a correr.</a:t>
            </a:r>
            <a:endParaRPr lang="en-US" sz="13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4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400"/>
                                        <p:tgtEl>
                                          <p:spTgt spid="38"/>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40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400"/>
                                        <p:tgtEl>
                                          <p:spTgt spid="3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400"/>
                                        <p:tgtEl>
                                          <p:spTgt spid="4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400"/>
                                        <p:tgtEl>
                                          <p:spTgt spid="4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400"/>
                                        <p:tgtEl>
                                          <p:spTgt spid="4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400"/>
                                        <p:tgtEl>
                                          <p:spTgt spid="44"/>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400"/>
                                        <p:tgtEl>
                                          <p:spTgt spid="4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400"/>
                                        <p:tgtEl>
                                          <p:spTgt spid="4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fade">
                                      <p:cBhvr>
                                        <p:cTn id="77" dur="400"/>
                                        <p:tgtEl>
                                          <p:spTgt spid="4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fade">
                                      <p:cBhvr>
                                        <p:cTn id="80" dur="400"/>
                                        <p:tgtEl>
                                          <p:spTgt spid="4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400"/>
                                        <p:tgtEl>
                                          <p:spTgt spid="49"/>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400"/>
                                        <p:tgtEl>
                                          <p:spTgt spid="1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400"/>
                                        <p:tgtEl>
                                          <p:spTgt spid="1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400"/>
                                        <p:tgtEl>
                                          <p:spTgt spid="2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400"/>
                                        <p:tgtEl>
                                          <p:spTgt spid="2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400"/>
                                        <p:tgtEl>
                                          <p:spTgt spid="2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400"/>
                                        <p:tgtEl>
                                          <p:spTgt spid="2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0" grpId="0" animBg="1"/>
      <p:bldP spid="33" grpId="0" animBg="1"/>
      <p:bldP spid="34" grpId="0" animBg="1"/>
      <p:bldP spid="35" grpId="0" animBg="1"/>
      <p:bldP spid="37" grpId="0" animBg="1"/>
      <p:bldP spid="38" grpId="0" animBg="1"/>
      <p:bldP spid="36" grpId="0" animBg="1"/>
      <p:bldP spid="39" grpId="0" animBg="1"/>
      <p:bldP spid="40" grpId="0" animBg="1"/>
      <p:bldP spid="41" grpId="0" animBg="1"/>
      <p:bldP spid="43" grpId="0" animBg="1"/>
      <p:bldP spid="44" grpId="0" animBg="1"/>
      <p:bldP spid="42" grpId="0" animBg="1"/>
      <p:bldP spid="45" grpId="0" animBg="1"/>
      <p:bldP spid="46" grpId="0" animBg="1"/>
      <p:bldP spid="47" grpId="0" animBg="1"/>
      <p:bldP spid="48" grpId="0" animBg="1"/>
      <p:bldP spid="4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la imagen al commit: qué código está corriendo</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650" dirty="0">
                <a:solidFill>
                  <a:srgbClr val="55627E"/>
                </a:solidFill>
                <a:latin typeface="Segoe UI" pitchFamily="34" charset="0"/>
                <a:ea typeface="Segoe UI" pitchFamily="34" charset="-122"/>
                <a:cs typeface="Segoe UI" pitchFamily="34" charset="-120"/>
              </a:rPr>
              <a:t>Cada imagen lleva el código de su commit: siempre se sabe qué versión corre y se puede volver atrás.</a:t>
            </a:r>
            <a:endParaRPr lang="en-US" sz="1650" dirty="0"/>
          </a:p>
        </p:txBody>
      </p:sp>
      <p:sp>
        <p:nvSpPr>
          <p:cNvPr id="12" name="Shape 10"/>
          <p:cNvSpPr/>
          <p:nvPr/>
        </p:nvSpPr>
        <p:spPr>
          <a:xfrm>
            <a:off x="12519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3" name="Icono package"/>
          <p:cNvSpPr/>
          <p:nvPr/>
        </p:nvSpPr>
        <p:spPr>
          <a:xfrm>
            <a:off x="1588427" y="2901391"/>
            <a:ext cx="790042" cy="790042"/>
          </a:xfrm>
          <a:custGeom>
            <a:avLst/>
            <a:gdLst/>
            <a:ahLst/>
            <a:cxnLst/>
            <a:rect l="l" t="t" r="r" b="b"/>
            <a:pathLst>
              <a:path w="790042" h="790042">
                <a:moveTo>
                  <a:pt x="362102" y="715317"/>
                </a:moveTo>
                <a:cubicBezTo>
                  <a:pt x="382472" y="727077"/>
                  <a:pt x="407569" y="727077"/>
                  <a:pt x="427939" y="715317"/>
                </a:cubicBezTo>
                <a:lnTo>
                  <a:pt x="658368" y="583643"/>
                </a:lnTo>
                <a:cubicBezTo>
                  <a:pt x="678717" y="571895"/>
                  <a:pt x="691262" y="550192"/>
                  <a:pt x="691286" y="526694"/>
                </a:cubicBezTo>
                <a:lnTo>
                  <a:pt x="691286" y="263347"/>
                </a:lnTo>
                <a:cubicBezTo>
                  <a:pt x="691262" y="239850"/>
                  <a:pt x="678717" y="218147"/>
                  <a:pt x="658368" y="206398"/>
                </a:cubicBezTo>
                <a:lnTo>
                  <a:pt x="427939" y="74725"/>
                </a:lnTo>
                <a:cubicBezTo>
                  <a:pt x="407569" y="62964"/>
                  <a:pt x="382472" y="62964"/>
                  <a:pt x="362102" y="74725"/>
                </a:cubicBezTo>
                <a:lnTo>
                  <a:pt x="131674" y="206398"/>
                </a:lnTo>
                <a:cubicBezTo>
                  <a:pt x="111324" y="218147"/>
                  <a:pt x="98779" y="239850"/>
                  <a:pt x="98755" y="263347"/>
                </a:cubicBezTo>
                <a:lnTo>
                  <a:pt x="98755" y="526694"/>
                </a:lnTo>
                <a:cubicBezTo>
                  <a:pt x="98779" y="550192"/>
                  <a:pt x="111324" y="571895"/>
                  <a:pt x="131674" y="583643"/>
                </a:cubicBezTo>
                <a:close/>
                <a:moveTo>
                  <a:pt x="395021" y="724205"/>
                </a:moveTo>
                <a:lnTo>
                  <a:pt x="395021" y="395021"/>
                </a:lnTo>
                <a:moveTo>
                  <a:pt x="108631" y="230429"/>
                </a:moveTo>
                <a:lnTo>
                  <a:pt x="362201" y="386265"/>
                </a:lnTo>
                <a:cubicBezTo>
                  <a:pt x="382521" y="397949"/>
                  <a:pt x="407521" y="397949"/>
                  <a:pt x="427840" y="386265"/>
                </a:cubicBezTo>
                <a:lnTo>
                  <a:pt x="681411" y="230429"/>
                </a:lnTo>
                <a:moveTo>
                  <a:pt x="246888" y="140562"/>
                </a:moveTo>
                <a:lnTo>
                  <a:pt x="543154" y="310091"/>
                </a:lnTo>
              </a:path>
            </a:pathLst>
          </a:custGeom>
          <a:noFill/>
          <a:ln w="57607" cap="rnd">
            <a:solidFill>
              <a:srgbClr val="0B2350"/>
            </a:solidFill>
            <a:prstDash val="solid"/>
            <a:round/>
          </a:ln>
        </p:spPr>
      </p:sp>
      <p:sp>
        <p:nvSpPr>
          <p:cNvPr id="14" name="Text 12"/>
          <p:cNvSpPr/>
          <p:nvPr/>
        </p:nvSpPr>
        <p:spPr>
          <a:xfrm>
            <a:off x="12153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Text 13"/>
          <p:cNvSpPr/>
          <p:nvPr/>
        </p:nvSpPr>
        <p:spPr>
          <a:xfrm>
            <a:off x="6583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La imagen</a:t>
            </a:r>
            <a:endParaRPr lang="en-US" sz="1800" dirty="0"/>
          </a:p>
        </p:txBody>
      </p:sp>
      <p:sp>
        <p:nvSpPr>
          <p:cNvPr id="16" name="Text 14"/>
          <p:cNvSpPr/>
          <p:nvPr/>
        </p:nvSpPr>
        <p:spPr>
          <a:xfrm>
            <a:off x="7223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servicio-solicitudes:&lt;SHA&gt;</a:t>
            </a:r>
            <a:endParaRPr lang="en-US" sz="1400" dirty="0"/>
          </a:p>
        </p:txBody>
      </p:sp>
      <p:sp>
        <p:nvSpPr>
          <p:cNvPr id="17" name="[p1] Forma"/>
          <p:cNvSpPr/>
          <p:nvPr/>
        </p:nvSpPr>
        <p:spPr>
          <a:xfrm>
            <a:off x="2806408" y="3296412"/>
            <a:ext cx="1095680" cy="0"/>
          </a:xfrm>
          <a:prstGeom prst="line">
            <a:avLst/>
          </a:prstGeom>
          <a:noFill/>
          <a:ln w="38100">
            <a:solidFill>
              <a:srgbClr val="2BA6CB"/>
            </a:solidFill>
            <a:prstDash val="solid"/>
            <a:tailEnd type="triangle"/>
          </a:ln>
        </p:spPr>
      </p:sp>
      <p:sp>
        <p:nvSpPr>
          <p:cNvPr id="18" name="[p1] Forma"/>
          <p:cNvSpPr/>
          <p:nvPr/>
        </p:nvSpPr>
        <p:spPr>
          <a:xfrm>
            <a:off x="3993528" y="2564892"/>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9" name="[p1] Icono git-commit-horizontal"/>
          <p:cNvSpPr/>
          <p:nvPr/>
        </p:nvSpPr>
        <p:spPr>
          <a:xfrm>
            <a:off x="4330027" y="2901391"/>
            <a:ext cx="790042" cy="790042"/>
          </a:xfrm>
          <a:custGeom>
            <a:avLst/>
            <a:gdLst/>
            <a:ahLst/>
            <a:cxnLst/>
            <a:rect l="l" t="t" r="r" b="b"/>
            <a:pathLst>
              <a:path w="790042" h="790042">
                <a:moveTo>
                  <a:pt x="493776" y="395021"/>
                </a:moveTo>
                <a:cubicBezTo>
                  <a:pt x="493776" y="449562"/>
                  <a:pt x="449562" y="493776"/>
                  <a:pt x="395021" y="493776"/>
                </a:cubicBezTo>
                <a:cubicBezTo>
                  <a:pt x="340480" y="493776"/>
                  <a:pt x="296266" y="449562"/>
                  <a:pt x="296266" y="395021"/>
                </a:cubicBezTo>
                <a:cubicBezTo>
                  <a:pt x="296266" y="340480"/>
                  <a:pt x="340480" y="296266"/>
                  <a:pt x="395021" y="296266"/>
                </a:cubicBezTo>
                <a:cubicBezTo>
                  <a:pt x="449562" y="296266"/>
                  <a:pt x="493776" y="340480"/>
                  <a:pt x="493776" y="395021"/>
                </a:cubicBezTo>
                <a:close/>
                <a:moveTo>
                  <a:pt x="98755" y="395021"/>
                </a:moveTo>
                <a:lnTo>
                  <a:pt x="296266" y="395021"/>
                </a:lnTo>
                <a:moveTo>
                  <a:pt x="493776" y="395021"/>
                </a:moveTo>
                <a:lnTo>
                  <a:pt x="691286" y="395021"/>
                </a:lnTo>
              </a:path>
            </a:pathLst>
          </a:custGeom>
          <a:noFill/>
          <a:ln w="57607" cap="rnd">
            <a:solidFill>
              <a:srgbClr val="0B2350"/>
            </a:solidFill>
            <a:prstDash val="solid"/>
            <a:round/>
          </a:ln>
        </p:spPr>
      </p:sp>
      <p:sp>
        <p:nvSpPr>
          <p:cNvPr id="20" name="[p1] Forma"/>
          <p:cNvSpPr/>
          <p:nvPr/>
        </p:nvSpPr>
        <p:spPr>
          <a:xfrm>
            <a:off x="3956952" y="2528316"/>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1" name="[p1] Forma"/>
          <p:cNvSpPr/>
          <p:nvPr/>
        </p:nvSpPr>
        <p:spPr>
          <a:xfrm>
            <a:off x="33999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commit</a:t>
            </a:r>
            <a:endParaRPr lang="en-US" sz="1800" dirty="0"/>
          </a:p>
        </p:txBody>
      </p:sp>
      <p:sp>
        <p:nvSpPr>
          <p:cNvPr id="22" name="[p1] Forma"/>
          <p:cNvSpPr/>
          <p:nvPr/>
        </p:nvSpPr>
        <p:spPr>
          <a:xfrm>
            <a:off x="34639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El SHA es el código exacto.</a:t>
            </a:r>
            <a:endParaRPr lang="en-US" sz="1400" dirty="0"/>
          </a:p>
        </p:txBody>
      </p:sp>
      <p:sp>
        <p:nvSpPr>
          <p:cNvPr id="23" name="[p2] Forma"/>
          <p:cNvSpPr/>
          <p:nvPr/>
        </p:nvSpPr>
        <p:spPr>
          <a:xfrm>
            <a:off x="5548008" y="3296412"/>
            <a:ext cx="1095680" cy="0"/>
          </a:xfrm>
          <a:prstGeom prst="line">
            <a:avLst/>
          </a:prstGeom>
          <a:noFill/>
          <a:ln w="38100">
            <a:solidFill>
              <a:srgbClr val="2BA6CB"/>
            </a:solidFill>
            <a:prstDash val="solid"/>
            <a:tailEnd type="triangle"/>
          </a:ln>
        </p:spPr>
      </p:sp>
      <p:sp>
        <p:nvSpPr>
          <p:cNvPr id="24" name="[p2] Forma"/>
          <p:cNvSpPr/>
          <p:nvPr/>
        </p:nvSpPr>
        <p:spPr>
          <a:xfrm>
            <a:off x="6735128" y="2564892"/>
            <a:ext cx="1463040" cy="146304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5" name="[p2] Icono git-pull-request"/>
          <p:cNvSpPr/>
          <p:nvPr/>
        </p:nvSpPr>
        <p:spPr>
          <a:xfrm>
            <a:off x="7071627" y="2901391"/>
            <a:ext cx="790042" cy="790042"/>
          </a:xfrm>
          <a:custGeom>
            <a:avLst/>
            <a:gdLst/>
            <a:ahLst/>
            <a:cxnLst/>
            <a:rect l="l" t="t" r="r" b="b"/>
            <a:pathLst>
              <a:path w="790042" h="790042">
                <a:moveTo>
                  <a:pt x="691286" y="592531"/>
                </a:moveTo>
                <a:cubicBezTo>
                  <a:pt x="691286" y="647072"/>
                  <a:pt x="647072" y="691286"/>
                  <a:pt x="592531" y="691286"/>
                </a:cubicBezTo>
                <a:cubicBezTo>
                  <a:pt x="537990" y="691286"/>
                  <a:pt x="493776" y="647072"/>
                  <a:pt x="493776" y="592531"/>
                </a:cubicBezTo>
                <a:cubicBezTo>
                  <a:pt x="493776" y="537990"/>
                  <a:pt x="537990" y="493776"/>
                  <a:pt x="592531" y="493776"/>
                </a:cubicBezTo>
                <a:cubicBezTo>
                  <a:pt x="647072" y="493776"/>
                  <a:pt x="691286" y="537990"/>
                  <a:pt x="691286" y="592531"/>
                </a:cubicBezTo>
                <a:close/>
                <a:moveTo>
                  <a:pt x="296266" y="197510"/>
                </a:moveTo>
                <a:cubicBezTo>
                  <a:pt x="296266" y="252051"/>
                  <a:pt x="252051" y="296266"/>
                  <a:pt x="197510" y="296266"/>
                </a:cubicBezTo>
                <a:cubicBezTo>
                  <a:pt x="142969" y="296266"/>
                  <a:pt x="98755" y="252051"/>
                  <a:pt x="98755" y="197510"/>
                </a:cubicBezTo>
                <a:cubicBezTo>
                  <a:pt x="98755" y="142969"/>
                  <a:pt x="142969" y="98755"/>
                  <a:pt x="197510" y="98755"/>
                </a:cubicBezTo>
                <a:cubicBezTo>
                  <a:pt x="252051" y="98755"/>
                  <a:pt x="296266" y="142969"/>
                  <a:pt x="296266" y="197510"/>
                </a:cubicBezTo>
                <a:close/>
                <a:moveTo>
                  <a:pt x="427939" y="197510"/>
                </a:moveTo>
                <a:lnTo>
                  <a:pt x="526694" y="197510"/>
                </a:lnTo>
                <a:cubicBezTo>
                  <a:pt x="563055" y="197510"/>
                  <a:pt x="592531" y="226987"/>
                  <a:pt x="592531" y="263347"/>
                </a:cubicBezTo>
                <a:lnTo>
                  <a:pt x="592531" y="493776"/>
                </a:lnTo>
                <a:moveTo>
                  <a:pt x="197510" y="296266"/>
                </a:moveTo>
                <a:lnTo>
                  <a:pt x="197510" y="691286"/>
                </a:lnTo>
              </a:path>
            </a:pathLst>
          </a:custGeom>
          <a:noFill/>
          <a:ln w="57607" cap="rnd">
            <a:solidFill>
              <a:srgbClr val="0B6E8A"/>
            </a:solidFill>
            <a:prstDash val="solid"/>
            <a:round/>
          </a:ln>
        </p:spPr>
      </p:sp>
      <p:sp>
        <p:nvSpPr>
          <p:cNvPr id="26" name="[p2] Forma"/>
          <p:cNvSpPr/>
          <p:nvPr/>
        </p:nvSpPr>
        <p:spPr>
          <a:xfrm>
            <a:off x="6698552" y="2528316"/>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7" name="[p2] Forma"/>
          <p:cNvSpPr/>
          <p:nvPr/>
        </p:nvSpPr>
        <p:spPr>
          <a:xfrm>
            <a:off x="6141568"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El Pull Request</a:t>
            </a:r>
            <a:endParaRPr lang="en-US" sz="1800" dirty="0"/>
          </a:p>
        </p:txBody>
      </p:sp>
      <p:sp>
        <p:nvSpPr>
          <p:cNvPr id="28" name="[p2] Forma"/>
          <p:cNvSpPr/>
          <p:nvPr/>
        </p:nvSpPr>
        <p:spPr>
          <a:xfrm>
            <a:off x="6205576"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Quién lo pidió y quién lo revisó.</a:t>
            </a:r>
            <a:endParaRPr lang="en-US" sz="1400" dirty="0"/>
          </a:p>
        </p:txBody>
      </p:sp>
      <p:sp>
        <p:nvSpPr>
          <p:cNvPr id="29" name="[p3] Forma"/>
          <p:cNvSpPr/>
          <p:nvPr/>
        </p:nvSpPr>
        <p:spPr>
          <a:xfrm>
            <a:off x="8289608" y="3296412"/>
            <a:ext cx="1095680" cy="0"/>
          </a:xfrm>
          <a:prstGeom prst="line">
            <a:avLst/>
          </a:prstGeom>
          <a:noFill/>
          <a:ln w="38100">
            <a:solidFill>
              <a:srgbClr val="2BA6CB"/>
            </a:solidFill>
            <a:prstDash val="solid"/>
            <a:tailEnd type="triangle"/>
          </a:ln>
        </p:spPr>
      </p:sp>
      <p:sp>
        <p:nvSpPr>
          <p:cNvPr id="30" name="[p3] Forma"/>
          <p:cNvSpPr/>
          <p:nvPr/>
        </p:nvSpPr>
        <p:spPr>
          <a:xfrm>
            <a:off x="9476727" y="2564892"/>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1" name="[p3] Icono rotate-ccw"/>
          <p:cNvSpPr/>
          <p:nvPr/>
        </p:nvSpPr>
        <p:spPr>
          <a:xfrm>
            <a:off x="9813226" y="2901391"/>
            <a:ext cx="790042" cy="790042"/>
          </a:xfrm>
          <a:custGeom>
            <a:avLst/>
            <a:gdLst/>
            <a:ahLst/>
            <a:cxnLst/>
            <a:rect l="l" t="t" r="r" b="b"/>
            <a:pathLst>
              <a:path w="790042" h="790042">
                <a:moveTo>
                  <a:pt x="98755" y="395021"/>
                </a:moveTo>
                <a:cubicBezTo>
                  <a:pt x="98755" y="558644"/>
                  <a:pt x="231398" y="691286"/>
                  <a:pt x="395021" y="691286"/>
                </a:cubicBezTo>
                <a:cubicBezTo>
                  <a:pt x="558644" y="691286"/>
                  <a:pt x="691286" y="558644"/>
                  <a:pt x="691286" y="395021"/>
                </a:cubicBezTo>
                <a:cubicBezTo>
                  <a:pt x="691286" y="231398"/>
                  <a:pt x="558644" y="98755"/>
                  <a:pt x="395021" y="98755"/>
                </a:cubicBezTo>
                <a:cubicBezTo>
                  <a:pt x="312197" y="99067"/>
                  <a:pt x="232699" y="131385"/>
                  <a:pt x="173151" y="188952"/>
                </a:cubicBezTo>
                <a:lnTo>
                  <a:pt x="98755" y="263347"/>
                </a:lnTo>
                <a:moveTo>
                  <a:pt x="98755" y="98755"/>
                </a:moveTo>
                <a:lnTo>
                  <a:pt x="98755" y="263347"/>
                </a:lnTo>
                <a:lnTo>
                  <a:pt x="263347" y="263347"/>
                </a:lnTo>
              </a:path>
            </a:pathLst>
          </a:custGeom>
          <a:noFill/>
          <a:ln w="57607" cap="rnd">
            <a:solidFill>
              <a:srgbClr val="0A6648"/>
            </a:solidFill>
            <a:prstDash val="solid"/>
            <a:round/>
          </a:ln>
        </p:spPr>
      </p:sp>
      <p:sp>
        <p:nvSpPr>
          <p:cNvPr id="32" name="[p3] Forma"/>
          <p:cNvSpPr/>
          <p:nvPr/>
        </p:nvSpPr>
        <p:spPr>
          <a:xfrm>
            <a:off x="9440151" y="2528316"/>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3" name="[p3] Forma"/>
          <p:cNvSpPr/>
          <p:nvPr/>
        </p:nvSpPr>
        <p:spPr>
          <a:xfrm>
            <a:off x="8883167" y="4155948"/>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Volver atrás</a:t>
            </a:r>
            <a:endParaRPr lang="en-US" sz="1800" dirty="0"/>
          </a:p>
        </p:txBody>
      </p:sp>
      <p:sp>
        <p:nvSpPr>
          <p:cNvPr id="34" name="[p3] Forma"/>
          <p:cNvSpPr/>
          <p:nvPr/>
        </p:nvSpPr>
        <p:spPr>
          <a:xfrm>
            <a:off x="8947175" y="4594860"/>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Desplegar la imagen anterior.</a:t>
            </a:r>
            <a:endParaRPr lang="en-US" sz="1400" dirty="0"/>
          </a:p>
        </p:txBody>
      </p:sp>
      <p:sp>
        <p:nvSpPr>
          <p:cNvPr id="35" name="Text 3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3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7"/>
                                        </p:tgtEl>
                                        <p:attrNameLst>
                                          <p:attrName>style.visibility</p:attrName>
                                        </p:attrNameLst>
                                      </p:cBhvr>
                                      <p:to>
                                        <p:strVal val="visible"/>
                                      </p:to>
                                    </p:set>
                                    <p:animEffect transition="in" filter="fade">
                                      <p:cBhvr>
                                        <p:cTn id="5" dur="400"/>
                                        <p:tgtEl>
                                          <p:spTgt spid="1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animEffect transition="in" filter="fade">
                                      <p:cBhvr>
                                        <p:cTn id="8" dur="400"/>
                                        <p:tgtEl>
                                          <p:spTgt spid="1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400"/>
                                        <p:tgtEl>
                                          <p:spTgt spid="3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400"/>
                                        <p:tgtEl>
                                          <p:spTgt spid="3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4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trabaja Kubernetes: del archivo al Pod</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450" dirty="0">
                <a:solidFill>
                  <a:srgbClr val="55627E"/>
                </a:solidFill>
                <a:latin typeface="Segoe UI" pitchFamily="34" charset="0"/>
                <a:ea typeface="Segoe UI" pitchFamily="34" charset="-122"/>
                <a:cs typeface="Segoe UI" pitchFamily="34" charset="-120"/>
              </a:rPr>
              <a:t>Describimos en un archivo cómo queremos el sistema; Kubernetes hace lo necesario para que así sea, todo el tiempo.</a:t>
            </a:r>
            <a:endParaRPr lang="en-US" sz="145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thermometer"/>
          <p:cNvSpPr/>
          <p:nvPr/>
        </p:nvSpPr>
        <p:spPr>
          <a:xfrm>
            <a:off x="900867" y="5911779"/>
            <a:ext cx="228234" cy="228234"/>
          </a:xfrm>
          <a:custGeom>
            <a:avLst/>
            <a:gdLst/>
            <a:ahLst/>
            <a:cxnLst/>
            <a:rect l="l" t="t" r="r" b="b"/>
            <a:pathLst>
              <a:path w="228234" h="228234">
                <a:moveTo>
                  <a:pt x="133137" y="38039"/>
                </a:moveTo>
                <a:lnTo>
                  <a:pt x="133137" y="138272"/>
                </a:lnTo>
                <a:cubicBezTo>
                  <a:pt x="148047" y="146880"/>
                  <a:pt x="155316" y="164430"/>
                  <a:pt x="150860" y="181060"/>
                </a:cubicBezTo>
                <a:cubicBezTo>
                  <a:pt x="146404" y="197690"/>
                  <a:pt x="131334" y="209254"/>
                  <a:pt x="114117" y="209254"/>
                </a:cubicBezTo>
                <a:cubicBezTo>
                  <a:pt x="96900" y="209254"/>
                  <a:pt x="81830" y="197690"/>
                  <a:pt x="77374" y="181060"/>
                </a:cubicBezTo>
                <a:cubicBezTo>
                  <a:pt x="72918" y="164430"/>
                  <a:pt x="80188" y="146880"/>
                  <a:pt x="95098" y="138272"/>
                </a:cubicBezTo>
                <a:lnTo>
                  <a:pt x="95098" y="38039"/>
                </a:lnTo>
                <a:cubicBezTo>
                  <a:pt x="95098" y="27535"/>
                  <a:pt x="103613" y="19020"/>
                  <a:pt x="114117" y="19020"/>
                </a:cubicBezTo>
                <a:cubicBezTo>
                  <a:pt x="124621" y="19020"/>
                  <a:pt x="133137" y="27535"/>
                  <a:pt x="133137" y="38039"/>
                </a:cubicBezTo>
                <a:close/>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un termostato: no le decimos cuándo prender el aire, le decimos la temperatura que queremos y él se encarga.</a:t>
            </a:r>
            <a:endParaRPr lang="en-US" sz="1450" dirty="0"/>
          </a:p>
        </p:txBody>
      </p:sp>
      <p:sp>
        <p:nvSpPr>
          <p:cNvPr id="16" name="Shape 14"/>
          <p:cNvSpPr/>
          <p:nvPr/>
        </p:nvSpPr>
        <p:spPr>
          <a:xfrm>
            <a:off x="102412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file-code"/>
          <p:cNvSpPr/>
          <p:nvPr/>
        </p:nvSpPr>
        <p:spPr>
          <a:xfrm>
            <a:off x="1339302" y="2505802"/>
            <a:ext cx="739973" cy="739973"/>
          </a:xfrm>
          <a:custGeom>
            <a:avLst/>
            <a:gdLst/>
            <a:ahLst/>
            <a:cxnLst/>
            <a:rect l="l" t="t" r="r" b="b"/>
            <a:pathLst>
              <a:path w="739973" h="739973">
                <a:moveTo>
                  <a:pt x="308322" y="385402"/>
                </a:moveTo>
                <a:lnTo>
                  <a:pt x="246658" y="462483"/>
                </a:lnTo>
                <a:lnTo>
                  <a:pt x="308322" y="539563"/>
                </a:lnTo>
                <a:moveTo>
                  <a:pt x="431651" y="385402"/>
                </a:moveTo>
                <a:lnTo>
                  <a:pt x="493315" y="462483"/>
                </a:lnTo>
                <a:lnTo>
                  <a:pt x="431651" y="539563"/>
                </a:lnTo>
                <a:moveTo>
                  <a:pt x="431651" y="61664"/>
                </a:moveTo>
                <a:lnTo>
                  <a:pt x="431651" y="184993"/>
                </a:lnTo>
                <a:cubicBezTo>
                  <a:pt x="431651" y="219049"/>
                  <a:pt x="459259" y="246658"/>
                  <a:pt x="493315" y="246658"/>
                </a:cubicBezTo>
                <a:lnTo>
                  <a:pt x="616644" y="246658"/>
                </a:lnTo>
                <a:moveTo>
                  <a:pt x="462483" y="61664"/>
                </a:moveTo>
                <a:lnTo>
                  <a:pt x="184993" y="61664"/>
                </a:lnTo>
                <a:cubicBezTo>
                  <a:pt x="150937" y="61664"/>
                  <a:pt x="123329" y="89272"/>
                  <a:pt x="123329" y="123329"/>
                </a:cubicBezTo>
                <a:lnTo>
                  <a:pt x="123329" y="616644"/>
                </a:lnTo>
                <a:cubicBezTo>
                  <a:pt x="123329" y="650700"/>
                  <a:pt x="150937" y="678308"/>
                  <a:pt x="184993" y="678308"/>
                </a:cubicBezTo>
                <a:lnTo>
                  <a:pt x="554980" y="678308"/>
                </a:lnTo>
                <a:cubicBezTo>
                  <a:pt x="589036" y="678308"/>
                  <a:pt x="616644" y="650700"/>
                  <a:pt x="616644" y="616644"/>
                </a:cubicBezTo>
                <a:lnTo>
                  <a:pt x="616644" y="215825"/>
                </a:lnTo>
                <a:close/>
              </a:path>
            </a:pathLst>
          </a:custGeom>
          <a:noFill/>
          <a:ln w="53956" cap="rnd">
            <a:solidFill>
              <a:srgbClr val="0B2350"/>
            </a:solidFill>
            <a:prstDash val="solid"/>
            <a:round/>
          </a:ln>
        </p:spPr>
      </p:sp>
      <p:sp>
        <p:nvSpPr>
          <p:cNvPr id="18" name="Text 16"/>
          <p:cNvSpPr/>
          <p:nvPr/>
        </p:nvSpPr>
        <p:spPr>
          <a:xfrm>
            <a:off x="98755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9" name="Text 17"/>
          <p:cNvSpPr/>
          <p:nvPr/>
        </p:nvSpPr>
        <p:spPr>
          <a:xfrm>
            <a:off x="65836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Manifiesto YAML</a:t>
            </a:r>
            <a:endParaRPr lang="en-US" sz="1800" dirty="0"/>
          </a:p>
        </p:txBody>
      </p:sp>
      <p:sp>
        <p:nvSpPr>
          <p:cNvPr id="20" name="Text 18"/>
          <p:cNvSpPr/>
          <p:nvPr/>
        </p:nvSpPr>
        <p:spPr>
          <a:xfrm>
            <a:off x="72237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Qué imagen, cuántas copias y qué variables.</a:t>
            </a:r>
            <a:endParaRPr lang="en-US" sz="1400" dirty="0"/>
          </a:p>
        </p:txBody>
      </p:sp>
      <p:sp>
        <p:nvSpPr>
          <p:cNvPr id="21" name="[p1] Forma"/>
          <p:cNvSpPr/>
          <p:nvPr/>
        </p:nvSpPr>
        <p:spPr>
          <a:xfrm>
            <a:off x="2485888" y="2875788"/>
            <a:ext cx="640080" cy="0"/>
          </a:xfrm>
          <a:prstGeom prst="line">
            <a:avLst/>
          </a:prstGeom>
          <a:noFill/>
          <a:ln w="38100">
            <a:solidFill>
              <a:srgbClr val="2BA6CB"/>
            </a:solidFill>
            <a:prstDash val="solid"/>
            <a:tailEnd type="triangle"/>
          </a:ln>
        </p:spPr>
      </p:sp>
      <p:sp>
        <p:nvSpPr>
          <p:cNvPr id="22" name="[p1] Forma"/>
          <p:cNvSpPr/>
          <p:nvPr/>
        </p:nvSpPr>
        <p:spPr>
          <a:xfrm>
            <a:off x="3217408" y="2190628"/>
            <a:ext cx="1370320" cy="137032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23" name="[p1] Icono terminal"/>
          <p:cNvSpPr/>
          <p:nvPr/>
        </p:nvSpPr>
        <p:spPr>
          <a:xfrm>
            <a:off x="3532581" y="2505802"/>
            <a:ext cx="739973" cy="739973"/>
          </a:xfrm>
          <a:custGeom>
            <a:avLst/>
            <a:gdLst/>
            <a:ahLst/>
            <a:cxnLst/>
            <a:rect l="l" t="t" r="r" b="b"/>
            <a:pathLst>
              <a:path w="739973" h="739973">
                <a:moveTo>
                  <a:pt x="123329" y="524147"/>
                </a:moveTo>
                <a:lnTo>
                  <a:pt x="308322" y="339154"/>
                </a:lnTo>
                <a:lnTo>
                  <a:pt x="123329" y="154161"/>
                </a:lnTo>
                <a:moveTo>
                  <a:pt x="369986" y="585812"/>
                </a:moveTo>
                <a:lnTo>
                  <a:pt x="616644" y="585812"/>
                </a:lnTo>
              </a:path>
            </a:pathLst>
          </a:custGeom>
          <a:noFill/>
          <a:ln w="53956" cap="rnd">
            <a:solidFill>
              <a:srgbClr val="0B2350"/>
            </a:solidFill>
            <a:prstDash val="solid"/>
            <a:round/>
          </a:ln>
        </p:spPr>
      </p:sp>
      <p:sp>
        <p:nvSpPr>
          <p:cNvPr id="24" name="[p1] Forma"/>
          <p:cNvSpPr/>
          <p:nvPr/>
        </p:nvSpPr>
        <p:spPr>
          <a:xfrm>
            <a:off x="3180832" y="215405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5" name="[p1] Forma"/>
          <p:cNvSpPr/>
          <p:nvPr/>
        </p:nvSpPr>
        <p:spPr>
          <a:xfrm>
            <a:off x="285164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kubectl apply</a:t>
            </a:r>
            <a:endParaRPr lang="en-US" sz="1800" dirty="0"/>
          </a:p>
        </p:txBody>
      </p:sp>
      <p:sp>
        <p:nvSpPr>
          <p:cNvPr id="26" name="[p1] Forma"/>
          <p:cNvSpPr/>
          <p:nvPr/>
        </p:nvSpPr>
        <p:spPr>
          <a:xfrm>
            <a:off x="291565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Se lo entrega al clúster.</a:t>
            </a:r>
            <a:endParaRPr lang="en-US" sz="1400" dirty="0"/>
          </a:p>
        </p:txBody>
      </p:sp>
      <p:sp>
        <p:nvSpPr>
          <p:cNvPr id="27" name="[p2] Forma"/>
          <p:cNvSpPr/>
          <p:nvPr/>
        </p:nvSpPr>
        <p:spPr>
          <a:xfrm>
            <a:off x="4679168" y="2875788"/>
            <a:ext cx="640080" cy="0"/>
          </a:xfrm>
          <a:prstGeom prst="line">
            <a:avLst/>
          </a:prstGeom>
          <a:noFill/>
          <a:ln w="38100">
            <a:solidFill>
              <a:srgbClr val="2BA6CB"/>
            </a:solidFill>
            <a:prstDash val="solid"/>
            <a:tailEnd type="triangle"/>
          </a:ln>
        </p:spPr>
      </p:sp>
      <p:sp>
        <p:nvSpPr>
          <p:cNvPr id="28" name="[p2] Forma"/>
          <p:cNvSpPr/>
          <p:nvPr/>
        </p:nvSpPr>
        <p:spPr>
          <a:xfrm>
            <a:off x="541068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29" name="[p2] Icono layers"/>
          <p:cNvSpPr/>
          <p:nvPr/>
        </p:nvSpPr>
        <p:spPr>
          <a:xfrm>
            <a:off x="5725861" y="2505802"/>
            <a:ext cx="739973" cy="739973"/>
          </a:xfrm>
          <a:custGeom>
            <a:avLst/>
            <a:gdLst/>
            <a:ahLst/>
            <a:cxnLst/>
            <a:rect l="l" t="t" r="r" b="b"/>
            <a:pathLst>
              <a:path w="739973" h="739973">
                <a:moveTo>
                  <a:pt x="395577" y="67214"/>
                </a:moveTo>
                <a:cubicBezTo>
                  <a:pt x="379322" y="59800"/>
                  <a:pt x="360651" y="59800"/>
                  <a:pt x="344396" y="67214"/>
                </a:cubicBezTo>
                <a:lnTo>
                  <a:pt x="80164" y="187460"/>
                </a:lnTo>
                <a:cubicBezTo>
                  <a:pt x="68985" y="192389"/>
                  <a:pt x="61771" y="203454"/>
                  <a:pt x="61771" y="215671"/>
                </a:cubicBezTo>
                <a:cubicBezTo>
                  <a:pt x="61771" y="227889"/>
                  <a:pt x="68985" y="238954"/>
                  <a:pt x="80164" y="243883"/>
                </a:cubicBezTo>
                <a:lnTo>
                  <a:pt x="344704" y="364437"/>
                </a:lnTo>
                <a:cubicBezTo>
                  <a:pt x="360959" y="371851"/>
                  <a:pt x="379630" y="371851"/>
                  <a:pt x="395885" y="364437"/>
                </a:cubicBezTo>
                <a:lnTo>
                  <a:pt x="660426" y="244191"/>
                </a:lnTo>
                <a:cubicBezTo>
                  <a:pt x="671605" y="239262"/>
                  <a:pt x="678818" y="228197"/>
                  <a:pt x="678818" y="215980"/>
                </a:cubicBezTo>
                <a:cubicBezTo>
                  <a:pt x="678818" y="203762"/>
                  <a:pt x="671605" y="192697"/>
                  <a:pt x="660426" y="187768"/>
                </a:cubicBezTo>
                <a:close/>
                <a:moveTo>
                  <a:pt x="61664" y="369986"/>
                </a:moveTo>
                <a:cubicBezTo>
                  <a:pt x="61635" y="382029"/>
                  <a:pt x="68618" y="392986"/>
                  <a:pt x="79547" y="398044"/>
                </a:cubicBezTo>
                <a:lnTo>
                  <a:pt x="344704" y="518598"/>
                </a:lnTo>
                <a:cubicBezTo>
                  <a:pt x="360872" y="525919"/>
                  <a:pt x="379410" y="525919"/>
                  <a:pt x="395577" y="518598"/>
                </a:cubicBezTo>
                <a:lnTo>
                  <a:pt x="660117" y="398352"/>
                </a:lnTo>
                <a:cubicBezTo>
                  <a:pt x="671269" y="393340"/>
                  <a:pt x="678405" y="382212"/>
                  <a:pt x="678308" y="369986"/>
                </a:cubicBezTo>
                <a:moveTo>
                  <a:pt x="61664" y="524147"/>
                </a:moveTo>
                <a:cubicBezTo>
                  <a:pt x="61635" y="536190"/>
                  <a:pt x="68618" y="547147"/>
                  <a:pt x="79547" y="552205"/>
                </a:cubicBezTo>
                <a:lnTo>
                  <a:pt x="344704" y="672759"/>
                </a:lnTo>
                <a:cubicBezTo>
                  <a:pt x="360872" y="680080"/>
                  <a:pt x="379410" y="680080"/>
                  <a:pt x="395577" y="672759"/>
                </a:cubicBezTo>
                <a:lnTo>
                  <a:pt x="660117" y="552513"/>
                </a:lnTo>
                <a:cubicBezTo>
                  <a:pt x="671269" y="547501"/>
                  <a:pt x="678405" y="536373"/>
                  <a:pt x="678308" y="524147"/>
                </a:cubicBezTo>
              </a:path>
            </a:pathLst>
          </a:custGeom>
          <a:noFill/>
          <a:ln w="53956" cap="rnd">
            <a:solidFill>
              <a:srgbClr val="0B6E8A"/>
            </a:solidFill>
            <a:prstDash val="solid"/>
            <a:round/>
          </a:ln>
        </p:spPr>
      </p:sp>
      <p:sp>
        <p:nvSpPr>
          <p:cNvPr id="30" name="[p2] Forma"/>
          <p:cNvSpPr/>
          <p:nvPr/>
        </p:nvSpPr>
        <p:spPr>
          <a:xfrm>
            <a:off x="537411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1" name="[p2] Forma"/>
          <p:cNvSpPr/>
          <p:nvPr/>
        </p:nvSpPr>
        <p:spPr>
          <a:xfrm>
            <a:off x="504492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Deployment</a:t>
            </a:r>
            <a:endParaRPr lang="en-US" sz="1800" dirty="0"/>
          </a:p>
        </p:txBody>
      </p:sp>
      <p:sp>
        <p:nvSpPr>
          <p:cNvPr id="32" name="[p2] Forma"/>
          <p:cNvSpPr/>
          <p:nvPr/>
        </p:nvSpPr>
        <p:spPr>
          <a:xfrm>
            <a:off x="510893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Crea los Pods con la imagen.</a:t>
            </a:r>
            <a:endParaRPr lang="en-US" sz="1400" dirty="0"/>
          </a:p>
        </p:txBody>
      </p:sp>
      <p:sp>
        <p:nvSpPr>
          <p:cNvPr id="33" name="[p3] Forma"/>
          <p:cNvSpPr/>
          <p:nvPr/>
        </p:nvSpPr>
        <p:spPr>
          <a:xfrm>
            <a:off x="6872448" y="2875788"/>
            <a:ext cx="640080" cy="0"/>
          </a:xfrm>
          <a:prstGeom prst="line">
            <a:avLst/>
          </a:prstGeom>
          <a:noFill/>
          <a:ln w="38100">
            <a:solidFill>
              <a:srgbClr val="2BA6CB"/>
            </a:solidFill>
            <a:prstDash val="solid"/>
            <a:tailEnd type="triangle"/>
          </a:ln>
        </p:spPr>
      </p:sp>
      <p:sp>
        <p:nvSpPr>
          <p:cNvPr id="34" name="[p3] Forma"/>
          <p:cNvSpPr/>
          <p:nvPr/>
        </p:nvSpPr>
        <p:spPr>
          <a:xfrm>
            <a:off x="7603968" y="2190628"/>
            <a:ext cx="1370320" cy="1370320"/>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5" name="[p3] Icono network"/>
          <p:cNvSpPr/>
          <p:nvPr/>
        </p:nvSpPr>
        <p:spPr>
          <a:xfrm>
            <a:off x="7919141" y="2505802"/>
            <a:ext cx="739973" cy="739973"/>
          </a:xfrm>
          <a:custGeom>
            <a:avLst/>
            <a:gdLst/>
            <a:ahLst/>
            <a:cxnLst/>
            <a:rect l="l" t="t" r="r" b="b"/>
            <a:pathLst>
              <a:path w="739973" h="739973">
                <a:moveTo>
                  <a:pt x="524147" y="493315"/>
                </a:moveTo>
                <a:lnTo>
                  <a:pt x="647476" y="493315"/>
                </a:lnTo>
                <a:cubicBezTo>
                  <a:pt x="664504" y="493315"/>
                  <a:pt x="678308" y="507119"/>
                  <a:pt x="678308" y="524147"/>
                </a:cubicBezTo>
                <a:lnTo>
                  <a:pt x="678308" y="647476"/>
                </a:lnTo>
                <a:cubicBezTo>
                  <a:pt x="678308" y="664504"/>
                  <a:pt x="664504" y="678308"/>
                  <a:pt x="647476" y="678308"/>
                </a:cubicBezTo>
                <a:lnTo>
                  <a:pt x="524147" y="678308"/>
                </a:lnTo>
                <a:cubicBezTo>
                  <a:pt x="507119" y="678308"/>
                  <a:pt x="493315" y="664504"/>
                  <a:pt x="493315" y="647476"/>
                </a:cubicBezTo>
                <a:lnTo>
                  <a:pt x="493315" y="524147"/>
                </a:lnTo>
                <a:cubicBezTo>
                  <a:pt x="493315" y="507119"/>
                  <a:pt x="507119" y="493315"/>
                  <a:pt x="524147" y="493315"/>
                </a:cubicBezTo>
                <a:close/>
                <a:moveTo>
                  <a:pt x="92497" y="493315"/>
                </a:moveTo>
                <a:lnTo>
                  <a:pt x="215825" y="493315"/>
                </a:lnTo>
                <a:cubicBezTo>
                  <a:pt x="232854" y="493315"/>
                  <a:pt x="246658" y="507119"/>
                  <a:pt x="246658" y="524147"/>
                </a:cubicBezTo>
                <a:lnTo>
                  <a:pt x="246658" y="647476"/>
                </a:lnTo>
                <a:cubicBezTo>
                  <a:pt x="246658" y="664504"/>
                  <a:pt x="232854" y="678308"/>
                  <a:pt x="215825" y="678308"/>
                </a:cubicBezTo>
                <a:lnTo>
                  <a:pt x="92497" y="678308"/>
                </a:lnTo>
                <a:cubicBezTo>
                  <a:pt x="75468" y="678308"/>
                  <a:pt x="61664" y="664504"/>
                  <a:pt x="61664" y="647476"/>
                </a:cubicBezTo>
                <a:lnTo>
                  <a:pt x="61664" y="524147"/>
                </a:lnTo>
                <a:cubicBezTo>
                  <a:pt x="61664" y="507119"/>
                  <a:pt x="75468" y="493315"/>
                  <a:pt x="92497" y="493315"/>
                </a:cubicBezTo>
                <a:close/>
                <a:moveTo>
                  <a:pt x="308322" y="61664"/>
                </a:moveTo>
                <a:lnTo>
                  <a:pt x="431651" y="61664"/>
                </a:lnTo>
                <a:cubicBezTo>
                  <a:pt x="448679" y="61664"/>
                  <a:pt x="462483" y="75468"/>
                  <a:pt x="462483" y="92497"/>
                </a:cubicBezTo>
                <a:lnTo>
                  <a:pt x="462483" y="215825"/>
                </a:lnTo>
                <a:cubicBezTo>
                  <a:pt x="462483" y="232854"/>
                  <a:pt x="448679" y="246658"/>
                  <a:pt x="431651" y="246658"/>
                </a:cubicBezTo>
                <a:lnTo>
                  <a:pt x="308322" y="246658"/>
                </a:lnTo>
                <a:cubicBezTo>
                  <a:pt x="291294" y="246658"/>
                  <a:pt x="277490" y="232854"/>
                  <a:pt x="277490" y="215825"/>
                </a:cubicBezTo>
                <a:lnTo>
                  <a:pt x="277490" y="92497"/>
                </a:lnTo>
                <a:cubicBezTo>
                  <a:pt x="277490" y="75468"/>
                  <a:pt x="291294" y="61664"/>
                  <a:pt x="308322" y="61664"/>
                </a:cubicBezTo>
                <a:close/>
                <a:moveTo>
                  <a:pt x="154161" y="493315"/>
                </a:moveTo>
                <a:lnTo>
                  <a:pt x="154161" y="400819"/>
                </a:lnTo>
                <a:cubicBezTo>
                  <a:pt x="154161" y="383790"/>
                  <a:pt x="167965" y="369986"/>
                  <a:pt x="184993" y="369986"/>
                </a:cubicBezTo>
                <a:lnTo>
                  <a:pt x="554980" y="369986"/>
                </a:lnTo>
                <a:cubicBezTo>
                  <a:pt x="572008" y="369986"/>
                  <a:pt x="585812" y="383790"/>
                  <a:pt x="585812" y="400819"/>
                </a:cubicBezTo>
                <a:lnTo>
                  <a:pt x="585812" y="493315"/>
                </a:lnTo>
                <a:moveTo>
                  <a:pt x="369986" y="369986"/>
                </a:moveTo>
                <a:lnTo>
                  <a:pt x="369986" y="246658"/>
                </a:lnTo>
              </a:path>
            </a:pathLst>
          </a:custGeom>
          <a:noFill/>
          <a:ln w="53956" cap="rnd">
            <a:solidFill>
              <a:srgbClr val="0B6E8A"/>
            </a:solidFill>
            <a:prstDash val="solid"/>
            <a:round/>
          </a:ln>
        </p:spPr>
      </p:sp>
      <p:sp>
        <p:nvSpPr>
          <p:cNvPr id="36" name="[p3] Forma"/>
          <p:cNvSpPr/>
          <p:nvPr/>
        </p:nvSpPr>
        <p:spPr>
          <a:xfrm>
            <a:off x="7567392" y="2154052"/>
            <a:ext cx="347472" cy="347472"/>
          </a:xfrm>
          <a:prstGeom prst="ellipse">
            <a:avLst/>
          </a:prstGeom>
          <a:solidFill>
            <a:srgbClr val="0B6E8A"/>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7" name="[p3] Forma"/>
          <p:cNvSpPr/>
          <p:nvPr/>
        </p:nvSpPr>
        <p:spPr>
          <a:xfrm>
            <a:off x="7238208" y="3688964"/>
            <a:ext cx="210184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Service</a:t>
            </a:r>
            <a:endParaRPr lang="en-US" sz="1800" dirty="0"/>
          </a:p>
        </p:txBody>
      </p:sp>
      <p:sp>
        <p:nvSpPr>
          <p:cNvPr id="38" name="[p3] Forma"/>
          <p:cNvSpPr/>
          <p:nvPr/>
        </p:nvSpPr>
        <p:spPr>
          <a:xfrm>
            <a:off x="7302216"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 nombre fijo para encontrarlos.</a:t>
            </a:r>
            <a:endParaRPr lang="en-US" sz="1400" dirty="0"/>
          </a:p>
        </p:txBody>
      </p:sp>
      <p:sp>
        <p:nvSpPr>
          <p:cNvPr id="39" name="[p4] Forma"/>
          <p:cNvSpPr/>
          <p:nvPr/>
        </p:nvSpPr>
        <p:spPr>
          <a:xfrm>
            <a:off x="9065727" y="2875788"/>
            <a:ext cx="640080" cy="0"/>
          </a:xfrm>
          <a:prstGeom prst="line">
            <a:avLst/>
          </a:prstGeom>
          <a:noFill/>
          <a:ln w="38100">
            <a:solidFill>
              <a:srgbClr val="2BA6CB"/>
            </a:solidFill>
            <a:prstDash val="solid"/>
            <a:tailEnd type="triangle"/>
          </a:ln>
        </p:spPr>
      </p:sp>
      <p:sp>
        <p:nvSpPr>
          <p:cNvPr id="40" name="[p4] Forma"/>
          <p:cNvSpPr/>
          <p:nvPr/>
        </p:nvSpPr>
        <p:spPr>
          <a:xfrm>
            <a:off x="9797247" y="2190628"/>
            <a:ext cx="1370320" cy="137032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1" name="[p4] Icono refresh-cw"/>
          <p:cNvSpPr/>
          <p:nvPr/>
        </p:nvSpPr>
        <p:spPr>
          <a:xfrm>
            <a:off x="10112421" y="2505802"/>
            <a:ext cx="739973" cy="739973"/>
          </a:xfrm>
          <a:custGeom>
            <a:avLst/>
            <a:gdLst/>
            <a:ahLst/>
            <a:cxnLst/>
            <a:rect l="l" t="t" r="r" b="b"/>
            <a:pathLst>
              <a:path w="739973" h="739973">
                <a:moveTo>
                  <a:pt x="92497" y="369986"/>
                </a:moveTo>
                <a:cubicBezTo>
                  <a:pt x="92497" y="216733"/>
                  <a:pt x="216733" y="92497"/>
                  <a:pt x="369986" y="92497"/>
                </a:cubicBezTo>
                <a:cubicBezTo>
                  <a:pt x="447562" y="92788"/>
                  <a:pt x="522021" y="123058"/>
                  <a:pt x="577795" y="176977"/>
                </a:cubicBezTo>
                <a:lnTo>
                  <a:pt x="647476" y="246658"/>
                </a:lnTo>
                <a:moveTo>
                  <a:pt x="647476" y="92497"/>
                </a:moveTo>
                <a:lnTo>
                  <a:pt x="647476" y="246658"/>
                </a:lnTo>
                <a:lnTo>
                  <a:pt x="493315" y="246658"/>
                </a:lnTo>
                <a:moveTo>
                  <a:pt x="647476" y="369986"/>
                </a:moveTo>
                <a:cubicBezTo>
                  <a:pt x="647476" y="523240"/>
                  <a:pt x="523240" y="647476"/>
                  <a:pt x="369986" y="647476"/>
                </a:cubicBezTo>
                <a:cubicBezTo>
                  <a:pt x="292411" y="647184"/>
                  <a:pt x="217952" y="616915"/>
                  <a:pt x="162177" y="562996"/>
                </a:cubicBezTo>
                <a:lnTo>
                  <a:pt x="92497" y="493315"/>
                </a:lnTo>
                <a:moveTo>
                  <a:pt x="246658" y="493315"/>
                </a:moveTo>
                <a:lnTo>
                  <a:pt x="92497" y="493315"/>
                </a:lnTo>
                <a:lnTo>
                  <a:pt x="92497" y="647476"/>
                </a:lnTo>
              </a:path>
            </a:pathLst>
          </a:custGeom>
          <a:noFill/>
          <a:ln w="53956" cap="rnd">
            <a:solidFill>
              <a:srgbClr val="0A6648"/>
            </a:solidFill>
            <a:prstDash val="solid"/>
            <a:round/>
          </a:ln>
        </p:spPr>
      </p:sp>
      <p:sp>
        <p:nvSpPr>
          <p:cNvPr id="42" name="[p4] Forma"/>
          <p:cNvSpPr/>
          <p:nvPr/>
        </p:nvSpPr>
        <p:spPr>
          <a:xfrm>
            <a:off x="9760671" y="215405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3" name="[p4] Forma"/>
          <p:cNvSpPr/>
          <p:nvPr/>
        </p:nvSpPr>
        <p:spPr>
          <a:xfrm>
            <a:off x="9431487" y="3688964"/>
            <a:ext cx="2101840" cy="420624"/>
          </a:xfrm>
          <a:prstGeom prst="rect">
            <a:avLst/>
          </a:prstGeom>
          <a:noFill/>
          <a:ln/>
        </p:spPr>
        <p:txBody>
          <a:bodyPr wrap="square" lIns="0" tIns="0" rIns="0" bIns="0" rtlCol="0" anchor="t">
            <a:normAutofit/>
          </a:bodyPr>
          <a:lstStyle/>
          <a:p>
            <a:pPr algn="ctr" indent="0" marL="0">
              <a:buNone/>
            </a:pPr>
            <a:r>
              <a:rPr lang="en-US" sz="1750" b="1" dirty="0">
                <a:solidFill>
                  <a:srgbClr val="0B1A3C"/>
                </a:solidFill>
                <a:latin typeface="Segoe UI Semibold" pitchFamily="34" charset="0"/>
                <a:ea typeface="Segoe UI Semibold" pitchFamily="34" charset="-122"/>
                <a:cs typeface="Segoe UI Semibold" pitchFamily="34" charset="-120"/>
              </a:rPr>
              <a:t>Ciclo de control</a:t>
            </a:r>
            <a:endParaRPr lang="en-US" sz="1750" dirty="0"/>
          </a:p>
        </p:txBody>
      </p:sp>
      <p:sp>
        <p:nvSpPr>
          <p:cNvPr id="44" name="[p4] Forma"/>
          <p:cNvSpPr/>
          <p:nvPr/>
        </p:nvSpPr>
        <p:spPr>
          <a:xfrm>
            <a:off x="9495495" y="4127876"/>
            <a:ext cx="197382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Compara lo que hay con lo pedido y corrige.</a:t>
            </a:r>
            <a:endParaRPr lang="en-US" sz="1400" dirty="0"/>
          </a:p>
        </p:txBody>
      </p:sp>
      <p:sp>
        <p:nvSpPr>
          <p:cNvPr id="45" name="Text 4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4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fade">
                                      <p:cBhvr>
                                        <p:cTn id="65" dur="400"/>
                                        <p:tgtEl>
                                          <p:spTgt spid="3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400"/>
                                        <p:tgtEl>
                                          <p:spTgt spid="4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400"/>
                                        <p:tgtEl>
                                          <p:spTgt spid="4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400"/>
                                        <p:tgtEl>
                                          <p:spTgt spid="4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400"/>
                                        <p:tgtEl>
                                          <p:spTgt spid="4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Los recursos de Kubernetes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Describimos el estado que queremos; Kubernetes lo mantiene.</a:t>
            </a:r>
            <a:endParaRPr lang="en-US" sz="1700" dirty="0"/>
          </a:p>
        </p:txBody>
      </p:sp>
      <p:sp>
        <p:nvSpPr>
          <p:cNvPr id="12" name="Shape 10"/>
          <p:cNvSpPr/>
          <p:nvPr/>
        </p:nvSpPr>
        <p:spPr>
          <a:xfrm>
            <a:off x="612648" y="1719072"/>
            <a:ext cx="10966399" cy="1008126"/>
          </a:xfrm>
          <a:prstGeom prst="roundRect">
            <a:avLst>
              <a:gd name="adj" fmla="val 10884"/>
            </a:avLst>
          </a:prstGeom>
          <a:solidFill>
            <a:srgbClr val="F5F2FE"/>
          </a:solidFill>
          <a:ln w="12700">
            <a:solidFill>
              <a:srgbClr val="CEC5ED"/>
            </a:solidFill>
            <a:prstDash val="solid"/>
          </a:ln>
        </p:spPr>
      </p:sp>
      <p:sp>
        <p:nvSpPr>
          <p:cNvPr id="13" name="Text 11"/>
          <p:cNvSpPr/>
          <p:nvPr/>
        </p:nvSpPr>
        <p:spPr>
          <a:xfrm>
            <a:off x="612648" y="1719072"/>
            <a:ext cx="1600200" cy="1008126"/>
          </a:xfrm>
          <a:prstGeom prst="roundRect">
            <a:avLst>
              <a:gd name="adj" fmla="val 10884"/>
            </a:avLst>
          </a:prstGeom>
          <a:solidFill>
            <a:srgbClr val="5B3FC4"/>
          </a:solidFill>
          <a:ln>
            <a:solidFill>
              <a:srgbClr val="5B3FC4"/>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ACCESO</a:t>
            </a:r>
            <a:endParaRPr lang="en-US" sz="1300" dirty="0"/>
          </a:p>
        </p:txBody>
      </p:sp>
      <p:sp>
        <p:nvSpPr>
          <p:cNvPr id="14" name="Shape 12"/>
          <p:cNvSpPr/>
          <p:nvPr/>
        </p:nvSpPr>
        <p:spPr>
          <a:xfrm>
            <a:off x="2395728"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15" name="Shape 13"/>
          <p:cNvSpPr/>
          <p:nvPr/>
        </p:nvSpPr>
        <p:spPr>
          <a:xfrm>
            <a:off x="2542032" y="1939671"/>
            <a:ext cx="566928" cy="566928"/>
          </a:xfrm>
          <a:prstGeom prst="ellipse">
            <a:avLst/>
          </a:prstGeom>
          <a:solidFill>
            <a:srgbClr val="F1EEFD"/>
          </a:solidFill>
          <a:ln w="12700">
            <a:solidFill>
              <a:srgbClr val="F1EEFD"/>
            </a:solidFill>
            <a:prstDash val="solid"/>
          </a:ln>
        </p:spPr>
      </p:sp>
      <p:sp>
        <p:nvSpPr>
          <p:cNvPr id="16" name="Icono network"/>
          <p:cNvSpPr/>
          <p:nvPr/>
        </p:nvSpPr>
        <p:spPr>
          <a:xfrm>
            <a:off x="2678095" y="2075734"/>
            <a:ext cx="294803" cy="294803"/>
          </a:xfrm>
          <a:custGeom>
            <a:avLst/>
            <a:gdLst/>
            <a:ahLst/>
            <a:cxnLst/>
            <a:rect l="l" t="t" r="r" b="b"/>
            <a:pathLst>
              <a:path w="294803" h="294803">
                <a:moveTo>
                  <a:pt x="208818" y="196535"/>
                </a:moveTo>
                <a:lnTo>
                  <a:pt x="257952" y="196535"/>
                </a:lnTo>
                <a:cubicBezTo>
                  <a:pt x="264736" y="196535"/>
                  <a:pt x="270236" y="202035"/>
                  <a:pt x="270236" y="208818"/>
                </a:cubicBezTo>
                <a:lnTo>
                  <a:pt x="270236" y="257952"/>
                </a:lnTo>
                <a:cubicBezTo>
                  <a:pt x="270236" y="264736"/>
                  <a:pt x="264736" y="270236"/>
                  <a:pt x="257952" y="270236"/>
                </a:cubicBezTo>
                <a:lnTo>
                  <a:pt x="208818" y="270236"/>
                </a:lnTo>
                <a:cubicBezTo>
                  <a:pt x="202035" y="270236"/>
                  <a:pt x="196535" y="264736"/>
                  <a:pt x="196535" y="257952"/>
                </a:cubicBezTo>
                <a:lnTo>
                  <a:pt x="196535" y="208818"/>
                </a:lnTo>
                <a:cubicBezTo>
                  <a:pt x="196535" y="202035"/>
                  <a:pt x="202035" y="196535"/>
                  <a:pt x="208818" y="196535"/>
                </a:cubicBezTo>
                <a:close/>
                <a:moveTo>
                  <a:pt x="36850" y="196535"/>
                </a:moveTo>
                <a:lnTo>
                  <a:pt x="85984" y="196535"/>
                </a:lnTo>
                <a:cubicBezTo>
                  <a:pt x="92768" y="196535"/>
                  <a:pt x="98268" y="202035"/>
                  <a:pt x="98268" y="208818"/>
                </a:cubicBezTo>
                <a:lnTo>
                  <a:pt x="98268" y="257952"/>
                </a:lnTo>
                <a:cubicBezTo>
                  <a:pt x="98268" y="264736"/>
                  <a:pt x="92768" y="270236"/>
                  <a:pt x="85984" y="270236"/>
                </a:cubicBezTo>
                <a:lnTo>
                  <a:pt x="36850" y="270236"/>
                </a:lnTo>
                <a:cubicBezTo>
                  <a:pt x="30066" y="270236"/>
                  <a:pt x="24567" y="264736"/>
                  <a:pt x="24567" y="257952"/>
                </a:cubicBezTo>
                <a:lnTo>
                  <a:pt x="24567" y="208818"/>
                </a:lnTo>
                <a:cubicBezTo>
                  <a:pt x="24567" y="202035"/>
                  <a:pt x="30066" y="196535"/>
                  <a:pt x="36850" y="196535"/>
                </a:cubicBezTo>
                <a:close/>
                <a:moveTo>
                  <a:pt x="122834" y="24567"/>
                </a:moveTo>
                <a:lnTo>
                  <a:pt x="171968" y="24567"/>
                </a:lnTo>
                <a:cubicBezTo>
                  <a:pt x="178752" y="24567"/>
                  <a:pt x="184252" y="30066"/>
                  <a:pt x="184252" y="36850"/>
                </a:cubicBezTo>
                <a:lnTo>
                  <a:pt x="184252" y="85984"/>
                </a:lnTo>
                <a:cubicBezTo>
                  <a:pt x="184252" y="92768"/>
                  <a:pt x="178752" y="98268"/>
                  <a:pt x="171968" y="98268"/>
                </a:cubicBezTo>
                <a:lnTo>
                  <a:pt x="122834" y="98268"/>
                </a:lnTo>
                <a:cubicBezTo>
                  <a:pt x="116050" y="98268"/>
                  <a:pt x="110551" y="92768"/>
                  <a:pt x="110551" y="85984"/>
                </a:cubicBezTo>
                <a:lnTo>
                  <a:pt x="110551" y="36850"/>
                </a:lnTo>
                <a:cubicBezTo>
                  <a:pt x="110551" y="30066"/>
                  <a:pt x="116050" y="24567"/>
                  <a:pt x="122834" y="24567"/>
                </a:cubicBezTo>
                <a:close/>
                <a:moveTo>
                  <a:pt x="61417" y="196535"/>
                </a:moveTo>
                <a:lnTo>
                  <a:pt x="61417" y="159685"/>
                </a:lnTo>
                <a:cubicBezTo>
                  <a:pt x="61417" y="152901"/>
                  <a:pt x="66917" y="147401"/>
                  <a:pt x="73701" y="147401"/>
                </a:cubicBezTo>
                <a:lnTo>
                  <a:pt x="221102" y="147401"/>
                </a:lnTo>
                <a:cubicBezTo>
                  <a:pt x="227886" y="147401"/>
                  <a:pt x="233385" y="152901"/>
                  <a:pt x="233385" y="159685"/>
                </a:cubicBezTo>
                <a:lnTo>
                  <a:pt x="233385" y="196535"/>
                </a:lnTo>
                <a:moveTo>
                  <a:pt x="147401" y="147401"/>
                </a:moveTo>
                <a:lnTo>
                  <a:pt x="147401" y="98268"/>
                </a:lnTo>
              </a:path>
            </a:pathLst>
          </a:custGeom>
          <a:noFill/>
          <a:ln w="24567" cap="rnd">
            <a:solidFill>
              <a:srgbClr val="5B3FC4"/>
            </a:solidFill>
            <a:prstDash val="solid"/>
            <a:round/>
          </a:ln>
        </p:spPr>
      </p:sp>
      <p:sp>
        <p:nvSpPr>
          <p:cNvPr id="17" name="Text 15"/>
          <p:cNvSpPr/>
          <p:nvPr/>
        </p:nvSpPr>
        <p:spPr>
          <a:xfrm>
            <a:off x="3255264"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Service</a:t>
            </a:r>
            <a:endParaRPr lang="en-US" sz="1500" dirty="0"/>
          </a:p>
        </p:txBody>
      </p:sp>
      <p:sp>
        <p:nvSpPr>
          <p:cNvPr id="18" name="Text 16"/>
          <p:cNvSpPr/>
          <p:nvPr/>
        </p:nvSpPr>
        <p:spPr>
          <a:xfrm>
            <a:off x="3255264"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nombre fijo por componente</a:t>
            </a:r>
            <a:endParaRPr lang="en-US" sz="1200" dirty="0"/>
          </a:p>
        </p:txBody>
      </p:sp>
      <p:sp>
        <p:nvSpPr>
          <p:cNvPr id="19" name="Shape 17"/>
          <p:cNvSpPr/>
          <p:nvPr/>
        </p:nvSpPr>
        <p:spPr>
          <a:xfrm>
            <a:off x="7001104" y="1810512"/>
            <a:ext cx="4440784" cy="825246"/>
          </a:xfrm>
          <a:prstGeom prst="roundRect">
            <a:avLst>
              <a:gd name="adj" fmla="val 15512"/>
            </a:avLst>
          </a:prstGeom>
          <a:solidFill>
            <a:srgbClr val="FFFFFF"/>
          </a:solidFill>
          <a:ln w="12700">
            <a:solidFill>
              <a:srgbClr val="BDB2E7"/>
            </a:solidFill>
            <a:prstDash val="solid"/>
          </a:ln>
          <a:effectLst>
            <a:outerShdw sx="100000" sy="100000" kx="0" ky="0" algn="bl" rotWithShape="0" blurRad="76200" dist="19050" dir="5400000">
              <a:srgbClr val="0B1F3A">
                <a:alpha val="14000"/>
              </a:srgbClr>
            </a:outerShdw>
          </a:effectLst>
        </p:spPr>
      </p:sp>
      <p:sp>
        <p:nvSpPr>
          <p:cNvPr id="20" name="Shape 18"/>
          <p:cNvSpPr/>
          <p:nvPr/>
        </p:nvSpPr>
        <p:spPr>
          <a:xfrm>
            <a:off x="7147408" y="1939671"/>
            <a:ext cx="566928" cy="566928"/>
          </a:xfrm>
          <a:prstGeom prst="ellipse">
            <a:avLst/>
          </a:prstGeom>
          <a:solidFill>
            <a:srgbClr val="F1EEFD"/>
          </a:solidFill>
          <a:ln w="12700">
            <a:solidFill>
              <a:srgbClr val="F1EEFD"/>
            </a:solidFill>
            <a:prstDash val="solid"/>
          </a:ln>
        </p:spPr>
      </p:sp>
      <p:sp>
        <p:nvSpPr>
          <p:cNvPr id="21" name="Icono route"/>
          <p:cNvSpPr/>
          <p:nvPr/>
        </p:nvSpPr>
        <p:spPr>
          <a:xfrm>
            <a:off x="7283470" y="2075734"/>
            <a:ext cx="294803" cy="294803"/>
          </a:xfrm>
          <a:custGeom>
            <a:avLst/>
            <a:gdLst/>
            <a:ahLst/>
            <a:cxnLst/>
            <a:rect l="l" t="t" r="r" b="b"/>
            <a:pathLst>
              <a:path w="294803" h="294803">
                <a:moveTo>
                  <a:pt x="110551" y="233385"/>
                </a:moveTo>
                <a:cubicBezTo>
                  <a:pt x="110551" y="253737"/>
                  <a:pt x="94053" y="270236"/>
                  <a:pt x="73701" y="270236"/>
                </a:cubicBezTo>
                <a:cubicBezTo>
                  <a:pt x="53349" y="270236"/>
                  <a:pt x="36850" y="253737"/>
                  <a:pt x="36850" y="233385"/>
                </a:cubicBezTo>
                <a:cubicBezTo>
                  <a:pt x="36850" y="213033"/>
                  <a:pt x="53349" y="196535"/>
                  <a:pt x="73701" y="196535"/>
                </a:cubicBezTo>
                <a:cubicBezTo>
                  <a:pt x="94053" y="196535"/>
                  <a:pt x="110551" y="213033"/>
                  <a:pt x="110551" y="233385"/>
                </a:cubicBezTo>
                <a:close/>
                <a:moveTo>
                  <a:pt x="110551" y="233385"/>
                </a:moveTo>
                <a:lnTo>
                  <a:pt x="214960" y="233385"/>
                </a:lnTo>
                <a:cubicBezTo>
                  <a:pt x="238704" y="233385"/>
                  <a:pt x="257952" y="214137"/>
                  <a:pt x="257952" y="190393"/>
                </a:cubicBezTo>
                <a:cubicBezTo>
                  <a:pt x="257952" y="166649"/>
                  <a:pt x="238704" y="147401"/>
                  <a:pt x="214960" y="147401"/>
                </a:cubicBezTo>
                <a:lnTo>
                  <a:pt x="79842" y="147401"/>
                </a:lnTo>
                <a:cubicBezTo>
                  <a:pt x="56099" y="147401"/>
                  <a:pt x="36850" y="128153"/>
                  <a:pt x="36850" y="104409"/>
                </a:cubicBezTo>
                <a:cubicBezTo>
                  <a:pt x="36850" y="80665"/>
                  <a:pt x="56099" y="61417"/>
                  <a:pt x="79842" y="61417"/>
                </a:cubicBezTo>
                <a:lnTo>
                  <a:pt x="184252" y="61417"/>
                </a:lnTo>
                <a:moveTo>
                  <a:pt x="257952" y="61417"/>
                </a:moveTo>
                <a:cubicBezTo>
                  <a:pt x="257952" y="81769"/>
                  <a:pt x="241454" y="98268"/>
                  <a:pt x="221102" y="98268"/>
                </a:cubicBezTo>
                <a:cubicBezTo>
                  <a:pt x="200750" y="98268"/>
                  <a:pt x="184252" y="81769"/>
                  <a:pt x="184252" y="61417"/>
                </a:cubicBezTo>
                <a:cubicBezTo>
                  <a:pt x="184252" y="41065"/>
                  <a:pt x="200750" y="24567"/>
                  <a:pt x="221102" y="24567"/>
                </a:cubicBezTo>
                <a:cubicBezTo>
                  <a:pt x="241454" y="24567"/>
                  <a:pt x="257952" y="41065"/>
                  <a:pt x="257952" y="61417"/>
                </a:cubicBezTo>
                <a:close/>
              </a:path>
            </a:pathLst>
          </a:custGeom>
          <a:noFill/>
          <a:ln w="24567" cap="rnd">
            <a:solidFill>
              <a:srgbClr val="5B3FC4"/>
            </a:solidFill>
            <a:prstDash val="solid"/>
            <a:round/>
          </a:ln>
        </p:spPr>
      </p:sp>
      <p:sp>
        <p:nvSpPr>
          <p:cNvPr id="22" name="Text 20"/>
          <p:cNvSpPr/>
          <p:nvPr/>
        </p:nvSpPr>
        <p:spPr>
          <a:xfrm>
            <a:off x="7860640" y="1847088"/>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port-forward</a:t>
            </a:r>
            <a:endParaRPr lang="en-US" sz="1500" dirty="0"/>
          </a:p>
        </p:txBody>
      </p:sp>
      <p:sp>
        <p:nvSpPr>
          <p:cNvPr id="23" name="Text 21"/>
          <p:cNvSpPr/>
          <p:nvPr/>
        </p:nvSpPr>
        <p:spPr>
          <a:xfrm>
            <a:off x="7860640" y="2259711"/>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UI en localhost:8088</a:t>
            </a:r>
            <a:endParaRPr lang="en-US" sz="1200" dirty="0"/>
          </a:p>
        </p:txBody>
      </p:sp>
      <p:sp>
        <p:nvSpPr>
          <p:cNvPr id="24" name="[p1] Forma"/>
          <p:cNvSpPr/>
          <p:nvPr/>
        </p:nvSpPr>
        <p:spPr>
          <a:xfrm>
            <a:off x="1412748" y="2708910"/>
            <a:ext cx="0" cy="237744"/>
          </a:xfrm>
          <a:prstGeom prst="line">
            <a:avLst/>
          </a:prstGeom>
          <a:noFill/>
          <a:ln w="31750">
            <a:solidFill>
              <a:srgbClr val="0B2350"/>
            </a:solidFill>
            <a:prstDash val="solid"/>
            <a:tailEnd type="triangle"/>
          </a:ln>
        </p:spPr>
      </p:sp>
      <p:sp>
        <p:nvSpPr>
          <p:cNvPr id="25" name="[p1] Forma"/>
          <p:cNvSpPr/>
          <p:nvPr/>
        </p:nvSpPr>
        <p:spPr>
          <a:xfrm>
            <a:off x="612648" y="2928366"/>
            <a:ext cx="10966399" cy="1008126"/>
          </a:xfrm>
          <a:prstGeom prst="roundRect">
            <a:avLst>
              <a:gd name="adj" fmla="val 10884"/>
            </a:avLst>
          </a:prstGeom>
          <a:solidFill>
            <a:srgbClr val="EEF2FA"/>
          </a:solidFill>
          <a:ln w="12700">
            <a:solidFill>
              <a:srgbClr val="B6BDCB"/>
            </a:solidFill>
            <a:prstDash val="solid"/>
          </a:ln>
        </p:spPr>
      </p:sp>
      <p:sp>
        <p:nvSpPr>
          <p:cNvPr id="26" name="[p1] Forma"/>
          <p:cNvSpPr/>
          <p:nvPr/>
        </p:nvSpPr>
        <p:spPr>
          <a:xfrm>
            <a:off x="612648" y="2928366"/>
            <a:ext cx="1600200" cy="1008126"/>
          </a:xfrm>
          <a:prstGeom prst="roundRect">
            <a:avLst>
              <a:gd name="adj" fmla="val 10884"/>
            </a:avLst>
          </a:prstGeom>
          <a:solidFill>
            <a:srgbClr val="0B2350"/>
          </a:solidFill>
          <a:ln>
            <a:solidFill>
              <a:srgbClr val="0B2350"/>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CÓMPUTO</a:t>
            </a:r>
            <a:endParaRPr lang="en-US" sz="1300" dirty="0"/>
          </a:p>
        </p:txBody>
      </p:sp>
      <p:sp>
        <p:nvSpPr>
          <p:cNvPr id="27" name="[p1] Forma"/>
          <p:cNvSpPr/>
          <p:nvPr/>
        </p:nvSpPr>
        <p:spPr>
          <a:xfrm>
            <a:off x="239572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28" name="[p1] Forma"/>
          <p:cNvSpPr/>
          <p:nvPr/>
        </p:nvSpPr>
        <p:spPr>
          <a:xfrm>
            <a:off x="2542032" y="3148965"/>
            <a:ext cx="566928" cy="566928"/>
          </a:xfrm>
          <a:prstGeom prst="ellipse">
            <a:avLst/>
          </a:prstGeom>
          <a:solidFill>
            <a:srgbClr val="E8EEF8"/>
          </a:solidFill>
          <a:ln w="12700">
            <a:solidFill>
              <a:srgbClr val="E8EEF8"/>
            </a:solidFill>
            <a:prstDash val="solid"/>
          </a:ln>
        </p:spPr>
      </p:sp>
      <p:sp>
        <p:nvSpPr>
          <p:cNvPr id="29" name="[p1] Icono layers"/>
          <p:cNvSpPr/>
          <p:nvPr/>
        </p:nvSpPr>
        <p:spPr>
          <a:xfrm>
            <a:off x="2678095" y="3285028"/>
            <a:ext cx="294803" cy="294803"/>
          </a:xfrm>
          <a:custGeom>
            <a:avLst/>
            <a:gdLst/>
            <a:ahLst/>
            <a:cxnLst/>
            <a:rect l="l" t="t" r="r" b="b"/>
            <a:pathLst>
              <a:path w="294803" h="294803">
                <a:moveTo>
                  <a:pt x="157597" y="26778"/>
                </a:moveTo>
                <a:cubicBezTo>
                  <a:pt x="151121" y="23824"/>
                  <a:pt x="143682" y="23824"/>
                  <a:pt x="137206" y="26778"/>
                </a:cubicBezTo>
                <a:lnTo>
                  <a:pt x="31937" y="74683"/>
                </a:lnTo>
                <a:cubicBezTo>
                  <a:pt x="27483" y="76647"/>
                  <a:pt x="24609" y="81055"/>
                  <a:pt x="24609" y="85923"/>
                </a:cubicBezTo>
                <a:cubicBezTo>
                  <a:pt x="24609" y="90790"/>
                  <a:pt x="27483" y="95198"/>
                  <a:pt x="31937" y="97162"/>
                </a:cubicBezTo>
                <a:lnTo>
                  <a:pt x="137329" y="145190"/>
                </a:lnTo>
                <a:cubicBezTo>
                  <a:pt x="143805" y="148144"/>
                  <a:pt x="151243" y="148144"/>
                  <a:pt x="157719" y="145190"/>
                </a:cubicBezTo>
                <a:lnTo>
                  <a:pt x="263111" y="97285"/>
                </a:lnTo>
                <a:cubicBezTo>
                  <a:pt x="267565" y="95321"/>
                  <a:pt x="270439" y="90913"/>
                  <a:pt x="270439" y="86045"/>
                </a:cubicBezTo>
                <a:cubicBezTo>
                  <a:pt x="270439" y="81178"/>
                  <a:pt x="267565" y="76770"/>
                  <a:pt x="263111" y="74806"/>
                </a:cubicBezTo>
                <a:close/>
                <a:moveTo>
                  <a:pt x="24567" y="147401"/>
                </a:moveTo>
                <a:cubicBezTo>
                  <a:pt x="24555" y="152199"/>
                  <a:pt x="27337" y="156564"/>
                  <a:pt x="31691" y="158579"/>
                </a:cubicBezTo>
                <a:lnTo>
                  <a:pt x="137329" y="206607"/>
                </a:lnTo>
                <a:cubicBezTo>
                  <a:pt x="143770" y="209524"/>
                  <a:pt x="151155" y="209524"/>
                  <a:pt x="157597" y="206607"/>
                </a:cubicBezTo>
                <a:lnTo>
                  <a:pt x="262988" y="158702"/>
                </a:lnTo>
                <a:cubicBezTo>
                  <a:pt x="267431" y="156705"/>
                  <a:pt x="270274" y="152272"/>
                  <a:pt x="270236" y="147401"/>
                </a:cubicBezTo>
                <a:moveTo>
                  <a:pt x="24567" y="208818"/>
                </a:moveTo>
                <a:cubicBezTo>
                  <a:pt x="24555" y="213616"/>
                  <a:pt x="27337" y="217981"/>
                  <a:pt x="31691" y="219996"/>
                </a:cubicBezTo>
                <a:lnTo>
                  <a:pt x="137329" y="268025"/>
                </a:lnTo>
                <a:cubicBezTo>
                  <a:pt x="143770" y="270941"/>
                  <a:pt x="151155" y="270941"/>
                  <a:pt x="157597" y="268025"/>
                </a:cubicBezTo>
                <a:lnTo>
                  <a:pt x="262988" y="220119"/>
                </a:lnTo>
                <a:cubicBezTo>
                  <a:pt x="267431" y="218122"/>
                  <a:pt x="270274" y="213689"/>
                  <a:pt x="270236" y="208818"/>
                </a:cubicBezTo>
              </a:path>
            </a:pathLst>
          </a:custGeom>
          <a:noFill/>
          <a:ln w="24567" cap="rnd">
            <a:solidFill>
              <a:srgbClr val="0B2350"/>
            </a:solidFill>
            <a:prstDash val="solid"/>
            <a:round/>
          </a:ln>
        </p:spPr>
      </p:sp>
      <p:sp>
        <p:nvSpPr>
          <p:cNvPr id="30" name="[p1] Forma"/>
          <p:cNvSpPr/>
          <p:nvPr/>
        </p:nvSpPr>
        <p:spPr>
          <a:xfrm>
            <a:off x="325526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5 Deployments</a:t>
            </a:r>
            <a:endParaRPr lang="en-US" sz="1500" dirty="0"/>
          </a:p>
        </p:txBody>
      </p:sp>
      <p:sp>
        <p:nvSpPr>
          <p:cNvPr id="31" name="[p1] Forma"/>
          <p:cNvSpPr/>
          <p:nvPr/>
        </p:nvSpPr>
        <p:spPr>
          <a:xfrm>
            <a:off x="3255264" y="3469005"/>
            <a:ext cx="1954682" cy="321183"/>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UI, 2 servicios y 2 bases</a:t>
            </a:r>
            <a:endParaRPr lang="en-US" sz="1150" dirty="0"/>
          </a:p>
        </p:txBody>
      </p:sp>
      <p:sp>
        <p:nvSpPr>
          <p:cNvPr id="32" name="[p1] Forma"/>
          <p:cNvSpPr/>
          <p:nvPr/>
        </p:nvSpPr>
        <p:spPr>
          <a:xfrm>
            <a:off x="5465978" y="3019806"/>
            <a:ext cx="2905658" cy="825246"/>
          </a:xfrm>
          <a:prstGeom prst="roundRect">
            <a:avLst>
              <a:gd name="adj" fmla="val 15512"/>
            </a:avLst>
          </a:prstGeom>
          <a:solidFill>
            <a:srgbClr val="FFFFFF"/>
          </a:solidFill>
          <a:ln w="12700">
            <a:solidFill>
              <a:srgbClr val="9DA7B9"/>
            </a:solidFill>
            <a:prstDash val="solid"/>
          </a:ln>
          <a:effectLst>
            <a:outerShdw sx="100000" sy="100000" kx="0" ky="0" algn="bl" rotWithShape="0" blurRad="76200" dist="19050" dir="5400000">
              <a:srgbClr val="0B1F3A">
                <a:alpha val="14000"/>
              </a:srgbClr>
            </a:outerShdw>
          </a:effectLst>
        </p:spPr>
      </p:sp>
      <p:sp>
        <p:nvSpPr>
          <p:cNvPr id="33" name="[p1] Forma"/>
          <p:cNvSpPr/>
          <p:nvPr/>
        </p:nvSpPr>
        <p:spPr>
          <a:xfrm>
            <a:off x="5612282" y="3148965"/>
            <a:ext cx="566928" cy="566928"/>
          </a:xfrm>
          <a:prstGeom prst="ellipse">
            <a:avLst/>
          </a:prstGeom>
          <a:solidFill>
            <a:srgbClr val="E8EEF8"/>
          </a:solidFill>
          <a:ln w="12700">
            <a:solidFill>
              <a:srgbClr val="E8EEF8"/>
            </a:solidFill>
            <a:prstDash val="solid"/>
          </a:ln>
        </p:spPr>
      </p:sp>
      <p:sp>
        <p:nvSpPr>
          <p:cNvPr id="34" name="[p1] Icono hourglass"/>
          <p:cNvSpPr/>
          <p:nvPr/>
        </p:nvSpPr>
        <p:spPr>
          <a:xfrm>
            <a:off x="5748345" y="3285028"/>
            <a:ext cx="294803" cy="294803"/>
          </a:xfrm>
          <a:custGeom>
            <a:avLst/>
            <a:gdLst/>
            <a:ahLst/>
            <a:cxnLst/>
            <a:rect l="l" t="t" r="r" b="b"/>
            <a:pathLst>
              <a:path w="294803" h="294803">
                <a:moveTo>
                  <a:pt x="61417" y="270236"/>
                </a:moveTo>
                <a:lnTo>
                  <a:pt x="233385" y="270236"/>
                </a:lnTo>
                <a:moveTo>
                  <a:pt x="61417" y="24567"/>
                </a:moveTo>
                <a:lnTo>
                  <a:pt x="233385" y="24567"/>
                </a:lnTo>
                <a:moveTo>
                  <a:pt x="208818" y="270236"/>
                </a:moveTo>
                <a:lnTo>
                  <a:pt x="208818" y="218989"/>
                </a:lnTo>
                <a:cubicBezTo>
                  <a:pt x="208817" y="212474"/>
                  <a:pt x="206228" y="206226"/>
                  <a:pt x="201620" y="201620"/>
                </a:cubicBezTo>
                <a:lnTo>
                  <a:pt x="147401" y="147401"/>
                </a:lnTo>
                <a:lnTo>
                  <a:pt x="93182" y="201620"/>
                </a:lnTo>
                <a:cubicBezTo>
                  <a:pt x="88575" y="206226"/>
                  <a:pt x="85985" y="212474"/>
                  <a:pt x="85984" y="218989"/>
                </a:cubicBezTo>
                <a:lnTo>
                  <a:pt x="85984" y="270236"/>
                </a:lnTo>
                <a:moveTo>
                  <a:pt x="85984" y="24567"/>
                </a:moveTo>
                <a:lnTo>
                  <a:pt x="85984" y="75813"/>
                </a:lnTo>
                <a:cubicBezTo>
                  <a:pt x="85985" y="82328"/>
                  <a:pt x="88575" y="88576"/>
                  <a:pt x="93182" y="93182"/>
                </a:cubicBezTo>
                <a:lnTo>
                  <a:pt x="147401" y="147401"/>
                </a:lnTo>
                <a:lnTo>
                  <a:pt x="201620" y="93182"/>
                </a:lnTo>
                <a:cubicBezTo>
                  <a:pt x="206228" y="88576"/>
                  <a:pt x="208817" y="82328"/>
                  <a:pt x="208818" y="75813"/>
                </a:cubicBezTo>
                <a:lnTo>
                  <a:pt x="208818" y="24567"/>
                </a:lnTo>
              </a:path>
            </a:pathLst>
          </a:custGeom>
          <a:noFill/>
          <a:ln w="24567" cap="rnd">
            <a:solidFill>
              <a:srgbClr val="0B2350"/>
            </a:solidFill>
            <a:prstDash val="solid"/>
            <a:round/>
          </a:ln>
        </p:spPr>
      </p:sp>
      <p:sp>
        <p:nvSpPr>
          <p:cNvPr id="35" name="[p1] Forma"/>
          <p:cNvSpPr/>
          <p:nvPr/>
        </p:nvSpPr>
        <p:spPr>
          <a:xfrm>
            <a:off x="6325514"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initContainers</a:t>
            </a:r>
            <a:endParaRPr lang="en-US" sz="1500" dirty="0"/>
          </a:p>
        </p:txBody>
      </p:sp>
      <p:sp>
        <p:nvSpPr>
          <p:cNvPr id="36" name="[p1] Forma"/>
          <p:cNvSpPr/>
          <p:nvPr/>
        </p:nvSpPr>
        <p:spPr>
          <a:xfrm>
            <a:off x="6325514"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Esperan a la base y al otro servicio</a:t>
            </a:r>
            <a:endParaRPr lang="en-US" sz="1000" dirty="0"/>
          </a:p>
        </p:txBody>
      </p:sp>
      <p:sp>
        <p:nvSpPr>
          <p:cNvPr id="37" name="[p1] Forma"/>
          <p:cNvSpPr/>
          <p:nvPr/>
        </p:nvSpPr>
        <p:spPr>
          <a:xfrm>
            <a:off x="8536229" y="3019806"/>
            <a:ext cx="2905658" cy="825246"/>
          </a:xfrm>
          <a:prstGeom prst="roundRect">
            <a:avLst>
              <a:gd name="adj" fmla="val 15512"/>
            </a:avLst>
          </a:prstGeom>
          <a:solidFill>
            <a:srgbClr val="FFFFFF"/>
          </a:solidFill>
          <a:ln w="12700">
            <a:solidFill>
              <a:srgbClr val="9DC2B6"/>
            </a:solidFill>
            <a:prstDash val="solid"/>
          </a:ln>
          <a:effectLst>
            <a:outerShdw sx="100000" sy="100000" kx="0" ky="0" algn="bl" rotWithShape="0" blurRad="76200" dist="19050" dir="5400000">
              <a:srgbClr val="0B1F3A">
                <a:alpha val="14000"/>
              </a:srgbClr>
            </a:outerShdw>
          </a:effectLst>
        </p:spPr>
      </p:sp>
      <p:sp>
        <p:nvSpPr>
          <p:cNvPr id="38" name="[p1] Forma"/>
          <p:cNvSpPr/>
          <p:nvPr/>
        </p:nvSpPr>
        <p:spPr>
          <a:xfrm>
            <a:off x="8682533" y="3148965"/>
            <a:ext cx="566928" cy="566928"/>
          </a:xfrm>
          <a:prstGeom prst="ellipse">
            <a:avLst/>
          </a:prstGeom>
          <a:solidFill>
            <a:srgbClr val="E1F1EA"/>
          </a:solidFill>
          <a:ln w="12700">
            <a:solidFill>
              <a:srgbClr val="E1F1EA"/>
            </a:solidFill>
            <a:prstDash val="solid"/>
          </a:ln>
        </p:spPr>
      </p:sp>
      <p:sp>
        <p:nvSpPr>
          <p:cNvPr id="39" name="[p1] Icono heart-pulse"/>
          <p:cNvSpPr/>
          <p:nvPr/>
        </p:nvSpPr>
        <p:spPr>
          <a:xfrm>
            <a:off x="8818596" y="3285028"/>
            <a:ext cx="294803" cy="294803"/>
          </a:xfrm>
          <a:custGeom>
            <a:avLst/>
            <a:gdLst/>
            <a:ahLst/>
            <a:cxnLst/>
            <a:rect l="l" t="t" r="r" b="b"/>
            <a:pathLst>
              <a:path w="294803" h="294803">
                <a:moveTo>
                  <a:pt x="233385" y="171968"/>
                </a:moveTo>
                <a:cubicBezTo>
                  <a:pt x="251688" y="154034"/>
                  <a:pt x="270236" y="132538"/>
                  <a:pt x="270236" y="104409"/>
                </a:cubicBezTo>
                <a:cubicBezTo>
                  <a:pt x="270236" y="67097"/>
                  <a:pt x="239989" y="36850"/>
                  <a:pt x="202677" y="36850"/>
                </a:cubicBezTo>
                <a:cubicBezTo>
                  <a:pt x="181058" y="36850"/>
                  <a:pt x="165826" y="42992"/>
                  <a:pt x="147401" y="61417"/>
                </a:cubicBezTo>
                <a:cubicBezTo>
                  <a:pt x="128976" y="42992"/>
                  <a:pt x="113745" y="36850"/>
                  <a:pt x="92126" y="36850"/>
                </a:cubicBezTo>
                <a:cubicBezTo>
                  <a:pt x="54814" y="36850"/>
                  <a:pt x="24567" y="67097"/>
                  <a:pt x="24567" y="104409"/>
                </a:cubicBezTo>
                <a:cubicBezTo>
                  <a:pt x="24567" y="132661"/>
                  <a:pt x="42992" y="154157"/>
                  <a:pt x="61417" y="171968"/>
                </a:cubicBezTo>
                <a:lnTo>
                  <a:pt x="147401" y="257952"/>
                </a:lnTo>
                <a:close/>
                <a:moveTo>
                  <a:pt x="39553" y="147401"/>
                </a:moveTo>
                <a:lnTo>
                  <a:pt x="116693" y="147401"/>
                </a:lnTo>
                <a:lnTo>
                  <a:pt x="122834" y="135118"/>
                </a:lnTo>
                <a:lnTo>
                  <a:pt x="147401" y="190393"/>
                </a:lnTo>
                <a:lnTo>
                  <a:pt x="171968" y="104409"/>
                </a:lnTo>
                <a:lnTo>
                  <a:pt x="190393" y="147401"/>
                </a:lnTo>
                <a:lnTo>
                  <a:pt x="255127" y="147401"/>
                </a:lnTo>
              </a:path>
            </a:pathLst>
          </a:custGeom>
          <a:noFill/>
          <a:ln w="24567" cap="rnd">
            <a:solidFill>
              <a:srgbClr val="0A6648"/>
            </a:solidFill>
            <a:prstDash val="solid"/>
            <a:round/>
          </a:ln>
        </p:spPr>
      </p:sp>
      <p:sp>
        <p:nvSpPr>
          <p:cNvPr id="40" name="[p1] Forma"/>
          <p:cNvSpPr/>
          <p:nvPr/>
        </p:nvSpPr>
        <p:spPr>
          <a:xfrm>
            <a:off x="9395765" y="3056382"/>
            <a:ext cx="1954682" cy="394335"/>
          </a:xfrm>
          <a:prstGeom prst="rect">
            <a:avLst/>
          </a:prstGeom>
          <a:noFill/>
          <a:ln/>
        </p:spPr>
        <p:txBody>
          <a:bodyPr wrap="square" lIns="0" tIns="0" rIns="0" bIns="0" rtlCol="0" anchor="b">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readinessProbe</a:t>
            </a:r>
            <a:endParaRPr lang="en-US" sz="1500" dirty="0"/>
          </a:p>
        </p:txBody>
      </p:sp>
      <p:sp>
        <p:nvSpPr>
          <p:cNvPr id="41" name="[p1] Forma"/>
          <p:cNvSpPr/>
          <p:nvPr/>
        </p:nvSpPr>
        <p:spPr>
          <a:xfrm>
            <a:off x="9395765" y="3469005"/>
            <a:ext cx="1954682" cy="321183"/>
          </a:xfrm>
          <a:prstGeom prst="rect">
            <a:avLst/>
          </a:prstGeom>
          <a:noFill/>
          <a:ln/>
        </p:spPr>
        <p:txBody>
          <a:bodyPr wrap="square" lIns="0" tIns="0" rIns="0" bIns="0" rtlCol="0" anchor="t">
            <a:normAutofit/>
          </a:bodyPr>
          <a:lstStyle/>
          <a:p>
            <a:pPr algn="l" indent="0" marL="0">
              <a:buNone/>
            </a:pPr>
            <a:r>
              <a:rPr lang="en-US" sz="1000" dirty="0">
                <a:solidFill>
                  <a:srgbClr val="55627E"/>
                </a:solidFill>
                <a:latin typeface="Segoe UI" pitchFamily="34" charset="0"/>
                <a:ea typeface="Segoe UI" pitchFamily="34" charset="-122"/>
                <a:cs typeface="Segoe UI" pitchFamily="34" charset="-120"/>
              </a:rPr>
              <a:t>Sin tráfico hasta estar listo</a:t>
            </a:r>
            <a:endParaRPr lang="en-US" sz="1000" dirty="0"/>
          </a:p>
        </p:txBody>
      </p:sp>
      <p:sp>
        <p:nvSpPr>
          <p:cNvPr id="42" name="[p2] Forma"/>
          <p:cNvSpPr/>
          <p:nvPr/>
        </p:nvSpPr>
        <p:spPr>
          <a:xfrm>
            <a:off x="1412748" y="3918204"/>
            <a:ext cx="0" cy="237744"/>
          </a:xfrm>
          <a:prstGeom prst="line">
            <a:avLst/>
          </a:prstGeom>
          <a:noFill/>
          <a:ln w="31750">
            <a:solidFill>
              <a:srgbClr val="0B2350"/>
            </a:solidFill>
            <a:prstDash val="solid"/>
            <a:tailEnd type="triangle"/>
          </a:ln>
        </p:spPr>
      </p:sp>
      <p:sp>
        <p:nvSpPr>
          <p:cNvPr id="43" name="[p2] Forma"/>
          <p:cNvSpPr/>
          <p:nvPr/>
        </p:nvSpPr>
        <p:spPr>
          <a:xfrm>
            <a:off x="612648" y="4137660"/>
            <a:ext cx="10966399" cy="1008126"/>
          </a:xfrm>
          <a:prstGeom prst="roundRect">
            <a:avLst>
              <a:gd name="adj" fmla="val 10884"/>
            </a:avLst>
          </a:prstGeom>
          <a:solidFill>
            <a:srgbClr val="FDF3E0"/>
          </a:solidFill>
          <a:ln w="12700">
            <a:solidFill>
              <a:srgbClr val="DCC9B4"/>
            </a:solidFill>
            <a:prstDash val="solid"/>
          </a:ln>
        </p:spPr>
      </p:sp>
      <p:sp>
        <p:nvSpPr>
          <p:cNvPr id="44" name="[p2] Forma"/>
          <p:cNvSpPr/>
          <p:nvPr/>
        </p:nvSpPr>
        <p:spPr>
          <a:xfrm>
            <a:off x="612648" y="4137660"/>
            <a:ext cx="1600200" cy="1008126"/>
          </a:xfrm>
          <a:prstGeom prst="roundRect">
            <a:avLst>
              <a:gd name="adj" fmla="val 10884"/>
            </a:avLst>
          </a:prstGeom>
          <a:solidFill>
            <a:srgbClr val="8A4B06"/>
          </a:solidFill>
          <a:ln>
            <a:solidFill>
              <a:srgbClr val="8A4B06"/>
            </a:solidFill>
          </a:ln>
        </p:spPr>
        <p:txBody>
          <a:bodyPr wrap="square" lIns="0" tIns="76200" rIns="76200" bIns="0" rtlCol="0" anchor="ctr"/>
          <a:lstStyle/>
          <a:p>
            <a:pPr algn="ctr" indent="0" marL="0">
              <a:buNone/>
            </a:pPr>
            <a:r>
              <a:rPr lang="en-US" sz="1004" b="1" spc="100" kern="0" dirty="0">
                <a:solidFill>
                  <a:srgbClr val="FFFFFF"/>
                </a:solidFill>
                <a:latin typeface="Segoe UI" pitchFamily="34" charset="0"/>
                <a:ea typeface="Segoe UI" pitchFamily="34" charset="-122"/>
                <a:cs typeface="Segoe UI" pitchFamily="34" charset="-120"/>
              </a:rPr>
              <a:t>CONFIGURACIÓN</a:t>
            </a:r>
            <a:endParaRPr lang="en-US" sz="1004" dirty="0"/>
          </a:p>
        </p:txBody>
      </p:sp>
      <p:sp>
        <p:nvSpPr>
          <p:cNvPr id="45" name="[p2] Forma"/>
          <p:cNvSpPr/>
          <p:nvPr/>
        </p:nvSpPr>
        <p:spPr>
          <a:xfrm>
            <a:off x="2395728"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46" name="[p2] Forma"/>
          <p:cNvSpPr/>
          <p:nvPr/>
        </p:nvSpPr>
        <p:spPr>
          <a:xfrm>
            <a:off x="2542032" y="4358259"/>
            <a:ext cx="566928" cy="566928"/>
          </a:xfrm>
          <a:prstGeom prst="ellipse">
            <a:avLst/>
          </a:prstGeom>
          <a:solidFill>
            <a:srgbClr val="FCEFD6"/>
          </a:solidFill>
          <a:ln w="12700">
            <a:solidFill>
              <a:srgbClr val="FCEFD6"/>
            </a:solidFill>
            <a:prstDash val="solid"/>
          </a:ln>
        </p:spPr>
      </p:sp>
      <p:sp>
        <p:nvSpPr>
          <p:cNvPr id="47" name="[p2] Icono key-round"/>
          <p:cNvSpPr/>
          <p:nvPr/>
        </p:nvSpPr>
        <p:spPr>
          <a:xfrm>
            <a:off x="2678095" y="4494322"/>
            <a:ext cx="294803" cy="294803"/>
          </a:xfrm>
          <a:custGeom>
            <a:avLst/>
            <a:gdLst/>
            <a:ahLst/>
            <a:cxnLst/>
            <a:rect l="l" t="t" r="r" b="b"/>
            <a:pathLst>
              <a:path w="294803" h="294803">
                <a:moveTo>
                  <a:pt x="31765" y="213904"/>
                </a:moveTo>
                <a:cubicBezTo>
                  <a:pt x="27157" y="218510"/>
                  <a:pt x="24568" y="224758"/>
                  <a:pt x="24567" y="231273"/>
                </a:cubicBezTo>
                <a:lnTo>
                  <a:pt x="24567" y="257952"/>
                </a:lnTo>
                <a:cubicBezTo>
                  <a:pt x="24567" y="264736"/>
                  <a:pt x="30066" y="270236"/>
                  <a:pt x="36850" y="270236"/>
                </a:cubicBezTo>
                <a:lnTo>
                  <a:pt x="73701" y="270236"/>
                </a:lnTo>
                <a:cubicBezTo>
                  <a:pt x="80485" y="270236"/>
                  <a:pt x="85984" y="264736"/>
                  <a:pt x="85984" y="257952"/>
                </a:cubicBezTo>
                <a:lnTo>
                  <a:pt x="85984" y="245669"/>
                </a:lnTo>
                <a:cubicBezTo>
                  <a:pt x="85984" y="238885"/>
                  <a:pt x="91484" y="233385"/>
                  <a:pt x="98268" y="233385"/>
                </a:cubicBezTo>
                <a:lnTo>
                  <a:pt x="110551" y="233385"/>
                </a:lnTo>
                <a:cubicBezTo>
                  <a:pt x="117335" y="233385"/>
                  <a:pt x="122834" y="227886"/>
                  <a:pt x="122834" y="221102"/>
                </a:cubicBezTo>
                <a:lnTo>
                  <a:pt x="122834" y="208818"/>
                </a:lnTo>
                <a:cubicBezTo>
                  <a:pt x="122834" y="202035"/>
                  <a:pt x="128334" y="196535"/>
                  <a:pt x="135118" y="196535"/>
                </a:cubicBezTo>
                <a:lnTo>
                  <a:pt x="137231" y="196535"/>
                </a:lnTo>
                <a:cubicBezTo>
                  <a:pt x="143746" y="196534"/>
                  <a:pt x="149993" y="193944"/>
                  <a:pt x="154599" y="189337"/>
                </a:cubicBezTo>
                <a:lnTo>
                  <a:pt x="164598" y="179338"/>
                </a:lnTo>
                <a:cubicBezTo>
                  <a:pt x="199756" y="191585"/>
                  <a:pt x="238712" y="177908"/>
                  <a:pt x="258497" y="146371"/>
                </a:cubicBezTo>
                <a:cubicBezTo>
                  <a:pt x="278283" y="114834"/>
                  <a:pt x="273646" y="73808"/>
                  <a:pt x="247320" y="47482"/>
                </a:cubicBezTo>
                <a:cubicBezTo>
                  <a:pt x="220995" y="21157"/>
                  <a:pt x="179969" y="16520"/>
                  <a:pt x="148432" y="36305"/>
                </a:cubicBezTo>
                <a:cubicBezTo>
                  <a:pt x="116894" y="56091"/>
                  <a:pt x="103217" y="95047"/>
                  <a:pt x="115464" y="130204"/>
                </a:cubicBezTo>
                <a:close/>
                <a:moveTo>
                  <a:pt x="208818" y="92126"/>
                </a:moveTo>
                <a:cubicBezTo>
                  <a:pt x="208818" y="95518"/>
                  <a:pt x="206069" y="98268"/>
                  <a:pt x="202677" y="98268"/>
                </a:cubicBezTo>
                <a:cubicBezTo>
                  <a:pt x="199285" y="98268"/>
                  <a:pt x="196535" y="95518"/>
                  <a:pt x="196535" y="92126"/>
                </a:cubicBezTo>
                <a:cubicBezTo>
                  <a:pt x="196535" y="88734"/>
                  <a:pt x="199285" y="85984"/>
                  <a:pt x="202677" y="85984"/>
                </a:cubicBezTo>
                <a:cubicBezTo>
                  <a:pt x="206069" y="85984"/>
                  <a:pt x="208818" y="88734"/>
                  <a:pt x="208818" y="92126"/>
                </a:cubicBezTo>
                <a:close/>
              </a:path>
            </a:pathLst>
          </a:custGeom>
          <a:noFill/>
          <a:ln w="24567" cap="rnd">
            <a:solidFill>
              <a:srgbClr val="8A4B06"/>
            </a:solidFill>
            <a:prstDash val="solid"/>
            <a:round/>
          </a:ln>
        </p:spPr>
      </p:sp>
      <p:sp>
        <p:nvSpPr>
          <p:cNvPr id="48" name="[p2] Forma"/>
          <p:cNvSpPr/>
          <p:nvPr/>
        </p:nvSpPr>
        <p:spPr>
          <a:xfrm>
            <a:off x="3255264"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Secret arka-postgres</a:t>
            </a:r>
            <a:endParaRPr lang="en-US" sz="1500" dirty="0"/>
          </a:p>
        </p:txBody>
      </p:sp>
      <p:sp>
        <p:nvSpPr>
          <p:cNvPr id="49" name="[p2] Forma"/>
          <p:cNvSpPr/>
          <p:nvPr/>
        </p:nvSpPr>
        <p:spPr>
          <a:xfrm>
            <a:off x="3255264"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La clave de las bases</a:t>
            </a:r>
            <a:endParaRPr lang="en-US" sz="1200" dirty="0"/>
          </a:p>
        </p:txBody>
      </p:sp>
      <p:sp>
        <p:nvSpPr>
          <p:cNvPr id="50" name="[p2] Forma"/>
          <p:cNvSpPr/>
          <p:nvPr/>
        </p:nvSpPr>
        <p:spPr>
          <a:xfrm>
            <a:off x="7001104" y="4229100"/>
            <a:ext cx="4440784" cy="825246"/>
          </a:xfrm>
          <a:prstGeom prst="roundRect">
            <a:avLst>
              <a:gd name="adj" fmla="val 15512"/>
            </a:avLst>
          </a:prstGeom>
          <a:solidFill>
            <a:srgbClr val="FFFFFF"/>
          </a:solidFill>
          <a:ln w="12700">
            <a:solidFill>
              <a:srgbClr val="D0B79B"/>
            </a:solidFill>
            <a:prstDash val="solid"/>
          </a:ln>
          <a:effectLst>
            <a:outerShdw sx="100000" sy="100000" kx="0" ky="0" algn="bl" rotWithShape="0" blurRad="76200" dist="19050" dir="5400000">
              <a:srgbClr val="0B1F3A">
                <a:alpha val="14000"/>
              </a:srgbClr>
            </a:outerShdw>
          </a:effectLst>
        </p:spPr>
      </p:sp>
      <p:sp>
        <p:nvSpPr>
          <p:cNvPr id="51" name="[p2] Forma"/>
          <p:cNvSpPr/>
          <p:nvPr/>
        </p:nvSpPr>
        <p:spPr>
          <a:xfrm>
            <a:off x="7147408" y="4358259"/>
            <a:ext cx="566928" cy="566928"/>
          </a:xfrm>
          <a:prstGeom prst="ellipse">
            <a:avLst/>
          </a:prstGeom>
          <a:solidFill>
            <a:srgbClr val="FCEFD6"/>
          </a:solidFill>
          <a:ln w="12700">
            <a:solidFill>
              <a:srgbClr val="FCEFD6"/>
            </a:solidFill>
            <a:prstDash val="solid"/>
          </a:ln>
        </p:spPr>
      </p:sp>
      <p:sp>
        <p:nvSpPr>
          <p:cNvPr id="52" name="[p2] Icono settings"/>
          <p:cNvSpPr/>
          <p:nvPr/>
        </p:nvSpPr>
        <p:spPr>
          <a:xfrm>
            <a:off x="7283470" y="4494322"/>
            <a:ext cx="294803" cy="294803"/>
          </a:xfrm>
          <a:custGeom>
            <a:avLst/>
            <a:gdLst/>
            <a:ahLst/>
            <a:cxnLst/>
            <a:rect l="l" t="t" r="r" b="b"/>
            <a:pathLst>
              <a:path w="294803" h="294803">
                <a:moveTo>
                  <a:pt x="150104" y="24567"/>
                </a:moveTo>
                <a:lnTo>
                  <a:pt x="144699" y="24567"/>
                </a:lnTo>
                <a:cubicBezTo>
                  <a:pt x="131131" y="24567"/>
                  <a:pt x="120132" y="35566"/>
                  <a:pt x="120132" y="49134"/>
                </a:cubicBezTo>
                <a:lnTo>
                  <a:pt x="120132" y="51345"/>
                </a:lnTo>
                <a:cubicBezTo>
                  <a:pt x="120123" y="60113"/>
                  <a:pt x="115442" y="68211"/>
                  <a:pt x="107849" y="72595"/>
                </a:cubicBezTo>
                <a:lnTo>
                  <a:pt x="102567" y="75666"/>
                </a:lnTo>
                <a:cubicBezTo>
                  <a:pt x="94966" y="80054"/>
                  <a:pt x="85601" y="80054"/>
                  <a:pt x="78000" y="75666"/>
                </a:cubicBezTo>
                <a:lnTo>
                  <a:pt x="76157" y="74683"/>
                </a:lnTo>
                <a:cubicBezTo>
                  <a:pt x="64419" y="67912"/>
                  <a:pt x="49415" y="71924"/>
                  <a:pt x="42624" y="83650"/>
                </a:cubicBezTo>
                <a:lnTo>
                  <a:pt x="39921" y="88318"/>
                </a:lnTo>
                <a:cubicBezTo>
                  <a:pt x="33150" y="100056"/>
                  <a:pt x="37162" y="115060"/>
                  <a:pt x="48888" y="121852"/>
                </a:cubicBezTo>
                <a:lnTo>
                  <a:pt x="50731" y="123080"/>
                </a:lnTo>
                <a:cubicBezTo>
                  <a:pt x="58286" y="127442"/>
                  <a:pt x="62961" y="135484"/>
                  <a:pt x="63014" y="144208"/>
                </a:cubicBezTo>
                <a:lnTo>
                  <a:pt x="63014" y="150472"/>
                </a:lnTo>
                <a:cubicBezTo>
                  <a:pt x="63049" y="159284"/>
                  <a:pt x="58362" y="167439"/>
                  <a:pt x="50731" y="171845"/>
                </a:cubicBezTo>
                <a:lnTo>
                  <a:pt x="48888" y="172951"/>
                </a:lnTo>
                <a:cubicBezTo>
                  <a:pt x="37162" y="179743"/>
                  <a:pt x="33150" y="194747"/>
                  <a:pt x="39921" y="206485"/>
                </a:cubicBezTo>
                <a:lnTo>
                  <a:pt x="42624" y="211152"/>
                </a:lnTo>
                <a:cubicBezTo>
                  <a:pt x="49415" y="222878"/>
                  <a:pt x="64419" y="226890"/>
                  <a:pt x="76157" y="220119"/>
                </a:cubicBezTo>
                <a:lnTo>
                  <a:pt x="78000" y="219137"/>
                </a:lnTo>
                <a:cubicBezTo>
                  <a:pt x="85601" y="214748"/>
                  <a:pt x="94966" y="214748"/>
                  <a:pt x="102567" y="219137"/>
                </a:cubicBezTo>
                <a:lnTo>
                  <a:pt x="107849" y="222207"/>
                </a:lnTo>
                <a:cubicBezTo>
                  <a:pt x="115442" y="226591"/>
                  <a:pt x="120123" y="234690"/>
                  <a:pt x="120132" y="243458"/>
                </a:cubicBezTo>
                <a:lnTo>
                  <a:pt x="120132" y="245669"/>
                </a:lnTo>
                <a:cubicBezTo>
                  <a:pt x="120132" y="259237"/>
                  <a:pt x="131131" y="270236"/>
                  <a:pt x="144699" y="270236"/>
                </a:cubicBezTo>
                <a:lnTo>
                  <a:pt x="150104" y="270236"/>
                </a:lnTo>
                <a:cubicBezTo>
                  <a:pt x="163672" y="270236"/>
                  <a:pt x="174671" y="259237"/>
                  <a:pt x="174671" y="245669"/>
                </a:cubicBezTo>
                <a:lnTo>
                  <a:pt x="174671" y="243458"/>
                </a:lnTo>
                <a:cubicBezTo>
                  <a:pt x="174680" y="234690"/>
                  <a:pt x="179361" y="226591"/>
                  <a:pt x="186954" y="222207"/>
                </a:cubicBezTo>
                <a:lnTo>
                  <a:pt x="192236" y="219137"/>
                </a:lnTo>
                <a:cubicBezTo>
                  <a:pt x="199837" y="214748"/>
                  <a:pt x="209202" y="214748"/>
                  <a:pt x="216803" y="219137"/>
                </a:cubicBezTo>
                <a:lnTo>
                  <a:pt x="218645" y="220119"/>
                </a:lnTo>
                <a:cubicBezTo>
                  <a:pt x="230383" y="226890"/>
                  <a:pt x="245387" y="222878"/>
                  <a:pt x="252179" y="211152"/>
                </a:cubicBezTo>
                <a:lnTo>
                  <a:pt x="254881" y="206362"/>
                </a:lnTo>
                <a:cubicBezTo>
                  <a:pt x="261652" y="194624"/>
                  <a:pt x="257640" y="179620"/>
                  <a:pt x="245914" y="172828"/>
                </a:cubicBezTo>
                <a:lnTo>
                  <a:pt x="244072" y="171845"/>
                </a:lnTo>
                <a:cubicBezTo>
                  <a:pt x="236441" y="167439"/>
                  <a:pt x="231754" y="159284"/>
                  <a:pt x="231789" y="150472"/>
                </a:cubicBezTo>
                <a:lnTo>
                  <a:pt x="231789" y="144330"/>
                </a:lnTo>
                <a:cubicBezTo>
                  <a:pt x="231754" y="135519"/>
                  <a:pt x="236441" y="127363"/>
                  <a:pt x="244072" y="122957"/>
                </a:cubicBezTo>
                <a:lnTo>
                  <a:pt x="245914" y="121852"/>
                </a:lnTo>
                <a:cubicBezTo>
                  <a:pt x="257640" y="115060"/>
                  <a:pt x="261652" y="100056"/>
                  <a:pt x="254881" y="88318"/>
                </a:cubicBezTo>
                <a:lnTo>
                  <a:pt x="252179" y="83650"/>
                </a:lnTo>
                <a:cubicBezTo>
                  <a:pt x="245387" y="71924"/>
                  <a:pt x="230383" y="67912"/>
                  <a:pt x="218645" y="74683"/>
                </a:cubicBezTo>
                <a:lnTo>
                  <a:pt x="216803" y="75666"/>
                </a:lnTo>
                <a:cubicBezTo>
                  <a:pt x="209202" y="80054"/>
                  <a:pt x="199837" y="80054"/>
                  <a:pt x="192236" y="75666"/>
                </a:cubicBezTo>
                <a:lnTo>
                  <a:pt x="186954" y="72595"/>
                </a:lnTo>
                <a:cubicBezTo>
                  <a:pt x="179361" y="68211"/>
                  <a:pt x="174680" y="60113"/>
                  <a:pt x="174671" y="51345"/>
                </a:cubicBezTo>
                <a:lnTo>
                  <a:pt x="174671" y="49134"/>
                </a:lnTo>
                <a:cubicBezTo>
                  <a:pt x="174671" y="35566"/>
                  <a:pt x="163672" y="24567"/>
                  <a:pt x="150104" y="24567"/>
                </a:cubicBezTo>
                <a:close/>
                <a:moveTo>
                  <a:pt x="184252" y="147401"/>
                </a:moveTo>
                <a:cubicBezTo>
                  <a:pt x="184252" y="167753"/>
                  <a:pt x="167753" y="184252"/>
                  <a:pt x="147401" y="184252"/>
                </a:cubicBezTo>
                <a:cubicBezTo>
                  <a:pt x="127049" y="184252"/>
                  <a:pt x="110551" y="167753"/>
                  <a:pt x="110551" y="147401"/>
                </a:cubicBezTo>
                <a:cubicBezTo>
                  <a:pt x="110551" y="127049"/>
                  <a:pt x="127049" y="110551"/>
                  <a:pt x="147401" y="110551"/>
                </a:cubicBezTo>
                <a:cubicBezTo>
                  <a:pt x="167753" y="110551"/>
                  <a:pt x="184252" y="127049"/>
                  <a:pt x="184252" y="147401"/>
                </a:cubicBezTo>
                <a:close/>
              </a:path>
            </a:pathLst>
          </a:custGeom>
          <a:noFill/>
          <a:ln w="24567" cap="rnd">
            <a:solidFill>
              <a:srgbClr val="8A4B06"/>
            </a:solidFill>
            <a:prstDash val="solid"/>
            <a:round/>
          </a:ln>
        </p:spPr>
      </p:sp>
      <p:sp>
        <p:nvSpPr>
          <p:cNvPr id="53" name="[p2] Forma"/>
          <p:cNvSpPr/>
          <p:nvPr/>
        </p:nvSpPr>
        <p:spPr>
          <a:xfrm>
            <a:off x="7860640" y="4265676"/>
            <a:ext cx="3489808" cy="394335"/>
          </a:xfrm>
          <a:prstGeom prst="rect">
            <a:avLst/>
          </a:prstGeom>
          <a:noFill/>
          <a:ln/>
        </p:spPr>
        <p:txBody>
          <a:bodyPr wrap="square" lIns="0" tIns="0" rIns="0" bIns="0" rtlCol="0" anchor="b">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Variables de entorno</a:t>
            </a:r>
            <a:endParaRPr lang="en-US" sz="1500" dirty="0"/>
          </a:p>
        </p:txBody>
      </p:sp>
      <p:sp>
        <p:nvSpPr>
          <p:cNvPr id="54" name="[p2] Forma"/>
          <p:cNvSpPr/>
          <p:nvPr/>
        </p:nvSpPr>
        <p:spPr>
          <a:xfrm>
            <a:off x="7860640" y="4678299"/>
            <a:ext cx="3489808"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DB_URL, NOTIFICACIONES_URL</a:t>
            </a:r>
            <a:endParaRPr lang="en-US" sz="1200" dirty="0"/>
          </a:p>
        </p:txBody>
      </p:sp>
      <p:sp>
        <p:nvSpPr>
          <p:cNvPr id="55" name="[p3] Forma"/>
          <p:cNvSpPr/>
          <p:nvPr/>
        </p:nvSpPr>
        <p:spPr>
          <a:xfrm>
            <a:off x="1412748" y="5127498"/>
            <a:ext cx="0" cy="237744"/>
          </a:xfrm>
          <a:prstGeom prst="line">
            <a:avLst/>
          </a:prstGeom>
          <a:noFill/>
          <a:ln w="31750">
            <a:solidFill>
              <a:srgbClr val="0B2350"/>
            </a:solidFill>
            <a:prstDash val="solid"/>
            <a:tailEnd type="triangle"/>
          </a:ln>
        </p:spPr>
      </p:sp>
      <p:sp>
        <p:nvSpPr>
          <p:cNvPr id="56" name="[p3] Forma"/>
          <p:cNvSpPr/>
          <p:nvPr/>
        </p:nvSpPr>
        <p:spPr>
          <a:xfrm>
            <a:off x="612648" y="5346954"/>
            <a:ext cx="10966399" cy="1008126"/>
          </a:xfrm>
          <a:prstGeom prst="roundRect">
            <a:avLst>
              <a:gd name="adj" fmla="val 10884"/>
            </a:avLst>
          </a:prstGeom>
          <a:solidFill>
            <a:srgbClr val="F7F9FC"/>
          </a:solidFill>
          <a:ln w="12700">
            <a:solidFill>
              <a:srgbClr val="CCD0D8"/>
            </a:solidFill>
            <a:prstDash val="solid"/>
          </a:ln>
        </p:spPr>
      </p:sp>
      <p:sp>
        <p:nvSpPr>
          <p:cNvPr id="57" name="[p3] Forma"/>
          <p:cNvSpPr/>
          <p:nvPr/>
        </p:nvSpPr>
        <p:spPr>
          <a:xfrm>
            <a:off x="612648" y="5346954"/>
            <a:ext cx="1600200" cy="1008126"/>
          </a:xfrm>
          <a:prstGeom prst="roundRect">
            <a:avLst>
              <a:gd name="adj" fmla="val 10884"/>
            </a:avLst>
          </a:prstGeom>
          <a:solidFill>
            <a:srgbClr val="55627E"/>
          </a:solidFill>
          <a:ln>
            <a:solidFill>
              <a:srgbClr val="55627E"/>
            </a:solidFill>
          </a:ln>
        </p:spPr>
        <p:txBody>
          <a:bodyPr wrap="square" lIns="0" tIns="76200" rIns="76200" bIns="0" rtlCol="0" anchor="ctr"/>
          <a:lstStyle/>
          <a:p>
            <a:pPr algn="ctr" indent="0" marL="0">
              <a:buNone/>
            </a:pPr>
            <a:r>
              <a:rPr lang="en-US" sz="1300" b="1" spc="100" kern="0" dirty="0">
                <a:solidFill>
                  <a:srgbClr val="FFFFFF"/>
                </a:solidFill>
                <a:latin typeface="Segoe UI" pitchFamily="34" charset="0"/>
                <a:ea typeface="Segoe UI" pitchFamily="34" charset="-122"/>
                <a:cs typeface="Segoe UI" pitchFamily="34" charset="-120"/>
              </a:rPr>
              <a:t>DATOS</a:t>
            </a:r>
            <a:endParaRPr lang="en-US" sz="1300" dirty="0"/>
          </a:p>
        </p:txBody>
      </p:sp>
      <p:sp>
        <p:nvSpPr>
          <p:cNvPr id="58" name="[p3] Forma"/>
          <p:cNvSpPr/>
          <p:nvPr/>
        </p:nvSpPr>
        <p:spPr>
          <a:xfrm>
            <a:off x="2395728" y="5438394"/>
            <a:ext cx="9046159" cy="825246"/>
          </a:xfrm>
          <a:prstGeom prst="roundRect">
            <a:avLst>
              <a:gd name="adj" fmla="val 15512"/>
            </a:avLst>
          </a:prstGeom>
          <a:solidFill>
            <a:srgbClr val="FFFFFF"/>
          </a:solidFill>
          <a:ln w="12700">
            <a:solidFill>
              <a:srgbClr val="BBC0CB"/>
            </a:solidFill>
            <a:prstDash val="solid"/>
          </a:ln>
          <a:effectLst>
            <a:outerShdw sx="100000" sy="100000" kx="0" ky="0" algn="bl" rotWithShape="0" blurRad="76200" dist="19050" dir="5400000">
              <a:srgbClr val="0B1F3A">
                <a:alpha val="14000"/>
              </a:srgbClr>
            </a:outerShdw>
          </a:effectLst>
        </p:spPr>
      </p:sp>
      <p:sp>
        <p:nvSpPr>
          <p:cNvPr id="59" name="[p3] Forma"/>
          <p:cNvSpPr/>
          <p:nvPr/>
        </p:nvSpPr>
        <p:spPr>
          <a:xfrm>
            <a:off x="2542032" y="5567553"/>
            <a:ext cx="566928" cy="566928"/>
          </a:xfrm>
          <a:prstGeom prst="ellipse">
            <a:avLst/>
          </a:prstGeom>
          <a:solidFill>
            <a:srgbClr val="F4F7FB"/>
          </a:solidFill>
          <a:ln w="12700">
            <a:solidFill>
              <a:srgbClr val="F4F7FB"/>
            </a:solidFill>
            <a:prstDash val="solid"/>
          </a:ln>
        </p:spPr>
      </p:sp>
      <p:sp>
        <p:nvSpPr>
          <p:cNvPr id="60" name="[p3] Icono hard-drive"/>
          <p:cNvSpPr/>
          <p:nvPr/>
        </p:nvSpPr>
        <p:spPr>
          <a:xfrm>
            <a:off x="2678095" y="5703616"/>
            <a:ext cx="294803" cy="294803"/>
          </a:xfrm>
          <a:custGeom>
            <a:avLst/>
            <a:gdLst/>
            <a:ahLst/>
            <a:cxnLst/>
            <a:rect l="l" t="t" r="r" b="b"/>
            <a:pathLst>
              <a:path w="294803" h="294803">
                <a:moveTo>
                  <a:pt x="270236" y="147401"/>
                </a:moveTo>
                <a:lnTo>
                  <a:pt x="24567" y="147401"/>
                </a:lnTo>
                <a:moveTo>
                  <a:pt x="66945" y="62768"/>
                </a:moveTo>
                <a:lnTo>
                  <a:pt x="24567" y="147401"/>
                </a:lnTo>
                <a:lnTo>
                  <a:pt x="24567" y="221102"/>
                </a:lnTo>
                <a:cubicBezTo>
                  <a:pt x="24567" y="234670"/>
                  <a:pt x="35566" y="245669"/>
                  <a:pt x="49134" y="245669"/>
                </a:cubicBezTo>
                <a:lnTo>
                  <a:pt x="245669" y="245669"/>
                </a:lnTo>
                <a:cubicBezTo>
                  <a:pt x="259237" y="245669"/>
                  <a:pt x="270236" y="234670"/>
                  <a:pt x="270236" y="221102"/>
                </a:cubicBezTo>
                <a:lnTo>
                  <a:pt x="270236" y="147401"/>
                </a:lnTo>
                <a:lnTo>
                  <a:pt x="227858" y="62768"/>
                </a:lnTo>
                <a:cubicBezTo>
                  <a:pt x="223709" y="54420"/>
                  <a:pt x="215193" y="49139"/>
                  <a:pt x="205870" y="49134"/>
                </a:cubicBezTo>
                <a:lnTo>
                  <a:pt x="88932" y="49134"/>
                </a:lnTo>
                <a:cubicBezTo>
                  <a:pt x="79610" y="49139"/>
                  <a:pt x="71093" y="54420"/>
                  <a:pt x="66945" y="62768"/>
                </a:cubicBezTo>
                <a:close/>
                <a:moveTo>
                  <a:pt x="73701" y="196535"/>
                </a:moveTo>
                <a:lnTo>
                  <a:pt x="73823" y="196535"/>
                </a:lnTo>
                <a:moveTo>
                  <a:pt x="122834" y="196535"/>
                </a:moveTo>
                <a:lnTo>
                  <a:pt x="122957" y="196535"/>
                </a:lnTo>
              </a:path>
            </a:pathLst>
          </a:custGeom>
          <a:noFill/>
          <a:ln w="24567" cap="rnd">
            <a:solidFill>
              <a:srgbClr val="55627E"/>
            </a:solidFill>
            <a:prstDash val="solid"/>
            <a:round/>
          </a:ln>
        </p:spPr>
      </p:sp>
      <p:sp>
        <p:nvSpPr>
          <p:cNvPr id="61" name="[p3] Forma"/>
          <p:cNvSpPr/>
          <p:nvPr/>
        </p:nvSpPr>
        <p:spPr>
          <a:xfrm>
            <a:off x="3255264" y="5474970"/>
            <a:ext cx="8095183" cy="394335"/>
          </a:xfrm>
          <a:prstGeom prst="rect">
            <a:avLst/>
          </a:prstGeom>
          <a:noFill/>
          <a:ln/>
        </p:spPr>
        <p:txBody>
          <a:bodyPr wrap="square" lIns="0" tIns="0" rIns="0" bIns="0" rtlCol="0" anchor="b">
            <a:normAutofit/>
          </a:bodyPr>
          <a:lstStyle/>
          <a:p>
            <a:pPr algn="l" indent="0" marL="0">
              <a:buNone/>
            </a:pPr>
            <a:r>
              <a:rPr lang="en-US" sz="1500" b="1" dirty="0">
                <a:solidFill>
                  <a:srgbClr val="55627E"/>
                </a:solidFill>
                <a:latin typeface="Segoe UI Semibold" pitchFamily="34" charset="0"/>
                <a:ea typeface="Segoe UI Semibold" pitchFamily="34" charset="-122"/>
                <a:cs typeface="Segoe UI Semibold" pitchFamily="34" charset="-120"/>
              </a:rPr>
              <a:t>PersistentVolumeClaim</a:t>
            </a:r>
            <a:endParaRPr lang="en-US" sz="1500" dirty="0"/>
          </a:p>
        </p:txBody>
      </p:sp>
      <p:sp>
        <p:nvSpPr>
          <p:cNvPr id="62" name="[p3] Forma"/>
          <p:cNvSpPr/>
          <p:nvPr/>
        </p:nvSpPr>
        <p:spPr>
          <a:xfrm>
            <a:off x="3255264" y="5887593"/>
            <a:ext cx="8095183" cy="321183"/>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 disco por base: sobrevive al Pod</a:t>
            </a:r>
            <a:endParaRPr lang="en-US" sz="1200" dirty="0"/>
          </a:p>
        </p:txBody>
      </p:sp>
      <p:sp>
        <p:nvSpPr>
          <p:cNvPr id="63" name="Text 6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64"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4"/>
                                        </p:tgtEl>
                                        <p:attrNameLst>
                                          <p:attrName>style.visibility</p:attrName>
                                        </p:attrNameLst>
                                      </p:cBhvr>
                                      <p:to>
                                        <p:strVal val="visible"/>
                                      </p:to>
                                    </p:set>
                                    <p:animEffect transition="in" filter="fade">
                                      <p:cBhvr>
                                        <p:cTn id="5" dur="400"/>
                                        <p:tgtEl>
                                          <p:spTgt spid="2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5"/>
                                        </p:tgtEl>
                                        <p:attrNameLst>
                                          <p:attrName>style.visibility</p:attrName>
                                        </p:attrNameLst>
                                      </p:cBhvr>
                                      <p:to>
                                        <p:strVal val="visible"/>
                                      </p:to>
                                    </p:set>
                                    <p:animEffect transition="in" filter="fade">
                                      <p:cBhvr>
                                        <p:cTn id="8" dur="400"/>
                                        <p:tgtEl>
                                          <p:spTgt spid="2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400"/>
                                        <p:tgtEl>
                                          <p:spTgt spid="2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40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400"/>
                                        <p:tgtEl>
                                          <p:spTgt spid="3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4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4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400"/>
                                        <p:tgtEl>
                                          <p:spTgt spid="3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400"/>
                                        <p:tgtEl>
                                          <p:spTgt spid="3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400"/>
                                        <p:tgtEl>
                                          <p:spTgt spid="4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400"/>
                                        <p:tgtEl>
                                          <p:spTgt spid="41"/>
                                        </p:tgtEl>
                                      </p:cBhvr>
                                    </p:animEffect>
                                  </p:childTnLst>
                                </p:cTn>
                              </p:par>
                            </p:childTnLst>
                          </p:cTn>
                        </p:par>
                      </p:childTnLst>
                    </p:cTn>
                  </p:par>
                  <p:par>
                    <p:cTn id="98" fill="hold">
                      <p:stCondLst>
                        <p:cond delay="indefinite"/>
                      </p:stCondLst>
                      <p:childTnLst>
                        <p:par>
                          <p:cTn id="99"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400"/>
                                        <p:tgtEl>
                                          <p:spTgt spid="4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fade">
                                      <p:cBhvr>
                                        <p:cTn id="64" dur="400"/>
                                        <p:tgtEl>
                                          <p:spTgt spid="4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400"/>
                                        <p:tgtEl>
                                          <p:spTgt spid="4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400"/>
                                        <p:tgtEl>
                                          <p:spTgt spid="4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fade">
                                      <p:cBhvr>
                                        <p:cTn id="73" dur="400"/>
                                        <p:tgtEl>
                                          <p:spTgt spid="4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400"/>
                                        <p:tgtEl>
                                          <p:spTgt spid="4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8"/>
                                        </p:tgtEl>
                                        <p:attrNameLst>
                                          <p:attrName>style.visibility</p:attrName>
                                        </p:attrNameLst>
                                      </p:cBhvr>
                                      <p:to>
                                        <p:strVal val="visible"/>
                                      </p:to>
                                    </p:set>
                                    <p:animEffect transition="in" filter="fade">
                                      <p:cBhvr>
                                        <p:cTn id="79" dur="400"/>
                                        <p:tgtEl>
                                          <p:spTgt spid="4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fade">
                                      <p:cBhvr>
                                        <p:cTn id="82" dur="400"/>
                                        <p:tgtEl>
                                          <p:spTgt spid="4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400"/>
                                        <p:tgtEl>
                                          <p:spTgt spid="5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1"/>
                                        </p:tgtEl>
                                        <p:attrNameLst>
                                          <p:attrName>style.visibility</p:attrName>
                                        </p:attrNameLst>
                                      </p:cBhvr>
                                      <p:to>
                                        <p:strVal val="visible"/>
                                      </p:to>
                                    </p:set>
                                    <p:animEffect transition="in" filter="fade">
                                      <p:cBhvr>
                                        <p:cTn id="88" dur="400"/>
                                        <p:tgtEl>
                                          <p:spTgt spid="5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fade">
                                      <p:cBhvr>
                                        <p:cTn id="91" dur="400"/>
                                        <p:tgtEl>
                                          <p:spTgt spid="5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3"/>
                                        </p:tgtEl>
                                        <p:attrNameLst>
                                          <p:attrName>style.visibility</p:attrName>
                                        </p:attrNameLst>
                                      </p:cBhvr>
                                      <p:to>
                                        <p:strVal val="visible"/>
                                      </p:to>
                                    </p:set>
                                    <p:animEffect transition="in" filter="fade">
                                      <p:cBhvr>
                                        <p:cTn id="94" dur="400"/>
                                        <p:tgtEl>
                                          <p:spTgt spid="5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4"/>
                                        </p:tgtEl>
                                        <p:attrNameLst>
                                          <p:attrName>style.visibility</p:attrName>
                                        </p:attrNameLst>
                                      </p:cBhvr>
                                      <p:to>
                                        <p:strVal val="visible"/>
                                      </p:to>
                                    </p:set>
                                    <p:animEffect transition="in" filter="fade">
                                      <p:cBhvr>
                                        <p:cTn id="97" dur="400"/>
                                        <p:tgtEl>
                                          <p:spTgt spid="54"/>
                                        </p:tgtEl>
                                      </p:cBhvr>
                                    </p:animEffect>
                                  </p:childTnLst>
                                </p:cTn>
                              </p:par>
                            </p:childTnLst>
                          </p:cTn>
                        </p:par>
                      </p:childTnLst>
                    </p:cTn>
                  </p:par>
                  <p:par>
                    <p:cTn id="124" fill="hold">
                      <p:stCondLst>
                        <p:cond delay="indefinite"/>
                      </p:stCondLst>
                      <p:childTnLst>
                        <p:par>
                          <p:cTn id="125"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400"/>
                                        <p:tgtEl>
                                          <p:spTgt spid="5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6"/>
                                        </p:tgtEl>
                                        <p:attrNameLst>
                                          <p:attrName>style.visibility</p:attrName>
                                        </p:attrNameLst>
                                      </p:cBhvr>
                                      <p:to>
                                        <p:strVal val="visible"/>
                                      </p:to>
                                    </p:set>
                                    <p:animEffect transition="in" filter="fade">
                                      <p:cBhvr>
                                        <p:cTn id="105" dur="400"/>
                                        <p:tgtEl>
                                          <p:spTgt spid="5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7"/>
                                        </p:tgtEl>
                                        <p:attrNameLst>
                                          <p:attrName>style.visibility</p:attrName>
                                        </p:attrNameLst>
                                      </p:cBhvr>
                                      <p:to>
                                        <p:strVal val="visible"/>
                                      </p:to>
                                    </p:set>
                                    <p:animEffect transition="in" filter="fade">
                                      <p:cBhvr>
                                        <p:cTn id="108" dur="400"/>
                                        <p:tgtEl>
                                          <p:spTgt spid="5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58"/>
                                        </p:tgtEl>
                                        <p:attrNameLst>
                                          <p:attrName>style.visibility</p:attrName>
                                        </p:attrNameLst>
                                      </p:cBhvr>
                                      <p:to>
                                        <p:strVal val="visible"/>
                                      </p:to>
                                    </p:set>
                                    <p:animEffect transition="in" filter="fade">
                                      <p:cBhvr>
                                        <p:cTn id="111" dur="400"/>
                                        <p:tgtEl>
                                          <p:spTgt spid="5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Effect transition="in" filter="fade">
                                      <p:cBhvr>
                                        <p:cTn id="114" dur="400"/>
                                        <p:tgtEl>
                                          <p:spTgt spid="5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fade">
                                      <p:cBhvr>
                                        <p:cTn id="117" dur="400"/>
                                        <p:tgtEl>
                                          <p:spTgt spid="6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1"/>
                                        </p:tgtEl>
                                        <p:attrNameLst>
                                          <p:attrName>style.visibility</p:attrName>
                                        </p:attrNameLst>
                                      </p:cBhvr>
                                      <p:to>
                                        <p:strVal val="visible"/>
                                      </p:to>
                                    </p:set>
                                    <p:animEffect transition="in" filter="fade">
                                      <p:cBhvr>
                                        <p:cTn id="120" dur="400"/>
                                        <p:tgtEl>
                                          <p:spTgt spid="6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2"/>
                                        </p:tgtEl>
                                        <p:attrNameLst>
                                          <p:attrName>style.visibility</p:attrName>
                                        </p:attrNameLst>
                                      </p:cBhvr>
                                      <p:to>
                                        <p:strVal val="visible"/>
                                      </p:to>
                                    </p:set>
                                    <p:animEffect transition="in" filter="fade">
                                      <p:cBhvr>
                                        <p:cTn id="123"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Cuando un Pod se cae</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Kubernetes vuelve solo al estado que declaramos.</a:t>
            </a:r>
            <a:endParaRPr lang="en-US" sz="1700" dirty="0"/>
          </a:p>
        </p:txBody>
      </p:sp>
      <p:sp>
        <p:nvSpPr>
          <p:cNvPr id="12" name="Shape 10"/>
          <p:cNvSpPr/>
          <p:nvPr/>
        </p:nvSpPr>
        <p:spPr>
          <a:xfrm>
            <a:off x="612648" y="1719072"/>
            <a:ext cx="10966399" cy="749808"/>
          </a:xfrm>
          <a:prstGeom prst="roundRect">
            <a:avLst>
              <a:gd name="adj" fmla="val 14634"/>
            </a:avLst>
          </a:prstGeom>
          <a:solidFill>
            <a:srgbClr val="F7E3E7"/>
          </a:solidFill>
          <a:ln w="15875">
            <a:solidFill>
              <a:srgbClr val="D18795"/>
            </a:solidFill>
            <a:prstDash val="solid"/>
          </a:ln>
          <a:effectLst>
            <a:outerShdw sx="100000" sy="100000" kx="0" ky="0" algn="bl" rotWithShape="0" blurRad="76200" dist="19050" dir="5400000">
              <a:srgbClr val="0B1F3A">
                <a:alpha val="14000"/>
              </a:srgbClr>
            </a:outerShdw>
          </a:effectLst>
        </p:spPr>
      </p:sp>
      <p:sp>
        <p:nvSpPr>
          <p:cNvPr id="13" name="Shape 11"/>
          <p:cNvSpPr/>
          <p:nvPr/>
        </p:nvSpPr>
        <p:spPr>
          <a:xfrm>
            <a:off x="612648" y="1828800"/>
            <a:ext cx="82296" cy="530352"/>
          </a:xfrm>
          <a:prstGeom prst="rect">
            <a:avLst/>
          </a:prstGeom>
          <a:solidFill>
            <a:srgbClr val="AB243E"/>
          </a:solidFill>
          <a:ln w="12700">
            <a:solidFill>
              <a:srgbClr val="AB243E"/>
            </a:solidFill>
            <a:prstDash val="solid"/>
          </a:ln>
        </p:spPr>
      </p:sp>
      <p:sp>
        <p:nvSpPr>
          <p:cNvPr id="14" name="Shape 12"/>
          <p:cNvSpPr/>
          <p:nvPr/>
        </p:nvSpPr>
        <p:spPr>
          <a:xfrm>
            <a:off x="886968" y="1819656"/>
            <a:ext cx="548640" cy="548640"/>
          </a:xfrm>
          <a:prstGeom prst="ellipse">
            <a:avLst/>
          </a:prstGeom>
          <a:solidFill>
            <a:srgbClr val="AB243E"/>
          </a:solidFill>
          <a:ln w="12700">
            <a:solidFill>
              <a:srgbClr val="AB243E"/>
            </a:solidFill>
            <a:prstDash val="solid"/>
          </a:ln>
        </p:spPr>
      </p:sp>
      <p:sp>
        <p:nvSpPr>
          <p:cNvPr id="15" name="Icono siren"/>
          <p:cNvSpPr/>
          <p:nvPr/>
        </p:nvSpPr>
        <p:spPr>
          <a:xfrm>
            <a:off x="1018642" y="1951330"/>
            <a:ext cx="285293" cy="285293"/>
          </a:xfrm>
          <a:custGeom>
            <a:avLst/>
            <a:gdLst/>
            <a:ahLst/>
            <a:cxnLst/>
            <a:rect l="l" t="t" r="r" b="b"/>
            <a:pathLst>
              <a:path w="285293" h="285293">
                <a:moveTo>
                  <a:pt x="83210" y="213970"/>
                </a:moveTo>
                <a:lnTo>
                  <a:pt x="83210" y="142646"/>
                </a:lnTo>
                <a:cubicBezTo>
                  <a:pt x="83210" y="109821"/>
                  <a:pt x="109821" y="83210"/>
                  <a:pt x="142646" y="83210"/>
                </a:cubicBezTo>
                <a:cubicBezTo>
                  <a:pt x="175472" y="83210"/>
                  <a:pt x="202082" y="109821"/>
                  <a:pt x="202082" y="142646"/>
                </a:cubicBezTo>
                <a:lnTo>
                  <a:pt x="202082" y="213970"/>
                </a:lnTo>
                <a:moveTo>
                  <a:pt x="59436" y="249631"/>
                </a:moveTo>
                <a:cubicBezTo>
                  <a:pt x="59436" y="256196"/>
                  <a:pt x="64758" y="261518"/>
                  <a:pt x="71323" y="261518"/>
                </a:cubicBezTo>
                <a:lnTo>
                  <a:pt x="213970" y="261518"/>
                </a:lnTo>
                <a:cubicBezTo>
                  <a:pt x="220535" y="261518"/>
                  <a:pt x="225857" y="256196"/>
                  <a:pt x="225857" y="249631"/>
                </a:cubicBezTo>
                <a:lnTo>
                  <a:pt x="225857" y="237744"/>
                </a:lnTo>
                <a:cubicBezTo>
                  <a:pt x="225857" y="224614"/>
                  <a:pt x="215213" y="213970"/>
                  <a:pt x="202082" y="213970"/>
                </a:cubicBezTo>
                <a:lnTo>
                  <a:pt x="83210" y="213970"/>
                </a:lnTo>
                <a:cubicBezTo>
                  <a:pt x="70080" y="213970"/>
                  <a:pt x="59436" y="224614"/>
                  <a:pt x="59436" y="237744"/>
                </a:cubicBezTo>
                <a:close/>
                <a:moveTo>
                  <a:pt x="249631" y="142646"/>
                </a:moveTo>
                <a:lnTo>
                  <a:pt x="261518" y="142646"/>
                </a:lnTo>
                <a:moveTo>
                  <a:pt x="219913" y="53492"/>
                </a:moveTo>
                <a:lnTo>
                  <a:pt x="213970" y="59436"/>
                </a:lnTo>
                <a:moveTo>
                  <a:pt x="23774" y="142646"/>
                </a:moveTo>
                <a:lnTo>
                  <a:pt x="35662" y="142646"/>
                </a:lnTo>
                <a:moveTo>
                  <a:pt x="142646" y="23774"/>
                </a:moveTo>
                <a:lnTo>
                  <a:pt x="142646" y="35662"/>
                </a:lnTo>
                <a:moveTo>
                  <a:pt x="58592" y="58592"/>
                </a:moveTo>
                <a:lnTo>
                  <a:pt x="66996" y="66996"/>
                </a:lnTo>
                <a:moveTo>
                  <a:pt x="142646" y="142646"/>
                </a:moveTo>
                <a:lnTo>
                  <a:pt x="142646" y="213970"/>
                </a:lnTo>
              </a:path>
            </a:pathLst>
          </a:custGeom>
          <a:noFill/>
          <a:ln w="23774" cap="rnd">
            <a:solidFill>
              <a:srgbClr val="FFFFFF"/>
            </a:solidFill>
            <a:prstDash val="solid"/>
            <a:round/>
          </a:ln>
        </p:spPr>
      </p:sp>
      <p:sp>
        <p:nvSpPr>
          <p:cNvPr id="16" name="Text 14"/>
          <p:cNvSpPr/>
          <p:nvPr/>
        </p:nvSpPr>
        <p:spPr>
          <a:xfrm>
            <a:off x="1618488" y="18105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AB243E"/>
                </a:solidFill>
                <a:latin typeface="Segoe UI" pitchFamily="34" charset="0"/>
                <a:ea typeface="Segoe UI" pitchFamily="34" charset="-122"/>
                <a:cs typeface="Segoe UI" pitchFamily="34" charset="-120"/>
              </a:rPr>
              <a:t>QUÉ FALLA</a:t>
            </a:r>
            <a:endParaRPr lang="en-US" sz="1000" dirty="0"/>
          </a:p>
        </p:txBody>
      </p:sp>
      <p:sp>
        <p:nvSpPr>
          <p:cNvPr id="17" name="Text 15"/>
          <p:cNvSpPr/>
          <p:nvPr/>
        </p:nvSpPr>
        <p:spPr>
          <a:xfrm>
            <a:off x="1618488" y="2011680"/>
            <a:ext cx="9777679" cy="384048"/>
          </a:xfrm>
          <a:prstGeom prst="rect">
            <a:avLst/>
          </a:prstGeom>
          <a:noFill/>
          <a:ln/>
        </p:spPr>
        <p:txBody>
          <a:bodyPr wrap="square" lIns="0" tIns="0" rIns="0" bIns="0" rtlCol="0" anchor="ctr">
            <a:normAutofit/>
          </a:bodyPr>
          <a:lstStyle/>
          <a:p>
            <a:pPr indent="0" marL="0">
              <a:buNone/>
            </a:pPr>
            <a:r>
              <a:rPr lang="en-US" sz="1650" b="1" dirty="0">
                <a:solidFill>
                  <a:srgbClr val="AB243E"/>
                </a:solidFill>
                <a:latin typeface="Segoe UI" pitchFamily="34" charset="0"/>
                <a:ea typeface="Segoe UI" pitchFamily="34" charset="-122"/>
                <a:cs typeface="Segoe UI" pitchFamily="34" charset="-120"/>
              </a:rPr>
              <a:t>Se cae el Pod de solicitudes</a:t>
            </a:r>
            <a:pPr indent="0" marL="0">
              <a:buNone/>
            </a:pPr>
            <a:r>
              <a:rPr lang="en-US" sz="1650" dirty="0">
                <a:solidFill>
                  <a:srgbClr val="0B1A3C"/>
                </a:solidFill>
                <a:latin typeface="Segoe UI" pitchFamily="34" charset="0"/>
                <a:ea typeface="Segoe UI" pitchFamily="34" charset="-122"/>
                <a:cs typeface="Segoe UI" pitchFamily="34" charset="-120"/>
              </a:rPr>
              <a:t>   Un error, un nodo reiniciado o un kubectl delete.</a:t>
            </a:r>
            <a:endParaRPr lang="en-US" sz="1650" dirty="0"/>
          </a:p>
        </p:txBody>
      </p:sp>
      <p:sp>
        <p:nvSpPr>
          <p:cNvPr id="18" name="[p5] Forma"/>
          <p:cNvSpPr/>
          <p:nvPr/>
        </p:nvSpPr>
        <p:spPr>
          <a:xfrm>
            <a:off x="612648" y="5605272"/>
            <a:ext cx="10966399" cy="749808"/>
          </a:xfrm>
          <a:prstGeom prst="roundRect">
            <a:avLst>
              <a:gd name="adj" fmla="val 14634"/>
            </a:avLst>
          </a:prstGeom>
          <a:solidFill>
            <a:srgbClr val="E1F1EA"/>
          </a:solidFill>
          <a:ln w="15875">
            <a:solidFill>
              <a:srgbClr val="78AB9A"/>
            </a:solidFill>
            <a:prstDash val="solid"/>
          </a:ln>
          <a:effectLst>
            <a:outerShdw sx="100000" sy="100000" kx="0" ky="0" algn="bl" rotWithShape="0" blurRad="76200" dist="19050" dir="5400000">
              <a:srgbClr val="0B1F3A">
                <a:alpha val="14000"/>
              </a:srgbClr>
            </a:outerShdw>
          </a:effectLst>
        </p:spPr>
      </p:sp>
      <p:sp>
        <p:nvSpPr>
          <p:cNvPr id="19" name="[p5] Forma"/>
          <p:cNvSpPr/>
          <p:nvPr/>
        </p:nvSpPr>
        <p:spPr>
          <a:xfrm>
            <a:off x="612648" y="5715000"/>
            <a:ext cx="82296" cy="530352"/>
          </a:xfrm>
          <a:prstGeom prst="rect">
            <a:avLst/>
          </a:prstGeom>
          <a:solidFill>
            <a:srgbClr val="0A6648"/>
          </a:solidFill>
          <a:ln w="12700">
            <a:solidFill>
              <a:srgbClr val="0A6648"/>
            </a:solidFill>
            <a:prstDash val="solid"/>
          </a:ln>
        </p:spPr>
      </p:sp>
      <p:sp>
        <p:nvSpPr>
          <p:cNvPr id="20" name="[p5] Forma"/>
          <p:cNvSpPr/>
          <p:nvPr/>
        </p:nvSpPr>
        <p:spPr>
          <a:xfrm>
            <a:off x="886968" y="5705856"/>
            <a:ext cx="548640" cy="548640"/>
          </a:xfrm>
          <a:prstGeom prst="ellipse">
            <a:avLst/>
          </a:prstGeom>
          <a:solidFill>
            <a:srgbClr val="0A6648"/>
          </a:solidFill>
          <a:ln w="12700">
            <a:solidFill>
              <a:srgbClr val="0A6648"/>
            </a:solidFill>
            <a:prstDash val="solid"/>
          </a:ln>
        </p:spPr>
      </p:sp>
      <p:sp>
        <p:nvSpPr>
          <p:cNvPr id="21" name="[p5] Icono circle-check"/>
          <p:cNvSpPr/>
          <p:nvPr/>
        </p:nvSpPr>
        <p:spPr>
          <a:xfrm>
            <a:off x="1018642" y="5837530"/>
            <a:ext cx="285293" cy="285293"/>
          </a:xfrm>
          <a:custGeom>
            <a:avLst/>
            <a:gdLst/>
            <a:ahLst/>
            <a:cxnLst/>
            <a:rect l="l" t="t" r="r" b="b"/>
            <a:pathLst>
              <a:path w="285293" h="285293">
                <a:moveTo>
                  <a:pt x="261518" y="142646"/>
                </a:moveTo>
                <a:cubicBezTo>
                  <a:pt x="261518" y="208298"/>
                  <a:pt x="208298" y="261518"/>
                  <a:pt x="142646" y="261518"/>
                </a:cubicBezTo>
                <a:cubicBezTo>
                  <a:pt x="76995" y="261518"/>
                  <a:pt x="23774" y="208298"/>
                  <a:pt x="23774" y="142646"/>
                </a:cubicBezTo>
                <a:cubicBezTo>
                  <a:pt x="23774" y="76995"/>
                  <a:pt x="76995" y="23774"/>
                  <a:pt x="142646" y="23774"/>
                </a:cubicBezTo>
                <a:cubicBezTo>
                  <a:pt x="208298" y="23774"/>
                  <a:pt x="261518" y="76995"/>
                  <a:pt x="261518" y="142646"/>
                </a:cubicBezTo>
                <a:close/>
                <a:moveTo>
                  <a:pt x="106985" y="142646"/>
                </a:moveTo>
                <a:lnTo>
                  <a:pt x="130759" y="166421"/>
                </a:lnTo>
                <a:lnTo>
                  <a:pt x="178308" y="118872"/>
                </a:lnTo>
              </a:path>
            </a:pathLst>
          </a:custGeom>
          <a:noFill/>
          <a:ln w="23774" cap="rnd">
            <a:solidFill>
              <a:srgbClr val="FFFFFF"/>
            </a:solidFill>
            <a:prstDash val="solid"/>
            <a:round/>
          </a:ln>
        </p:spPr>
      </p:sp>
      <p:sp>
        <p:nvSpPr>
          <p:cNvPr id="22" name="[p5] Forma"/>
          <p:cNvSpPr/>
          <p:nvPr/>
        </p:nvSpPr>
        <p:spPr>
          <a:xfrm>
            <a:off x="1618488" y="5696712"/>
            <a:ext cx="2194560" cy="237744"/>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RESULTADO</a:t>
            </a:r>
            <a:endParaRPr lang="en-US" sz="1000" dirty="0"/>
          </a:p>
        </p:txBody>
      </p:sp>
      <p:sp>
        <p:nvSpPr>
          <p:cNvPr id="23" name="[p5] Forma"/>
          <p:cNvSpPr/>
          <p:nvPr/>
        </p:nvSpPr>
        <p:spPr>
          <a:xfrm>
            <a:off x="1618488" y="5897880"/>
            <a:ext cx="9777679" cy="384048"/>
          </a:xfrm>
          <a:prstGeom prst="rect">
            <a:avLst/>
          </a:prstGeom>
          <a:noFill/>
          <a:ln/>
        </p:spPr>
        <p:txBody>
          <a:bodyPr wrap="square" lIns="0" tIns="0" rIns="0" bIns="0" rtlCol="0" anchor="ctr">
            <a:normAutofit/>
          </a:bodyPr>
          <a:lstStyle/>
          <a:p>
            <a:pPr indent="0" marL="0">
              <a:buNone/>
            </a:pPr>
            <a:r>
              <a:rPr lang="en-US" sz="1650" b="1" dirty="0">
                <a:solidFill>
                  <a:srgbClr val="0A6648"/>
                </a:solidFill>
                <a:latin typeface="Segoe UI" pitchFamily="34" charset="0"/>
                <a:ea typeface="Segoe UI" pitchFamily="34" charset="-122"/>
                <a:cs typeface="Segoe UI" pitchFamily="34" charset="-120"/>
              </a:rPr>
              <a:t>Sin intervención manual</a:t>
            </a:r>
            <a:pPr indent="0" marL="0">
              <a:buNone/>
            </a:pPr>
            <a:r>
              <a:rPr lang="en-US" sz="1650" dirty="0">
                <a:solidFill>
                  <a:srgbClr val="0B1A3C"/>
                </a:solidFill>
                <a:latin typeface="Segoe UI" pitchFamily="34" charset="0"/>
                <a:ea typeface="Segoe UI" pitchFamily="34" charset="-122"/>
                <a:cs typeface="Segoe UI" pitchFamily="34" charset="-120"/>
              </a:rPr>
              <a:t>   Los eventos pendientes siguen en la base y se entregan.</a:t>
            </a:r>
            <a:endParaRPr lang="en-US" sz="1650" dirty="0"/>
          </a:p>
        </p:txBody>
      </p:sp>
      <p:sp>
        <p:nvSpPr>
          <p:cNvPr id="24" name="[p5] Forma"/>
          <p:cNvSpPr/>
          <p:nvPr/>
        </p:nvSpPr>
        <p:spPr>
          <a:xfrm>
            <a:off x="10208247" y="5367528"/>
            <a:ext cx="0" cy="219456"/>
          </a:xfrm>
          <a:prstGeom prst="line">
            <a:avLst/>
          </a:prstGeom>
          <a:noFill/>
          <a:ln w="25400">
            <a:solidFill>
              <a:srgbClr val="0A6648"/>
            </a:solidFill>
            <a:prstDash val="dash"/>
            <a:tailEnd type="triangle"/>
          </a:ln>
        </p:spPr>
      </p:sp>
      <p:sp>
        <p:nvSpPr>
          <p:cNvPr id="25" name="[p1] Forma"/>
          <p:cNvSpPr/>
          <p:nvPr/>
        </p:nvSpPr>
        <p:spPr>
          <a:xfrm>
            <a:off x="2631940" y="2487168"/>
            <a:ext cx="0" cy="1005108"/>
          </a:xfrm>
          <a:prstGeom prst="line">
            <a:avLst/>
          </a:prstGeom>
          <a:noFill/>
          <a:ln w="25400">
            <a:solidFill>
              <a:srgbClr val="AB243E"/>
            </a:solidFill>
            <a:prstDash val="dash"/>
            <a:tailEnd type="triangle"/>
          </a:ln>
        </p:spPr>
      </p:sp>
      <p:sp>
        <p:nvSpPr>
          <p:cNvPr id="26" name="[p1] Forma"/>
          <p:cNvSpPr/>
          <p:nvPr/>
        </p:nvSpPr>
        <p:spPr>
          <a:xfrm>
            <a:off x="1983448" y="3602004"/>
            <a:ext cx="8224799" cy="0"/>
          </a:xfrm>
          <a:prstGeom prst="line">
            <a:avLst/>
          </a:prstGeom>
          <a:noFill/>
          <a:ln w="50800">
            <a:solidFill>
              <a:srgbClr val="6BC1DB"/>
            </a:solidFill>
            <a:prstDash val="solid"/>
          </a:ln>
        </p:spPr>
      </p:sp>
      <p:sp>
        <p:nvSpPr>
          <p:cNvPr id="27" name="[p1] Forma"/>
          <p:cNvSpPr/>
          <p:nvPr/>
        </p:nvSpPr>
        <p:spPr>
          <a:xfrm>
            <a:off x="1617688" y="2724912"/>
            <a:ext cx="73152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0 s</a:t>
            </a:r>
            <a:endParaRPr lang="en-US" sz="1100" dirty="0"/>
          </a:p>
        </p:txBody>
      </p:sp>
      <p:sp>
        <p:nvSpPr>
          <p:cNvPr id="28" name="[p1] Forma"/>
          <p:cNvSpPr/>
          <p:nvPr/>
        </p:nvSpPr>
        <p:spPr>
          <a:xfrm>
            <a:off x="1563555" y="3182112"/>
            <a:ext cx="839785" cy="839785"/>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9" name="[p1] Icono radar"/>
          <p:cNvSpPr/>
          <p:nvPr/>
        </p:nvSpPr>
        <p:spPr>
          <a:xfrm>
            <a:off x="1756706" y="3375263"/>
            <a:ext cx="453484" cy="453484"/>
          </a:xfrm>
          <a:custGeom>
            <a:avLst/>
            <a:gdLst/>
            <a:ahLst/>
            <a:cxnLst/>
            <a:rect l="l" t="t" r="r" b="b"/>
            <a:pathLst>
              <a:path w="453484" h="453484">
                <a:moveTo>
                  <a:pt x="360331" y="93153"/>
                </a:moveTo>
                <a:cubicBezTo>
                  <a:pt x="299835" y="32592"/>
                  <a:pt x="206183" y="20266"/>
                  <a:pt x="132077" y="63110"/>
                </a:cubicBezTo>
                <a:moveTo>
                  <a:pt x="75581" y="113371"/>
                </a:moveTo>
                <a:lnTo>
                  <a:pt x="75770" y="113371"/>
                </a:lnTo>
                <a:moveTo>
                  <a:pt x="43270" y="181771"/>
                </a:moveTo>
                <a:cubicBezTo>
                  <a:pt x="23827" y="260966"/>
                  <a:pt x="57384" y="343699"/>
                  <a:pt x="126500" y="386973"/>
                </a:cubicBezTo>
                <a:cubicBezTo>
                  <a:pt x="195616" y="430248"/>
                  <a:pt x="284697" y="424300"/>
                  <a:pt x="347446" y="372220"/>
                </a:cubicBezTo>
                <a:cubicBezTo>
                  <a:pt x="410196" y="320141"/>
                  <a:pt x="432455" y="233681"/>
                  <a:pt x="402656" y="157775"/>
                </a:cubicBezTo>
                <a:moveTo>
                  <a:pt x="306857" y="146626"/>
                </a:moveTo>
                <a:cubicBezTo>
                  <a:pt x="277231" y="116827"/>
                  <a:pt x="233552" y="105859"/>
                  <a:pt x="193362" y="118127"/>
                </a:cubicBezTo>
                <a:cubicBezTo>
                  <a:pt x="153172" y="130395"/>
                  <a:pt x="123064" y="163886"/>
                  <a:pt x="115129" y="205150"/>
                </a:cubicBezTo>
                <a:cubicBezTo>
                  <a:pt x="107194" y="246415"/>
                  <a:pt x="122733" y="288684"/>
                  <a:pt x="155507" y="314982"/>
                </a:cubicBezTo>
                <a:moveTo>
                  <a:pt x="226742" y="340113"/>
                </a:moveTo>
                <a:lnTo>
                  <a:pt x="226931" y="340113"/>
                </a:lnTo>
                <a:moveTo>
                  <a:pt x="339924" y="220318"/>
                </a:moveTo>
                <a:cubicBezTo>
                  <a:pt x="342009" y="256788"/>
                  <a:pt x="326394" y="292028"/>
                  <a:pt x="297977" y="314982"/>
                </a:cubicBezTo>
                <a:moveTo>
                  <a:pt x="264532" y="226742"/>
                </a:moveTo>
                <a:cubicBezTo>
                  <a:pt x="264532" y="247613"/>
                  <a:pt x="247613" y="264532"/>
                  <a:pt x="226742" y="264532"/>
                </a:cubicBezTo>
                <a:cubicBezTo>
                  <a:pt x="205871" y="264532"/>
                  <a:pt x="188952" y="247613"/>
                  <a:pt x="188952" y="226742"/>
                </a:cubicBezTo>
                <a:cubicBezTo>
                  <a:pt x="188952" y="205871"/>
                  <a:pt x="205871" y="188952"/>
                  <a:pt x="226742" y="188952"/>
                </a:cubicBezTo>
                <a:cubicBezTo>
                  <a:pt x="247613" y="188952"/>
                  <a:pt x="264532" y="205871"/>
                  <a:pt x="264532" y="226742"/>
                </a:cubicBezTo>
                <a:close/>
                <a:moveTo>
                  <a:pt x="253384" y="200100"/>
                </a:moveTo>
                <a:lnTo>
                  <a:pt x="360331" y="93153"/>
                </a:lnTo>
              </a:path>
            </a:pathLst>
          </a:custGeom>
          <a:noFill/>
          <a:ln w="33067" cap="rnd">
            <a:solidFill>
              <a:srgbClr val="8A4B06"/>
            </a:solidFill>
            <a:prstDash val="solid"/>
            <a:round/>
          </a:ln>
        </p:spPr>
      </p:sp>
      <p:sp>
        <p:nvSpPr>
          <p:cNvPr id="30" name="[p2] Forma"/>
          <p:cNvSpPr/>
          <p:nvPr/>
        </p:nvSpPr>
        <p:spPr>
          <a:xfrm>
            <a:off x="2476492" y="3602004"/>
            <a:ext cx="1755511" cy="0"/>
          </a:xfrm>
          <a:prstGeom prst="line">
            <a:avLst/>
          </a:prstGeom>
          <a:noFill/>
          <a:ln w="38100">
            <a:solidFill>
              <a:srgbClr val="2BA6CB"/>
            </a:solidFill>
            <a:prstDash val="solid"/>
            <a:tailEnd type="triangle"/>
          </a:ln>
        </p:spPr>
      </p:sp>
      <p:sp>
        <p:nvSpPr>
          <p:cNvPr id="31" name="[p1] Forma"/>
          <p:cNvSpPr/>
          <p:nvPr/>
        </p:nvSpPr>
        <p:spPr>
          <a:xfrm>
            <a:off x="6858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8A4B06"/>
                </a:solidFill>
                <a:latin typeface="Segoe UI Semibold" pitchFamily="34" charset="0"/>
                <a:ea typeface="Segoe UI Semibold" pitchFamily="34" charset="-122"/>
                <a:cs typeface="Segoe UI Semibold" pitchFamily="34" charset="-120"/>
              </a:rPr>
              <a:t>Detecta</a:t>
            </a:r>
            <a:endParaRPr lang="en-US" sz="1700" dirty="0"/>
          </a:p>
        </p:txBody>
      </p:sp>
      <p:sp>
        <p:nvSpPr>
          <p:cNvPr id="32" name="[p1] Forma"/>
          <p:cNvSpPr/>
          <p:nvPr/>
        </p:nvSpPr>
        <p:spPr>
          <a:xfrm>
            <a:off x="7406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Falta 1 de 1 copias.</a:t>
            </a:r>
            <a:endParaRPr lang="en-US" sz="1300" dirty="0"/>
          </a:p>
        </p:txBody>
      </p:sp>
      <p:sp>
        <p:nvSpPr>
          <p:cNvPr id="33" name="[p2] Forma"/>
          <p:cNvSpPr/>
          <p:nvPr/>
        </p:nvSpPr>
        <p:spPr>
          <a:xfrm>
            <a:off x="4313568" y="2724912"/>
            <a:ext cx="8229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+1 s</a:t>
            </a:r>
            <a:endParaRPr lang="en-US" sz="1100" dirty="0"/>
          </a:p>
        </p:txBody>
      </p:sp>
      <p:sp>
        <p:nvSpPr>
          <p:cNvPr id="34" name="[p2] Forma"/>
          <p:cNvSpPr/>
          <p:nvPr/>
        </p:nvSpPr>
        <p:spPr>
          <a:xfrm>
            <a:off x="43051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35" name="[p2] Icono rotate-ccw"/>
          <p:cNvSpPr/>
          <p:nvPr/>
        </p:nvSpPr>
        <p:spPr>
          <a:xfrm>
            <a:off x="4498306" y="3375263"/>
            <a:ext cx="453484" cy="453484"/>
          </a:xfrm>
          <a:custGeom>
            <a:avLst/>
            <a:gdLst/>
            <a:ahLst/>
            <a:cxnLst/>
            <a:rect l="l" t="t" r="r" b="b"/>
            <a:pathLst>
              <a:path w="453484" h="453484">
                <a:moveTo>
                  <a:pt x="56685" y="226742"/>
                </a:moveTo>
                <a:cubicBezTo>
                  <a:pt x="56685" y="320662"/>
                  <a:pt x="132822" y="396798"/>
                  <a:pt x="226742" y="396798"/>
                </a:cubicBezTo>
                <a:cubicBezTo>
                  <a:pt x="320662" y="396798"/>
                  <a:pt x="396798" y="320662"/>
                  <a:pt x="396798" y="226742"/>
                </a:cubicBezTo>
                <a:cubicBezTo>
                  <a:pt x="396798" y="132822"/>
                  <a:pt x="320662" y="56685"/>
                  <a:pt x="226742" y="56685"/>
                </a:cubicBezTo>
                <a:cubicBezTo>
                  <a:pt x="179201" y="56864"/>
                  <a:pt x="133569" y="75415"/>
                  <a:pt x="99389" y="108458"/>
                </a:cubicBezTo>
                <a:lnTo>
                  <a:pt x="56685" y="151161"/>
                </a:lnTo>
                <a:moveTo>
                  <a:pt x="56685" y="56685"/>
                </a:moveTo>
                <a:lnTo>
                  <a:pt x="56685" y="151161"/>
                </a:lnTo>
                <a:lnTo>
                  <a:pt x="151161" y="151161"/>
                </a:lnTo>
              </a:path>
            </a:pathLst>
          </a:custGeom>
          <a:noFill/>
          <a:ln w="33067" cap="rnd">
            <a:solidFill>
              <a:srgbClr val="0B6E8A"/>
            </a:solidFill>
            <a:prstDash val="solid"/>
            <a:round/>
          </a:ln>
        </p:spPr>
      </p:sp>
      <p:sp>
        <p:nvSpPr>
          <p:cNvPr id="36" name="[p3] Forma"/>
          <p:cNvSpPr/>
          <p:nvPr/>
        </p:nvSpPr>
        <p:spPr>
          <a:xfrm>
            <a:off x="5218092" y="3602004"/>
            <a:ext cx="1755511" cy="0"/>
          </a:xfrm>
          <a:prstGeom prst="line">
            <a:avLst/>
          </a:prstGeom>
          <a:noFill/>
          <a:ln w="38100">
            <a:solidFill>
              <a:srgbClr val="2BA6CB"/>
            </a:solidFill>
            <a:prstDash val="solid"/>
            <a:tailEnd type="triangle"/>
          </a:ln>
        </p:spPr>
      </p:sp>
      <p:sp>
        <p:nvSpPr>
          <p:cNvPr id="37" name="[p2] Forma"/>
          <p:cNvSpPr/>
          <p:nvPr/>
        </p:nvSpPr>
        <p:spPr>
          <a:xfrm>
            <a:off x="34274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Recrea</a:t>
            </a:r>
            <a:endParaRPr lang="en-US" sz="1700" dirty="0"/>
          </a:p>
        </p:txBody>
      </p:sp>
      <p:sp>
        <p:nvSpPr>
          <p:cNvPr id="38" name="[p2] Forma"/>
          <p:cNvSpPr/>
          <p:nvPr/>
        </p:nvSpPr>
        <p:spPr>
          <a:xfrm>
            <a:off x="34822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Un Pod nuevo con la misma imagen.</a:t>
            </a:r>
            <a:endParaRPr lang="en-US" sz="1300" dirty="0"/>
          </a:p>
        </p:txBody>
      </p:sp>
      <p:sp>
        <p:nvSpPr>
          <p:cNvPr id="39" name="[p3] Forma"/>
          <p:cNvSpPr/>
          <p:nvPr/>
        </p:nvSpPr>
        <p:spPr>
          <a:xfrm>
            <a:off x="6826568" y="2724912"/>
            <a:ext cx="128016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+segundos</a:t>
            </a:r>
            <a:endParaRPr lang="en-US" sz="1100" dirty="0"/>
          </a:p>
        </p:txBody>
      </p:sp>
      <p:sp>
        <p:nvSpPr>
          <p:cNvPr id="40" name="[p3] Forma"/>
          <p:cNvSpPr/>
          <p:nvPr/>
        </p:nvSpPr>
        <p:spPr>
          <a:xfrm>
            <a:off x="7046755" y="3182112"/>
            <a:ext cx="839785" cy="839785"/>
          </a:xfrm>
          <a:prstGeom prst="ellipse">
            <a:avLst/>
          </a:prstGeom>
          <a:solidFill>
            <a:srgbClr val="E3F4FA"/>
          </a:solidFill>
          <a:ln w="31750">
            <a:solidFill>
              <a:srgbClr val="0B6E8A"/>
            </a:solidFill>
            <a:prstDash val="solid"/>
          </a:ln>
          <a:effectLst>
            <a:outerShdw sx="100000" sy="100000" kx="0" ky="0" algn="bl" rotWithShape="0" blurRad="76200" dist="19050" dir="5400000">
              <a:srgbClr val="0B1F3A">
                <a:alpha val="14000"/>
              </a:srgbClr>
            </a:outerShdw>
          </a:effectLst>
        </p:spPr>
      </p:sp>
      <p:sp>
        <p:nvSpPr>
          <p:cNvPr id="41" name="[p3] Icono hourglass"/>
          <p:cNvSpPr/>
          <p:nvPr/>
        </p:nvSpPr>
        <p:spPr>
          <a:xfrm>
            <a:off x="7239906" y="3375263"/>
            <a:ext cx="453484" cy="453484"/>
          </a:xfrm>
          <a:custGeom>
            <a:avLst/>
            <a:gdLst/>
            <a:ahLst/>
            <a:cxnLst/>
            <a:rect l="l" t="t" r="r" b="b"/>
            <a:pathLst>
              <a:path w="453484" h="453484">
                <a:moveTo>
                  <a:pt x="94476" y="415694"/>
                </a:moveTo>
                <a:lnTo>
                  <a:pt x="359008" y="415694"/>
                </a:lnTo>
                <a:moveTo>
                  <a:pt x="94476" y="37790"/>
                </a:moveTo>
                <a:lnTo>
                  <a:pt x="359008" y="37790"/>
                </a:lnTo>
                <a:moveTo>
                  <a:pt x="321218" y="415694"/>
                </a:moveTo>
                <a:lnTo>
                  <a:pt x="321218" y="336863"/>
                </a:lnTo>
                <a:cubicBezTo>
                  <a:pt x="321216" y="326841"/>
                  <a:pt x="317233" y="317231"/>
                  <a:pt x="310145" y="310145"/>
                </a:cubicBezTo>
                <a:lnTo>
                  <a:pt x="226742" y="226742"/>
                </a:lnTo>
                <a:lnTo>
                  <a:pt x="143339" y="310145"/>
                </a:lnTo>
                <a:cubicBezTo>
                  <a:pt x="136251" y="317231"/>
                  <a:pt x="132268" y="326841"/>
                  <a:pt x="132266" y="336863"/>
                </a:cubicBezTo>
                <a:lnTo>
                  <a:pt x="132266" y="415694"/>
                </a:lnTo>
                <a:moveTo>
                  <a:pt x="132266" y="37790"/>
                </a:moveTo>
                <a:lnTo>
                  <a:pt x="132266" y="116621"/>
                </a:lnTo>
                <a:cubicBezTo>
                  <a:pt x="132268" y="126643"/>
                  <a:pt x="136251" y="136253"/>
                  <a:pt x="143339" y="143339"/>
                </a:cubicBezTo>
                <a:lnTo>
                  <a:pt x="226742" y="226742"/>
                </a:lnTo>
                <a:lnTo>
                  <a:pt x="310145" y="143339"/>
                </a:lnTo>
                <a:cubicBezTo>
                  <a:pt x="317233" y="136253"/>
                  <a:pt x="321216" y="126643"/>
                  <a:pt x="321218" y="116621"/>
                </a:cubicBezTo>
                <a:lnTo>
                  <a:pt x="321218" y="37790"/>
                </a:lnTo>
              </a:path>
            </a:pathLst>
          </a:custGeom>
          <a:noFill/>
          <a:ln w="33067" cap="rnd">
            <a:solidFill>
              <a:srgbClr val="0B6E8A"/>
            </a:solidFill>
            <a:prstDash val="solid"/>
            <a:round/>
          </a:ln>
        </p:spPr>
      </p:sp>
      <p:sp>
        <p:nvSpPr>
          <p:cNvPr id="42" name="[p4] Forma"/>
          <p:cNvSpPr/>
          <p:nvPr/>
        </p:nvSpPr>
        <p:spPr>
          <a:xfrm>
            <a:off x="7959692" y="3602004"/>
            <a:ext cx="1755511" cy="0"/>
          </a:xfrm>
          <a:prstGeom prst="line">
            <a:avLst/>
          </a:prstGeom>
          <a:noFill/>
          <a:ln w="38100">
            <a:solidFill>
              <a:srgbClr val="2BA6CB"/>
            </a:solidFill>
            <a:prstDash val="solid"/>
            <a:tailEnd type="triangle"/>
          </a:ln>
        </p:spPr>
      </p:sp>
      <p:sp>
        <p:nvSpPr>
          <p:cNvPr id="43" name="[p3] Forma"/>
          <p:cNvSpPr/>
          <p:nvPr/>
        </p:nvSpPr>
        <p:spPr>
          <a:xfrm>
            <a:off x="6169000"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B6E8A"/>
                </a:solidFill>
                <a:latin typeface="Segoe UI Semibold" pitchFamily="34" charset="0"/>
                <a:ea typeface="Segoe UI Semibold" pitchFamily="34" charset="-122"/>
                <a:cs typeface="Segoe UI Semibold" pitchFamily="34" charset="-120"/>
              </a:rPr>
              <a:t>Espera</a:t>
            </a:r>
            <a:endParaRPr lang="en-US" sz="1700" dirty="0"/>
          </a:p>
        </p:txBody>
      </p:sp>
      <p:sp>
        <p:nvSpPr>
          <p:cNvPr id="44" name="[p3] Forma"/>
          <p:cNvSpPr/>
          <p:nvPr/>
        </p:nvSpPr>
        <p:spPr>
          <a:xfrm>
            <a:off x="6223864"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initContainers: base y notificaciones.</a:t>
            </a:r>
            <a:endParaRPr lang="en-US" sz="1300" dirty="0"/>
          </a:p>
        </p:txBody>
      </p:sp>
      <p:sp>
        <p:nvSpPr>
          <p:cNvPr id="45" name="[p4] Forma"/>
          <p:cNvSpPr/>
          <p:nvPr/>
        </p:nvSpPr>
        <p:spPr>
          <a:xfrm>
            <a:off x="9751047" y="2724912"/>
            <a:ext cx="914400" cy="292608"/>
          </a:xfrm>
          <a:prstGeom prst="roundRect">
            <a:avLst>
              <a:gd name="adj" fmla="val 50000"/>
            </a:avLst>
          </a:prstGeom>
          <a:solidFill>
            <a:srgbClr val="0B2350"/>
          </a:solidFill>
          <a:ln>
            <a:solidFill>
              <a:srgbClr val="0B2350"/>
            </a:solidFill>
          </a:ln>
        </p:spPr>
        <p:txBody>
          <a:bodyPr wrap="square" lIns="0" tIns="0" rIns="0" bIns="0" rtlCol="0" anchor="ctr">
            <a:normAutofit/>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Ready</a:t>
            </a:r>
            <a:endParaRPr lang="en-US" sz="1100" dirty="0"/>
          </a:p>
        </p:txBody>
      </p:sp>
      <p:sp>
        <p:nvSpPr>
          <p:cNvPr id="46" name="[p4] Forma"/>
          <p:cNvSpPr/>
          <p:nvPr/>
        </p:nvSpPr>
        <p:spPr>
          <a:xfrm>
            <a:off x="9788355" y="3182112"/>
            <a:ext cx="839785" cy="839785"/>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47" name="[p4] Icono heart-pulse"/>
          <p:cNvSpPr/>
          <p:nvPr/>
        </p:nvSpPr>
        <p:spPr>
          <a:xfrm>
            <a:off x="9981505" y="3375263"/>
            <a:ext cx="453484" cy="453484"/>
          </a:xfrm>
          <a:custGeom>
            <a:avLst/>
            <a:gdLst/>
            <a:ahLst/>
            <a:cxnLst/>
            <a:rect l="l" t="t" r="r" b="b"/>
            <a:pathLst>
              <a:path w="453484" h="453484">
                <a:moveTo>
                  <a:pt x="359008" y="264532"/>
                </a:moveTo>
                <a:cubicBezTo>
                  <a:pt x="387162" y="236945"/>
                  <a:pt x="415694" y="203879"/>
                  <a:pt x="415694" y="160609"/>
                </a:cubicBezTo>
                <a:cubicBezTo>
                  <a:pt x="415694" y="103214"/>
                  <a:pt x="369165" y="56685"/>
                  <a:pt x="311770" y="56685"/>
                </a:cubicBezTo>
                <a:cubicBezTo>
                  <a:pt x="278515" y="56685"/>
                  <a:pt x="255085" y="66133"/>
                  <a:pt x="226742" y="94476"/>
                </a:cubicBezTo>
                <a:cubicBezTo>
                  <a:pt x="198399" y="66133"/>
                  <a:pt x="174969" y="56685"/>
                  <a:pt x="141714" y="56685"/>
                </a:cubicBezTo>
                <a:cubicBezTo>
                  <a:pt x="84318" y="56685"/>
                  <a:pt x="37790" y="103214"/>
                  <a:pt x="37790" y="160609"/>
                </a:cubicBezTo>
                <a:cubicBezTo>
                  <a:pt x="37790" y="204068"/>
                  <a:pt x="66133" y="237134"/>
                  <a:pt x="94476" y="264532"/>
                </a:cubicBezTo>
                <a:lnTo>
                  <a:pt x="226742" y="396798"/>
                </a:lnTo>
                <a:close/>
                <a:moveTo>
                  <a:pt x="60842" y="226742"/>
                </a:moveTo>
                <a:lnTo>
                  <a:pt x="179504" y="226742"/>
                </a:lnTo>
                <a:lnTo>
                  <a:pt x="188952" y="207847"/>
                </a:lnTo>
                <a:lnTo>
                  <a:pt x="226742" y="292875"/>
                </a:lnTo>
                <a:lnTo>
                  <a:pt x="264532" y="160609"/>
                </a:lnTo>
                <a:lnTo>
                  <a:pt x="292875" y="226742"/>
                </a:lnTo>
                <a:lnTo>
                  <a:pt x="392453" y="226742"/>
                </a:lnTo>
              </a:path>
            </a:pathLst>
          </a:custGeom>
          <a:noFill/>
          <a:ln w="33067" cap="rnd">
            <a:solidFill>
              <a:srgbClr val="0A6648"/>
            </a:solidFill>
            <a:prstDash val="solid"/>
            <a:round/>
          </a:ln>
        </p:spPr>
      </p:sp>
      <p:sp>
        <p:nvSpPr>
          <p:cNvPr id="48" name="[p4] Forma"/>
          <p:cNvSpPr/>
          <p:nvPr/>
        </p:nvSpPr>
        <p:spPr>
          <a:xfrm>
            <a:off x="8910599" y="4113337"/>
            <a:ext cx="2595296" cy="365760"/>
          </a:xfrm>
          <a:prstGeom prst="rect">
            <a:avLst/>
          </a:prstGeom>
          <a:noFill/>
          <a:ln/>
        </p:spPr>
        <p:txBody>
          <a:bodyPr wrap="square" lIns="0" tIns="0" rIns="0" bIns="0" rtlCol="0" anchor="t">
            <a:normAutofit/>
          </a:bodyPr>
          <a:lstStyle/>
          <a:p>
            <a:pPr algn="ctr" indent="0" marL="0">
              <a:buNone/>
            </a:pPr>
            <a:r>
              <a:rPr lang="en-US" sz="1700" b="1" dirty="0">
                <a:solidFill>
                  <a:srgbClr val="0A6648"/>
                </a:solidFill>
                <a:latin typeface="Segoe UI Semibold" pitchFamily="34" charset="0"/>
                <a:ea typeface="Segoe UI Semibold" pitchFamily="34" charset="-122"/>
                <a:cs typeface="Segoe UI Semibold" pitchFamily="34" charset="-120"/>
              </a:rPr>
              <a:t>Listo</a:t>
            </a:r>
            <a:endParaRPr lang="en-US" sz="1700" dirty="0"/>
          </a:p>
        </p:txBody>
      </p:sp>
      <p:sp>
        <p:nvSpPr>
          <p:cNvPr id="49" name="[p4] Forma"/>
          <p:cNvSpPr/>
          <p:nvPr/>
        </p:nvSpPr>
        <p:spPr>
          <a:xfrm>
            <a:off x="8965463" y="4497385"/>
            <a:ext cx="2485568" cy="851855"/>
          </a:xfrm>
          <a:prstGeom prst="rect">
            <a:avLst/>
          </a:prstGeom>
          <a:noFill/>
          <a:ln/>
        </p:spPr>
        <p:txBody>
          <a:bodyPr wrap="square" lIns="0" tIns="0" rIns="0" bIns="0" rtlCol="0" anchor="t">
            <a:normAutofit/>
          </a:bodyPr>
          <a:lstStyle/>
          <a:p>
            <a:pPr algn="ctr" indent="0" marL="0">
              <a:buNone/>
            </a:pPr>
            <a:r>
              <a:rPr lang="en-US" sz="1300" dirty="0">
                <a:solidFill>
                  <a:srgbClr val="55627E"/>
                </a:solidFill>
                <a:latin typeface="Segoe UI" pitchFamily="34" charset="0"/>
                <a:ea typeface="Segoe UI" pitchFamily="34" charset="-122"/>
                <a:cs typeface="Segoe UI" pitchFamily="34" charset="-120"/>
              </a:rPr>
              <a:t>La readinessProbe responde.</a:t>
            </a:r>
            <a:endParaRPr lang="en-US" sz="1300" dirty="0"/>
          </a:p>
        </p:txBody>
      </p:sp>
      <p:sp>
        <p:nvSpPr>
          <p:cNvPr id="50" name="Text 4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1"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5"/>
                                        </p:tgtEl>
                                        <p:attrNameLst>
                                          <p:attrName>style.visibility</p:attrName>
                                        </p:attrNameLst>
                                      </p:cBhvr>
                                      <p:to>
                                        <p:strVal val="visible"/>
                                      </p:to>
                                    </p:set>
                                    <p:animEffect transition="in" filter="fade">
                                      <p:cBhvr>
                                        <p:cTn id="5" dur="400"/>
                                        <p:tgtEl>
                                          <p:spTgt spid="2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6"/>
                                        </p:tgtEl>
                                        <p:attrNameLst>
                                          <p:attrName>style.visibility</p:attrName>
                                        </p:attrNameLst>
                                      </p:cBhvr>
                                      <p:to>
                                        <p:strVal val="visible"/>
                                      </p:to>
                                    </p:set>
                                    <p:animEffect transition="in" filter="fade">
                                      <p:cBhvr>
                                        <p:cTn id="8" dur="400"/>
                                        <p:tgtEl>
                                          <p:spTgt spid="2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4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400"/>
                                        <p:tgtEl>
                                          <p:spTgt spid="3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4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4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400"/>
                                        <p:tgtEl>
                                          <p:spTgt spid="38"/>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40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fade">
                                      <p:cBhvr>
                                        <p:cTn id="51" dur="400"/>
                                        <p:tgtEl>
                                          <p:spTgt spid="3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400"/>
                                        <p:tgtEl>
                                          <p:spTgt spid="4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fade">
                                      <p:cBhvr>
                                        <p:cTn id="57" dur="400"/>
                                        <p:tgtEl>
                                          <p:spTgt spid="4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400"/>
                                        <p:tgtEl>
                                          <p:spTgt spid="4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400"/>
                                        <p:tgtEl>
                                          <p:spTgt spid="44"/>
                                        </p:tgtEl>
                                      </p:cBhvr>
                                    </p:animEffect>
                                  </p:childTnLst>
                                </p:cTn>
                              </p:par>
                            </p:childTnLst>
                          </p:cTn>
                        </p:par>
                      </p:childTnLst>
                    </p:cTn>
                  </p:par>
                  <p:par>
                    <p:cTn id="84" fill="hold">
                      <p:stCondLst>
                        <p:cond delay="indefinite"/>
                      </p:stCondLst>
                      <p:childTnLst>
                        <p:par>
                          <p:cTn id="8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400"/>
                                        <p:tgtEl>
                                          <p:spTgt spid="4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400"/>
                                        <p:tgtEl>
                                          <p:spTgt spid="4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400"/>
                                        <p:tgtEl>
                                          <p:spTgt spid="4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7"/>
                                        </p:tgtEl>
                                        <p:attrNameLst>
                                          <p:attrName>style.visibility</p:attrName>
                                        </p:attrNameLst>
                                      </p:cBhvr>
                                      <p:to>
                                        <p:strVal val="visible"/>
                                      </p:to>
                                    </p:set>
                                    <p:animEffect transition="in" filter="fade">
                                      <p:cBhvr>
                                        <p:cTn id="77" dur="400"/>
                                        <p:tgtEl>
                                          <p:spTgt spid="4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fade">
                                      <p:cBhvr>
                                        <p:cTn id="80" dur="400"/>
                                        <p:tgtEl>
                                          <p:spTgt spid="4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400"/>
                                        <p:tgtEl>
                                          <p:spTgt spid="49"/>
                                        </p:tgtEl>
                                      </p:cBhvr>
                                    </p:animEffect>
                                  </p:childTnLst>
                                </p:cTn>
                              </p:par>
                            </p:childTnLst>
                          </p:cTn>
                        </p:par>
                      </p:childTnLst>
                    </p:cTn>
                  </p:par>
                  <p:par>
                    <p:cTn id="107" fill="hold">
                      <p:stCondLst>
                        <p:cond delay="indefinite"/>
                      </p:stCondLst>
                      <p:childTnLst>
                        <p:par>
                          <p:cTn id="108"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400"/>
                                        <p:tgtEl>
                                          <p:spTgt spid="1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400"/>
                                        <p:tgtEl>
                                          <p:spTgt spid="1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400"/>
                                        <p:tgtEl>
                                          <p:spTgt spid="2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400"/>
                                        <p:tgtEl>
                                          <p:spTgt spid="2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400"/>
                                        <p:tgtEl>
                                          <p:spTgt spid="2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400"/>
                                        <p:tgtEl>
                                          <p:spTgt spid="2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0" grpId="0" animBg="1"/>
      <p:bldP spid="33" grpId="0" animBg="1"/>
      <p:bldP spid="34" grpId="0" animBg="1"/>
      <p:bldP spid="35" grpId="0" animBg="1"/>
      <p:bldP spid="37" grpId="0" animBg="1"/>
      <p:bldP spid="38" grpId="0" animBg="1"/>
      <p:bldP spid="36" grpId="0" animBg="1"/>
      <p:bldP spid="39" grpId="0" animBg="1"/>
      <p:bldP spid="40" grpId="0" animBg="1"/>
      <p:bldP spid="41" grpId="0" animBg="1"/>
      <p:bldP spid="43" grpId="0" animBg="1"/>
      <p:bldP spid="44" grpId="0" animBg="1"/>
      <p:bldP spid="42" grpId="0" animBg="1"/>
      <p:bldP spid="45" grpId="0" animBg="1"/>
      <p:bldP spid="46" grpId="0" animBg="1"/>
      <p:bldP spid="47" grpId="0" animBg="1"/>
      <p:bldP spid="48" grpId="0" animBg="1"/>
      <p:bldP spid="4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DEVOPS: DOCKER Y KUBERNETES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DevOps: lo que aprendimos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2BA6CB"/>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DFE6F0"/>
          </a:solidFill>
          <a:ln w="12700">
            <a:solidFill>
              <a:srgbClr val="FFFFFF"/>
            </a:solidFill>
            <a:prstDash val="solid"/>
          </a:ln>
        </p:spPr>
      </p:sp>
      <p:sp>
        <p:nvSpPr>
          <p:cNvPr id="11" name="Shape 9"/>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886968" y="1645920"/>
            <a:ext cx="713232" cy="713232"/>
          </a:xfrm>
          <a:prstGeom prst="ellipse">
            <a:avLst/>
          </a:prstGeom>
          <a:solidFill>
            <a:srgbClr val="2BA6CB"/>
          </a:solidFill>
          <a:ln w="12700">
            <a:solidFill>
              <a:srgbClr val="2BA6CB"/>
            </a:solidFill>
            <a:prstDash val="solid"/>
          </a:ln>
        </p:spPr>
      </p:sp>
      <p:sp>
        <p:nvSpPr>
          <p:cNvPr id="13" name="Icono container"/>
          <p:cNvSpPr/>
          <p:nvPr/>
        </p:nvSpPr>
        <p:spPr>
          <a:xfrm>
            <a:off x="1058144" y="1817096"/>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1F3A"/>
            </a:solidFill>
            <a:prstDash val="solid"/>
            <a:round/>
          </a:ln>
        </p:spPr>
      </p:sp>
      <p:sp>
        <p:nvSpPr>
          <p:cNvPr id="14" name="Text 12"/>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5" name="Text 13"/>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6" name="Text 14"/>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7" name="Shape 15"/>
          <p:cNvSpPr/>
          <p:nvPr/>
        </p:nvSpPr>
        <p:spPr>
          <a:xfrm>
            <a:off x="886968" y="4489704"/>
            <a:ext cx="2423160" cy="0"/>
          </a:xfrm>
          <a:prstGeom prst="line">
            <a:avLst/>
          </a:prstGeom>
          <a:noFill/>
          <a:ln w="9525">
            <a:solidFill>
              <a:srgbClr val="3C4C61"/>
            </a:solidFill>
            <a:prstDash val="solid"/>
          </a:ln>
        </p:spPr>
      </p:sp>
      <p:sp>
        <p:nvSpPr>
          <p:cNvPr id="18" name="Text 16"/>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9" name="Text 17"/>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imagen por commit, rastreable</a:t>
            </a:r>
            <a:endParaRPr lang="en-US" sz="1300" dirty="0"/>
          </a:p>
        </p:txBody>
      </p:sp>
      <p:sp>
        <p:nvSpPr>
          <p:cNvPr id="20" name="[p1] Forma"/>
          <p:cNvSpPr/>
          <p:nvPr/>
        </p:nvSpPr>
        <p:spPr>
          <a:xfrm>
            <a:off x="3858768" y="137160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4087368" y="1569339"/>
            <a:ext cx="713232" cy="713232"/>
          </a:xfrm>
          <a:prstGeom prst="ellipse">
            <a:avLst/>
          </a:prstGeom>
          <a:solidFill>
            <a:srgbClr val="E8EEF8"/>
          </a:solidFill>
          <a:ln w="12700">
            <a:solidFill>
              <a:srgbClr val="E8EEF8"/>
            </a:solidFill>
            <a:prstDash val="solid"/>
          </a:ln>
        </p:spPr>
      </p:sp>
      <p:sp>
        <p:nvSpPr>
          <p:cNvPr id="22" name="[p1] Icono container"/>
          <p:cNvSpPr/>
          <p:nvPr/>
        </p:nvSpPr>
        <p:spPr>
          <a:xfrm>
            <a:off x="4258544" y="1740515"/>
            <a:ext cx="370881" cy="370881"/>
          </a:xfrm>
          <a:custGeom>
            <a:avLst/>
            <a:gdLst/>
            <a:ahLst/>
            <a:cxnLst/>
            <a:rect l="l" t="t" r="r" b="b"/>
            <a:pathLst>
              <a:path w="370881" h="370881">
                <a:moveTo>
                  <a:pt x="339974" y="118991"/>
                </a:moveTo>
                <a:cubicBezTo>
                  <a:pt x="339974" y="109719"/>
                  <a:pt x="333793" y="100447"/>
                  <a:pt x="327611" y="95811"/>
                </a:cubicBezTo>
                <a:lnTo>
                  <a:pt x="230255" y="35543"/>
                </a:lnTo>
                <a:cubicBezTo>
                  <a:pt x="222110" y="30913"/>
                  <a:pt x="212129" y="30913"/>
                  <a:pt x="203984" y="35543"/>
                </a:cubicBezTo>
                <a:lnTo>
                  <a:pt x="44815" y="128263"/>
                </a:lnTo>
                <a:cubicBezTo>
                  <a:pt x="37088" y="131354"/>
                  <a:pt x="30907" y="140626"/>
                  <a:pt x="30907" y="149898"/>
                </a:cubicBezTo>
                <a:lnTo>
                  <a:pt x="30907" y="251890"/>
                </a:lnTo>
                <a:cubicBezTo>
                  <a:pt x="30907" y="259616"/>
                  <a:pt x="37088" y="270434"/>
                  <a:pt x="43269" y="275070"/>
                </a:cubicBezTo>
                <a:lnTo>
                  <a:pt x="140626" y="335338"/>
                </a:lnTo>
                <a:cubicBezTo>
                  <a:pt x="148770" y="339968"/>
                  <a:pt x="158751" y="339968"/>
                  <a:pt x="166896" y="335338"/>
                </a:cubicBezTo>
                <a:lnTo>
                  <a:pt x="326066" y="242618"/>
                </a:lnTo>
                <a:cubicBezTo>
                  <a:pt x="333793" y="237982"/>
                  <a:pt x="339974" y="227164"/>
                  <a:pt x="339974" y="219438"/>
                </a:cubicBezTo>
                <a:close/>
                <a:moveTo>
                  <a:pt x="154534" y="338429"/>
                </a:moveTo>
                <a:lnTo>
                  <a:pt x="154534" y="216347"/>
                </a:lnTo>
                <a:lnTo>
                  <a:pt x="32452" y="140626"/>
                </a:lnTo>
                <a:moveTo>
                  <a:pt x="154534" y="216347"/>
                </a:moveTo>
                <a:lnTo>
                  <a:pt x="338429" y="109719"/>
                </a:lnTo>
                <a:moveTo>
                  <a:pt x="216347" y="305977"/>
                </a:moveTo>
                <a:lnTo>
                  <a:pt x="216347" y="180804"/>
                </a:lnTo>
                <a:moveTo>
                  <a:pt x="278160" y="270434"/>
                </a:moveTo>
                <a:lnTo>
                  <a:pt x="278160" y="145262"/>
                </a:lnTo>
              </a:path>
            </a:pathLst>
          </a:custGeom>
          <a:noFill/>
          <a:ln w="30907" cap="rnd">
            <a:solidFill>
              <a:srgbClr val="0B2350"/>
            </a:solidFill>
            <a:prstDash val="solid"/>
            <a:round/>
          </a:ln>
        </p:spPr>
      </p:sp>
      <p:sp>
        <p:nvSpPr>
          <p:cNvPr id="23" name="[p1] Forma"/>
          <p:cNvSpPr/>
          <p:nvPr/>
        </p:nvSpPr>
        <p:spPr>
          <a:xfrm>
            <a:off x="5029200" y="1499616"/>
            <a:ext cx="3233136" cy="465658"/>
          </a:xfrm>
          <a:prstGeom prst="rect">
            <a:avLst/>
          </a:prstGeom>
          <a:noFill/>
          <a:ln/>
        </p:spPr>
        <p:txBody>
          <a:bodyPr wrap="square" lIns="0" tIns="0" rIns="0" bIns="0" rtlCol="0" anchor="b">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Docker y Kubernetes se complementan</a:t>
            </a:r>
            <a:endParaRPr lang="en-US" sz="1500" dirty="0"/>
          </a:p>
        </p:txBody>
      </p:sp>
      <p:sp>
        <p:nvSpPr>
          <p:cNvPr id="24" name="[p1] Forma"/>
          <p:cNvSpPr/>
          <p:nvPr/>
        </p:nvSpPr>
        <p:spPr>
          <a:xfrm>
            <a:off x="5029200" y="2001850"/>
            <a:ext cx="3233136" cy="368732"/>
          </a:xfrm>
          <a:prstGeom prst="rect">
            <a:avLst/>
          </a:prstGeom>
          <a:noFill/>
          <a:ln/>
        </p:spPr>
        <p:txBody>
          <a:bodyPr wrap="square" lIns="0" tIns="0" rIns="0" bIns="0" rtlCol="0" anchor="t">
            <a:normAutofit/>
          </a:bodyPr>
          <a:lstStyle/>
          <a:p>
            <a:pPr algn="l" indent="0" marL="0">
              <a:buNone/>
            </a:pPr>
            <a:r>
              <a:rPr lang="en-US" sz="1200" dirty="0">
                <a:solidFill>
                  <a:srgbClr val="55627E"/>
                </a:solidFill>
                <a:latin typeface="Segoe UI" pitchFamily="34" charset="0"/>
                <a:ea typeface="Segoe UI" pitchFamily="34" charset="-122"/>
                <a:cs typeface="Segoe UI" pitchFamily="34" charset="-120"/>
              </a:rPr>
              <a:t>Uno empaqueta; el otro ejecuta y cuida.</a:t>
            </a:r>
            <a:endParaRPr lang="en-US" sz="1200" dirty="0"/>
          </a:p>
        </p:txBody>
      </p:sp>
      <p:sp>
        <p:nvSpPr>
          <p:cNvPr id="25" name="[p1] Forma"/>
          <p:cNvSpPr/>
          <p:nvPr/>
        </p:nvSpPr>
        <p:spPr>
          <a:xfrm>
            <a:off x="8490936" y="1481328"/>
            <a:ext cx="2978384" cy="889254"/>
          </a:xfrm>
          <a:prstGeom prst="roundRect">
            <a:avLst>
              <a:gd name="adj" fmla="val 10283"/>
            </a:avLst>
          </a:prstGeom>
          <a:solidFill>
            <a:srgbClr val="E1F1EA"/>
          </a:solidFill>
          <a:ln w="12700">
            <a:solidFill>
              <a:srgbClr val="E1F1EA"/>
            </a:solidFill>
            <a:prstDash val="solid"/>
          </a:ln>
        </p:spPr>
      </p:sp>
      <p:sp>
        <p:nvSpPr>
          <p:cNvPr id="26"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7"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8" name="[p1] Forma"/>
          <p:cNvSpPr/>
          <p:nvPr/>
        </p:nvSpPr>
        <p:spPr>
          <a:xfrm>
            <a:off x="8637240" y="186537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mismo paquete, de la laptop al clúster.</a:t>
            </a:r>
            <a:endParaRPr lang="en-US" sz="1350" dirty="0"/>
          </a:p>
        </p:txBody>
      </p:sp>
      <p:sp>
        <p:nvSpPr>
          <p:cNvPr id="29" name="[p2] Forma"/>
          <p:cNvSpPr/>
          <p:nvPr/>
        </p:nvSpPr>
        <p:spPr>
          <a:xfrm>
            <a:off x="3858768" y="266319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p2] Forma"/>
          <p:cNvSpPr/>
          <p:nvPr/>
        </p:nvSpPr>
        <p:spPr>
          <a:xfrm>
            <a:off x="4087368" y="2860929"/>
            <a:ext cx="713232" cy="713232"/>
          </a:xfrm>
          <a:prstGeom prst="ellipse">
            <a:avLst/>
          </a:prstGeom>
          <a:solidFill>
            <a:srgbClr val="E8EEF8"/>
          </a:solidFill>
          <a:ln w="12700">
            <a:solidFill>
              <a:srgbClr val="E8EEF8"/>
            </a:solidFill>
            <a:prstDash val="solid"/>
          </a:ln>
        </p:spPr>
      </p:sp>
      <p:sp>
        <p:nvSpPr>
          <p:cNvPr id="31" name="[p2] Icono package"/>
          <p:cNvSpPr/>
          <p:nvPr/>
        </p:nvSpPr>
        <p:spPr>
          <a:xfrm>
            <a:off x="4258544" y="3032105"/>
            <a:ext cx="370881" cy="370881"/>
          </a:xfrm>
          <a:custGeom>
            <a:avLst/>
            <a:gdLst/>
            <a:ahLst/>
            <a:cxnLst/>
            <a:rect l="l" t="t" r="r" b="b"/>
            <a:pathLst>
              <a:path w="370881" h="370881">
                <a:moveTo>
                  <a:pt x="169987" y="335802"/>
                </a:moveTo>
                <a:cubicBezTo>
                  <a:pt x="179550" y="341322"/>
                  <a:pt x="191331" y="341322"/>
                  <a:pt x="200894" y="335802"/>
                </a:cubicBezTo>
                <a:lnTo>
                  <a:pt x="309067" y="273988"/>
                </a:lnTo>
                <a:cubicBezTo>
                  <a:pt x="318620" y="268473"/>
                  <a:pt x="324509" y="258284"/>
                  <a:pt x="324521" y="247254"/>
                </a:cubicBezTo>
                <a:lnTo>
                  <a:pt x="324521" y="123627"/>
                </a:lnTo>
                <a:cubicBezTo>
                  <a:pt x="324509" y="112596"/>
                  <a:pt x="318620" y="102408"/>
                  <a:pt x="309067" y="96893"/>
                </a:cubicBezTo>
                <a:lnTo>
                  <a:pt x="200894" y="35079"/>
                </a:lnTo>
                <a:cubicBezTo>
                  <a:pt x="191331" y="29558"/>
                  <a:pt x="179550" y="29558"/>
                  <a:pt x="169987" y="35079"/>
                </a:cubicBezTo>
                <a:lnTo>
                  <a:pt x="61813" y="96893"/>
                </a:lnTo>
                <a:cubicBezTo>
                  <a:pt x="52261" y="102408"/>
                  <a:pt x="46371" y="112596"/>
                  <a:pt x="46360" y="123627"/>
                </a:cubicBezTo>
                <a:lnTo>
                  <a:pt x="46360" y="247254"/>
                </a:lnTo>
                <a:cubicBezTo>
                  <a:pt x="46371" y="258284"/>
                  <a:pt x="52261" y="268473"/>
                  <a:pt x="61813" y="273988"/>
                </a:cubicBezTo>
                <a:close/>
                <a:moveTo>
                  <a:pt x="185440" y="339974"/>
                </a:moveTo>
                <a:lnTo>
                  <a:pt x="185440" y="185440"/>
                </a:lnTo>
                <a:moveTo>
                  <a:pt x="50996" y="108174"/>
                </a:moveTo>
                <a:lnTo>
                  <a:pt x="170033" y="181330"/>
                </a:lnTo>
                <a:cubicBezTo>
                  <a:pt x="179572" y="186815"/>
                  <a:pt x="191308" y="186815"/>
                  <a:pt x="200847" y="181330"/>
                </a:cubicBezTo>
                <a:lnTo>
                  <a:pt x="319885" y="108174"/>
                </a:lnTo>
                <a:moveTo>
                  <a:pt x="115900" y="65986"/>
                </a:moveTo>
                <a:lnTo>
                  <a:pt x="254980" y="145571"/>
                </a:lnTo>
              </a:path>
            </a:pathLst>
          </a:custGeom>
          <a:noFill/>
          <a:ln w="30907" cap="rnd">
            <a:solidFill>
              <a:srgbClr val="0B2350"/>
            </a:solidFill>
            <a:prstDash val="solid"/>
            <a:round/>
          </a:ln>
        </p:spPr>
      </p:sp>
      <p:sp>
        <p:nvSpPr>
          <p:cNvPr id="32" name="[p2] Forma"/>
          <p:cNvSpPr/>
          <p:nvPr/>
        </p:nvSpPr>
        <p:spPr>
          <a:xfrm>
            <a:off x="5029200" y="279120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La imagen es el entregable</a:t>
            </a:r>
            <a:endParaRPr lang="en-US" sz="1700" dirty="0"/>
          </a:p>
        </p:txBody>
      </p:sp>
      <p:sp>
        <p:nvSpPr>
          <p:cNvPr id="33" name="[p2] Forma"/>
          <p:cNvSpPr/>
          <p:nvPr/>
        </p:nvSpPr>
        <p:spPr>
          <a:xfrm>
            <a:off x="5029200" y="329344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Lo que prueba el pipeline es lo que se despliega.</a:t>
            </a:r>
            <a:endParaRPr lang="en-US" sz="1150" dirty="0"/>
          </a:p>
        </p:txBody>
      </p:sp>
      <p:sp>
        <p:nvSpPr>
          <p:cNvPr id="34" name="[p2] Forma"/>
          <p:cNvSpPr/>
          <p:nvPr/>
        </p:nvSpPr>
        <p:spPr>
          <a:xfrm>
            <a:off x="8490936" y="2772918"/>
            <a:ext cx="2978384" cy="889254"/>
          </a:xfrm>
          <a:prstGeom prst="roundRect">
            <a:avLst>
              <a:gd name="adj" fmla="val 10283"/>
            </a:avLst>
          </a:prstGeom>
          <a:solidFill>
            <a:srgbClr val="E1F1EA"/>
          </a:solidFill>
          <a:ln w="12700">
            <a:solidFill>
              <a:srgbClr val="E1F1EA"/>
            </a:solidFill>
            <a:prstDash val="solid"/>
          </a:ln>
        </p:spPr>
      </p:sp>
      <p:sp>
        <p:nvSpPr>
          <p:cNvPr id="35" name="[p2] Icono target"/>
          <p:cNvSpPr/>
          <p:nvPr/>
        </p:nvSpPr>
        <p:spPr>
          <a:xfrm>
            <a:off x="8637240" y="288264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6" name="[p2] Forma"/>
          <p:cNvSpPr/>
          <p:nvPr/>
        </p:nvSpPr>
        <p:spPr>
          <a:xfrm>
            <a:off x="8948136" y="286435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7" name="[p2] Forma"/>
          <p:cNvSpPr/>
          <p:nvPr/>
        </p:nvSpPr>
        <p:spPr>
          <a:xfrm>
            <a:off x="8637240" y="315696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Sin sorpresas entre ambientes.</a:t>
            </a:r>
            <a:endParaRPr lang="en-US" sz="1350" dirty="0"/>
          </a:p>
        </p:txBody>
      </p:sp>
      <p:sp>
        <p:nvSpPr>
          <p:cNvPr id="38" name="[p3] Forma"/>
          <p:cNvSpPr/>
          <p:nvPr/>
        </p:nvSpPr>
        <p:spPr>
          <a:xfrm>
            <a:off x="3858768" y="395478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p3] Forma"/>
          <p:cNvSpPr/>
          <p:nvPr/>
        </p:nvSpPr>
        <p:spPr>
          <a:xfrm>
            <a:off x="4087368" y="4152519"/>
            <a:ext cx="713232" cy="713232"/>
          </a:xfrm>
          <a:prstGeom prst="ellipse">
            <a:avLst/>
          </a:prstGeom>
          <a:solidFill>
            <a:srgbClr val="E8EEF8"/>
          </a:solidFill>
          <a:ln w="12700">
            <a:solidFill>
              <a:srgbClr val="E8EEF8"/>
            </a:solidFill>
            <a:prstDash val="solid"/>
          </a:ln>
        </p:spPr>
      </p:sp>
      <p:sp>
        <p:nvSpPr>
          <p:cNvPr id="40" name="[p3] Icono settings"/>
          <p:cNvSpPr/>
          <p:nvPr/>
        </p:nvSpPr>
        <p:spPr>
          <a:xfrm>
            <a:off x="4258544" y="4323695"/>
            <a:ext cx="370881" cy="370881"/>
          </a:xfrm>
          <a:custGeom>
            <a:avLst/>
            <a:gdLst/>
            <a:ahLst/>
            <a:cxnLst/>
            <a:rect l="l" t="t" r="r" b="b"/>
            <a:pathLst>
              <a:path w="370881" h="370881">
                <a:moveTo>
                  <a:pt x="188840" y="30907"/>
                </a:moveTo>
                <a:lnTo>
                  <a:pt x="182041" y="30907"/>
                </a:lnTo>
                <a:cubicBezTo>
                  <a:pt x="164971" y="30907"/>
                  <a:pt x="151134" y="44744"/>
                  <a:pt x="151134" y="61813"/>
                </a:cubicBezTo>
                <a:lnTo>
                  <a:pt x="151134" y="64595"/>
                </a:lnTo>
                <a:cubicBezTo>
                  <a:pt x="151123" y="75626"/>
                  <a:pt x="145233" y="85814"/>
                  <a:pt x="135681" y="91329"/>
                </a:cubicBezTo>
                <a:lnTo>
                  <a:pt x="129036" y="95193"/>
                </a:lnTo>
                <a:cubicBezTo>
                  <a:pt x="119473" y="100714"/>
                  <a:pt x="107691" y="100714"/>
                  <a:pt x="98129" y="95193"/>
                </a:cubicBezTo>
                <a:lnTo>
                  <a:pt x="95811" y="93956"/>
                </a:lnTo>
                <a:cubicBezTo>
                  <a:pt x="81044" y="85438"/>
                  <a:pt x="62168" y="90485"/>
                  <a:pt x="53623" y="105237"/>
                </a:cubicBezTo>
                <a:lnTo>
                  <a:pt x="50223" y="111110"/>
                </a:lnTo>
                <a:cubicBezTo>
                  <a:pt x="41705" y="125877"/>
                  <a:pt x="46752" y="144753"/>
                  <a:pt x="61504" y="153297"/>
                </a:cubicBezTo>
                <a:lnTo>
                  <a:pt x="63822" y="154843"/>
                </a:lnTo>
                <a:cubicBezTo>
                  <a:pt x="73328" y="160330"/>
                  <a:pt x="79209" y="170447"/>
                  <a:pt x="79276" y="181422"/>
                </a:cubicBezTo>
                <a:lnTo>
                  <a:pt x="79276" y="189304"/>
                </a:lnTo>
                <a:cubicBezTo>
                  <a:pt x="79320" y="200389"/>
                  <a:pt x="73423" y="210650"/>
                  <a:pt x="63822" y="216193"/>
                </a:cubicBezTo>
                <a:lnTo>
                  <a:pt x="61504" y="217583"/>
                </a:lnTo>
                <a:cubicBezTo>
                  <a:pt x="46752" y="226128"/>
                  <a:pt x="41705" y="245004"/>
                  <a:pt x="50223" y="259771"/>
                </a:cubicBezTo>
                <a:lnTo>
                  <a:pt x="53623" y="265643"/>
                </a:lnTo>
                <a:cubicBezTo>
                  <a:pt x="62168" y="280395"/>
                  <a:pt x="81044" y="285443"/>
                  <a:pt x="95811" y="276924"/>
                </a:cubicBezTo>
                <a:lnTo>
                  <a:pt x="98129" y="275688"/>
                </a:lnTo>
                <a:cubicBezTo>
                  <a:pt x="107691" y="270167"/>
                  <a:pt x="119473" y="270167"/>
                  <a:pt x="129036" y="275688"/>
                </a:cubicBezTo>
                <a:lnTo>
                  <a:pt x="135681" y="279551"/>
                </a:lnTo>
                <a:cubicBezTo>
                  <a:pt x="145233" y="285067"/>
                  <a:pt x="151123" y="295255"/>
                  <a:pt x="151134" y="306286"/>
                </a:cubicBezTo>
                <a:lnTo>
                  <a:pt x="151134" y="309067"/>
                </a:lnTo>
                <a:cubicBezTo>
                  <a:pt x="151134" y="326137"/>
                  <a:pt x="164971" y="339974"/>
                  <a:pt x="182041" y="339974"/>
                </a:cubicBezTo>
                <a:lnTo>
                  <a:pt x="188840" y="339974"/>
                </a:lnTo>
                <a:cubicBezTo>
                  <a:pt x="205909" y="339974"/>
                  <a:pt x="219747" y="326137"/>
                  <a:pt x="219747" y="309067"/>
                </a:cubicBezTo>
                <a:lnTo>
                  <a:pt x="219747" y="306286"/>
                </a:lnTo>
                <a:cubicBezTo>
                  <a:pt x="219758" y="295255"/>
                  <a:pt x="225647" y="285067"/>
                  <a:pt x="235200" y="279551"/>
                </a:cubicBezTo>
                <a:lnTo>
                  <a:pt x="241845" y="275688"/>
                </a:lnTo>
                <a:cubicBezTo>
                  <a:pt x="251408" y="270167"/>
                  <a:pt x="263189" y="270167"/>
                  <a:pt x="272752" y="275688"/>
                </a:cubicBezTo>
                <a:lnTo>
                  <a:pt x="275070" y="276924"/>
                </a:lnTo>
                <a:cubicBezTo>
                  <a:pt x="289837" y="285443"/>
                  <a:pt x="308713" y="280395"/>
                  <a:pt x="317257" y="265643"/>
                </a:cubicBezTo>
                <a:lnTo>
                  <a:pt x="320657" y="259616"/>
                </a:lnTo>
                <a:cubicBezTo>
                  <a:pt x="329176" y="244849"/>
                  <a:pt x="324128" y="225973"/>
                  <a:pt x="309376" y="217429"/>
                </a:cubicBezTo>
                <a:lnTo>
                  <a:pt x="307058" y="216193"/>
                </a:lnTo>
                <a:cubicBezTo>
                  <a:pt x="297458" y="210650"/>
                  <a:pt x="291561" y="200389"/>
                  <a:pt x="291605" y="189304"/>
                </a:cubicBezTo>
                <a:lnTo>
                  <a:pt x="291605" y="181577"/>
                </a:lnTo>
                <a:cubicBezTo>
                  <a:pt x="291561" y="170491"/>
                  <a:pt x="297458" y="160231"/>
                  <a:pt x="307058" y="154688"/>
                </a:cubicBezTo>
                <a:lnTo>
                  <a:pt x="309376" y="153297"/>
                </a:lnTo>
                <a:cubicBezTo>
                  <a:pt x="324128" y="144753"/>
                  <a:pt x="329176" y="125877"/>
                  <a:pt x="320657" y="111110"/>
                </a:cubicBezTo>
                <a:lnTo>
                  <a:pt x="317257" y="105237"/>
                </a:lnTo>
                <a:cubicBezTo>
                  <a:pt x="308713" y="90485"/>
                  <a:pt x="289837" y="85438"/>
                  <a:pt x="275070" y="93956"/>
                </a:cubicBezTo>
                <a:lnTo>
                  <a:pt x="272752" y="95193"/>
                </a:lnTo>
                <a:cubicBezTo>
                  <a:pt x="263189" y="100714"/>
                  <a:pt x="251408" y="100714"/>
                  <a:pt x="241845" y="95193"/>
                </a:cubicBezTo>
                <a:lnTo>
                  <a:pt x="235200" y="91329"/>
                </a:lnTo>
                <a:cubicBezTo>
                  <a:pt x="225647" y="85814"/>
                  <a:pt x="219758" y="75626"/>
                  <a:pt x="219747" y="64595"/>
                </a:cubicBezTo>
                <a:lnTo>
                  <a:pt x="219747" y="61813"/>
                </a:lnTo>
                <a:cubicBezTo>
                  <a:pt x="219747" y="44744"/>
                  <a:pt x="205909" y="30907"/>
                  <a:pt x="188840" y="30907"/>
                </a:cubicBezTo>
                <a:close/>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41" name="[p3] Forma"/>
          <p:cNvSpPr/>
          <p:nvPr/>
        </p:nvSpPr>
        <p:spPr>
          <a:xfrm>
            <a:off x="5029200" y="408279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Configurar por variables</a:t>
            </a:r>
            <a:endParaRPr lang="en-US" sz="1700" dirty="0"/>
          </a:p>
        </p:txBody>
      </p:sp>
      <p:sp>
        <p:nvSpPr>
          <p:cNvPr id="42" name="[p3] Forma"/>
          <p:cNvSpPr/>
          <p:nvPr/>
        </p:nvSpPr>
        <p:spPr>
          <a:xfrm>
            <a:off x="5029200" y="458503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La cadena de conexión y las direcciones vienen del ambiente.</a:t>
            </a:r>
            <a:endParaRPr lang="en-US" sz="1150" dirty="0"/>
          </a:p>
        </p:txBody>
      </p:sp>
      <p:sp>
        <p:nvSpPr>
          <p:cNvPr id="43" name="[p3] Forma"/>
          <p:cNvSpPr/>
          <p:nvPr/>
        </p:nvSpPr>
        <p:spPr>
          <a:xfrm>
            <a:off x="8490936" y="4064508"/>
            <a:ext cx="2978384" cy="889254"/>
          </a:xfrm>
          <a:prstGeom prst="roundRect">
            <a:avLst>
              <a:gd name="adj" fmla="val 10283"/>
            </a:avLst>
          </a:prstGeom>
          <a:solidFill>
            <a:srgbClr val="E1F1EA"/>
          </a:solidFill>
          <a:ln w="12700">
            <a:solidFill>
              <a:srgbClr val="E1F1EA"/>
            </a:solidFill>
            <a:prstDash val="solid"/>
          </a:ln>
        </p:spPr>
      </p:sp>
      <p:sp>
        <p:nvSpPr>
          <p:cNvPr id="44" name="[p3] Icono target"/>
          <p:cNvSpPr/>
          <p:nvPr/>
        </p:nvSpPr>
        <p:spPr>
          <a:xfrm>
            <a:off x="8637240" y="417423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5" name="[p3] Forma"/>
          <p:cNvSpPr/>
          <p:nvPr/>
        </p:nvSpPr>
        <p:spPr>
          <a:xfrm>
            <a:off x="8948136" y="415594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6" name="[p3] Forma"/>
          <p:cNvSpPr/>
          <p:nvPr/>
        </p:nvSpPr>
        <p:spPr>
          <a:xfrm>
            <a:off x="8637240" y="444855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Un solo artefacto para todos los ambientes.</a:t>
            </a:r>
            <a:endParaRPr lang="en-US" sz="1350" dirty="0"/>
          </a:p>
        </p:txBody>
      </p:sp>
      <p:sp>
        <p:nvSpPr>
          <p:cNvPr id="47" name="[p4] Forma"/>
          <p:cNvSpPr/>
          <p:nvPr/>
        </p:nvSpPr>
        <p:spPr>
          <a:xfrm>
            <a:off x="3858768" y="5246370"/>
            <a:ext cx="7720279" cy="1108710"/>
          </a:xfrm>
          <a:prstGeom prst="roundRect">
            <a:avLst>
              <a:gd name="adj" fmla="val 11546"/>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8" name="[p4] Forma"/>
          <p:cNvSpPr/>
          <p:nvPr/>
        </p:nvSpPr>
        <p:spPr>
          <a:xfrm>
            <a:off x="4087368" y="5444109"/>
            <a:ext cx="713232" cy="713232"/>
          </a:xfrm>
          <a:prstGeom prst="ellipse">
            <a:avLst/>
          </a:prstGeom>
          <a:solidFill>
            <a:srgbClr val="E8EEF8"/>
          </a:solidFill>
          <a:ln w="12700">
            <a:solidFill>
              <a:srgbClr val="E8EEF8"/>
            </a:solidFill>
            <a:prstDash val="solid"/>
          </a:ln>
        </p:spPr>
      </p:sp>
      <p:sp>
        <p:nvSpPr>
          <p:cNvPr id="49" name="[p4] Icono ship-wheel"/>
          <p:cNvSpPr/>
          <p:nvPr/>
        </p:nvSpPr>
        <p:spPr>
          <a:xfrm>
            <a:off x="4258544" y="5615285"/>
            <a:ext cx="370881" cy="370881"/>
          </a:xfrm>
          <a:custGeom>
            <a:avLst/>
            <a:gdLst/>
            <a:ahLst/>
            <a:cxnLst/>
            <a:rect l="l" t="t" r="r" b="b"/>
            <a:pathLst>
              <a:path w="370881" h="370881">
                <a:moveTo>
                  <a:pt x="309067" y="185440"/>
                </a:moveTo>
                <a:cubicBezTo>
                  <a:pt x="309067" y="253718"/>
                  <a:pt x="253718" y="309067"/>
                  <a:pt x="185440" y="309067"/>
                </a:cubicBezTo>
                <a:cubicBezTo>
                  <a:pt x="117163" y="309067"/>
                  <a:pt x="61813" y="253718"/>
                  <a:pt x="61813" y="185440"/>
                </a:cubicBezTo>
                <a:cubicBezTo>
                  <a:pt x="61813" y="117163"/>
                  <a:pt x="117163" y="61813"/>
                  <a:pt x="185440" y="61813"/>
                </a:cubicBezTo>
                <a:cubicBezTo>
                  <a:pt x="253718" y="61813"/>
                  <a:pt x="309067" y="117163"/>
                  <a:pt x="309067" y="185440"/>
                </a:cubicBezTo>
                <a:close/>
                <a:moveTo>
                  <a:pt x="185440" y="30907"/>
                </a:moveTo>
                <a:lnTo>
                  <a:pt x="185440" y="146807"/>
                </a:lnTo>
                <a:moveTo>
                  <a:pt x="293614" y="77267"/>
                </a:moveTo>
                <a:lnTo>
                  <a:pt x="212793" y="158088"/>
                </a:lnTo>
                <a:moveTo>
                  <a:pt x="339974" y="185440"/>
                </a:moveTo>
                <a:lnTo>
                  <a:pt x="224074" y="185440"/>
                </a:lnTo>
                <a:moveTo>
                  <a:pt x="293614" y="293614"/>
                </a:moveTo>
                <a:lnTo>
                  <a:pt x="212793" y="212793"/>
                </a:lnTo>
                <a:moveTo>
                  <a:pt x="185440" y="224074"/>
                </a:moveTo>
                <a:lnTo>
                  <a:pt x="185440" y="339974"/>
                </a:lnTo>
                <a:moveTo>
                  <a:pt x="158088" y="212793"/>
                </a:moveTo>
                <a:lnTo>
                  <a:pt x="77267" y="293614"/>
                </a:lnTo>
                <a:moveTo>
                  <a:pt x="146807" y="185440"/>
                </a:moveTo>
                <a:lnTo>
                  <a:pt x="30907" y="185440"/>
                </a:lnTo>
                <a:moveTo>
                  <a:pt x="158088" y="158088"/>
                </a:moveTo>
                <a:lnTo>
                  <a:pt x="77267" y="77267"/>
                </a:lnTo>
                <a:moveTo>
                  <a:pt x="224074" y="185440"/>
                </a:moveTo>
                <a:cubicBezTo>
                  <a:pt x="224074" y="206777"/>
                  <a:pt x="206777" y="224074"/>
                  <a:pt x="185440" y="224074"/>
                </a:cubicBezTo>
                <a:cubicBezTo>
                  <a:pt x="164104" y="224074"/>
                  <a:pt x="146807" y="206777"/>
                  <a:pt x="146807" y="185440"/>
                </a:cubicBezTo>
                <a:cubicBezTo>
                  <a:pt x="146807" y="164104"/>
                  <a:pt x="164104" y="146807"/>
                  <a:pt x="185440" y="146807"/>
                </a:cubicBezTo>
                <a:cubicBezTo>
                  <a:pt x="206777" y="146807"/>
                  <a:pt x="224074" y="164104"/>
                  <a:pt x="224074" y="185440"/>
                </a:cubicBezTo>
                <a:close/>
              </a:path>
            </a:pathLst>
          </a:custGeom>
          <a:noFill/>
          <a:ln w="30907" cap="rnd">
            <a:solidFill>
              <a:srgbClr val="0B2350"/>
            </a:solidFill>
            <a:prstDash val="solid"/>
            <a:round/>
          </a:ln>
        </p:spPr>
      </p:sp>
      <p:sp>
        <p:nvSpPr>
          <p:cNvPr id="50" name="[p4] Forma"/>
          <p:cNvSpPr/>
          <p:nvPr/>
        </p:nvSpPr>
        <p:spPr>
          <a:xfrm>
            <a:off x="5029200" y="5374386"/>
            <a:ext cx="3233136" cy="465658"/>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Declarar el estado deseado</a:t>
            </a:r>
            <a:endParaRPr lang="en-US" sz="1700" dirty="0"/>
          </a:p>
        </p:txBody>
      </p:sp>
      <p:sp>
        <p:nvSpPr>
          <p:cNvPr id="51" name="[p4] Forma"/>
          <p:cNvSpPr/>
          <p:nvPr/>
        </p:nvSpPr>
        <p:spPr>
          <a:xfrm>
            <a:off x="5029200" y="5876620"/>
            <a:ext cx="3233136" cy="368732"/>
          </a:xfrm>
          <a:prstGeom prst="rect">
            <a:avLst/>
          </a:prstGeom>
          <a:noFill/>
          <a:ln/>
        </p:spPr>
        <p:txBody>
          <a:bodyPr wrap="square" lIns="0" tIns="0" rIns="0" bIns="0" rtlCol="0" anchor="t">
            <a:normAutofit/>
          </a:bodyPr>
          <a:lstStyle/>
          <a:p>
            <a:pPr algn="l" indent="0" marL="0">
              <a:buNone/>
            </a:pPr>
            <a:r>
              <a:rPr lang="en-US" sz="1150" dirty="0">
                <a:solidFill>
                  <a:srgbClr val="55627E"/>
                </a:solidFill>
                <a:latin typeface="Segoe UI" pitchFamily="34" charset="0"/>
                <a:ea typeface="Segoe UI" pitchFamily="34" charset="-122"/>
                <a:cs typeface="Segoe UI" pitchFamily="34" charset="-120"/>
              </a:rPr>
              <a:t>Deployments, pruebas de salud y un pipeline que arranca el servicio.</a:t>
            </a:r>
            <a:endParaRPr lang="en-US" sz="1150" dirty="0"/>
          </a:p>
        </p:txBody>
      </p:sp>
      <p:sp>
        <p:nvSpPr>
          <p:cNvPr id="52" name="[p4] Forma"/>
          <p:cNvSpPr/>
          <p:nvPr/>
        </p:nvSpPr>
        <p:spPr>
          <a:xfrm>
            <a:off x="8490936" y="5356098"/>
            <a:ext cx="2978384" cy="889254"/>
          </a:xfrm>
          <a:prstGeom prst="roundRect">
            <a:avLst>
              <a:gd name="adj" fmla="val 10283"/>
            </a:avLst>
          </a:prstGeom>
          <a:solidFill>
            <a:srgbClr val="E1F1EA"/>
          </a:solidFill>
          <a:ln w="12700">
            <a:solidFill>
              <a:srgbClr val="E1F1EA"/>
            </a:solidFill>
            <a:prstDash val="solid"/>
          </a:ln>
        </p:spPr>
      </p:sp>
      <p:sp>
        <p:nvSpPr>
          <p:cNvPr id="53" name="[p4] Icono target"/>
          <p:cNvSpPr/>
          <p:nvPr/>
        </p:nvSpPr>
        <p:spPr>
          <a:xfrm>
            <a:off x="8637240" y="546582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54" name="[p4] Forma"/>
          <p:cNvSpPr/>
          <p:nvPr/>
        </p:nvSpPr>
        <p:spPr>
          <a:xfrm>
            <a:off x="8948136" y="544753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55" name="[p4] Forma"/>
          <p:cNvSpPr/>
          <p:nvPr/>
        </p:nvSpPr>
        <p:spPr>
          <a:xfrm>
            <a:off x="8637240" y="5740146"/>
            <a:ext cx="2685776" cy="43205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El clúster se repara solo y los errores aparecen antes.</a:t>
            </a:r>
            <a:endParaRPr lang="en-US" sz="1350" dirty="0"/>
          </a:p>
        </p:txBody>
      </p:sp>
      <p:sp>
        <p:nvSpPr>
          <p:cNvPr id="56" name="Text 5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DEVOPS: DOCKER Y KUBERNETES</a:t>
            </a:r>
            <a:endParaRPr lang="en-US" sz="800" dirty="0"/>
          </a:p>
        </p:txBody>
      </p:sp>
      <p:sp>
        <p:nvSpPr>
          <p:cNvPr id="57"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4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00"/>
                                        <p:tgtEl>
                                          <p:spTgt spid="46"/>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400"/>
                                        <p:tgtEl>
                                          <p:spTgt spid="4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9"/>
                                        </p:tgtEl>
                                        <p:attrNameLst>
                                          <p:attrName>style.visibility</p:attrName>
                                        </p:attrNameLst>
                                      </p:cBhvr>
                                      <p:to>
                                        <p:strVal val="visible"/>
                                      </p:to>
                                    </p:set>
                                    <p:animEffect transition="in" filter="fade">
                                      <p:cBhvr>
                                        <p:cTn id="98" dur="400"/>
                                        <p:tgtEl>
                                          <p:spTgt spid="4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fade">
                                      <p:cBhvr>
                                        <p:cTn id="101" dur="400"/>
                                        <p:tgtEl>
                                          <p:spTgt spid="5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fade">
                                      <p:cBhvr>
                                        <p:cTn id="104" dur="400"/>
                                        <p:tgtEl>
                                          <p:spTgt spid="5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fade">
                                      <p:cBhvr>
                                        <p:cTn id="107" dur="400"/>
                                        <p:tgtEl>
                                          <p:spTgt spid="5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fade">
                                      <p:cBhvr>
                                        <p:cTn id="110" dur="400"/>
                                        <p:tgtEl>
                                          <p:spTgt spid="5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4"/>
                                        </p:tgtEl>
                                        <p:attrNameLst>
                                          <p:attrName>style.visibility</p:attrName>
                                        </p:attrNameLst>
                                      </p:cBhvr>
                                      <p:to>
                                        <p:strVal val="visible"/>
                                      </p:to>
                                    </p:set>
                                    <p:animEffect transition="in" filter="fade">
                                      <p:cBhvr>
                                        <p:cTn id="113" dur="400"/>
                                        <p:tgtEl>
                                          <p:spTgt spid="5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Todos los logs, en un solo lugar</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1" name="Text 9"/>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Seguir un evento de un servicio a otro sin entrar a ningún contenedor.</a:t>
            </a:r>
            <a:endParaRPr lang="en-US" sz="1700" dirty="0"/>
          </a:p>
        </p:txBody>
      </p:sp>
      <p:sp>
        <p:nvSpPr>
          <p:cNvPr id="12" name="Shape 10"/>
          <p:cNvSpPr/>
          <p:nvPr/>
        </p:nvSpPr>
        <p:spPr>
          <a:xfrm>
            <a:off x="612648" y="5696712"/>
            <a:ext cx="10966399" cy="658368"/>
          </a:xfrm>
          <a:prstGeom prst="roundRect">
            <a:avLst>
              <a:gd name="adj" fmla="val 16667"/>
            </a:avLst>
          </a:prstGeom>
          <a:solidFill>
            <a:srgbClr val="E3F4FA"/>
          </a:solidFill>
          <a:ln w="12700">
            <a:solidFill>
              <a:srgbClr val="8ACEE2"/>
            </a:solidFill>
            <a:prstDash val="solid"/>
          </a:ln>
        </p:spPr>
      </p:sp>
      <p:sp>
        <p:nvSpPr>
          <p:cNvPr id="13" name="Shape 11"/>
          <p:cNvSpPr/>
          <p:nvPr/>
        </p:nvSpPr>
        <p:spPr>
          <a:xfrm>
            <a:off x="795528" y="5806440"/>
            <a:ext cx="438912" cy="438912"/>
          </a:xfrm>
          <a:prstGeom prst="ellipse">
            <a:avLst/>
          </a:prstGeom>
          <a:solidFill>
            <a:srgbClr val="FFFFFF"/>
          </a:solidFill>
          <a:ln w="12700">
            <a:solidFill>
              <a:srgbClr val="FFFFFF"/>
            </a:solidFill>
            <a:prstDash val="solid"/>
          </a:ln>
        </p:spPr>
      </p:sp>
      <p:sp>
        <p:nvSpPr>
          <p:cNvPr id="14" name="Icono plane"/>
          <p:cNvSpPr/>
          <p:nvPr/>
        </p:nvSpPr>
        <p:spPr>
          <a:xfrm>
            <a:off x="900867" y="5911779"/>
            <a:ext cx="228234" cy="228234"/>
          </a:xfrm>
          <a:custGeom>
            <a:avLst/>
            <a:gdLst/>
            <a:ahLst/>
            <a:cxnLst/>
            <a:rect l="l" t="t" r="r" b="b"/>
            <a:pathLst>
              <a:path w="228234" h="228234">
                <a:moveTo>
                  <a:pt x="169274" y="182587"/>
                </a:moveTo>
                <a:lnTo>
                  <a:pt x="152156" y="104607"/>
                </a:lnTo>
                <a:lnTo>
                  <a:pt x="185440" y="71323"/>
                </a:lnTo>
                <a:cubicBezTo>
                  <a:pt x="199705" y="57059"/>
                  <a:pt x="204460" y="38039"/>
                  <a:pt x="199705" y="28529"/>
                </a:cubicBezTo>
                <a:cubicBezTo>
                  <a:pt x="190195" y="23774"/>
                  <a:pt x="171176" y="28529"/>
                  <a:pt x="156911" y="42794"/>
                </a:cubicBezTo>
                <a:lnTo>
                  <a:pt x="123627" y="76078"/>
                </a:lnTo>
                <a:lnTo>
                  <a:pt x="45647" y="58961"/>
                </a:lnTo>
                <a:cubicBezTo>
                  <a:pt x="40892" y="58010"/>
                  <a:pt x="37088" y="59911"/>
                  <a:pt x="35186" y="63715"/>
                </a:cubicBezTo>
                <a:lnTo>
                  <a:pt x="32333" y="68470"/>
                </a:lnTo>
                <a:cubicBezTo>
                  <a:pt x="30431" y="73225"/>
                  <a:pt x="31382" y="77980"/>
                  <a:pt x="35186" y="80833"/>
                </a:cubicBezTo>
                <a:lnTo>
                  <a:pt x="85588" y="114117"/>
                </a:lnTo>
                <a:lnTo>
                  <a:pt x="66568" y="142646"/>
                </a:lnTo>
                <a:lnTo>
                  <a:pt x="38039" y="142646"/>
                </a:lnTo>
                <a:lnTo>
                  <a:pt x="28529" y="152156"/>
                </a:lnTo>
                <a:lnTo>
                  <a:pt x="57059" y="171176"/>
                </a:lnTo>
                <a:lnTo>
                  <a:pt x="76078" y="199705"/>
                </a:lnTo>
                <a:lnTo>
                  <a:pt x="85588" y="190195"/>
                </a:lnTo>
                <a:lnTo>
                  <a:pt x="85588" y="161666"/>
                </a:lnTo>
                <a:lnTo>
                  <a:pt x="114117" y="142646"/>
                </a:lnTo>
                <a:lnTo>
                  <a:pt x="147401" y="193048"/>
                </a:lnTo>
                <a:cubicBezTo>
                  <a:pt x="150254" y="196852"/>
                  <a:pt x="155009" y="197803"/>
                  <a:pt x="159764" y="195901"/>
                </a:cubicBezTo>
                <a:lnTo>
                  <a:pt x="164519" y="193999"/>
                </a:lnTo>
                <a:cubicBezTo>
                  <a:pt x="168323" y="191146"/>
                  <a:pt x="170225" y="187342"/>
                  <a:pt x="169274" y="182587"/>
                </a:cubicBezTo>
                <a:close/>
              </a:path>
            </a:pathLst>
          </a:custGeom>
          <a:noFill/>
          <a:ln w="19020" cap="rnd">
            <a:solidFill>
              <a:srgbClr val="0B6E8A"/>
            </a:solidFill>
            <a:prstDash val="solid"/>
            <a:round/>
          </a:ln>
        </p:spPr>
      </p:sp>
      <p:sp>
        <p:nvSpPr>
          <p:cNvPr id="15" name="Text 13"/>
          <p:cNvSpPr/>
          <p:nvPr/>
        </p:nvSpPr>
        <p:spPr>
          <a:xfrm>
            <a:off x="1399032" y="5769864"/>
            <a:ext cx="10024567" cy="512064"/>
          </a:xfrm>
          <a:prstGeom prst="rect">
            <a:avLst/>
          </a:prstGeom>
          <a:noFill/>
          <a:ln/>
        </p:spPr>
        <p:txBody>
          <a:bodyPr wrap="square" lIns="0" tIns="0" rIns="0" bIns="0" rtlCol="0" anchor="ctr">
            <a:normAutofit/>
          </a:bodyPr>
          <a:lstStyle/>
          <a:p>
            <a:pPr indent="0" marL="0">
              <a:buNone/>
            </a:pPr>
            <a:r>
              <a:rPr lang="en-US" sz="1450" b="1" dirty="0">
                <a:solidFill>
                  <a:srgbClr val="0B6E8A"/>
                </a:solidFill>
                <a:latin typeface="Segoe UI" pitchFamily="34" charset="0"/>
                <a:ea typeface="Segoe UI" pitchFamily="34" charset="-122"/>
                <a:cs typeface="Segoe UI" pitchFamily="34" charset="-120"/>
              </a:rPr>
              <a:t>Piénsenlo así: </a:t>
            </a:r>
            <a:pPr indent="0" marL="0">
              <a:buNone/>
            </a:pPr>
            <a:r>
              <a:rPr lang="en-US" sz="1450" dirty="0">
                <a:solidFill>
                  <a:srgbClr val="0B1A3C"/>
                </a:solidFill>
                <a:latin typeface="Segoe UI" pitchFamily="34" charset="0"/>
                <a:ea typeface="Segoe UI" pitchFamily="34" charset="-122"/>
                <a:cs typeface="Segoe UI" pitchFamily="34" charset="-120"/>
              </a:rPr>
              <a:t>Como la caja negra de un avión: registra lo que pasó, para revisarlo después.</a:t>
            </a:r>
            <a:endParaRPr lang="en-US" sz="1450" dirty="0"/>
          </a:p>
        </p:txBody>
      </p:sp>
      <p:sp>
        <p:nvSpPr>
          <p:cNvPr id="16" name="Shape 14"/>
          <p:cNvSpPr/>
          <p:nvPr/>
        </p:nvSpPr>
        <p:spPr>
          <a:xfrm>
            <a:off x="1251928" y="2144268"/>
            <a:ext cx="1463040" cy="1463040"/>
          </a:xfrm>
          <a:prstGeom prst="ellipse">
            <a:avLst/>
          </a:prstGeom>
          <a:solidFill>
            <a:srgbClr val="E8EEF8"/>
          </a:solidFill>
          <a:ln w="31750">
            <a:solidFill>
              <a:srgbClr val="0B2350"/>
            </a:solidFill>
            <a:prstDash val="solid"/>
          </a:ln>
          <a:effectLst>
            <a:outerShdw sx="100000" sy="100000" kx="0" ky="0" algn="bl" rotWithShape="0" blurRad="76200" dist="19050" dir="5400000">
              <a:srgbClr val="0B1F3A">
                <a:alpha val="14000"/>
              </a:srgbClr>
            </a:outerShdw>
          </a:effectLst>
        </p:spPr>
      </p:sp>
      <p:sp>
        <p:nvSpPr>
          <p:cNvPr id="17" name="Icono server"/>
          <p:cNvSpPr/>
          <p:nvPr/>
        </p:nvSpPr>
        <p:spPr>
          <a:xfrm>
            <a:off x="1588427" y="2480767"/>
            <a:ext cx="790042" cy="790042"/>
          </a:xfrm>
          <a:custGeom>
            <a:avLst/>
            <a:gdLst/>
            <a:ahLst/>
            <a:cxnLst/>
            <a:rect l="l" t="t" r="r" b="b"/>
            <a:pathLst>
              <a:path w="790042" h="790042">
                <a:moveTo>
                  <a:pt x="131674" y="65837"/>
                </a:moveTo>
                <a:lnTo>
                  <a:pt x="658368" y="65837"/>
                </a:lnTo>
                <a:cubicBezTo>
                  <a:pt x="694729" y="65837"/>
                  <a:pt x="724205" y="95313"/>
                  <a:pt x="724205" y="131674"/>
                </a:cubicBezTo>
                <a:lnTo>
                  <a:pt x="724205" y="263347"/>
                </a:lnTo>
                <a:cubicBezTo>
                  <a:pt x="724205" y="299708"/>
                  <a:pt x="694729" y="329184"/>
                  <a:pt x="658368" y="329184"/>
                </a:cubicBezTo>
                <a:lnTo>
                  <a:pt x="131674" y="329184"/>
                </a:lnTo>
                <a:cubicBezTo>
                  <a:pt x="95313" y="329184"/>
                  <a:pt x="65837" y="299708"/>
                  <a:pt x="65837" y="263347"/>
                </a:cubicBezTo>
                <a:lnTo>
                  <a:pt x="65837" y="131674"/>
                </a:lnTo>
                <a:cubicBezTo>
                  <a:pt x="65837" y="95313"/>
                  <a:pt x="95313" y="65837"/>
                  <a:pt x="131674" y="65837"/>
                </a:cubicBezTo>
                <a:close/>
                <a:moveTo>
                  <a:pt x="131674" y="460858"/>
                </a:moveTo>
                <a:lnTo>
                  <a:pt x="658368" y="460858"/>
                </a:lnTo>
                <a:cubicBezTo>
                  <a:pt x="694729" y="460858"/>
                  <a:pt x="724205" y="490334"/>
                  <a:pt x="724205" y="526694"/>
                </a:cubicBezTo>
                <a:lnTo>
                  <a:pt x="724205" y="658368"/>
                </a:lnTo>
                <a:cubicBezTo>
                  <a:pt x="724205" y="694729"/>
                  <a:pt x="694729" y="724205"/>
                  <a:pt x="658368" y="724205"/>
                </a:cubicBezTo>
                <a:lnTo>
                  <a:pt x="131674" y="724205"/>
                </a:lnTo>
                <a:cubicBezTo>
                  <a:pt x="95313" y="724205"/>
                  <a:pt x="65837" y="694729"/>
                  <a:pt x="65837" y="658368"/>
                </a:cubicBezTo>
                <a:lnTo>
                  <a:pt x="65837" y="526694"/>
                </a:lnTo>
                <a:cubicBezTo>
                  <a:pt x="65837" y="490334"/>
                  <a:pt x="95313" y="460858"/>
                  <a:pt x="131674" y="460858"/>
                </a:cubicBezTo>
                <a:close/>
                <a:moveTo>
                  <a:pt x="197510" y="197510"/>
                </a:moveTo>
                <a:lnTo>
                  <a:pt x="197840" y="197510"/>
                </a:lnTo>
                <a:moveTo>
                  <a:pt x="197510" y="592531"/>
                </a:moveTo>
                <a:lnTo>
                  <a:pt x="197840" y="592531"/>
                </a:lnTo>
              </a:path>
            </a:pathLst>
          </a:custGeom>
          <a:noFill/>
          <a:ln w="57607" cap="rnd">
            <a:solidFill>
              <a:srgbClr val="0B2350"/>
            </a:solidFill>
            <a:prstDash val="solid"/>
            <a:round/>
          </a:ln>
        </p:spPr>
      </p:sp>
      <p:sp>
        <p:nvSpPr>
          <p:cNvPr id="18" name="Text 16"/>
          <p:cNvSpPr/>
          <p:nvPr/>
        </p:nvSpPr>
        <p:spPr>
          <a:xfrm>
            <a:off x="1215352" y="2107692"/>
            <a:ext cx="347472" cy="347472"/>
          </a:xfrm>
          <a:prstGeom prst="ellipse">
            <a:avLst/>
          </a:prstGeom>
          <a:solidFill>
            <a:srgbClr val="0B2350"/>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9" name="Text 17"/>
          <p:cNvSpPr/>
          <p:nvPr/>
        </p:nvSpPr>
        <p:spPr>
          <a:xfrm>
            <a:off x="6583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Servicios</a:t>
            </a:r>
            <a:endParaRPr lang="en-US" sz="1800" dirty="0"/>
          </a:p>
        </p:txBody>
      </p:sp>
      <p:sp>
        <p:nvSpPr>
          <p:cNvPr id="20" name="Text 18"/>
          <p:cNvSpPr/>
          <p:nvPr/>
        </p:nvSpPr>
        <p:spPr>
          <a:xfrm>
            <a:off x="7223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Logs JSON con traceId y eventoId.</a:t>
            </a:r>
            <a:endParaRPr lang="en-US" sz="1400" dirty="0"/>
          </a:p>
        </p:txBody>
      </p:sp>
      <p:sp>
        <p:nvSpPr>
          <p:cNvPr id="21" name="[p1] Forma"/>
          <p:cNvSpPr/>
          <p:nvPr/>
        </p:nvSpPr>
        <p:spPr>
          <a:xfrm>
            <a:off x="2806408" y="2875788"/>
            <a:ext cx="1095680" cy="0"/>
          </a:xfrm>
          <a:prstGeom prst="line">
            <a:avLst/>
          </a:prstGeom>
          <a:noFill/>
          <a:ln w="38100">
            <a:solidFill>
              <a:srgbClr val="2BA6CB"/>
            </a:solidFill>
            <a:prstDash val="solid"/>
            <a:tailEnd type="triangle"/>
          </a:ln>
        </p:spPr>
      </p:sp>
      <p:sp>
        <p:nvSpPr>
          <p:cNvPr id="22" name="[p1] Forma"/>
          <p:cNvSpPr/>
          <p:nvPr/>
        </p:nvSpPr>
        <p:spPr>
          <a:xfrm>
            <a:off x="39935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3" name="[p1] Icono scan-eye"/>
          <p:cNvSpPr/>
          <p:nvPr/>
        </p:nvSpPr>
        <p:spPr>
          <a:xfrm>
            <a:off x="4330027" y="2480767"/>
            <a:ext cx="790042" cy="790042"/>
          </a:xfrm>
          <a:custGeom>
            <a:avLst/>
            <a:gdLst/>
            <a:ahLst/>
            <a:cxnLst/>
            <a:rect l="l" t="t" r="r" b="b"/>
            <a:pathLst>
              <a:path w="790042" h="790042">
                <a:moveTo>
                  <a:pt x="98755" y="230429"/>
                </a:moveTo>
                <a:lnTo>
                  <a:pt x="98755" y="164592"/>
                </a:lnTo>
                <a:cubicBezTo>
                  <a:pt x="98755" y="128231"/>
                  <a:pt x="128231" y="98755"/>
                  <a:pt x="164592" y="98755"/>
                </a:cubicBezTo>
                <a:lnTo>
                  <a:pt x="230429" y="98755"/>
                </a:lnTo>
                <a:moveTo>
                  <a:pt x="559613" y="98755"/>
                </a:moveTo>
                <a:lnTo>
                  <a:pt x="625450" y="98755"/>
                </a:lnTo>
                <a:cubicBezTo>
                  <a:pt x="661810" y="98755"/>
                  <a:pt x="691286" y="128231"/>
                  <a:pt x="691286" y="164592"/>
                </a:cubicBezTo>
                <a:lnTo>
                  <a:pt x="691286" y="230429"/>
                </a:lnTo>
                <a:moveTo>
                  <a:pt x="691286" y="559613"/>
                </a:moveTo>
                <a:lnTo>
                  <a:pt x="691286" y="625450"/>
                </a:lnTo>
                <a:cubicBezTo>
                  <a:pt x="691286" y="661810"/>
                  <a:pt x="661810" y="691286"/>
                  <a:pt x="625450" y="691286"/>
                </a:cubicBezTo>
                <a:lnTo>
                  <a:pt x="559613" y="691286"/>
                </a:lnTo>
                <a:moveTo>
                  <a:pt x="230429" y="691286"/>
                </a:moveTo>
                <a:lnTo>
                  <a:pt x="164592" y="691286"/>
                </a:lnTo>
                <a:cubicBezTo>
                  <a:pt x="128231" y="691286"/>
                  <a:pt x="98755" y="661810"/>
                  <a:pt x="98755" y="625450"/>
                </a:cubicBezTo>
                <a:lnTo>
                  <a:pt x="98755" y="559613"/>
                </a:lnTo>
                <a:moveTo>
                  <a:pt x="427939" y="395021"/>
                </a:moveTo>
                <a:cubicBezTo>
                  <a:pt x="427939" y="413201"/>
                  <a:pt x="413201" y="427939"/>
                  <a:pt x="395021" y="427939"/>
                </a:cubicBezTo>
                <a:cubicBezTo>
                  <a:pt x="376840" y="427939"/>
                  <a:pt x="362102" y="413201"/>
                  <a:pt x="362102" y="395021"/>
                </a:cubicBezTo>
                <a:cubicBezTo>
                  <a:pt x="362102" y="376840"/>
                  <a:pt x="376840" y="362102"/>
                  <a:pt x="395021" y="362102"/>
                </a:cubicBezTo>
                <a:cubicBezTo>
                  <a:pt x="413201" y="362102"/>
                  <a:pt x="427939" y="376840"/>
                  <a:pt x="427939" y="395021"/>
                </a:cubicBezTo>
                <a:close/>
                <a:moveTo>
                  <a:pt x="623606" y="405884"/>
                </a:moveTo>
                <a:cubicBezTo>
                  <a:pt x="626065" y="398851"/>
                  <a:pt x="626065" y="391191"/>
                  <a:pt x="623606" y="384158"/>
                </a:cubicBezTo>
                <a:cubicBezTo>
                  <a:pt x="585698" y="291269"/>
                  <a:pt x="495347" y="230556"/>
                  <a:pt x="395021" y="230556"/>
                </a:cubicBezTo>
                <a:cubicBezTo>
                  <a:pt x="294694" y="230556"/>
                  <a:pt x="204344" y="291269"/>
                  <a:pt x="166435" y="384158"/>
                </a:cubicBezTo>
                <a:cubicBezTo>
                  <a:pt x="163977" y="391191"/>
                  <a:pt x="163977" y="398851"/>
                  <a:pt x="166435" y="405884"/>
                </a:cubicBezTo>
                <a:cubicBezTo>
                  <a:pt x="204344" y="498773"/>
                  <a:pt x="294694" y="559485"/>
                  <a:pt x="395021" y="559485"/>
                </a:cubicBezTo>
                <a:cubicBezTo>
                  <a:pt x="495347" y="559485"/>
                  <a:pt x="585698" y="498773"/>
                  <a:pt x="623606" y="405884"/>
                </a:cubicBezTo>
              </a:path>
            </a:pathLst>
          </a:custGeom>
          <a:noFill/>
          <a:ln w="57607" cap="rnd">
            <a:solidFill>
              <a:srgbClr val="8A4B06"/>
            </a:solidFill>
            <a:prstDash val="solid"/>
            <a:round/>
          </a:ln>
        </p:spPr>
      </p:sp>
      <p:sp>
        <p:nvSpPr>
          <p:cNvPr id="24" name="[p1] Forma"/>
          <p:cNvSpPr/>
          <p:nvPr/>
        </p:nvSpPr>
        <p:spPr>
          <a:xfrm>
            <a:off x="39569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25" name="[p1] Forma"/>
          <p:cNvSpPr/>
          <p:nvPr/>
        </p:nvSpPr>
        <p:spPr>
          <a:xfrm>
            <a:off x="33999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Promtail</a:t>
            </a:r>
            <a:endParaRPr lang="en-US" sz="1800" dirty="0"/>
          </a:p>
        </p:txBody>
      </p:sp>
      <p:sp>
        <p:nvSpPr>
          <p:cNvPr id="26" name="[p1] Forma"/>
          <p:cNvSpPr/>
          <p:nvPr/>
        </p:nvSpPr>
        <p:spPr>
          <a:xfrm>
            <a:off x="34639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recoge de cada contenedor.</a:t>
            </a:r>
            <a:endParaRPr lang="en-US" sz="1400" dirty="0"/>
          </a:p>
        </p:txBody>
      </p:sp>
      <p:sp>
        <p:nvSpPr>
          <p:cNvPr id="27" name="[p2] Forma"/>
          <p:cNvSpPr/>
          <p:nvPr/>
        </p:nvSpPr>
        <p:spPr>
          <a:xfrm>
            <a:off x="5548008" y="2875788"/>
            <a:ext cx="1095680" cy="0"/>
          </a:xfrm>
          <a:prstGeom prst="line">
            <a:avLst/>
          </a:prstGeom>
          <a:noFill/>
          <a:ln w="38100">
            <a:solidFill>
              <a:srgbClr val="2BA6CB"/>
            </a:solidFill>
            <a:prstDash val="solid"/>
            <a:tailEnd type="triangle"/>
          </a:ln>
        </p:spPr>
      </p:sp>
      <p:sp>
        <p:nvSpPr>
          <p:cNvPr id="28" name="[p2] Forma"/>
          <p:cNvSpPr/>
          <p:nvPr/>
        </p:nvSpPr>
        <p:spPr>
          <a:xfrm>
            <a:off x="6735128" y="2144268"/>
            <a:ext cx="1463040" cy="1463040"/>
          </a:xfrm>
          <a:prstGeom prst="ellipse">
            <a:avLst/>
          </a:prstGeom>
          <a:solidFill>
            <a:srgbClr val="FCEFD6"/>
          </a:solidFill>
          <a:ln w="31750">
            <a:solidFill>
              <a:srgbClr val="8A4B06"/>
            </a:solidFill>
            <a:prstDash val="solid"/>
          </a:ln>
          <a:effectLst>
            <a:outerShdw sx="100000" sy="100000" kx="0" ky="0" algn="bl" rotWithShape="0" blurRad="76200" dist="19050" dir="5400000">
              <a:srgbClr val="0B1F3A">
                <a:alpha val="14000"/>
              </a:srgbClr>
            </a:outerShdw>
          </a:effectLst>
        </p:spPr>
      </p:sp>
      <p:sp>
        <p:nvSpPr>
          <p:cNvPr id="29" name="[p2] Icono archive"/>
          <p:cNvSpPr/>
          <p:nvPr/>
        </p:nvSpPr>
        <p:spPr>
          <a:xfrm>
            <a:off x="7071627" y="2480767"/>
            <a:ext cx="790042" cy="790042"/>
          </a:xfrm>
          <a:custGeom>
            <a:avLst/>
            <a:gdLst/>
            <a:ahLst/>
            <a:cxnLst/>
            <a:rect l="l" t="t" r="r" b="b"/>
            <a:pathLst>
              <a:path w="790042" h="790042">
                <a:moveTo>
                  <a:pt x="98755" y="98755"/>
                </a:moveTo>
                <a:lnTo>
                  <a:pt x="691286" y="98755"/>
                </a:lnTo>
                <a:cubicBezTo>
                  <a:pt x="709467" y="98755"/>
                  <a:pt x="724205" y="113493"/>
                  <a:pt x="724205" y="131674"/>
                </a:cubicBezTo>
                <a:lnTo>
                  <a:pt x="724205" y="230429"/>
                </a:lnTo>
                <a:cubicBezTo>
                  <a:pt x="724205" y="248609"/>
                  <a:pt x="709467" y="263347"/>
                  <a:pt x="691286" y="263347"/>
                </a:cubicBezTo>
                <a:lnTo>
                  <a:pt x="98755" y="263347"/>
                </a:lnTo>
                <a:cubicBezTo>
                  <a:pt x="80575" y="263347"/>
                  <a:pt x="65837" y="248609"/>
                  <a:pt x="65837" y="230429"/>
                </a:cubicBezTo>
                <a:lnTo>
                  <a:pt x="65837" y="131674"/>
                </a:lnTo>
                <a:cubicBezTo>
                  <a:pt x="65837" y="113493"/>
                  <a:pt x="80575" y="98755"/>
                  <a:pt x="98755" y="98755"/>
                </a:cubicBezTo>
                <a:close/>
                <a:moveTo>
                  <a:pt x="131674" y="263347"/>
                </a:moveTo>
                <a:lnTo>
                  <a:pt x="131674" y="625450"/>
                </a:lnTo>
                <a:cubicBezTo>
                  <a:pt x="131674" y="661810"/>
                  <a:pt x="161150" y="691286"/>
                  <a:pt x="197510" y="691286"/>
                </a:cubicBezTo>
                <a:lnTo>
                  <a:pt x="592531" y="691286"/>
                </a:lnTo>
                <a:cubicBezTo>
                  <a:pt x="628892" y="691286"/>
                  <a:pt x="658368" y="661810"/>
                  <a:pt x="658368" y="625450"/>
                </a:cubicBezTo>
                <a:lnTo>
                  <a:pt x="658368" y="263347"/>
                </a:lnTo>
                <a:moveTo>
                  <a:pt x="329184" y="395021"/>
                </a:moveTo>
                <a:lnTo>
                  <a:pt x="460858" y="395021"/>
                </a:lnTo>
              </a:path>
            </a:pathLst>
          </a:custGeom>
          <a:noFill/>
          <a:ln w="57607" cap="rnd">
            <a:solidFill>
              <a:srgbClr val="8A4B06"/>
            </a:solidFill>
            <a:prstDash val="solid"/>
            <a:round/>
          </a:ln>
        </p:spPr>
      </p:sp>
      <p:sp>
        <p:nvSpPr>
          <p:cNvPr id="30" name="[p2] Forma"/>
          <p:cNvSpPr/>
          <p:nvPr/>
        </p:nvSpPr>
        <p:spPr>
          <a:xfrm>
            <a:off x="6698552" y="2107692"/>
            <a:ext cx="347472" cy="347472"/>
          </a:xfrm>
          <a:prstGeom prst="ellipse">
            <a:avLst/>
          </a:prstGeom>
          <a:solidFill>
            <a:srgbClr val="8A4B06"/>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1" name="[p2] Forma"/>
          <p:cNvSpPr/>
          <p:nvPr/>
        </p:nvSpPr>
        <p:spPr>
          <a:xfrm>
            <a:off x="6141568"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Loki</a:t>
            </a:r>
            <a:endParaRPr lang="en-US" sz="1800" dirty="0"/>
          </a:p>
        </p:txBody>
      </p:sp>
      <p:sp>
        <p:nvSpPr>
          <p:cNvPr id="32" name="[p2] Forma"/>
          <p:cNvSpPr/>
          <p:nvPr/>
        </p:nvSpPr>
        <p:spPr>
          <a:xfrm>
            <a:off x="6205576"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Los guarda, etiquetados por servicio.</a:t>
            </a:r>
            <a:endParaRPr lang="en-US" sz="1400" dirty="0"/>
          </a:p>
        </p:txBody>
      </p:sp>
      <p:sp>
        <p:nvSpPr>
          <p:cNvPr id="33" name="[p3] Forma"/>
          <p:cNvSpPr/>
          <p:nvPr/>
        </p:nvSpPr>
        <p:spPr>
          <a:xfrm>
            <a:off x="8289608" y="2875788"/>
            <a:ext cx="1095680" cy="0"/>
          </a:xfrm>
          <a:prstGeom prst="line">
            <a:avLst/>
          </a:prstGeom>
          <a:noFill/>
          <a:ln w="38100">
            <a:solidFill>
              <a:srgbClr val="2BA6CB"/>
            </a:solidFill>
            <a:prstDash val="solid"/>
            <a:tailEnd type="triangle"/>
          </a:ln>
        </p:spPr>
      </p:sp>
      <p:sp>
        <p:nvSpPr>
          <p:cNvPr id="34" name="[p3] Forma"/>
          <p:cNvSpPr/>
          <p:nvPr/>
        </p:nvSpPr>
        <p:spPr>
          <a:xfrm>
            <a:off x="9476727" y="2144268"/>
            <a:ext cx="1463040" cy="1463040"/>
          </a:xfrm>
          <a:prstGeom prst="ellipse">
            <a:avLst/>
          </a:prstGeom>
          <a:solidFill>
            <a:srgbClr val="E1F1EA"/>
          </a:solidFill>
          <a:ln w="31750">
            <a:solidFill>
              <a:srgbClr val="0A6648"/>
            </a:solidFill>
            <a:prstDash val="solid"/>
          </a:ln>
          <a:effectLst>
            <a:outerShdw sx="100000" sy="100000" kx="0" ky="0" algn="bl" rotWithShape="0" blurRad="76200" dist="19050" dir="5400000">
              <a:srgbClr val="0B1F3A">
                <a:alpha val="14000"/>
              </a:srgbClr>
            </a:outerShdw>
          </a:effectLst>
        </p:spPr>
      </p:sp>
      <p:sp>
        <p:nvSpPr>
          <p:cNvPr id="35" name="[p3] Icono chart-line"/>
          <p:cNvSpPr/>
          <p:nvPr/>
        </p:nvSpPr>
        <p:spPr>
          <a:xfrm>
            <a:off x="9813226" y="2480767"/>
            <a:ext cx="790042" cy="790042"/>
          </a:xfrm>
          <a:custGeom>
            <a:avLst/>
            <a:gdLst/>
            <a:ahLst/>
            <a:cxnLst/>
            <a:rect l="l" t="t" r="r" b="b"/>
            <a:pathLst>
              <a:path w="790042" h="790042">
                <a:moveTo>
                  <a:pt x="98755" y="98755"/>
                </a:moveTo>
                <a:lnTo>
                  <a:pt x="98755" y="625450"/>
                </a:lnTo>
                <a:cubicBezTo>
                  <a:pt x="98755" y="661810"/>
                  <a:pt x="128231" y="691286"/>
                  <a:pt x="164592" y="691286"/>
                </a:cubicBezTo>
                <a:lnTo>
                  <a:pt x="691286" y="691286"/>
                </a:lnTo>
                <a:moveTo>
                  <a:pt x="625450" y="296266"/>
                </a:moveTo>
                <a:lnTo>
                  <a:pt x="460858" y="460858"/>
                </a:lnTo>
                <a:lnTo>
                  <a:pt x="329184" y="329184"/>
                </a:lnTo>
                <a:lnTo>
                  <a:pt x="230429" y="427939"/>
                </a:lnTo>
              </a:path>
            </a:pathLst>
          </a:custGeom>
          <a:noFill/>
          <a:ln w="57607" cap="rnd">
            <a:solidFill>
              <a:srgbClr val="0A6648"/>
            </a:solidFill>
            <a:prstDash val="solid"/>
            <a:round/>
          </a:ln>
        </p:spPr>
      </p:sp>
      <p:sp>
        <p:nvSpPr>
          <p:cNvPr id="36" name="[p3] Forma"/>
          <p:cNvSpPr/>
          <p:nvPr/>
        </p:nvSpPr>
        <p:spPr>
          <a:xfrm>
            <a:off x="9440151" y="2107692"/>
            <a:ext cx="347472" cy="347472"/>
          </a:xfrm>
          <a:prstGeom prst="ellipse">
            <a:avLst/>
          </a:prstGeom>
          <a:solidFill>
            <a:srgbClr val="0A6648"/>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7" name="[p3] Forma"/>
          <p:cNvSpPr/>
          <p:nvPr/>
        </p:nvSpPr>
        <p:spPr>
          <a:xfrm>
            <a:off x="8883167" y="3735324"/>
            <a:ext cx="2650160" cy="420624"/>
          </a:xfrm>
          <a:prstGeom prst="rect">
            <a:avLst/>
          </a:prstGeom>
          <a:noFill/>
          <a:ln/>
        </p:spPr>
        <p:txBody>
          <a:bodyPr wrap="square" lIns="0" tIns="0" rIns="0" bIns="0" rtlCol="0" anchor="t">
            <a:normAutofit/>
          </a:bodyPr>
          <a:lstStyle/>
          <a:p>
            <a:pPr algn="ctr" indent="0" marL="0">
              <a:buNone/>
            </a:pPr>
            <a:r>
              <a:rPr lang="en-US" sz="1800" b="1" dirty="0">
                <a:solidFill>
                  <a:srgbClr val="0B1A3C"/>
                </a:solidFill>
                <a:latin typeface="Segoe UI Semibold" pitchFamily="34" charset="0"/>
                <a:ea typeface="Segoe UI Semibold" pitchFamily="34" charset="-122"/>
                <a:cs typeface="Segoe UI Semibold" pitchFamily="34" charset="-120"/>
              </a:rPr>
              <a:t>Grafana</a:t>
            </a:r>
            <a:endParaRPr lang="en-US" sz="1800" dirty="0"/>
          </a:p>
        </p:txBody>
      </p:sp>
      <p:sp>
        <p:nvSpPr>
          <p:cNvPr id="38" name="[p3] Forma"/>
          <p:cNvSpPr/>
          <p:nvPr/>
        </p:nvSpPr>
        <p:spPr>
          <a:xfrm>
            <a:off x="8947175" y="4174236"/>
            <a:ext cx="2522144" cy="914400"/>
          </a:xfrm>
          <a:prstGeom prst="rect">
            <a:avLst/>
          </a:prstGeom>
          <a:noFill/>
          <a:ln/>
        </p:spPr>
        <p:txBody>
          <a:bodyPr wrap="square" lIns="0" tIns="0" rIns="0" bIns="0" rtlCol="0" anchor="t">
            <a:normAutofit/>
          </a:bodyPr>
          <a:lstStyle/>
          <a:p>
            <a:pPr algn="ctr" indent="0" marL="0">
              <a:buNone/>
            </a:pPr>
            <a:r>
              <a:rPr lang="en-US" sz="1400" dirty="0">
                <a:solidFill>
                  <a:srgbClr val="55627E"/>
                </a:solidFill>
                <a:latin typeface="Segoe UI" pitchFamily="34" charset="0"/>
                <a:ea typeface="Segoe UI" pitchFamily="34" charset="-122"/>
                <a:cs typeface="Segoe UI" pitchFamily="34" charset="-120"/>
              </a:rPr>
              <a:t>Una búsqueda para todo el sistema.</a:t>
            </a:r>
            <a:endParaRPr lang="en-US" sz="14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40"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1"/>
                                        </p:tgtEl>
                                        <p:attrNameLst>
                                          <p:attrName>style.visibility</p:attrName>
                                        </p:attrNameLst>
                                      </p:cBhvr>
                                      <p:to>
                                        <p:strVal val="visible"/>
                                      </p:to>
                                    </p:set>
                                    <p:animEffect transition="in" filter="fade">
                                      <p:cBhvr>
                                        <p:cTn id="5" dur="400"/>
                                        <p:tgtEl>
                                          <p:spTgt spid="2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2"/>
                                        </p:tgtEl>
                                        <p:attrNameLst>
                                          <p:attrName>style.visibility</p:attrName>
                                        </p:attrNameLst>
                                      </p:cBhvr>
                                      <p:to>
                                        <p:strVal val="visible"/>
                                      </p:to>
                                    </p:set>
                                    <p:animEffect transition="in" filter="fade">
                                      <p:cBhvr>
                                        <p:cTn id="8" dur="400"/>
                                        <p:tgtEl>
                                          <p:spTgt spid="2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4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00"/>
                                        <p:tgtEl>
                                          <p:spTgt spid="32"/>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4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00"/>
                                        <p:tgtEl>
                                          <p:spTgt spid="3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4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OBSERVABILIDAD</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Observabilidad: lo que aprendimos</a:t>
            </a:r>
            <a:endParaRPr lang="en-US" sz="2800" dirty="0"/>
          </a:p>
        </p:txBody>
      </p:sp>
      <p:sp>
        <p:nvSpPr>
          <p:cNvPr id="5" name="Shape 3"/>
          <p:cNvSpPr/>
          <p:nvPr/>
        </p:nvSpPr>
        <p:spPr>
          <a:xfrm>
            <a:off x="9549079" y="429768"/>
            <a:ext cx="274320" cy="73152"/>
          </a:xfrm>
          <a:prstGeom prst="roundRect">
            <a:avLst>
              <a:gd name="adj" fmla="val 50000"/>
            </a:avLst>
          </a:prstGeom>
          <a:solidFill>
            <a:srgbClr val="A0D7E8"/>
          </a:solidFill>
          <a:ln w="12700">
            <a:solidFill>
              <a:srgbClr val="FFFFFF"/>
            </a:solidFill>
            <a:prstDash val="solid"/>
          </a:ln>
        </p:spPr>
      </p:sp>
      <p:sp>
        <p:nvSpPr>
          <p:cNvPr id="6" name="Shape 4"/>
          <p:cNvSpPr/>
          <p:nvPr/>
        </p:nvSpPr>
        <p:spPr>
          <a:xfrm>
            <a:off x="9887407" y="429768"/>
            <a:ext cx="274320" cy="73152"/>
          </a:xfrm>
          <a:prstGeom prst="roundRect">
            <a:avLst>
              <a:gd name="adj" fmla="val 50000"/>
            </a:avLst>
          </a:prstGeom>
          <a:solidFill>
            <a:srgbClr val="A0D7E8"/>
          </a:solidFill>
          <a:ln w="12700">
            <a:solidFill>
              <a:srgbClr val="FFFFFF"/>
            </a:solidFill>
            <a:prstDash val="solid"/>
          </a:ln>
        </p:spPr>
      </p:sp>
      <p:sp>
        <p:nvSpPr>
          <p:cNvPr id="7" name="Shape 5"/>
          <p:cNvSpPr/>
          <p:nvPr/>
        </p:nvSpPr>
        <p:spPr>
          <a:xfrm>
            <a:off x="10225735" y="429768"/>
            <a:ext cx="274320" cy="73152"/>
          </a:xfrm>
          <a:prstGeom prst="roundRect">
            <a:avLst>
              <a:gd name="adj" fmla="val 50000"/>
            </a:avLst>
          </a:prstGeom>
          <a:solidFill>
            <a:srgbClr val="A0D7E8"/>
          </a:solidFill>
          <a:ln w="12700">
            <a:solidFill>
              <a:srgbClr val="FFFFFF"/>
            </a:solidFill>
            <a:prstDash val="solid"/>
          </a:ln>
        </p:spPr>
      </p:sp>
      <p:sp>
        <p:nvSpPr>
          <p:cNvPr id="8" name="Shape 6"/>
          <p:cNvSpPr/>
          <p:nvPr/>
        </p:nvSpPr>
        <p:spPr>
          <a:xfrm>
            <a:off x="10564063" y="429768"/>
            <a:ext cx="274320" cy="73152"/>
          </a:xfrm>
          <a:prstGeom prst="roundRect">
            <a:avLst>
              <a:gd name="adj" fmla="val 50000"/>
            </a:avLst>
          </a:prstGeom>
          <a:solidFill>
            <a:srgbClr val="A0D7E8"/>
          </a:solidFill>
          <a:ln w="12700">
            <a:solidFill>
              <a:srgbClr val="FFFFFF"/>
            </a:solidFill>
            <a:prstDash val="solid"/>
          </a:ln>
        </p:spPr>
      </p:sp>
      <p:sp>
        <p:nvSpPr>
          <p:cNvPr id="9" name="Shape 7"/>
          <p:cNvSpPr/>
          <p:nvPr/>
        </p:nvSpPr>
        <p:spPr>
          <a:xfrm>
            <a:off x="10902391" y="429768"/>
            <a:ext cx="274320" cy="73152"/>
          </a:xfrm>
          <a:prstGeom prst="roundRect">
            <a:avLst>
              <a:gd name="adj" fmla="val 50000"/>
            </a:avLst>
          </a:prstGeom>
          <a:solidFill>
            <a:srgbClr val="A0D7E8"/>
          </a:solidFill>
          <a:ln w="12700">
            <a:solidFill>
              <a:srgbClr val="FFFFFF"/>
            </a:solidFill>
            <a:prstDash val="solid"/>
          </a:ln>
        </p:spPr>
      </p:sp>
      <p:sp>
        <p:nvSpPr>
          <p:cNvPr id="10" name="Shape 8"/>
          <p:cNvSpPr/>
          <p:nvPr/>
        </p:nvSpPr>
        <p:spPr>
          <a:xfrm>
            <a:off x="11240719" y="429768"/>
            <a:ext cx="274320" cy="73152"/>
          </a:xfrm>
          <a:prstGeom prst="roundRect">
            <a:avLst>
              <a:gd name="adj" fmla="val 50000"/>
            </a:avLst>
          </a:prstGeom>
          <a:solidFill>
            <a:srgbClr val="2BA6CB"/>
          </a:solidFill>
          <a:ln w="12700">
            <a:solidFill>
              <a:srgbClr val="FFFFFF"/>
            </a:solidFill>
            <a:prstDash val="solid"/>
          </a:ln>
        </p:spPr>
      </p:sp>
      <p:sp>
        <p:nvSpPr>
          <p:cNvPr id="11" name="Shape 9"/>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12" name="Shape 10"/>
          <p:cNvSpPr/>
          <p:nvPr/>
        </p:nvSpPr>
        <p:spPr>
          <a:xfrm>
            <a:off x="886968" y="1645920"/>
            <a:ext cx="713232" cy="713232"/>
          </a:xfrm>
          <a:prstGeom prst="ellipse">
            <a:avLst/>
          </a:prstGeom>
          <a:solidFill>
            <a:srgbClr val="2BA6CB"/>
          </a:solidFill>
          <a:ln w="12700">
            <a:solidFill>
              <a:srgbClr val="2BA6CB"/>
            </a:solidFill>
            <a:prstDash val="solid"/>
          </a:ln>
        </p:spPr>
      </p:sp>
      <p:sp>
        <p:nvSpPr>
          <p:cNvPr id="13" name="Icono chart-line"/>
          <p:cNvSpPr/>
          <p:nvPr/>
        </p:nvSpPr>
        <p:spPr>
          <a:xfrm>
            <a:off x="1058144" y="1817096"/>
            <a:ext cx="370881" cy="370881"/>
          </a:xfrm>
          <a:custGeom>
            <a:avLst/>
            <a:gdLst/>
            <a:ahLst/>
            <a:cxnLst/>
            <a:rect l="l" t="t" r="r" b="b"/>
            <a:pathLst>
              <a:path w="370881" h="370881">
                <a:moveTo>
                  <a:pt x="46360" y="46360"/>
                </a:moveTo>
                <a:lnTo>
                  <a:pt x="46360" y="293614"/>
                </a:lnTo>
                <a:cubicBezTo>
                  <a:pt x="46360" y="310683"/>
                  <a:pt x="60197" y="324521"/>
                  <a:pt x="77267" y="324521"/>
                </a:cubicBezTo>
                <a:lnTo>
                  <a:pt x="324521" y="324521"/>
                </a:lnTo>
                <a:moveTo>
                  <a:pt x="293614" y="139080"/>
                </a:moveTo>
                <a:lnTo>
                  <a:pt x="216347" y="216347"/>
                </a:lnTo>
                <a:lnTo>
                  <a:pt x="154534" y="154534"/>
                </a:lnTo>
                <a:lnTo>
                  <a:pt x="108174" y="200894"/>
                </a:lnTo>
              </a:path>
            </a:pathLst>
          </a:custGeom>
          <a:noFill/>
          <a:ln w="30907" cap="rnd">
            <a:solidFill>
              <a:srgbClr val="0B1F3A"/>
            </a:solidFill>
            <a:prstDash val="solid"/>
            <a:round/>
          </a:ln>
        </p:spPr>
      </p:sp>
      <p:sp>
        <p:nvSpPr>
          <p:cNvPr id="14" name="Text 12"/>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15" name="Text 13"/>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6" name="Text 14"/>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lugar para buscar todos los logs</a:t>
            </a:r>
            <a:endParaRPr lang="en-US" sz="1300" dirty="0"/>
          </a:p>
        </p:txBody>
      </p:sp>
      <p:sp>
        <p:nvSpPr>
          <p:cNvPr id="17" name="Shape 15"/>
          <p:cNvSpPr/>
          <p:nvPr/>
        </p:nvSpPr>
        <p:spPr>
          <a:xfrm>
            <a:off x="886968" y="4489704"/>
            <a:ext cx="2423160" cy="0"/>
          </a:xfrm>
          <a:prstGeom prst="line">
            <a:avLst/>
          </a:prstGeom>
          <a:noFill/>
          <a:ln w="9525">
            <a:solidFill>
              <a:srgbClr val="3C4C61"/>
            </a:solidFill>
            <a:prstDash val="solid"/>
          </a:ln>
        </p:spPr>
      </p:sp>
      <p:sp>
        <p:nvSpPr>
          <p:cNvPr id="18" name="Text 16"/>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8</a:t>
            </a:r>
            <a:endParaRPr lang="en-US" sz="4700" dirty="0"/>
          </a:p>
        </p:txBody>
      </p:sp>
      <p:sp>
        <p:nvSpPr>
          <p:cNvPr id="19" name="Text 17"/>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contenedores observados</a:t>
            </a:r>
            <a:endParaRPr lang="en-US" sz="1300" dirty="0"/>
          </a:p>
        </p:txBody>
      </p:sp>
      <p:sp>
        <p:nvSpPr>
          <p:cNvPr id="20"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1"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22" name="[p1] Icono braces"/>
          <p:cNvSpPr/>
          <p:nvPr/>
        </p:nvSpPr>
        <p:spPr>
          <a:xfrm>
            <a:off x="4258544" y="1955780"/>
            <a:ext cx="370881" cy="370881"/>
          </a:xfrm>
          <a:custGeom>
            <a:avLst/>
            <a:gdLst/>
            <a:ahLst/>
            <a:cxnLst/>
            <a:rect l="l" t="t" r="r" b="b"/>
            <a:pathLst>
              <a:path w="370881" h="370881">
                <a:moveTo>
                  <a:pt x="123627" y="46360"/>
                </a:moveTo>
                <a:lnTo>
                  <a:pt x="108174" y="46360"/>
                </a:lnTo>
                <a:cubicBezTo>
                  <a:pt x="91104" y="46360"/>
                  <a:pt x="77267" y="60197"/>
                  <a:pt x="77267" y="77267"/>
                </a:cubicBezTo>
                <a:lnTo>
                  <a:pt x="77267" y="154534"/>
                </a:lnTo>
                <a:cubicBezTo>
                  <a:pt x="77267" y="171603"/>
                  <a:pt x="63429" y="185440"/>
                  <a:pt x="46360" y="185440"/>
                </a:cubicBezTo>
                <a:cubicBezTo>
                  <a:pt x="63429" y="185440"/>
                  <a:pt x="77267" y="199278"/>
                  <a:pt x="77267" y="216347"/>
                </a:cubicBezTo>
                <a:lnTo>
                  <a:pt x="77267" y="293614"/>
                </a:lnTo>
                <a:cubicBezTo>
                  <a:pt x="77267" y="310613"/>
                  <a:pt x="91175" y="324521"/>
                  <a:pt x="108174" y="324521"/>
                </a:cubicBezTo>
                <a:lnTo>
                  <a:pt x="123627" y="324521"/>
                </a:lnTo>
                <a:moveTo>
                  <a:pt x="247254" y="324521"/>
                </a:moveTo>
                <a:lnTo>
                  <a:pt x="262707" y="324521"/>
                </a:lnTo>
                <a:cubicBezTo>
                  <a:pt x="279776" y="324521"/>
                  <a:pt x="293614" y="310683"/>
                  <a:pt x="293614" y="293614"/>
                </a:cubicBezTo>
                <a:lnTo>
                  <a:pt x="293614" y="216347"/>
                </a:lnTo>
                <a:cubicBezTo>
                  <a:pt x="293614" y="199348"/>
                  <a:pt x="307522" y="185440"/>
                  <a:pt x="324521" y="185440"/>
                </a:cubicBezTo>
                <a:cubicBezTo>
                  <a:pt x="307451" y="185440"/>
                  <a:pt x="293614" y="171603"/>
                  <a:pt x="293614" y="154534"/>
                </a:cubicBezTo>
                <a:lnTo>
                  <a:pt x="293614" y="77267"/>
                </a:lnTo>
                <a:cubicBezTo>
                  <a:pt x="293614" y="60197"/>
                  <a:pt x="279776" y="46360"/>
                  <a:pt x="262707" y="46360"/>
                </a:cubicBezTo>
                <a:lnTo>
                  <a:pt x="247254" y="46360"/>
                </a:lnTo>
              </a:path>
            </a:pathLst>
          </a:custGeom>
          <a:noFill/>
          <a:ln w="30907" cap="rnd">
            <a:solidFill>
              <a:srgbClr val="0B2350"/>
            </a:solidFill>
            <a:prstDash val="solid"/>
            <a:round/>
          </a:ln>
        </p:spPr>
      </p:sp>
      <p:sp>
        <p:nvSpPr>
          <p:cNvPr id="23"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Logs estructurados desde el día uno</a:t>
            </a:r>
            <a:endParaRPr lang="en-US" sz="1700" dirty="0"/>
          </a:p>
        </p:txBody>
      </p:sp>
      <p:sp>
        <p:nvSpPr>
          <p:cNvPr id="24"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JSON con formato estándar, sin cambiar el código de negocio.</a:t>
            </a:r>
            <a:endParaRPr lang="en-US" sz="1300" dirty="0"/>
          </a:p>
        </p:txBody>
      </p:sp>
      <p:sp>
        <p:nvSpPr>
          <p:cNvPr id="25"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6"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7"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8"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Buscar por campo en lugar de leer texto.</a:t>
            </a:r>
            <a:endParaRPr lang="en-US" sz="1350" dirty="0"/>
          </a:p>
        </p:txBody>
      </p:sp>
      <p:sp>
        <p:nvSpPr>
          <p:cNvPr id="29"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0"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31" name="[p2] Icono waypoints"/>
          <p:cNvSpPr/>
          <p:nvPr/>
        </p:nvSpPr>
        <p:spPr>
          <a:xfrm>
            <a:off x="4258544" y="3677900"/>
            <a:ext cx="370881" cy="370881"/>
          </a:xfrm>
          <a:custGeom>
            <a:avLst/>
            <a:gdLst/>
            <a:ahLst/>
            <a:cxnLst/>
            <a:rect l="l" t="t" r="r" b="b"/>
            <a:pathLst>
              <a:path w="370881" h="370881">
                <a:moveTo>
                  <a:pt x="224074" y="69540"/>
                </a:moveTo>
                <a:cubicBezTo>
                  <a:pt x="224074" y="90877"/>
                  <a:pt x="206777" y="108174"/>
                  <a:pt x="185440" y="108174"/>
                </a:cubicBezTo>
                <a:cubicBezTo>
                  <a:pt x="164104" y="108174"/>
                  <a:pt x="146807" y="90877"/>
                  <a:pt x="146807" y="69540"/>
                </a:cubicBezTo>
                <a:cubicBezTo>
                  <a:pt x="146807" y="48203"/>
                  <a:pt x="164104" y="30907"/>
                  <a:pt x="185440" y="30907"/>
                </a:cubicBezTo>
                <a:cubicBezTo>
                  <a:pt x="206777" y="30907"/>
                  <a:pt x="224074" y="48203"/>
                  <a:pt x="224074" y="69540"/>
                </a:cubicBezTo>
                <a:close/>
                <a:moveTo>
                  <a:pt x="157624" y="97356"/>
                </a:moveTo>
                <a:lnTo>
                  <a:pt x="97356" y="157624"/>
                </a:lnTo>
                <a:moveTo>
                  <a:pt x="108174" y="185440"/>
                </a:moveTo>
                <a:cubicBezTo>
                  <a:pt x="108174" y="206777"/>
                  <a:pt x="90877" y="224074"/>
                  <a:pt x="69540" y="224074"/>
                </a:cubicBezTo>
                <a:cubicBezTo>
                  <a:pt x="48203" y="224074"/>
                  <a:pt x="30907" y="206777"/>
                  <a:pt x="30907" y="185440"/>
                </a:cubicBezTo>
                <a:cubicBezTo>
                  <a:pt x="30907" y="164104"/>
                  <a:pt x="48203" y="146807"/>
                  <a:pt x="69540" y="146807"/>
                </a:cubicBezTo>
                <a:cubicBezTo>
                  <a:pt x="90877" y="146807"/>
                  <a:pt x="108174" y="164104"/>
                  <a:pt x="108174" y="185440"/>
                </a:cubicBezTo>
                <a:close/>
                <a:moveTo>
                  <a:pt x="108174" y="185440"/>
                </a:moveTo>
                <a:lnTo>
                  <a:pt x="262707" y="185440"/>
                </a:lnTo>
                <a:moveTo>
                  <a:pt x="339974" y="185440"/>
                </a:moveTo>
                <a:cubicBezTo>
                  <a:pt x="339974" y="206777"/>
                  <a:pt x="322677" y="224074"/>
                  <a:pt x="301341" y="224074"/>
                </a:cubicBezTo>
                <a:cubicBezTo>
                  <a:pt x="280004" y="224074"/>
                  <a:pt x="262707" y="206777"/>
                  <a:pt x="262707" y="185440"/>
                </a:cubicBezTo>
                <a:cubicBezTo>
                  <a:pt x="262707" y="164104"/>
                  <a:pt x="280004" y="146807"/>
                  <a:pt x="301341" y="146807"/>
                </a:cubicBezTo>
                <a:cubicBezTo>
                  <a:pt x="322677" y="146807"/>
                  <a:pt x="339974" y="164104"/>
                  <a:pt x="339974" y="185440"/>
                </a:cubicBezTo>
                <a:close/>
                <a:moveTo>
                  <a:pt x="213256" y="273524"/>
                </a:moveTo>
                <a:lnTo>
                  <a:pt x="273524" y="213256"/>
                </a:lnTo>
                <a:moveTo>
                  <a:pt x="224074" y="301341"/>
                </a:moveTo>
                <a:cubicBezTo>
                  <a:pt x="224074" y="322677"/>
                  <a:pt x="206777" y="339974"/>
                  <a:pt x="185440" y="339974"/>
                </a:cubicBezTo>
                <a:cubicBezTo>
                  <a:pt x="164104" y="339974"/>
                  <a:pt x="146807" y="322677"/>
                  <a:pt x="146807" y="301341"/>
                </a:cubicBezTo>
                <a:cubicBezTo>
                  <a:pt x="146807" y="280004"/>
                  <a:pt x="164104" y="262707"/>
                  <a:pt x="185440" y="262707"/>
                </a:cubicBezTo>
                <a:cubicBezTo>
                  <a:pt x="206777" y="262707"/>
                  <a:pt x="224074" y="280004"/>
                  <a:pt x="224074" y="301341"/>
                </a:cubicBezTo>
                <a:close/>
              </a:path>
            </a:pathLst>
          </a:custGeom>
          <a:noFill/>
          <a:ln w="30907" cap="rnd">
            <a:solidFill>
              <a:srgbClr val="0B2350"/>
            </a:solidFill>
            <a:prstDash val="solid"/>
            <a:round/>
          </a:ln>
        </p:spPr>
      </p:sp>
      <p:sp>
        <p:nvSpPr>
          <p:cNvPr id="32"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Un identificador que cruce servicios</a:t>
            </a:r>
            <a:endParaRPr lang="en-US" sz="1700" dirty="0"/>
          </a:p>
        </p:txBody>
      </p:sp>
      <p:sp>
        <p:nvSpPr>
          <p:cNvPr id="33"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El traceId viaja en cada llamada y el eventoId en cada log.</a:t>
            </a:r>
            <a:endParaRPr lang="en-US" sz="1300" dirty="0"/>
          </a:p>
        </p:txBody>
      </p:sp>
      <p:sp>
        <p:nvSpPr>
          <p:cNvPr id="34"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35"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6"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7"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un fallo entre servicios en minutos.</a:t>
            </a:r>
            <a:endParaRPr lang="en-US" sz="1350" dirty="0"/>
          </a:p>
        </p:txBody>
      </p:sp>
      <p:sp>
        <p:nvSpPr>
          <p:cNvPr id="38"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9"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40" name="[p3] Icono activity"/>
          <p:cNvSpPr/>
          <p:nvPr/>
        </p:nvSpPr>
        <p:spPr>
          <a:xfrm>
            <a:off x="4258544" y="5400020"/>
            <a:ext cx="370881" cy="370881"/>
          </a:xfrm>
          <a:custGeom>
            <a:avLst/>
            <a:gdLst/>
            <a:ahLst/>
            <a:cxnLst/>
            <a:rect l="l" t="t" r="r" b="b"/>
            <a:pathLst>
              <a:path w="370881" h="370881">
                <a:moveTo>
                  <a:pt x="339974" y="185440"/>
                </a:moveTo>
                <a:lnTo>
                  <a:pt x="301650" y="185440"/>
                </a:lnTo>
                <a:cubicBezTo>
                  <a:pt x="287770" y="185411"/>
                  <a:pt x="275572" y="194638"/>
                  <a:pt x="271825" y="208002"/>
                </a:cubicBezTo>
                <a:lnTo>
                  <a:pt x="235509" y="337192"/>
                </a:lnTo>
                <a:cubicBezTo>
                  <a:pt x="235028" y="338841"/>
                  <a:pt x="233517" y="339974"/>
                  <a:pt x="231800" y="339974"/>
                </a:cubicBezTo>
                <a:cubicBezTo>
                  <a:pt x="230083" y="339974"/>
                  <a:pt x="228572" y="338841"/>
                  <a:pt x="228092" y="337192"/>
                </a:cubicBezTo>
                <a:lnTo>
                  <a:pt x="142789" y="33688"/>
                </a:lnTo>
                <a:cubicBezTo>
                  <a:pt x="142308" y="32040"/>
                  <a:pt x="140797" y="30907"/>
                  <a:pt x="139080" y="30907"/>
                </a:cubicBezTo>
                <a:cubicBezTo>
                  <a:pt x="137363" y="30907"/>
                  <a:pt x="135852" y="32040"/>
                  <a:pt x="135371" y="33688"/>
                </a:cubicBezTo>
                <a:lnTo>
                  <a:pt x="99056" y="162878"/>
                </a:lnTo>
                <a:cubicBezTo>
                  <a:pt x="95324" y="176188"/>
                  <a:pt x="83208" y="185401"/>
                  <a:pt x="69386" y="185440"/>
                </a:cubicBezTo>
                <a:lnTo>
                  <a:pt x="30907" y="185440"/>
                </a:lnTo>
              </a:path>
            </a:pathLst>
          </a:custGeom>
          <a:noFill/>
          <a:ln w="30907" cap="rnd">
            <a:solidFill>
              <a:srgbClr val="0B2350"/>
            </a:solidFill>
            <a:prstDash val="solid"/>
            <a:round/>
          </a:ln>
        </p:spPr>
      </p:sp>
      <p:sp>
        <p:nvSpPr>
          <p:cNvPr id="41"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Salud no es lo mismo que correcto</a:t>
            </a:r>
            <a:endParaRPr lang="en-US" sz="1700" dirty="0"/>
          </a:p>
        </p:txBody>
      </p:sp>
      <p:sp>
        <p:nvSpPr>
          <p:cNvPr id="42"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UP dice que responde; los pendientes dicen si entrega.</a:t>
            </a:r>
            <a:endParaRPr lang="en-US" sz="1300" dirty="0"/>
          </a:p>
        </p:txBody>
      </p:sp>
      <p:sp>
        <p:nvSpPr>
          <p:cNvPr id="43"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44"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45"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6"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Medir el resultado del negocio, no solo el proceso.</a:t>
            </a:r>
            <a:endParaRPr lang="en-US" sz="135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OBSERVABILIDAD</a:t>
            </a:r>
            <a:endParaRPr lang="en-US" sz="800" dirty="0"/>
          </a:p>
        </p:txBody>
      </p:sp>
      <p:sp>
        <p:nvSpPr>
          <p:cNvPr id="48"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animEffect transition="in" filter="fade">
                                      <p:cBhvr>
                                        <p:cTn id="8" dur="400"/>
                                        <p:tgtEl>
                                          <p:spTgt spid="2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400"/>
                                        <p:tgtEl>
                                          <p:spTgt spid="3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400"/>
                                        <p:tgtEl>
                                          <p:spTgt spid="3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fade">
                                      <p:cBhvr>
                                        <p:cTn id="66" dur="400"/>
                                        <p:tgtEl>
                                          <p:spTgt spid="3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fade">
                                      <p:cBhvr>
                                        <p:cTn id="69" dur="400"/>
                                        <p:tgtEl>
                                          <p:spTgt spid="4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400"/>
                                        <p:tgtEl>
                                          <p:spTgt spid="4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valor agregado</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Prácticas que un equipo de tecnología puede reutilizar, en cualquier lenguaje.</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PILAR</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CONSTRUIMOS</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VALOR PARA EL EQUIPO</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0A6648"/>
          </a:solidFill>
          <a:ln w="12700">
            <a:solidFill>
              <a:srgbClr val="0A6648"/>
            </a:solidFill>
            <a:prstDash val="solid"/>
          </a:ln>
        </p:spPr>
      </p:sp>
      <p:sp>
        <p:nvSpPr>
          <p:cNvPr id="12" name="Shape 10"/>
          <p:cNvSpPr/>
          <p:nvPr/>
        </p:nvSpPr>
        <p:spPr>
          <a:xfrm>
            <a:off x="772668" y="2376526"/>
            <a:ext cx="512064" cy="512064"/>
          </a:xfrm>
          <a:prstGeom prst="ellipse">
            <a:avLst/>
          </a:prstGeom>
          <a:solidFill>
            <a:srgbClr val="E1F1EA"/>
          </a:solidFill>
          <a:ln w="12700">
            <a:solidFill>
              <a:srgbClr val="E1F1EA"/>
            </a:solidFill>
            <a:prstDash val="solid"/>
          </a:ln>
        </p:spPr>
      </p:sp>
      <p:sp>
        <p:nvSpPr>
          <p:cNvPr id="13" name="Icono shield-check"/>
          <p:cNvSpPr/>
          <p:nvPr/>
        </p:nvSpPr>
        <p:spPr>
          <a:xfrm>
            <a:off x="895563" y="2499421"/>
            <a:ext cx="266273" cy="266273"/>
          </a:xfrm>
          <a:custGeom>
            <a:avLst/>
            <a:gdLst/>
            <a:ahLst/>
            <a:cxnLst/>
            <a:rect l="l" t="t" r="r" b="b"/>
            <a:pathLst>
              <a:path w="266273" h="266273">
                <a:moveTo>
                  <a:pt x="221894" y="144231"/>
                </a:moveTo>
                <a:cubicBezTo>
                  <a:pt x="221894" y="199705"/>
                  <a:pt x="183063" y="227442"/>
                  <a:pt x="136909" y="243529"/>
                </a:cubicBezTo>
                <a:cubicBezTo>
                  <a:pt x="134492" y="244348"/>
                  <a:pt x="131867" y="244309"/>
                  <a:pt x="129475" y="243418"/>
                </a:cubicBezTo>
                <a:cubicBezTo>
                  <a:pt x="83210" y="227442"/>
                  <a:pt x="44379" y="199705"/>
                  <a:pt x="44379" y="144231"/>
                </a:cubicBezTo>
                <a:lnTo>
                  <a:pt x="44379" y="66568"/>
                </a:lnTo>
                <a:cubicBezTo>
                  <a:pt x="44379" y="60441"/>
                  <a:pt x="49346" y="55474"/>
                  <a:pt x="55474" y="55474"/>
                </a:cubicBezTo>
                <a:cubicBezTo>
                  <a:pt x="77663" y="55474"/>
                  <a:pt x="105400" y="42160"/>
                  <a:pt x="124705" y="25296"/>
                </a:cubicBezTo>
                <a:cubicBezTo>
                  <a:pt x="129561" y="21147"/>
                  <a:pt x="136713" y="21147"/>
                  <a:pt x="141569" y="25296"/>
                </a:cubicBezTo>
                <a:cubicBezTo>
                  <a:pt x="160984" y="42271"/>
                  <a:pt x="188610" y="55474"/>
                  <a:pt x="210800" y="55474"/>
                </a:cubicBezTo>
                <a:cubicBezTo>
                  <a:pt x="216927" y="55474"/>
                  <a:pt x="221894" y="60441"/>
                  <a:pt x="221894" y="66568"/>
                </a:cubicBezTo>
                <a:close/>
                <a:moveTo>
                  <a:pt x="99852" y="133137"/>
                </a:moveTo>
                <a:lnTo>
                  <a:pt x="122042" y="155326"/>
                </a:lnTo>
                <a:lnTo>
                  <a:pt x="166421" y="110947"/>
                </a:lnTo>
              </a:path>
            </a:pathLst>
          </a:custGeom>
          <a:noFill/>
          <a:ln w="22189" cap="rnd">
            <a:solidFill>
              <a:srgbClr val="0A6648"/>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Datos consistentes</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Transacción local, Outbox e idempotencia</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0 avisos perdidos o duplicados ante caídas</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8A4B06"/>
          </a:solidFill>
          <a:ln w="12700">
            <a:solidFill>
              <a:srgbClr val="8A4B06"/>
            </a:solidFill>
            <a:prstDash val="solid"/>
          </a:ln>
        </p:spPr>
      </p:sp>
      <p:sp>
        <p:nvSpPr>
          <p:cNvPr id="21" name="[p1] Forma"/>
          <p:cNvSpPr/>
          <p:nvPr/>
        </p:nvSpPr>
        <p:spPr>
          <a:xfrm>
            <a:off x="772668" y="3215945"/>
            <a:ext cx="512064" cy="512064"/>
          </a:xfrm>
          <a:prstGeom prst="ellipse">
            <a:avLst/>
          </a:prstGeom>
          <a:solidFill>
            <a:srgbClr val="FCEFD6"/>
          </a:solidFill>
          <a:ln w="12700">
            <a:solidFill>
              <a:srgbClr val="FCEFD6"/>
            </a:solidFill>
            <a:prstDash val="solid"/>
          </a:ln>
        </p:spPr>
      </p:sp>
      <p:sp>
        <p:nvSpPr>
          <p:cNvPr id="22" name="[p1] Icono key-round"/>
          <p:cNvSpPr/>
          <p:nvPr/>
        </p:nvSpPr>
        <p:spPr>
          <a:xfrm>
            <a:off x="895563" y="3338840"/>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Conexión segura</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Cadena de conexión y claves fuera del código</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Cambiar de servidor o de clave sin recompilar</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container"/>
          <p:cNvSpPr/>
          <p:nvPr/>
        </p:nvSpPr>
        <p:spPr>
          <a:xfrm>
            <a:off x="895563" y="4178259"/>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Reproducibilidad</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Docker, Compose y Kubernetes</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1 comando y la misma imagen en todo ambiente</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0B2350"/>
          </a:solidFill>
          <a:ln w="12700">
            <a:solidFill>
              <a:srgbClr val="0B2350"/>
            </a:solidFill>
            <a:prstDash val="solid"/>
          </a:ln>
        </p:spPr>
      </p:sp>
      <p:sp>
        <p:nvSpPr>
          <p:cNvPr id="39" name="[p3] Forma"/>
          <p:cNvSpPr/>
          <p:nvPr/>
        </p:nvSpPr>
        <p:spPr>
          <a:xfrm>
            <a:off x="772668" y="4894783"/>
            <a:ext cx="512064" cy="512064"/>
          </a:xfrm>
          <a:prstGeom prst="ellipse">
            <a:avLst/>
          </a:prstGeom>
          <a:solidFill>
            <a:srgbClr val="E8EEF8"/>
          </a:solidFill>
          <a:ln w="12700">
            <a:solidFill>
              <a:srgbClr val="E8EEF8"/>
            </a:solidFill>
            <a:prstDash val="solid"/>
          </a:ln>
        </p:spPr>
      </p:sp>
      <p:sp>
        <p:nvSpPr>
          <p:cNvPr id="40" name="[p3] Icono flask-conical"/>
          <p:cNvSpPr/>
          <p:nvPr/>
        </p:nvSpPr>
        <p:spPr>
          <a:xfrm>
            <a:off x="895563" y="5017679"/>
            <a:ext cx="266273" cy="266273"/>
          </a:xfrm>
          <a:custGeom>
            <a:avLst/>
            <a:gdLst/>
            <a:ahLst/>
            <a:cxnLst/>
            <a:rect l="l" t="t" r="r" b="b"/>
            <a:pathLst>
              <a:path w="266273" h="266273">
                <a:moveTo>
                  <a:pt x="155326" y="22189"/>
                </a:moveTo>
                <a:lnTo>
                  <a:pt x="155326" y="88758"/>
                </a:lnTo>
                <a:cubicBezTo>
                  <a:pt x="155325" y="92480"/>
                  <a:pt x="156259" y="96143"/>
                  <a:pt x="158044" y="99409"/>
                </a:cubicBezTo>
                <a:lnTo>
                  <a:pt x="219176" y="211243"/>
                </a:lnTo>
                <a:cubicBezTo>
                  <a:pt x="222938" y="218119"/>
                  <a:pt x="222794" y="226469"/>
                  <a:pt x="218797" y="233211"/>
                </a:cubicBezTo>
                <a:cubicBezTo>
                  <a:pt x="214800" y="239953"/>
                  <a:pt x="207543" y="244086"/>
                  <a:pt x="199705" y="244084"/>
                </a:cubicBezTo>
                <a:lnTo>
                  <a:pt x="66568" y="244084"/>
                </a:lnTo>
                <a:cubicBezTo>
                  <a:pt x="58731" y="244086"/>
                  <a:pt x="51474" y="239953"/>
                  <a:pt x="47476" y="233211"/>
                </a:cubicBezTo>
                <a:cubicBezTo>
                  <a:pt x="43479" y="226469"/>
                  <a:pt x="43335" y="218119"/>
                  <a:pt x="47097" y="211243"/>
                </a:cubicBezTo>
                <a:lnTo>
                  <a:pt x="108229" y="99409"/>
                </a:lnTo>
                <a:cubicBezTo>
                  <a:pt x="110014" y="96143"/>
                  <a:pt x="110949" y="92480"/>
                  <a:pt x="110947" y="88758"/>
                </a:cubicBezTo>
                <a:lnTo>
                  <a:pt x="110947" y="22189"/>
                </a:lnTo>
                <a:moveTo>
                  <a:pt x="71594" y="166421"/>
                </a:moveTo>
                <a:lnTo>
                  <a:pt x="194679" y="166421"/>
                </a:lnTo>
                <a:moveTo>
                  <a:pt x="94305" y="22189"/>
                </a:moveTo>
                <a:lnTo>
                  <a:pt x="171968" y="22189"/>
                </a:lnTo>
              </a:path>
            </a:pathLst>
          </a:custGeom>
          <a:noFill/>
          <a:ln w="22189" cap="rnd">
            <a:solidFill>
              <a:srgbClr val="0B2350"/>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Calidad</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Pruebas automáticas y pipeline en cada cambio</a:t>
            </a:r>
            <a:endParaRPr lang="en-US" sz="14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Errores detectados en minutos, antes de integrar</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5B3FC4"/>
          </a:solidFill>
          <a:ln w="12700">
            <a:solidFill>
              <a:srgbClr val="5B3FC4"/>
            </a:solidFill>
            <a:prstDash val="solid"/>
          </a:ln>
        </p:spPr>
      </p:sp>
      <p:sp>
        <p:nvSpPr>
          <p:cNvPr id="48" name="[p4] Forma"/>
          <p:cNvSpPr/>
          <p:nvPr/>
        </p:nvSpPr>
        <p:spPr>
          <a:xfrm>
            <a:off x="772668" y="5734202"/>
            <a:ext cx="512064" cy="512064"/>
          </a:xfrm>
          <a:prstGeom prst="ellipse">
            <a:avLst/>
          </a:prstGeom>
          <a:solidFill>
            <a:srgbClr val="F1EEFD"/>
          </a:solidFill>
          <a:ln w="12700">
            <a:solidFill>
              <a:srgbClr val="F1EEFD"/>
            </a:solidFill>
            <a:prstDash val="solid"/>
          </a:ln>
        </p:spPr>
      </p:sp>
      <p:sp>
        <p:nvSpPr>
          <p:cNvPr id="49" name="[p4] Icono waypoints"/>
          <p:cNvSpPr/>
          <p:nvPr/>
        </p:nvSpPr>
        <p:spPr>
          <a:xfrm>
            <a:off x="895563" y="5857098"/>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Trazabilidad</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Logs centralizados, traceId e imagen por commit</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Diagnóstico en minutos y versiones rastreables</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pueden aplicar desde mañana</a:t>
            </a:r>
            <a:endParaRPr lang="en-US" sz="2800" dirty="0"/>
          </a:p>
        </p:txBody>
      </p:sp>
      <p:sp>
        <p:nvSpPr>
          <p:cNvPr id="5" name="Text 3"/>
          <p:cNvSpPr/>
          <p:nvPr/>
        </p:nvSpPr>
        <p:spPr>
          <a:xfrm>
            <a:off x="612648" y="1170432"/>
            <a:ext cx="10966399" cy="384048"/>
          </a:xfrm>
          <a:prstGeom prst="rect">
            <a:avLst/>
          </a:prstGeom>
          <a:noFill/>
          <a:ln/>
        </p:spPr>
        <p:txBody>
          <a:bodyPr wrap="square" lIns="0" tIns="0" rIns="0" bIns="0" rtlCol="0" anchor="ctr">
            <a:normAutofit/>
          </a:bodyPr>
          <a:lstStyle/>
          <a:p>
            <a:pPr indent="0" marL="0">
              <a:buNone/>
            </a:pPr>
            <a:r>
              <a:rPr lang="en-US" sz="1700" dirty="0">
                <a:solidFill>
                  <a:srgbClr val="55627E"/>
                </a:solidFill>
                <a:latin typeface="Segoe UI" pitchFamily="34" charset="0"/>
                <a:ea typeface="Segoe UI" pitchFamily="34" charset="-122"/>
                <a:cs typeface="Segoe UI" pitchFamily="34" charset="-120"/>
              </a:rPr>
              <a:t>No hace falta reescribir nada: estas prácticas funcionan también con procedimientos almacenados.</a:t>
            </a:r>
            <a:endParaRPr lang="en-US" sz="1700" dirty="0"/>
          </a:p>
        </p:txBody>
      </p:sp>
      <p:sp>
        <p:nvSpPr>
          <p:cNvPr id="6" name="Shape 4"/>
          <p:cNvSpPr/>
          <p:nvPr/>
        </p:nvSpPr>
        <p:spPr>
          <a:xfrm>
            <a:off x="612648" y="1719072"/>
            <a:ext cx="10966399" cy="420624"/>
          </a:xfrm>
          <a:prstGeom prst="roundRect">
            <a:avLst>
              <a:gd name="adj" fmla="val 21739"/>
            </a:avLst>
          </a:prstGeom>
          <a:solidFill>
            <a:srgbClr val="0B2350"/>
          </a:solidFill>
          <a:ln w="12700">
            <a:solidFill>
              <a:srgbClr val="0B2350"/>
            </a:solidFill>
            <a:prstDash val="solid"/>
          </a:ln>
        </p:spPr>
      </p:sp>
      <p:sp>
        <p:nvSpPr>
          <p:cNvPr id="7" name="Text 5"/>
          <p:cNvSpPr/>
          <p:nvPr/>
        </p:nvSpPr>
        <p:spPr>
          <a:xfrm>
            <a:off x="1499616" y="1719072"/>
            <a:ext cx="2531617"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PRÁCTICA</a:t>
            </a:r>
            <a:endParaRPr lang="en-US" sz="1150" dirty="0"/>
          </a:p>
        </p:txBody>
      </p:sp>
      <p:sp>
        <p:nvSpPr>
          <p:cNvPr id="8" name="Text 6"/>
          <p:cNvSpPr/>
          <p:nvPr/>
        </p:nvSpPr>
        <p:spPr>
          <a:xfrm>
            <a:off x="4250689" y="1719072"/>
            <a:ext cx="3754316"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CÓMO SE VE EN SUS SISTEMAS DE HOY</a:t>
            </a:r>
            <a:endParaRPr lang="en-US" sz="1150" dirty="0"/>
          </a:p>
        </p:txBody>
      </p:sp>
      <p:sp>
        <p:nvSpPr>
          <p:cNvPr id="9" name="Text 7"/>
          <p:cNvSpPr/>
          <p:nvPr/>
        </p:nvSpPr>
        <p:spPr>
          <a:xfrm>
            <a:off x="8224461" y="1719072"/>
            <a:ext cx="3244858" cy="420624"/>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Segoe UI" pitchFamily="34" charset="0"/>
                <a:ea typeface="Segoe UI" pitchFamily="34" charset="-122"/>
                <a:cs typeface="Segoe UI" pitchFamily="34" charset="-120"/>
              </a:rPr>
              <a:t>QUÉ EVITA</a:t>
            </a:r>
            <a:endParaRPr lang="en-US" sz="1150" dirty="0"/>
          </a:p>
        </p:txBody>
      </p:sp>
      <p:sp>
        <p:nvSpPr>
          <p:cNvPr id="10" name="Shape 8"/>
          <p:cNvSpPr/>
          <p:nvPr/>
        </p:nvSpPr>
        <p:spPr>
          <a:xfrm>
            <a:off x="612648" y="2267712"/>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1" name="Shape 9"/>
          <p:cNvSpPr/>
          <p:nvPr/>
        </p:nvSpPr>
        <p:spPr>
          <a:xfrm>
            <a:off x="612648" y="2359152"/>
            <a:ext cx="64008" cy="546811"/>
          </a:xfrm>
          <a:prstGeom prst="rect">
            <a:avLst/>
          </a:prstGeom>
          <a:solidFill>
            <a:srgbClr val="8A4B06"/>
          </a:solidFill>
          <a:ln w="12700">
            <a:solidFill>
              <a:srgbClr val="8A4B06"/>
            </a:solidFill>
            <a:prstDash val="solid"/>
          </a:ln>
        </p:spPr>
      </p:sp>
      <p:sp>
        <p:nvSpPr>
          <p:cNvPr id="12" name="Shape 10"/>
          <p:cNvSpPr/>
          <p:nvPr/>
        </p:nvSpPr>
        <p:spPr>
          <a:xfrm>
            <a:off x="772668" y="2376526"/>
            <a:ext cx="512064" cy="512064"/>
          </a:xfrm>
          <a:prstGeom prst="ellipse">
            <a:avLst/>
          </a:prstGeom>
          <a:solidFill>
            <a:srgbClr val="FCEFD6"/>
          </a:solidFill>
          <a:ln w="12700">
            <a:solidFill>
              <a:srgbClr val="FCEFD6"/>
            </a:solidFill>
            <a:prstDash val="solid"/>
          </a:ln>
        </p:spPr>
      </p:sp>
      <p:sp>
        <p:nvSpPr>
          <p:cNvPr id="13" name="Icono key-round"/>
          <p:cNvSpPr/>
          <p:nvPr/>
        </p:nvSpPr>
        <p:spPr>
          <a:xfrm>
            <a:off x="895563" y="2499421"/>
            <a:ext cx="266273" cy="266273"/>
          </a:xfrm>
          <a:custGeom>
            <a:avLst/>
            <a:gdLst/>
            <a:ahLst/>
            <a:cxnLst/>
            <a:rect l="l" t="t" r="r" b="b"/>
            <a:pathLst>
              <a:path w="266273" h="266273">
                <a:moveTo>
                  <a:pt x="28691" y="193203"/>
                </a:moveTo>
                <a:cubicBezTo>
                  <a:pt x="24529" y="197364"/>
                  <a:pt x="22191" y="203007"/>
                  <a:pt x="22189" y="208891"/>
                </a:cubicBezTo>
                <a:lnTo>
                  <a:pt x="22189" y="232989"/>
                </a:lnTo>
                <a:cubicBezTo>
                  <a:pt x="22189" y="239117"/>
                  <a:pt x="27157" y="244084"/>
                  <a:pt x="33284" y="244084"/>
                </a:cubicBezTo>
                <a:lnTo>
                  <a:pt x="66568" y="244084"/>
                </a:lnTo>
                <a:cubicBezTo>
                  <a:pt x="72696" y="244084"/>
                  <a:pt x="77663" y="239117"/>
                  <a:pt x="77663" y="232989"/>
                </a:cubicBezTo>
                <a:lnTo>
                  <a:pt x="77663" y="221894"/>
                </a:lnTo>
                <a:cubicBezTo>
                  <a:pt x="77663" y="215767"/>
                  <a:pt x="82630" y="210800"/>
                  <a:pt x="88758" y="210800"/>
                </a:cubicBezTo>
                <a:lnTo>
                  <a:pt x="99852" y="210800"/>
                </a:lnTo>
                <a:cubicBezTo>
                  <a:pt x="105980" y="210800"/>
                  <a:pt x="110947" y="205832"/>
                  <a:pt x="110947" y="199705"/>
                </a:cubicBezTo>
                <a:lnTo>
                  <a:pt x="110947" y="188610"/>
                </a:lnTo>
                <a:cubicBezTo>
                  <a:pt x="110947" y="182483"/>
                  <a:pt x="115914" y="177516"/>
                  <a:pt x="122042" y="177516"/>
                </a:cubicBezTo>
                <a:lnTo>
                  <a:pt x="123950" y="177516"/>
                </a:lnTo>
                <a:cubicBezTo>
                  <a:pt x="129835" y="177514"/>
                  <a:pt x="135478" y="175176"/>
                  <a:pt x="139638" y="171014"/>
                </a:cubicBezTo>
                <a:lnTo>
                  <a:pt x="148669" y="161983"/>
                </a:lnTo>
                <a:cubicBezTo>
                  <a:pt x="180425" y="173045"/>
                  <a:pt x="215611" y="160691"/>
                  <a:pt x="233481" y="132206"/>
                </a:cubicBezTo>
                <a:cubicBezTo>
                  <a:pt x="251352" y="103721"/>
                  <a:pt x="247164" y="66665"/>
                  <a:pt x="223386" y="42887"/>
                </a:cubicBezTo>
                <a:cubicBezTo>
                  <a:pt x="199608" y="19110"/>
                  <a:pt x="162552" y="14921"/>
                  <a:pt x="134067" y="32792"/>
                </a:cubicBezTo>
                <a:cubicBezTo>
                  <a:pt x="105582" y="50663"/>
                  <a:pt x="93228" y="85849"/>
                  <a:pt x="104290" y="117604"/>
                </a:cubicBezTo>
                <a:close/>
                <a:moveTo>
                  <a:pt x="188610" y="83210"/>
                </a:moveTo>
                <a:cubicBezTo>
                  <a:pt x="188610" y="86274"/>
                  <a:pt x="186127" y="88758"/>
                  <a:pt x="183063" y="88758"/>
                </a:cubicBezTo>
                <a:cubicBezTo>
                  <a:pt x="179999" y="88758"/>
                  <a:pt x="177516" y="86274"/>
                  <a:pt x="177516" y="83210"/>
                </a:cubicBezTo>
                <a:cubicBezTo>
                  <a:pt x="177516" y="80147"/>
                  <a:pt x="179999" y="77663"/>
                  <a:pt x="183063" y="77663"/>
                </a:cubicBezTo>
                <a:cubicBezTo>
                  <a:pt x="186127" y="77663"/>
                  <a:pt x="188610" y="80147"/>
                  <a:pt x="188610" y="83210"/>
                </a:cubicBezTo>
                <a:close/>
              </a:path>
            </a:pathLst>
          </a:custGeom>
          <a:noFill/>
          <a:ln w="22189" cap="rnd">
            <a:solidFill>
              <a:srgbClr val="8A4B06"/>
            </a:solidFill>
            <a:prstDash val="solid"/>
            <a:round/>
          </a:ln>
        </p:spPr>
      </p:sp>
      <p:sp>
        <p:nvSpPr>
          <p:cNvPr id="14" name="Text 12"/>
          <p:cNvSpPr/>
          <p:nvPr/>
        </p:nvSpPr>
        <p:spPr>
          <a:xfrm>
            <a:off x="1517904" y="2322576"/>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8A4B06"/>
                </a:solidFill>
                <a:latin typeface="Segoe UI Semibold" pitchFamily="34" charset="0"/>
                <a:ea typeface="Segoe UI Semibold" pitchFamily="34" charset="-122"/>
                <a:cs typeface="Segoe UI Semibold" pitchFamily="34" charset="-120"/>
              </a:rPr>
              <a:t>Cadena de conexión fuera del código</a:t>
            </a:r>
            <a:endParaRPr lang="en-US" sz="1500" dirty="0"/>
          </a:p>
        </p:txBody>
      </p:sp>
      <p:sp>
        <p:nvSpPr>
          <p:cNvPr id="15" name="Shape 13"/>
          <p:cNvSpPr/>
          <p:nvPr/>
        </p:nvSpPr>
        <p:spPr>
          <a:xfrm>
            <a:off x="4140961" y="2395728"/>
            <a:ext cx="0" cy="473659"/>
          </a:xfrm>
          <a:prstGeom prst="line">
            <a:avLst/>
          </a:prstGeom>
          <a:noFill/>
          <a:ln w="9525">
            <a:solidFill>
              <a:srgbClr val="DFE6F0"/>
            </a:solidFill>
            <a:prstDash val="solid"/>
          </a:ln>
        </p:spPr>
      </p:sp>
      <p:sp>
        <p:nvSpPr>
          <p:cNvPr id="16" name="Text 14"/>
          <p:cNvSpPr/>
          <p:nvPr/>
        </p:nvSpPr>
        <p:spPr>
          <a:xfrm>
            <a:off x="4268977" y="2322576"/>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Variables de entorno o un gestor de secretos en el servidor</a:t>
            </a:r>
            <a:endParaRPr lang="en-US" sz="1400" dirty="0"/>
          </a:p>
        </p:txBody>
      </p:sp>
      <p:sp>
        <p:nvSpPr>
          <p:cNvPr id="17" name="Shape 15"/>
          <p:cNvSpPr/>
          <p:nvPr/>
        </p:nvSpPr>
        <p:spPr>
          <a:xfrm>
            <a:off x="8114733" y="2395728"/>
            <a:ext cx="0" cy="473659"/>
          </a:xfrm>
          <a:prstGeom prst="line">
            <a:avLst/>
          </a:prstGeom>
          <a:noFill/>
          <a:ln w="9525">
            <a:solidFill>
              <a:srgbClr val="DFE6F0"/>
            </a:solidFill>
            <a:prstDash val="solid"/>
          </a:ln>
        </p:spPr>
      </p:sp>
      <p:sp>
        <p:nvSpPr>
          <p:cNvPr id="18" name="Text 16"/>
          <p:cNvSpPr/>
          <p:nvPr/>
        </p:nvSpPr>
        <p:spPr>
          <a:xfrm>
            <a:off x="8242749" y="2322576"/>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Claves en el repositorio y recompilar por cambiar de servidor</a:t>
            </a:r>
            <a:endParaRPr lang="en-US" sz="1400" dirty="0"/>
          </a:p>
        </p:txBody>
      </p:sp>
      <p:sp>
        <p:nvSpPr>
          <p:cNvPr id="19" name="[p1] Forma"/>
          <p:cNvSpPr/>
          <p:nvPr/>
        </p:nvSpPr>
        <p:spPr>
          <a:xfrm>
            <a:off x="612648" y="3107131"/>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0" name="[p1] Forma"/>
          <p:cNvSpPr/>
          <p:nvPr/>
        </p:nvSpPr>
        <p:spPr>
          <a:xfrm>
            <a:off x="612648" y="3198571"/>
            <a:ext cx="64008" cy="546811"/>
          </a:xfrm>
          <a:prstGeom prst="rect">
            <a:avLst/>
          </a:prstGeom>
          <a:solidFill>
            <a:srgbClr val="0B2350"/>
          </a:solidFill>
          <a:ln w="12700">
            <a:solidFill>
              <a:srgbClr val="0B2350"/>
            </a:solidFill>
            <a:prstDash val="solid"/>
          </a:ln>
        </p:spPr>
      </p:sp>
      <p:sp>
        <p:nvSpPr>
          <p:cNvPr id="21" name="[p1] Forma"/>
          <p:cNvSpPr/>
          <p:nvPr/>
        </p:nvSpPr>
        <p:spPr>
          <a:xfrm>
            <a:off x="772668" y="3215945"/>
            <a:ext cx="512064" cy="512064"/>
          </a:xfrm>
          <a:prstGeom prst="ellipse">
            <a:avLst/>
          </a:prstGeom>
          <a:solidFill>
            <a:srgbClr val="E8EEF8"/>
          </a:solidFill>
          <a:ln w="12700">
            <a:solidFill>
              <a:srgbClr val="E8EEF8"/>
            </a:solidFill>
            <a:prstDash val="solid"/>
          </a:ln>
        </p:spPr>
      </p:sp>
      <p:sp>
        <p:nvSpPr>
          <p:cNvPr id="22" name="[p1] Icono inbox"/>
          <p:cNvSpPr/>
          <p:nvPr/>
        </p:nvSpPr>
        <p:spPr>
          <a:xfrm>
            <a:off x="895563" y="3338840"/>
            <a:ext cx="266273" cy="266273"/>
          </a:xfrm>
          <a:custGeom>
            <a:avLst/>
            <a:gdLst/>
            <a:ahLst/>
            <a:cxnLst/>
            <a:rect l="l" t="t" r="r" b="b"/>
            <a:pathLst>
              <a:path w="266273" h="266273">
                <a:moveTo>
                  <a:pt x="244084" y="133137"/>
                </a:moveTo>
                <a:lnTo>
                  <a:pt x="177516" y="133137"/>
                </a:lnTo>
                <a:lnTo>
                  <a:pt x="155326" y="166421"/>
                </a:lnTo>
                <a:lnTo>
                  <a:pt x="110947" y="166421"/>
                </a:lnTo>
                <a:lnTo>
                  <a:pt x="88758" y="133137"/>
                </a:lnTo>
                <a:lnTo>
                  <a:pt x="22189" y="133137"/>
                </a:lnTo>
                <a:moveTo>
                  <a:pt x="60466" y="56694"/>
                </a:moveTo>
                <a:lnTo>
                  <a:pt x="22189" y="133137"/>
                </a:lnTo>
                <a:lnTo>
                  <a:pt x="22189" y="199705"/>
                </a:lnTo>
                <a:cubicBezTo>
                  <a:pt x="22189" y="211960"/>
                  <a:pt x="32124" y="221894"/>
                  <a:pt x="44379" y="221894"/>
                </a:cubicBezTo>
                <a:lnTo>
                  <a:pt x="221894" y="221894"/>
                </a:lnTo>
                <a:cubicBezTo>
                  <a:pt x="234149" y="221894"/>
                  <a:pt x="244084" y="211960"/>
                  <a:pt x="244084" y="199705"/>
                </a:cubicBezTo>
                <a:lnTo>
                  <a:pt x="244084" y="133137"/>
                </a:lnTo>
                <a:lnTo>
                  <a:pt x="205807" y="56694"/>
                </a:lnTo>
                <a:cubicBezTo>
                  <a:pt x="202060" y="49153"/>
                  <a:pt x="194368" y="44383"/>
                  <a:pt x="185948" y="44379"/>
                </a:cubicBezTo>
                <a:lnTo>
                  <a:pt x="80326" y="44379"/>
                </a:lnTo>
                <a:cubicBezTo>
                  <a:pt x="71906" y="44383"/>
                  <a:pt x="64213" y="49153"/>
                  <a:pt x="60466" y="56694"/>
                </a:cubicBezTo>
                <a:close/>
              </a:path>
            </a:pathLst>
          </a:custGeom>
          <a:noFill/>
          <a:ln w="22189" cap="rnd">
            <a:solidFill>
              <a:srgbClr val="0B2350"/>
            </a:solidFill>
            <a:prstDash val="solid"/>
            <a:round/>
          </a:ln>
        </p:spPr>
      </p:sp>
      <p:sp>
        <p:nvSpPr>
          <p:cNvPr id="23" name="[p1] Forma"/>
          <p:cNvSpPr/>
          <p:nvPr/>
        </p:nvSpPr>
        <p:spPr>
          <a:xfrm>
            <a:off x="1517904" y="3161995"/>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2350"/>
                </a:solidFill>
                <a:latin typeface="Segoe UI Semibold" pitchFamily="34" charset="0"/>
                <a:ea typeface="Segoe UI Semibold" pitchFamily="34" charset="-122"/>
                <a:cs typeface="Segoe UI Semibold" pitchFamily="34" charset="-120"/>
              </a:rPr>
              <a:t>Guardar y avisar en la misma transacción</a:t>
            </a:r>
            <a:endParaRPr lang="en-US" sz="1500" dirty="0"/>
          </a:p>
        </p:txBody>
      </p:sp>
      <p:sp>
        <p:nvSpPr>
          <p:cNvPr id="24" name="[p1] Forma"/>
          <p:cNvSpPr/>
          <p:nvPr/>
        </p:nvSpPr>
        <p:spPr>
          <a:xfrm>
            <a:off x="4140961" y="3235147"/>
            <a:ext cx="0" cy="473659"/>
          </a:xfrm>
          <a:prstGeom prst="line">
            <a:avLst/>
          </a:prstGeom>
          <a:noFill/>
          <a:ln w="9525">
            <a:solidFill>
              <a:srgbClr val="DFE6F0"/>
            </a:solidFill>
            <a:prstDash val="solid"/>
          </a:ln>
        </p:spPr>
      </p:sp>
      <p:sp>
        <p:nvSpPr>
          <p:cNvPr id="25" name="[p1] Forma"/>
          <p:cNvSpPr/>
          <p:nvPr/>
        </p:nvSpPr>
        <p:spPr>
          <a:xfrm>
            <a:off x="4268977" y="3161995"/>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pendientes que llena el procedimiento y un job que la entrega</a:t>
            </a:r>
            <a:endParaRPr lang="en-US" sz="1400" dirty="0"/>
          </a:p>
        </p:txBody>
      </p:sp>
      <p:sp>
        <p:nvSpPr>
          <p:cNvPr id="26" name="[p1] Forma"/>
          <p:cNvSpPr/>
          <p:nvPr/>
        </p:nvSpPr>
        <p:spPr>
          <a:xfrm>
            <a:off x="8114733" y="3235147"/>
            <a:ext cx="0" cy="473659"/>
          </a:xfrm>
          <a:prstGeom prst="line">
            <a:avLst/>
          </a:prstGeom>
          <a:noFill/>
          <a:ln w="9525">
            <a:solidFill>
              <a:srgbClr val="DFE6F0"/>
            </a:solidFill>
            <a:prstDash val="solid"/>
          </a:ln>
        </p:spPr>
      </p:sp>
      <p:sp>
        <p:nvSpPr>
          <p:cNvPr id="27" name="[p1] Forma"/>
          <p:cNvSpPr/>
          <p:nvPr/>
        </p:nvSpPr>
        <p:spPr>
          <a:xfrm>
            <a:off x="8242749" y="3161995"/>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Avisos perdidos cuando el otro sistema está caído</a:t>
            </a:r>
            <a:endParaRPr lang="en-US" sz="1400" dirty="0"/>
          </a:p>
        </p:txBody>
      </p:sp>
      <p:sp>
        <p:nvSpPr>
          <p:cNvPr id="28" name="[p2] Forma"/>
          <p:cNvSpPr/>
          <p:nvPr/>
        </p:nvSpPr>
        <p:spPr>
          <a:xfrm>
            <a:off x="612648" y="394655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9" name="[p2] Forma"/>
          <p:cNvSpPr/>
          <p:nvPr/>
        </p:nvSpPr>
        <p:spPr>
          <a:xfrm>
            <a:off x="612648" y="4037990"/>
            <a:ext cx="64008" cy="546811"/>
          </a:xfrm>
          <a:prstGeom prst="rect">
            <a:avLst/>
          </a:prstGeom>
          <a:solidFill>
            <a:srgbClr val="0B6E8A"/>
          </a:solidFill>
          <a:ln w="12700">
            <a:solidFill>
              <a:srgbClr val="0B6E8A"/>
            </a:solidFill>
            <a:prstDash val="solid"/>
          </a:ln>
        </p:spPr>
      </p:sp>
      <p:sp>
        <p:nvSpPr>
          <p:cNvPr id="30" name="[p2] Forma"/>
          <p:cNvSpPr/>
          <p:nvPr/>
        </p:nvSpPr>
        <p:spPr>
          <a:xfrm>
            <a:off x="772668" y="4055364"/>
            <a:ext cx="512064" cy="512064"/>
          </a:xfrm>
          <a:prstGeom prst="ellipse">
            <a:avLst/>
          </a:prstGeom>
          <a:solidFill>
            <a:srgbClr val="E3F4FA"/>
          </a:solidFill>
          <a:ln w="12700">
            <a:solidFill>
              <a:srgbClr val="E3F4FA"/>
            </a:solidFill>
            <a:prstDash val="solid"/>
          </a:ln>
        </p:spPr>
      </p:sp>
      <p:sp>
        <p:nvSpPr>
          <p:cNvPr id="31" name="[p2] Icono fingerprint"/>
          <p:cNvSpPr/>
          <p:nvPr/>
        </p:nvSpPr>
        <p:spPr>
          <a:xfrm>
            <a:off x="895563" y="4178259"/>
            <a:ext cx="266273" cy="266273"/>
          </a:xfrm>
          <a:custGeom>
            <a:avLst/>
            <a:gdLst/>
            <a:ahLst/>
            <a:cxnLst/>
            <a:rect l="l" t="t" r="r" b="b"/>
            <a:pathLst>
              <a:path w="266273" h="266273">
                <a:moveTo>
                  <a:pt x="133137" y="110947"/>
                </a:moveTo>
                <a:cubicBezTo>
                  <a:pt x="120882" y="110947"/>
                  <a:pt x="110947" y="120882"/>
                  <a:pt x="110947" y="133137"/>
                </a:cubicBezTo>
                <a:cubicBezTo>
                  <a:pt x="110947" y="144453"/>
                  <a:pt x="109838" y="160984"/>
                  <a:pt x="108063" y="177516"/>
                </a:cubicBezTo>
                <a:moveTo>
                  <a:pt x="155326" y="145563"/>
                </a:moveTo>
                <a:cubicBezTo>
                  <a:pt x="155326" y="171968"/>
                  <a:pt x="155326" y="216347"/>
                  <a:pt x="144231" y="244084"/>
                </a:cubicBezTo>
                <a:moveTo>
                  <a:pt x="191828" y="233211"/>
                </a:moveTo>
                <a:cubicBezTo>
                  <a:pt x="193159" y="226554"/>
                  <a:pt x="196598" y="207693"/>
                  <a:pt x="197375" y="199705"/>
                </a:cubicBezTo>
                <a:moveTo>
                  <a:pt x="22189" y="133137"/>
                </a:moveTo>
                <a:cubicBezTo>
                  <a:pt x="22189" y="85382"/>
                  <a:pt x="52748" y="42984"/>
                  <a:pt x="98052" y="27883"/>
                </a:cubicBezTo>
                <a:cubicBezTo>
                  <a:pt x="143356" y="12781"/>
                  <a:pt x="193241" y="28364"/>
                  <a:pt x="221894" y="66568"/>
                </a:cubicBezTo>
                <a:moveTo>
                  <a:pt x="22189" y="177516"/>
                </a:moveTo>
                <a:lnTo>
                  <a:pt x="22300" y="177516"/>
                </a:lnTo>
                <a:moveTo>
                  <a:pt x="241865" y="177516"/>
                </a:moveTo>
                <a:cubicBezTo>
                  <a:pt x="244084" y="155326"/>
                  <a:pt x="243318" y="118114"/>
                  <a:pt x="241865" y="110947"/>
                </a:cubicBezTo>
                <a:moveTo>
                  <a:pt x="55474" y="216347"/>
                </a:moveTo>
                <a:cubicBezTo>
                  <a:pt x="61021" y="199705"/>
                  <a:pt x="66568" y="166421"/>
                  <a:pt x="66568" y="133137"/>
                </a:cubicBezTo>
                <a:cubicBezTo>
                  <a:pt x="66557" y="125580"/>
                  <a:pt x="67833" y="118076"/>
                  <a:pt x="70341" y="110947"/>
                </a:cubicBezTo>
                <a:moveTo>
                  <a:pt x="95969" y="244084"/>
                </a:moveTo>
                <a:cubicBezTo>
                  <a:pt x="98299" y="236761"/>
                  <a:pt x="100962" y="229439"/>
                  <a:pt x="102293" y="221894"/>
                </a:cubicBezTo>
                <a:moveTo>
                  <a:pt x="99852" y="75444"/>
                </a:moveTo>
                <a:cubicBezTo>
                  <a:pt x="120455" y="63549"/>
                  <a:pt x="145840" y="63553"/>
                  <a:pt x="166439" y="75455"/>
                </a:cubicBezTo>
                <a:cubicBezTo>
                  <a:pt x="187038" y="87356"/>
                  <a:pt x="199720" y="109346"/>
                  <a:pt x="199705" y="133137"/>
                </a:cubicBezTo>
                <a:lnTo>
                  <a:pt x="199705" y="155326"/>
                </a:lnTo>
              </a:path>
            </a:pathLst>
          </a:custGeom>
          <a:noFill/>
          <a:ln w="22189" cap="rnd">
            <a:solidFill>
              <a:srgbClr val="0B6E8A"/>
            </a:solidFill>
            <a:prstDash val="solid"/>
            <a:round/>
          </a:ln>
        </p:spPr>
      </p:sp>
      <p:sp>
        <p:nvSpPr>
          <p:cNvPr id="32" name="[p2] Forma"/>
          <p:cNvSpPr/>
          <p:nvPr/>
        </p:nvSpPr>
        <p:spPr>
          <a:xfrm>
            <a:off x="1517904" y="400141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B6E8A"/>
                </a:solidFill>
                <a:latin typeface="Segoe UI Semibold" pitchFamily="34" charset="0"/>
                <a:ea typeface="Segoe UI Semibold" pitchFamily="34" charset="-122"/>
                <a:cs typeface="Segoe UI Semibold" pitchFamily="34" charset="-120"/>
              </a:rPr>
              <a:t>Idempotencia en lo que se reintenta</a:t>
            </a:r>
            <a:endParaRPr lang="en-US" sz="1500" dirty="0"/>
          </a:p>
        </p:txBody>
      </p:sp>
      <p:sp>
        <p:nvSpPr>
          <p:cNvPr id="33" name="[p2] Forma"/>
          <p:cNvSpPr/>
          <p:nvPr/>
        </p:nvSpPr>
        <p:spPr>
          <a:xfrm>
            <a:off x="4140961" y="4074566"/>
            <a:ext cx="0" cy="473659"/>
          </a:xfrm>
          <a:prstGeom prst="line">
            <a:avLst/>
          </a:prstGeom>
          <a:noFill/>
          <a:ln w="9525">
            <a:solidFill>
              <a:srgbClr val="DFE6F0"/>
            </a:solidFill>
            <a:prstDash val="solid"/>
          </a:ln>
        </p:spPr>
      </p:sp>
      <p:sp>
        <p:nvSpPr>
          <p:cNvPr id="34" name="[p2] Forma"/>
          <p:cNvSpPr/>
          <p:nvPr/>
        </p:nvSpPr>
        <p:spPr>
          <a:xfrm>
            <a:off x="4268977" y="4001414"/>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Una tabla de procesados con llave única por número de operación</a:t>
            </a:r>
            <a:endParaRPr lang="en-US" sz="1400" dirty="0"/>
          </a:p>
        </p:txBody>
      </p:sp>
      <p:sp>
        <p:nvSpPr>
          <p:cNvPr id="35" name="[p2] Forma"/>
          <p:cNvSpPr/>
          <p:nvPr/>
        </p:nvSpPr>
        <p:spPr>
          <a:xfrm>
            <a:off x="8114733" y="4074566"/>
            <a:ext cx="0" cy="473659"/>
          </a:xfrm>
          <a:prstGeom prst="line">
            <a:avLst/>
          </a:prstGeom>
          <a:noFill/>
          <a:ln w="9525">
            <a:solidFill>
              <a:srgbClr val="DFE6F0"/>
            </a:solidFill>
            <a:prstDash val="solid"/>
          </a:ln>
        </p:spPr>
      </p:sp>
      <p:sp>
        <p:nvSpPr>
          <p:cNvPr id="36" name="[p2] Forma"/>
          <p:cNvSpPr/>
          <p:nvPr/>
        </p:nvSpPr>
        <p:spPr>
          <a:xfrm>
            <a:off x="8242749" y="400141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Pagos, correos o registros duplicados</a:t>
            </a:r>
            <a:endParaRPr lang="en-US" sz="1400" dirty="0"/>
          </a:p>
        </p:txBody>
      </p:sp>
      <p:sp>
        <p:nvSpPr>
          <p:cNvPr id="37" name="[p3] Forma"/>
          <p:cNvSpPr/>
          <p:nvPr/>
        </p:nvSpPr>
        <p:spPr>
          <a:xfrm>
            <a:off x="612648" y="4785970"/>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8" name="[p3] Forma"/>
          <p:cNvSpPr/>
          <p:nvPr/>
        </p:nvSpPr>
        <p:spPr>
          <a:xfrm>
            <a:off x="612648" y="4877410"/>
            <a:ext cx="64008" cy="546811"/>
          </a:xfrm>
          <a:prstGeom prst="rect">
            <a:avLst/>
          </a:prstGeom>
          <a:solidFill>
            <a:srgbClr val="5B3FC4"/>
          </a:solidFill>
          <a:ln w="12700">
            <a:solidFill>
              <a:srgbClr val="5B3FC4"/>
            </a:solidFill>
            <a:prstDash val="solid"/>
          </a:ln>
        </p:spPr>
      </p:sp>
      <p:sp>
        <p:nvSpPr>
          <p:cNvPr id="39" name="[p3] Forma"/>
          <p:cNvSpPr/>
          <p:nvPr/>
        </p:nvSpPr>
        <p:spPr>
          <a:xfrm>
            <a:off x="772668" y="4894783"/>
            <a:ext cx="512064" cy="512064"/>
          </a:xfrm>
          <a:prstGeom prst="ellipse">
            <a:avLst/>
          </a:prstGeom>
          <a:solidFill>
            <a:srgbClr val="F1EEFD"/>
          </a:solidFill>
          <a:ln w="12700">
            <a:solidFill>
              <a:srgbClr val="F1EEFD"/>
            </a:solidFill>
            <a:prstDash val="solid"/>
          </a:ln>
        </p:spPr>
      </p:sp>
      <p:sp>
        <p:nvSpPr>
          <p:cNvPr id="40" name="[p3] Icono waypoints"/>
          <p:cNvSpPr/>
          <p:nvPr/>
        </p:nvSpPr>
        <p:spPr>
          <a:xfrm>
            <a:off x="895563" y="5017679"/>
            <a:ext cx="266273" cy="266273"/>
          </a:xfrm>
          <a:custGeom>
            <a:avLst/>
            <a:gdLst/>
            <a:ahLst/>
            <a:cxnLst/>
            <a:rect l="l" t="t" r="r" b="b"/>
            <a:pathLst>
              <a:path w="266273" h="266273">
                <a:moveTo>
                  <a:pt x="160873" y="49926"/>
                </a:moveTo>
                <a:cubicBezTo>
                  <a:pt x="160873" y="65245"/>
                  <a:pt x="148455" y="77663"/>
                  <a:pt x="133137" y="77663"/>
                </a:cubicBezTo>
                <a:cubicBezTo>
                  <a:pt x="117818" y="77663"/>
                  <a:pt x="105400" y="65245"/>
                  <a:pt x="105400" y="49926"/>
                </a:cubicBezTo>
                <a:cubicBezTo>
                  <a:pt x="105400" y="34608"/>
                  <a:pt x="117818" y="22189"/>
                  <a:pt x="133137" y="22189"/>
                </a:cubicBezTo>
                <a:cubicBezTo>
                  <a:pt x="148455" y="22189"/>
                  <a:pt x="160873" y="34608"/>
                  <a:pt x="160873" y="49926"/>
                </a:cubicBezTo>
                <a:close/>
                <a:moveTo>
                  <a:pt x="113166" y="69897"/>
                </a:moveTo>
                <a:lnTo>
                  <a:pt x="69897" y="113166"/>
                </a:lnTo>
                <a:moveTo>
                  <a:pt x="77663" y="133137"/>
                </a:moveTo>
                <a:cubicBezTo>
                  <a:pt x="77663" y="148455"/>
                  <a:pt x="65245" y="160873"/>
                  <a:pt x="49926" y="160873"/>
                </a:cubicBezTo>
                <a:cubicBezTo>
                  <a:pt x="34608" y="160873"/>
                  <a:pt x="22189" y="148455"/>
                  <a:pt x="22189" y="133137"/>
                </a:cubicBezTo>
                <a:cubicBezTo>
                  <a:pt x="22189" y="117818"/>
                  <a:pt x="34608" y="105400"/>
                  <a:pt x="49926" y="105400"/>
                </a:cubicBezTo>
                <a:cubicBezTo>
                  <a:pt x="65245" y="105400"/>
                  <a:pt x="77663" y="117818"/>
                  <a:pt x="77663" y="133137"/>
                </a:cubicBezTo>
                <a:close/>
                <a:moveTo>
                  <a:pt x="77663" y="133137"/>
                </a:moveTo>
                <a:lnTo>
                  <a:pt x="188610" y="133137"/>
                </a:lnTo>
                <a:moveTo>
                  <a:pt x="244084" y="133137"/>
                </a:moveTo>
                <a:cubicBezTo>
                  <a:pt x="244084" y="148455"/>
                  <a:pt x="231666" y="160873"/>
                  <a:pt x="216347" y="160873"/>
                </a:cubicBezTo>
                <a:cubicBezTo>
                  <a:pt x="201028" y="160873"/>
                  <a:pt x="188610" y="148455"/>
                  <a:pt x="188610" y="133137"/>
                </a:cubicBezTo>
                <a:cubicBezTo>
                  <a:pt x="188610" y="117818"/>
                  <a:pt x="201028" y="105400"/>
                  <a:pt x="216347" y="105400"/>
                </a:cubicBezTo>
                <a:cubicBezTo>
                  <a:pt x="231666" y="105400"/>
                  <a:pt x="244084" y="117818"/>
                  <a:pt x="244084" y="133137"/>
                </a:cubicBezTo>
                <a:close/>
                <a:moveTo>
                  <a:pt x="153107" y="196377"/>
                </a:moveTo>
                <a:lnTo>
                  <a:pt x="196377" y="153107"/>
                </a:lnTo>
                <a:moveTo>
                  <a:pt x="160873" y="216347"/>
                </a:moveTo>
                <a:cubicBezTo>
                  <a:pt x="160873" y="231666"/>
                  <a:pt x="148455" y="244084"/>
                  <a:pt x="133137" y="244084"/>
                </a:cubicBezTo>
                <a:cubicBezTo>
                  <a:pt x="117818" y="244084"/>
                  <a:pt x="105400" y="231666"/>
                  <a:pt x="105400" y="216347"/>
                </a:cubicBezTo>
                <a:cubicBezTo>
                  <a:pt x="105400" y="201028"/>
                  <a:pt x="117818" y="188610"/>
                  <a:pt x="133137" y="188610"/>
                </a:cubicBezTo>
                <a:cubicBezTo>
                  <a:pt x="148455" y="188610"/>
                  <a:pt x="160873" y="201028"/>
                  <a:pt x="160873" y="216347"/>
                </a:cubicBezTo>
                <a:close/>
              </a:path>
            </a:pathLst>
          </a:custGeom>
          <a:noFill/>
          <a:ln w="22189" cap="rnd">
            <a:solidFill>
              <a:srgbClr val="5B3FC4"/>
            </a:solidFill>
            <a:prstDash val="solid"/>
            <a:round/>
          </a:ln>
        </p:spPr>
      </p:sp>
      <p:sp>
        <p:nvSpPr>
          <p:cNvPr id="41" name="[p3] Forma"/>
          <p:cNvSpPr/>
          <p:nvPr/>
        </p:nvSpPr>
        <p:spPr>
          <a:xfrm>
            <a:off x="1517904" y="4840834"/>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5B3FC4"/>
                </a:solidFill>
                <a:latin typeface="Segoe UI Semibold" pitchFamily="34" charset="0"/>
                <a:ea typeface="Segoe UI Semibold" pitchFamily="34" charset="-122"/>
                <a:cs typeface="Segoe UI Semibold" pitchFamily="34" charset="-120"/>
              </a:rPr>
              <a:t>Un identificador que cruce sistemas</a:t>
            </a:r>
            <a:endParaRPr lang="en-US" sz="1500" dirty="0"/>
          </a:p>
        </p:txBody>
      </p:sp>
      <p:sp>
        <p:nvSpPr>
          <p:cNvPr id="42" name="[p3] Forma"/>
          <p:cNvSpPr/>
          <p:nvPr/>
        </p:nvSpPr>
        <p:spPr>
          <a:xfrm>
            <a:off x="4140961" y="4913986"/>
            <a:ext cx="0" cy="473659"/>
          </a:xfrm>
          <a:prstGeom prst="line">
            <a:avLst/>
          </a:prstGeom>
          <a:noFill/>
          <a:ln w="9525">
            <a:solidFill>
              <a:srgbClr val="DFE6F0"/>
            </a:solidFill>
            <a:prstDash val="solid"/>
          </a:ln>
        </p:spPr>
      </p:sp>
      <p:sp>
        <p:nvSpPr>
          <p:cNvPr id="43" name="[p3] Forma"/>
          <p:cNvSpPr/>
          <p:nvPr/>
        </p:nvSpPr>
        <p:spPr>
          <a:xfrm>
            <a:off x="4268977" y="4840834"/>
            <a:ext cx="3717740" cy="619963"/>
          </a:xfrm>
          <a:prstGeom prst="rect">
            <a:avLst/>
          </a:prstGeom>
          <a:noFill/>
          <a:ln/>
        </p:spPr>
        <p:txBody>
          <a:bodyPr wrap="square" lIns="0" tIns="0" rIns="0" bIns="0" rtlCol="0" anchor="ctr">
            <a:normAutofit/>
          </a:bodyPr>
          <a:lstStyle/>
          <a:p>
            <a:pPr algn="l" indent="0" marL="0">
              <a:buNone/>
            </a:pPr>
            <a:r>
              <a:rPr lang="en-US" sz="1300" dirty="0">
                <a:solidFill>
                  <a:srgbClr val="0B1A3C"/>
                </a:solidFill>
                <a:latin typeface="Segoe UI" pitchFamily="34" charset="0"/>
                <a:ea typeface="Segoe UI" pitchFamily="34" charset="-122"/>
                <a:cs typeface="Segoe UI" pitchFamily="34" charset="-120"/>
              </a:rPr>
              <a:t>El mismo número en el log de la aplicación, del procedimiento y del otro sistema</a:t>
            </a:r>
            <a:endParaRPr lang="en-US" sz="1300" dirty="0"/>
          </a:p>
        </p:txBody>
      </p:sp>
      <p:sp>
        <p:nvSpPr>
          <p:cNvPr id="44" name="[p3] Forma"/>
          <p:cNvSpPr/>
          <p:nvPr/>
        </p:nvSpPr>
        <p:spPr>
          <a:xfrm>
            <a:off x="8114733" y="4913986"/>
            <a:ext cx="0" cy="473659"/>
          </a:xfrm>
          <a:prstGeom prst="line">
            <a:avLst/>
          </a:prstGeom>
          <a:noFill/>
          <a:ln w="9525">
            <a:solidFill>
              <a:srgbClr val="DFE6F0"/>
            </a:solidFill>
            <a:prstDash val="solid"/>
          </a:ln>
        </p:spPr>
      </p:sp>
      <p:sp>
        <p:nvSpPr>
          <p:cNvPr id="45" name="[p3] Forma"/>
          <p:cNvSpPr/>
          <p:nvPr/>
        </p:nvSpPr>
        <p:spPr>
          <a:xfrm>
            <a:off x="8242749" y="4840834"/>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Horas buscando un error entre sistemas</a:t>
            </a:r>
            <a:endParaRPr lang="en-US" sz="1400" dirty="0"/>
          </a:p>
        </p:txBody>
      </p:sp>
      <p:sp>
        <p:nvSpPr>
          <p:cNvPr id="46" name="[p4] Forma"/>
          <p:cNvSpPr/>
          <p:nvPr/>
        </p:nvSpPr>
        <p:spPr>
          <a:xfrm>
            <a:off x="612648" y="5625389"/>
            <a:ext cx="10966399" cy="729691"/>
          </a:xfrm>
          <a:prstGeom prst="roundRect">
            <a:avLst>
              <a:gd name="adj" fmla="val 17544"/>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47" name="[p4] Forma"/>
          <p:cNvSpPr/>
          <p:nvPr/>
        </p:nvSpPr>
        <p:spPr>
          <a:xfrm>
            <a:off x="612648" y="5716829"/>
            <a:ext cx="64008" cy="546811"/>
          </a:xfrm>
          <a:prstGeom prst="rect">
            <a:avLst/>
          </a:prstGeom>
          <a:solidFill>
            <a:srgbClr val="0A6648"/>
          </a:solidFill>
          <a:ln w="12700">
            <a:solidFill>
              <a:srgbClr val="0A6648"/>
            </a:solidFill>
            <a:prstDash val="solid"/>
          </a:ln>
        </p:spPr>
      </p:sp>
      <p:sp>
        <p:nvSpPr>
          <p:cNvPr id="48" name="[p4] Forma"/>
          <p:cNvSpPr/>
          <p:nvPr/>
        </p:nvSpPr>
        <p:spPr>
          <a:xfrm>
            <a:off x="772668" y="5734202"/>
            <a:ext cx="512064" cy="512064"/>
          </a:xfrm>
          <a:prstGeom prst="ellipse">
            <a:avLst/>
          </a:prstGeom>
          <a:solidFill>
            <a:srgbClr val="E1F1EA"/>
          </a:solidFill>
          <a:ln w="12700">
            <a:solidFill>
              <a:srgbClr val="E1F1EA"/>
            </a:solidFill>
            <a:prstDash val="solid"/>
          </a:ln>
        </p:spPr>
      </p:sp>
      <p:sp>
        <p:nvSpPr>
          <p:cNvPr id="49" name="[p4] Icono container"/>
          <p:cNvSpPr/>
          <p:nvPr/>
        </p:nvSpPr>
        <p:spPr>
          <a:xfrm>
            <a:off x="895563" y="5857098"/>
            <a:ext cx="266273" cy="266273"/>
          </a:xfrm>
          <a:custGeom>
            <a:avLst/>
            <a:gdLst/>
            <a:ahLst/>
            <a:cxnLst/>
            <a:rect l="l" t="t" r="r" b="b"/>
            <a:pathLst>
              <a:path w="266273" h="266273">
                <a:moveTo>
                  <a:pt x="244084" y="85429"/>
                </a:moveTo>
                <a:cubicBezTo>
                  <a:pt x="244084" y="78773"/>
                  <a:pt x="239646" y="72116"/>
                  <a:pt x="235208" y="68787"/>
                </a:cubicBezTo>
                <a:lnTo>
                  <a:pt x="165311" y="25518"/>
                </a:lnTo>
                <a:cubicBezTo>
                  <a:pt x="159464" y="22194"/>
                  <a:pt x="152298" y="22194"/>
                  <a:pt x="146450" y="25518"/>
                </a:cubicBezTo>
                <a:lnTo>
                  <a:pt x="32175" y="92086"/>
                </a:lnTo>
                <a:cubicBezTo>
                  <a:pt x="26627" y="94305"/>
                  <a:pt x="22189" y="100962"/>
                  <a:pt x="22189" y="107619"/>
                </a:cubicBezTo>
                <a:lnTo>
                  <a:pt x="22189" y="180844"/>
                </a:lnTo>
                <a:cubicBezTo>
                  <a:pt x="22189" y="186391"/>
                  <a:pt x="26627" y="194158"/>
                  <a:pt x="31065" y="197486"/>
                </a:cubicBezTo>
                <a:lnTo>
                  <a:pt x="100962" y="240755"/>
                </a:lnTo>
                <a:cubicBezTo>
                  <a:pt x="106810" y="244080"/>
                  <a:pt x="113975" y="244080"/>
                  <a:pt x="119823" y="240755"/>
                </a:cubicBezTo>
                <a:lnTo>
                  <a:pt x="234099" y="174187"/>
                </a:lnTo>
                <a:cubicBezTo>
                  <a:pt x="239646" y="170859"/>
                  <a:pt x="244084" y="163092"/>
                  <a:pt x="244084" y="157545"/>
                </a:cubicBezTo>
                <a:close/>
                <a:moveTo>
                  <a:pt x="110947" y="242974"/>
                </a:moveTo>
                <a:lnTo>
                  <a:pt x="110947" y="155326"/>
                </a:lnTo>
                <a:lnTo>
                  <a:pt x="23299" y="100962"/>
                </a:lnTo>
                <a:moveTo>
                  <a:pt x="110947" y="155326"/>
                </a:moveTo>
                <a:lnTo>
                  <a:pt x="242974" y="78773"/>
                </a:lnTo>
                <a:moveTo>
                  <a:pt x="155326" y="219675"/>
                </a:moveTo>
                <a:lnTo>
                  <a:pt x="155326" y="129808"/>
                </a:lnTo>
                <a:moveTo>
                  <a:pt x="199705" y="194158"/>
                </a:moveTo>
                <a:lnTo>
                  <a:pt x="199705" y="104290"/>
                </a:lnTo>
              </a:path>
            </a:pathLst>
          </a:custGeom>
          <a:noFill/>
          <a:ln w="22189" cap="rnd">
            <a:solidFill>
              <a:srgbClr val="0A6648"/>
            </a:solidFill>
            <a:prstDash val="solid"/>
            <a:round/>
          </a:ln>
        </p:spPr>
      </p:sp>
      <p:sp>
        <p:nvSpPr>
          <p:cNvPr id="50" name="[p4] Forma"/>
          <p:cNvSpPr/>
          <p:nvPr/>
        </p:nvSpPr>
        <p:spPr>
          <a:xfrm>
            <a:off x="1517904" y="5680253"/>
            <a:ext cx="2495041" cy="619963"/>
          </a:xfrm>
          <a:prstGeom prst="rect">
            <a:avLst/>
          </a:prstGeom>
          <a:noFill/>
          <a:ln/>
        </p:spPr>
        <p:txBody>
          <a:bodyPr wrap="square" lIns="0" tIns="0" rIns="0" bIns="0" rtlCol="0" anchor="ctr">
            <a:normAutofit/>
          </a:bodyPr>
          <a:lstStyle/>
          <a:p>
            <a:pPr algn="l" indent="0" marL="0">
              <a:buNone/>
            </a:pPr>
            <a:r>
              <a:rPr lang="en-US" sz="1500" b="1" dirty="0">
                <a:solidFill>
                  <a:srgbClr val="0A6648"/>
                </a:solidFill>
                <a:latin typeface="Segoe UI Semibold" pitchFamily="34" charset="0"/>
                <a:ea typeface="Segoe UI Semibold" pitchFamily="34" charset="-122"/>
                <a:cs typeface="Segoe UI Semibold" pitchFamily="34" charset="-120"/>
              </a:rPr>
              <a:t>El mismo paquete en todos los ambientes</a:t>
            </a:r>
            <a:endParaRPr lang="en-US" sz="1500" dirty="0"/>
          </a:p>
        </p:txBody>
      </p:sp>
      <p:sp>
        <p:nvSpPr>
          <p:cNvPr id="51" name="[p4] Forma"/>
          <p:cNvSpPr/>
          <p:nvPr/>
        </p:nvSpPr>
        <p:spPr>
          <a:xfrm>
            <a:off x="4140961" y="5753405"/>
            <a:ext cx="0" cy="473659"/>
          </a:xfrm>
          <a:prstGeom prst="line">
            <a:avLst/>
          </a:prstGeom>
          <a:noFill/>
          <a:ln w="9525">
            <a:solidFill>
              <a:srgbClr val="DFE6F0"/>
            </a:solidFill>
            <a:prstDash val="solid"/>
          </a:ln>
        </p:spPr>
      </p:sp>
      <p:sp>
        <p:nvSpPr>
          <p:cNvPr id="52" name="[p4] Forma"/>
          <p:cNvSpPr/>
          <p:nvPr/>
        </p:nvSpPr>
        <p:spPr>
          <a:xfrm>
            <a:off x="4268977" y="5680253"/>
            <a:ext cx="3717740"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Contenedores para aplicaciones y bases de prueba</a:t>
            </a:r>
            <a:endParaRPr lang="en-US" sz="1400" dirty="0"/>
          </a:p>
        </p:txBody>
      </p:sp>
      <p:sp>
        <p:nvSpPr>
          <p:cNvPr id="53" name="[p4] Forma"/>
          <p:cNvSpPr/>
          <p:nvPr/>
        </p:nvSpPr>
        <p:spPr>
          <a:xfrm>
            <a:off x="8114733" y="5753405"/>
            <a:ext cx="0" cy="473659"/>
          </a:xfrm>
          <a:prstGeom prst="line">
            <a:avLst/>
          </a:prstGeom>
          <a:noFill/>
          <a:ln w="9525">
            <a:solidFill>
              <a:srgbClr val="DFE6F0"/>
            </a:solidFill>
            <a:prstDash val="solid"/>
          </a:ln>
        </p:spPr>
      </p:sp>
      <p:sp>
        <p:nvSpPr>
          <p:cNvPr id="54" name="[p4] Forma"/>
          <p:cNvSpPr/>
          <p:nvPr/>
        </p:nvSpPr>
        <p:spPr>
          <a:xfrm>
            <a:off x="8242749" y="5680253"/>
            <a:ext cx="3208282" cy="619963"/>
          </a:xfrm>
          <a:prstGeom prst="rect">
            <a:avLst/>
          </a:prstGeom>
          <a:noFill/>
          <a:ln/>
        </p:spPr>
        <p:txBody>
          <a:bodyPr wrap="square" lIns="0" tIns="0" rIns="0" bIns="0" rtlCol="0" anchor="ctr">
            <a:normAutofit/>
          </a:bodyPr>
          <a:lstStyle/>
          <a:p>
            <a:pPr algn="l" indent="0" marL="0">
              <a:buNone/>
            </a:pPr>
            <a:r>
              <a:rPr lang="en-US" sz="1400" dirty="0">
                <a:solidFill>
                  <a:srgbClr val="0B1A3C"/>
                </a:solidFill>
                <a:latin typeface="Segoe UI" pitchFamily="34" charset="0"/>
                <a:ea typeface="Segoe UI" pitchFamily="34" charset="-122"/>
                <a:cs typeface="Segoe UI" pitchFamily="34" charset="-120"/>
              </a:rPr>
              <a:t>El clásico “en mi máquina funciona”</a:t>
            </a:r>
            <a:endParaRPr lang="en-US" sz="1400" dirty="0"/>
          </a:p>
        </p:txBody>
      </p:sp>
      <p:sp>
        <p:nvSpPr>
          <p:cNvPr id="55" name="Text 5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56"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400"/>
                                        <p:tgtEl>
                                          <p:spTgt spid="3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40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00"/>
                                        <p:tgtEl>
                                          <p:spTgt spid="36"/>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400"/>
                                        <p:tgtEl>
                                          <p:spTgt spid="3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400"/>
                                        <p:tgtEl>
                                          <p:spTgt spid="3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4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400"/>
                                        <p:tgtEl>
                                          <p:spTgt spid="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400"/>
                                        <p:tgtEl>
                                          <p:spTgt spid="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400"/>
                                        <p:tgtEl>
                                          <p:spTgt spid="4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400"/>
                                        <p:tgtEl>
                                          <p:spTgt spid="4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400"/>
                                        <p:tgtEl>
                                          <p:spTgt spid="4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400"/>
                                        <p:tgtEl>
                                          <p:spTgt spid="45"/>
                                        </p:tgtEl>
                                      </p:cBhvr>
                                    </p:animEffect>
                                  </p:childTnLst>
                                </p:cTn>
                              </p:par>
                            </p:childTnLst>
                          </p:cTn>
                        </p:par>
                      </p:childTnLst>
                    </p:cTn>
                  </p:par>
                  <p:par>
                    <p:cTn id="117" fill="hold">
                      <p:stCondLst>
                        <p:cond delay="indefinite"/>
                      </p:stCondLst>
                      <p:childTnLst>
                        <p:par>
                          <p:cTn id="118"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400"/>
                                        <p:tgtEl>
                                          <p:spTgt spid="4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400"/>
                                        <p:tgtEl>
                                          <p:spTgt spid="4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4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4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4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4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400"/>
                                        <p:tgtEl>
                                          <p:spTgt spid="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VALOR Y 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nos llevamos</a:t>
            </a:r>
            <a:endParaRPr lang="en-US" sz="2800" dirty="0"/>
          </a:p>
        </p:txBody>
      </p:sp>
      <p:sp>
        <p:nvSpPr>
          <p:cNvPr id="5" name="Shape 3"/>
          <p:cNvSpPr/>
          <p:nvPr/>
        </p:nvSpPr>
        <p:spPr>
          <a:xfrm>
            <a:off x="612648" y="1371600"/>
            <a:ext cx="2971800" cy="4983480"/>
          </a:xfrm>
          <a:prstGeom prst="roundRect">
            <a:avLst>
              <a:gd name="adj" fmla="val 4923"/>
            </a:avLst>
          </a:prstGeom>
          <a:solidFill>
            <a:srgbClr val="0B1F3A"/>
          </a:solidFill>
          <a:ln w="12700">
            <a:solidFill>
              <a:srgbClr val="0B1F3A"/>
            </a:solidFill>
            <a:prstDash val="solid"/>
          </a:ln>
          <a:effectLst>
            <a:outerShdw sx="100000" sy="100000" kx="0" ky="0" algn="bl" rotWithShape="0" blurRad="76200" dist="19050" dir="5400000">
              <a:srgbClr val="0B1F3A">
                <a:alpha val="14000"/>
              </a:srgbClr>
            </a:outerShdw>
          </a:effectLst>
        </p:spPr>
      </p:sp>
      <p:sp>
        <p:nvSpPr>
          <p:cNvPr id="6" name="Shape 4"/>
          <p:cNvSpPr/>
          <p:nvPr/>
        </p:nvSpPr>
        <p:spPr>
          <a:xfrm>
            <a:off x="886968" y="1645920"/>
            <a:ext cx="713232" cy="713232"/>
          </a:xfrm>
          <a:prstGeom prst="ellipse">
            <a:avLst/>
          </a:prstGeom>
          <a:solidFill>
            <a:srgbClr val="2BA6CB"/>
          </a:solidFill>
          <a:ln w="12700">
            <a:solidFill>
              <a:srgbClr val="2BA6CB"/>
            </a:solidFill>
            <a:prstDash val="solid"/>
          </a:ln>
        </p:spPr>
      </p:sp>
      <p:sp>
        <p:nvSpPr>
          <p:cNvPr id="7" name="Icono graduation-cap"/>
          <p:cNvSpPr/>
          <p:nvPr/>
        </p:nvSpPr>
        <p:spPr>
          <a:xfrm>
            <a:off x="1058144" y="1817096"/>
            <a:ext cx="370881" cy="370881"/>
          </a:xfrm>
          <a:custGeom>
            <a:avLst/>
            <a:gdLst/>
            <a:ahLst/>
            <a:cxnLst/>
            <a:rect l="l" t="t" r="r" b="b"/>
            <a:pathLst>
              <a:path w="370881" h="370881">
                <a:moveTo>
                  <a:pt x="331011" y="168782"/>
                </a:moveTo>
                <a:cubicBezTo>
                  <a:pt x="336666" y="166287"/>
                  <a:pt x="340290" y="160663"/>
                  <a:pt x="340226" y="154483"/>
                </a:cubicBezTo>
                <a:cubicBezTo>
                  <a:pt x="340162" y="148303"/>
                  <a:pt x="336422" y="142755"/>
                  <a:pt x="330717" y="140378"/>
                </a:cubicBezTo>
                <a:lnTo>
                  <a:pt x="198267" y="80048"/>
                </a:lnTo>
                <a:cubicBezTo>
                  <a:pt x="190120" y="76332"/>
                  <a:pt x="180761" y="76332"/>
                  <a:pt x="172614" y="80048"/>
                </a:cubicBezTo>
                <a:lnTo>
                  <a:pt x="40179" y="140317"/>
                </a:lnTo>
                <a:cubicBezTo>
                  <a:pt x="34557" y="142779"/>
                  <a:pt x="30925" y="148334"/>
                  <a:pt x="30925" y="154472"/>
                </a:cubicBezTo>
                <a:cubicBezTo>
                  <a:pt x="30925" y="160609"/>
                  <a:pt x="34557" y="166165"/>
                  <a:pt x="40179" y="168627"/>
                </a:cubicBezTo>
                <a:lnTo>
                  <a:pt x="172614" y="229019"/>
                </a:lnTo>
                <a:cubicBezTo>
                  <a:pt x="180761" y="232735"/>
                  <a:pt x="190120" y="232735"/>
                  <a:pt x="198267" y="229019"/>
                </a:cubicBezTo>
                <a:close/>
                <a:moveTo>
                  <a:pt x="339974" y="154534"/>
                </a:moveTo>
                <a:lnTo>
                  <a:pt x="339974" y="247254"/>
                </a:lnTo>
                <a:moveTo>
                  <a:pt x="92720" y="193167"/>
                </a:moveTo>
                <a:lnTo>
                  <a:pt x="92720" y="247254"/>
                </a:lnTo>
                <a:cubicBezTo>
                  <a:pt x="92720" y="272858"/>
                  <a:pt x="134232" y="293614"/>
                  <a:pt x="185440" y="293614"/>
                </a:cubicBezTo>
                <a:cubicBezTo>
                  <a:pt x="236648" y="293614"/>
                  <a:pt x="278160" y="272858"/>
                  <a:pt x="278160" y="247254"/>
                </a:cubicBezTo>
                <a:lnTo>
                  <a:pt x="278160" y="193167"/>
                </a:lnTo>
              </a:path>
            </a:pathLst>
          </a:custGeom>
          <a:noFill/>
          <a:ln w="30907" cap="rnd">
            <a:solidFill>
              <a:srgbClr val="0B1F3A"/>
            </a:solidFill>
            <a:prstDash val="solid"/>
            <a:round/>
          </a:ln>
        </p:spPr>
      </p:sp>
      <p:sp>
        <p:nvSpPr>
          <p:cNvPr id="8" name="Text 6"/>
          <p:cNvSpPr/>
          <p:nvPr/>
        </p:nvSpPr>
        <p:spPr>
          <a:xfrm>
            <a:off x="886968" y="2487168"/>
            <a:ext cx="2514600" cy="274320"/>
          </a:xfrm>
          <a:prstGeom prst="rect">
            <a:avLst/>
          </a:prstGeom>
          <a:noFill/>
          <a:ln/>
        </p:spPr>
        <p:txBody>
          <a:bodyPr wrap="square" lIns="0" tIns="0" rIns="0" bIns="0" rtlCol="0" anchor="t">
            <a:normAutofit/>
          </a:bodyPr>
          <a:lstStyle/>
          <a:p>
            <a:pPr algn="l" indent="0" marL="0">
              <a:buNone/>
            </a:pPr>
            <a:r>
              <a:rPr lang="en-US" sz="1100" b="1" dirty="0">
                <a:solidFill>
                  <a:srgbClr val="2BA6CB"/>
                </a:solidFill>
                <a:latin typeface="Segoe UI" pitchFamily="34" charset="0"/>
                <a:ea typeface="Segoe UI" pitchFamily="34" charset="-122"/>
                <a:cs typeface="Segoe UI" pitchFamily="34" charset="-120"/>
              </a:rPr>
              <a:t>LO QUE APRENDIMOS</a:t>
            </a:r>
            <a:endParaRPr lang="en-US" sz="1100" dirty="0"/>
          </a:p>
        </p:txBody>
      </p:sp>
      <p:sp>
        <p:nvSpPr>
          <p:cNvPr id="9" name="Text 7"/>
          <p:cNvSpPr/>
          <p:nvPr/>
        </p:nvSpPr>
        <p:spPr>
          <a:xfrm>
            <a:off x="886968" y="287121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0</a:t>
            </a:r>
            <a:endParaRPr lang="en-US" sz="4700" dirty="0"/>
          </a:p>
        </p:txBody>
      </p:sp>
      <p:sp>
        <p:nvSpPr>
          <p:cNvPr id="10" name="Text 8"/>
          <p:cNvSpPr/>
          <p:nvPr/>
        </p:nvSpPr>
        <p:spPr>
          <a:xfrm>
            <a:off x="886968" y="362305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avisos perdidos o duplicados</a:t>
            </a:r>
            <a:endParaRPr lang="en-US" sz="1300" dirty="0"/>
          </a:p>
        </p:txBody>
      </p:sp>
      <p:sp>
        <p:nvSpPr>
          <p:cNvPr id="11" name="Shape 9"/>
          <p:cNvSpPr/>
          <p:nvPr/>
        </p:nvSpPr>
        <p:spPr>
          <a:xfrm>
            <a:off x="886968" y="4489704"/>
            <a:ext cx="2423160" cy="0"/>
          </a:xfrm>
          <a:prstGeom prst="line">
            <a:avLst/>
          </a:prstGeom>
          <a:noFill/>
          <a:ln w="9525">
            <a:solidFill>
              <a:srgbClr val="3C4C61"/>
            </a:solidFill>
            <a:prstDash val="solid"/>
          </a:ln>
        </p:spPr>
      </p:sp>
      <p:sp>
        <p:nvSpPr>
          <p:cNvPr id="12" name="Text 10"/>
          <p:cNvSpPr/>
          <p:nvPr/>
        </p:nvSpPr>
        <p:spPr>
          <a:xfrm>
            <a:off x="886968" y="4562856"/>
            <a:ext cx="2514600" cy="733552"/>
          </a:xfrm>
          <a:prstGeom prst="rect">
            <a:avLst/>
          </a:prstGeom>
          <a:noFill/>
          <a:ln/>
        </p:spPr>
        <p:txBody>
          <a:bodyPr wrap="square" lIns="0" tIns="0" rIns="0" bIns="0" rtlCol="0" anchor="ctr">
            <a:normAutofit/>
          </a:bodyPr>
          <a:lstStyle/>
          <a:p>
            <a:pPr algn="l" indent="0" marL="0">
              <a:buNone/>
            </a:pPr>
            <a:r>
              <a:rPr lang="en-US" sz="4700" b="1" dirty="0">
                <a:solidFill>
                  <a:srgbClr val="FFFFFF"/>
                </a:solidFill>
                <a:latin typeface="Segoe UI Semibold" pitchFamily="34" charset="0"/>
                <a:ea typeface="Segoe UI Semibold" pitchFamily="34" charset="-122"/>
                <a:cs typeface="Segoe UI Semibold" pitchFamily="34" charset="-120"/>
              </a:rPr>
              <a:t>1</a:t>
            </a:r>
            <a:endParaRPr lang="en-US" sz="4700" dirty="0"/>
          </a:p>
        </p:txBody>
      </p:sp>
      <p:sp>
        <p:nvSpPr>
          <p:cNvPr id="13" name="Text 11"/>
          <p:cNvSpPr/>
          <p:nvPr/>
        </p:nvSpPr>
        <p:spPr>
          <a:xfrm>
            <a:off x="886968" y="5314696"/>
            <a:ext cx="2514600" cy="848360"/>
          </a:xfrm>
          <a:prstGeom prst="rect">
            <a:avLst/>
          </a:prstGeom>
          <a:noFill/>
          <a:ln/>
        </p:spPr>
        <p:txBody>
          <a:bodyPr wrap="square" lIns="0" tIns="0" rIns="0" bIns="0" rtlCol="0" anchor="t">
            <a:normAutofit/>
          </a:bodyPr>
          <a:lstStyle/>
          <a:p>
            <a:pPr algn="l" indent="0" marL="0">
              <a:buNone/>
            </a:pPr>
            <a:r>
              <a:rPr lang="en-US" sz="1300" dirty="0">
                <a:solidFill>
                  <a:srgbClr val="9FBEE0"/>
                </a:solidFill>
                <a:latin typeface="Segoe UI" pitchFamily="34" charset="0"/>
                <a:ea typeface="Segoe UI" pitchFamily="34" charset="-122"/>
                <a:cs typeface="Segoe UI" pitchFamily="34" charset="-120"/>
              </a:rPr>
              <a:t>comando para levantar todo</a:t>
            </a:r>
            <a:endParaRPr lang="en-US" sz="1300" dirty="0"/>
          </a:p>
        </p:txBody>
      </p:sp>
      <p:sp>
        <p:nvSpPr>
          <p:cNvPr id="14" name="[p1] Forma"/>
          <p:cNvSpPr/>
          <p:nvPr/>
        </p:nvSpPr>
        <p:spPr>
          <a:xfrm>
            <a:off x="3858768" y="137160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15" name="[p1] Forma"/>
          <p:cNvSpPr/>
          <p:nvPr/>
        </p:nvSpPr>
        <p:spPr>
          <a:xfrm>
            <a:off x="4087368" y="1784604"/>
            <a:ext cx="713232" cy="713232"/>
          </a:xfrm>
          <a:prstGeom prst="ellipse">
            <a:avLst/>
          </a:prstGeom>
          <a:solidFill>
            <a:srgbClr val="E8EEF8"/>
          </a:solidFill>
          <a:ln w="12700">
            <a:solidFill>
              <a:srgbClr val="E8EEF8"/>
            </a:solidFill>
            <a:prstDash val="solid"/>
          </a:ln>
        </p:spPr>
      </p:sp>
      <p:sp>
        <p:nvSpPr>
          <p:cNvPr id="16" name="[p1] Icono siren"/>
          <p:cNvSpPr/>
          <p:nvPr/>
        </p:nvSpPr>
        <p:spPr>
          <a:xfrm>
            <a:off x="4258544" y="1955780"/>
            <a:ext cx="370881" cy="370881"/>
          </a:xfrm>
          <a:custGeom>
            <a:avLst/>
            <a:gdLst/>
            <a:ahLst/>
            <a:cxnLst/>
            <a:rect l="l" t="t" r="r" b="b"/>
            <a:pathLst>
              <a:path w="370881" h="370881">
                <a:moveTo>
                  <a:pt x="108174" y="278160"/>
                </a:moveTo>
                <a:lnTo>
                  <a:pt x="108174" y="185440"/>
                </a:lnTo>
                <a:cubicBezTo>
                  <a:pt x="108174" y="142767"/>
                  <a:pt x="142767" y="108174"/>
                  <a:pt x="185440" y="108174"/>
                </a:cubicBezTo>
                <a:cubicBezTo>
                  <a:pt x="228114" y="108174"/>
                  <a:pt x="262707" y="142767"/>
                  <a:pt x="262707" y="185440"/>
                </a:cubicBezTo>
                <a:lnTo>
                  <a:pt x="262707" y="278160"/>
                </a:lnTo>
                <a:moveTo>
                  <a:pt x="77267" y="324521"/>
                </a:moveTo>
                <a:cubicBezTo>
                  <a:pt x="77267" y="333055"/>
                  <a:pt x="84186" y="339974"/>
                  <a:pt x="92720" y="339974"/>
                </a:cubicBezTo>
                <a:lnTo>
                  <a:pt x="278160" y="339974"/>
                </a:lnTo>
                <a:cubicBezTo>
                  <a:pt x="286695" y="339974"/>
                  <a:pt x="293614" y="333055"/>
                  <a:pt x="293614" y="324521"/>
                </a:cubicBezTo>
                <a:lnTo>
                  <a:pt x="293614" y="309067"/>
                </a:lnTo>
                <a:cubicBezTo>
                  <a:pt x="293614" y="291998"/>
                  <a:pt x="279776" y="278160"/>
                  <a:pt x="262707" y="278160"/>
                </a:cubicBezTo>
                <a:lnTo>
                  <a:pt x="108174" y="278160"/>
                </a:lnTo>
                <a:cubicBezTo>
                  <a:pt x="91104" y="278160"/>
                  <a:pt x="77267" y="291998"/>
                  <a:pt x="77267" y="309067"/>
                </a:cubicBezTo>
                <a:close/>
                <a:moveTo>
                  <a:pt x="324521" y="185440"/>
                </a:moveTo>
                <a:lnTo>
                  <a:pt x="339974" y="185440"/>
                </a:lnTo>
                <a:moveTo>
                  <a:pt x="285887" y="69540"/>
                </a:moveTo>
                <a:lnTo>
                  <a:pt x="278160" y="77267"/>
                </a:lnTo>
                <a:moveTo>
                  <a:pt x="30907" y="185440"/>
                </a:moveTo>
                <a:lnTo>
                  <a:pt x="46360" y="185440"/>
                </a:lnTo>
                <a:moveTo>
                  <a:pt x="185440" y="30907"/>
                </a:moveTo>
                <a:lnTo>
                  <a:pt x="185440" y="46360"/>
                </a:lnTo>
                <a:moveTo>
                  <a:pt x="76170" y="76170"/>
                </a:moveTo>
                <a:lnTo>
                  <a:pt x="87095" y="87095"/>
                </a:lnTo>
                <a:moveTo>
                  <a:pt x="185440" y="185440"/>
                </a:moveTo>
                <a:lnTo>
                  <a:pt x="185440" y="278160"/>
                </a:lnTo>
              </a:path>
            </a:pathLst>
          </a:custGeom>
          <a:noFill/>
          <a:ln w="30907" cap="rnd">
            <a:solidFill>
              <a:srgbClr val="0B2350"/>
            </a:solidFill>
            <a:prstDash val="solid"/>
            <a:round/>
          </a:ln>
        </p:spPr>
      </p:sp>
      <p:sp>
        <p:nvSpPr>
          <p:cNvPr id="17" name="[p1] Forma"/>
          <p:cNvSpPr/>
          <p:nvPr/>
        </p:nvSpPr>
        <p:spPr>
          <a:xfrm>
            <a:off x="5029200" y="149961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Diseñar para la falla</a:t>
            </a:r>
            <a:endParaRPr lang="en-US" sz="1700" dirty="0"/>
          </a:p>
        </p:txBody>
      </p:sp>
      <p:sp>
        <p:nvSpPr>
          <p:cNvPr id="18" name="[p1] Forma"/>
          <p:cNvSpPr/>
          <p:nvPr/>
        </p:nvSpPr>
        <p:spPr>
          <a:xfrm>
            <a:off x="5029200" y="218267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Guardar primero, reintentar e ignorar duplicados.</a:t>
            </a:r>
            <a:endParaRPr lang="en-US" sz="1300" dirty="0"/>
          </a:p>
        </p:txBody>
      </p:sp>
      <p:sp>
        <p:nvSpPr>
          <p:cNvPr id="19" name="[p1] Forma"/>
          <p:cNvSpPr/>
          <p:nvPr/>
        </p:nvSpPr>
        <p:spPr>
          <a:xfrm>
            <a:off x="8490936" y="1481328"/>
            <a:ext cx="2978384" cy="1319784"/>
          </a:xfrm>
          <a:prstGeom prst="roundRect">
            <a:avLst>
              <a:gd name="adj" fmla="val 6928"/>
            </a:avLst>
          </a:prstGeom>
          <a:solidFill>
            <a:srgbClr val="E1F1EA"/>
          </a:solidFill>
          <a:ln w="12700">
            <a:solidFill>
              <a:srgbClr val="E1F1EA"/>
            </a:solidFill>
            <a:prstDash val="solid"/>
          </a:ln>
        </p:spPr>
      </p:sp>
      <p:sp>
        <p:nvSpPr>
          <p:cNvPr id="20" name="[p1] Icono target"/>
          <p:cNvSpPr/>
          <p:nvPr/>
        </p:nvSpPr>
        <p:spPr>
          <a:xfrm>
            <a:off x="8637240" y="159105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21" name="[p1] Forma"/>
          <p:cNvSpPr/>
          <p:nvPr/>
        </p:nvSpPr>
        <p:spPr>
          <a:xfrm>
            <a:off x="8948136" y="157276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22" name="[p1] Forma"/>
          <p:cNvSpPr/>
          <p:nvPr/>
        </p:nvSpPr>
        <p:spPr>
          <a:xfrm>
            <a:off x="8637240" y="186537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Sistemas que se recuperan solos.</a:t>
            </a:r>
            <a:endParaRPr lang="en-US" sz="1350" dirty="0"/>
          </a:p>
        </p:txBody>
      </p:sp>
      <p:sp>
        <p:nvSpPr>
          <p:cNvPr id="23" name="[p2] Forma"/>
          <p:cNvSpPr/>
          <p:nvPr/>
        </p:nvSpPr>
        <p:spPr>
          <a:xfrm>
            <a:off x="3858768" y="309372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24" name="[p2] Forma"/>
          <p:cNvSpPr/>
          <p:nvPr/>
        </p:nvSpPr>
        <p:spPr>
          <a:xfrm>
            <a:off x="4087368" y="3506724"/>
            <a:ext cx="713232" cy="713232"/>
          </a:xfrm>
          <a:prstGeom prst="ellipse">
            <a:avLst/>
          </a:prstGeom>
          <a:solidFill>
            <a:srgbClr val="E8EEF8"/>
          </a:solidFill>
          <a:ln w="12700">
            <a:solidFill>
              <a:srgbClr val="E8EEF8"/>
            </a:solidFill>
            <a:prstDash val="solid"/>
          </a:ln>
        </p:spPr>
      </p:sp>
      <p:sp>
        <p:nvSpPr>
          <p:cNvPr id="25" name="[p2] Icono workflow"/>
          <p:cNvSpPr/>
          <p:nvPr/>
        </p:nvSpPr>
        <p:spPr>
          <a:xfrm>
            <a:off x="4258544" y="3677900"/>
            <a:ext cx="370881" cy="370881"/>
          </a:xfrm>
          <a:custGeom>
            <a:avLst/>
            <a:gdLst/>
            <a:ahLst/>
            <a:cxnLst/>
            <a:rect l="l" t="t" r="r" b="b"/>
            <a:pathLst>
              <a:path w="370881" h="370881">
                <a:moveTo>
                  <a:pt x="77267" y="46360"/>
                </a:moveTo>
                <a:lnTo>
                  <a:pt x="139080" y="46360"/>
                </a:lnTo>
                <a:cubicBezTo>
                  <a:pt x="156150" y="46360"/>
                  <a:pt x="169987" y="60197"/>
                  <a:pt x="169987" y="77267"/>
                </a:cubicBezTo>
                <a:lnTo>
                  <a:pt x="169987" y="139080"/>
                </a:lnTo>
                <a:cubicBezTo>
                  <a:pt x="169987" y="156150"/>
                  <a:pt x="156150" y="169987"/>
                  <a:pt x="139080" y="169987"/>
                </a:cubicBezTo>
                <a:lnTo>
                  <a:pt x="77267" y="169987"/>
                </a:lnTo>
                <a:cubicBezTo>
                  <a:pt x="60197" y="169987"/>
                  <a:pt x="46360" y="156150"/>
                  <a:pt x="46360" y="139080"/>
                </a:cubicBezTo>
                <a:lnTo>
                  <a:pt x="46360" y="77267"/>
                </a:lnTo>
                <a:cubicBezTo>
                  <a:pt x="46360" y="60197"/>
                  <a:pt x="60197" y="46360"/>
                  <a:pt x="77267" y="46360"/>
                </a:cubicBezTo>
                <a:close/>
                <a:moveTo>
                  <a:pt x="108174" y="169987"/>
                </a:moveTo>
                <a:lnTo>
                  <a:pt x="108174" y="231800"/>
                </a:lnTo>
                <a:cubicBezTo>
                  <a:pt x="108174" y="248870"/>
                  <a:pt x="122011" y="262707"/>
                  <a:pt x="139080" y="262707"/>
                </a:cubicBezTo>
                <a:lnTo>
                  <a:pt x="200894" y="262707"/>
                </a:lnTo>
                <a:moveTo>
                  <a:pt x="231800" y="200894"/>
                </a:moveTo>
                <a:lnTo>
                  <a:pt x="293614" y="200894"/>
                </a:lnTo>
                <a:cubicBezTo>
                  <a:pt x="310683" y="200894"/>
                  <a:pt x="324521" y="214731"/>
                  <a:pt x="324521" y="231800"/>
                </a:cubicBezTo>
                <a:lnTo>
                  <a:pt x="324521" y="293614"/>
                </a:lnTo>
                <a:cubicBezTo>
                  <a:pt x="324521" y="310683"/>
                  <a:pt x="310683" y="324521"/>
                  <a:pt x="293614" y="324521"/>
                </a:cubicBezTo>
                <a:lnTo>
                  <a:pt x="231800" y="324521"/>
                </a:lnTo>
                <a:cubicBezTo>
                  <a:pt x="214731" y="324521"/>
                  <a:pt x="200894" y="310683"/>
                  <a:pt x="200894" y="293614"/>
                </a:cubicBezTo>
                <a:lnTo>
                  <a:pt x="200894" y="231800"/>
                </a:lnTo>
                <a:cubicBezTo>
                  <a:pt x="200894" y="214731"/>
                  <a:pt x="214731" y="200894"/>
                  <a:pt x="231800" y="200894"/>
                </a:cubicBezTo>
                <a:close/>
              </a:path>
            </a:pathLst>
          </a:custGeom>
          <a:noFill/>
          <a:ln w="30907" cap="rnd">
            <a:solidFill>
              <a:srgbClr val="0B2350"/>
            </a:solidFill>
            <a:prstDash val="solid"/>
            <a:round/>
          </a:ln>
        </p:spPr>
      </p:sp>
      <p:sp>
        <p:nvSpPr>
          <p:cNvPr id="26" name="[p2] Forma"/>
          <p:cNvSpPr/>
          <p:nvPr/>
        </p:nvSpPr>
        <p:spPr>
          <a:xfrm>
            <a:off x="5029200" y="322173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Automatizar la confianza</a:t>
            </a:r>
            <a:endParaRPr lang="en-US" sz="1700" dirty="0"/>
          </a:p>
        </p:txBody>
      </p:sp>
      <p:sp>
        <p:nvSpPr>
          <p:cNvPr id="27" name="[p2] Forma"/>
          <p:cNvSpPr/>
          <p:nvPr/>
        </p:nvSpPr>
        <p:spPr>
          <a:xfrm>
            <a:off x="5029200" y="390479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Pruebas, pipeline, imágenes y estado declarado.</a:t>
            </a:r>
            <a:endParaRPr lang="en-US" sz="1300" dirty="0"/>
          </a:p>
        </p:txBody>
      </p:sp>
      <p:sp>
        <p:nvSpPr>
          <p:cNvPr id="28" name="[p2] Forma"/>
          <p:cNvSpPr/>
          <p:nvPr/>
        </p:nvSpPr>
        <p:spPr>
          <a:xfrm>
            <a:off x="8490936" y="3203448"/>
            <a:ext cx="2978384" cy="1319784"/>
          </a:xfrm>
          <a:prstGeom prst="roundRect">
            <a:avLst>
              <a:gd name="adj" fmla="val 6928"/>
            </a:avLst>
          </a:prstGeom>
          <a:solidFill>
            <a:srgbClr val="E1F1EA"/>
          </a:solidFill>
          <a:ln w="12700">
            <a:solidFill>
              <a:srgbClr val="E1F1EA"/>
            </a:solidFill>
            <a:prstDash val="solid"/>
          </a:ln>
        </p:spPr>
      </p:sp>
      <p:sp>
        <p:nvSpPr>
          <p:cNvPr id="29" name="[p2] Icono target"/>
          <p:cNvSpPr/>
          <p:nvPr/>
        </p:nvSpPr>
        <p:spPr>
          <a:xfrm>
            <a:off x="8637240" y="331317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0" name="[p2] Forma"/>
          <p:cNvSpPr/>
          <p:nvPr/>
        </p:nvSpPr>
        <p:spPr>
          <a:xfrm>
            <a:off x="8948136" y="329488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31" name="[p2] Forma"/>
          <p:cNvSpPr/>
          <p:nvPr/>
        </p:nvSpPr>
        <p:spPr>
          <a:xfrm>
            <a:off x="8637240" y="358749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Cambiar rápido sin miedo a romper.</a:t>
            </a:r>
            <a:endParaRPr lang="en-US" sz="1350" dirty="0"/>
          </a:p>
        </p:txBody>
      </p:sp>
      <p:sp>
        <p:nvSpPr>
          <p:cNvPr id="32" name="[p3] Forma"/>
          <p:cNvSpPr/>
          <p:nvPr/>
        </p:nvSpPr>
        <p:spPr>
          <a:xfrm>
            <a:off x="3858768" y="4815840"/>
            <a:ext cx="7720279" cy="1539240"/>
          </a:xfrm>
          <a:prstGeom prst="roundRect">
            <a:avLst>
              <a:gd name="adj" fmla="val 8317"/>
            </a:avLst>
          </a:prstGeom>
          <a:solidFill>
            <a:srgbClr val="FFFFFF"/>
          </a:solidFill>
          <a:ln w="12700">
            <a:solidFill>
              <a:srgbClr val="DFE6F0"/>
            </a:solidFill>
            <a:prstDash val="solid"/>
          </a:ln>
          <a:effectLst>
            <a:outerShdw sx="100000" sy="100000" kx="0" ky="0" algn="bl" rotWithShape="0" blurRad="76200" dist="19050" dir="5400000">
              <a:srgbClr val="0B1F3A">
                <a:alpha val="14000"/>
              </a:srgbClr>
            </a:outerShdw>
          </a:effectLst>
        </p:spPr>
      </p:sp>
      <p:sp>
        <p:nvSpPr>
          <p:cNvPr id="33" name="[p3] Forma"/>
          <p:cNvSpPr/>
          <p:nvPr/>
        </p:nvSpPr>
        <p:spPr>
          <a:xfrm>
            <a:off x="4087368" y="5228844"/>
            <a:ext cx="713232" cy="713232"/>
          </a:xfrm>
          <a:prstGeom prst="ellipse">
            <a:avLst/>
          </a:prstGeom>
          <a:solidFill>
            <a:srgbClr val="E8EEF8"/>
          </a:solidFill>
          <a:ln w="12700">
            <a:solidFill>
              <a:srgbClr val="E8EEF8"/>
            </a:solidFill>
            <a:prstDash val="solid"/>
          </a:ln>
        </p:spPr>
      </p:sp>
      <p:sp>
        <p:nvSpPr>
          <p:cNvPr id="34" name="[p3] Icono eye"/>
          <p:cNvSpPr/>
          <p:nvPr/>
        </p:nvSpPr>
        <p:spPr>
          <a:xfrm>
            <a:off x="4258544" y="5400020"/>
            <a:ext cx="370881" cy="370881"/>
          </a:xfrm>
          <a:custGeom>
            <a:avLst/>
            <a:gdLst/>
            <a:ahLst/>
            <a:cxnLst/>
            <a:rect l="l" t="t" r="r" b="b"/>
            <a:pathLst>
              <a:path w="370881" h="370881">
                <a:moveTo>
                  <a:pt x="31865" y="190818"/>
                </a:moveTo>
                <a:cubicBezTo>
                  <a:pt x="30577" y="187349"/>
                  <a:pt x="30577" y="183532"/>
                  <a:pt x="31865" y="180063"/>
                </a:cubicBezTo>
                <a:cubicBezTo>
                  <a:pt x="57518" y="117861"/>
                  <a:pt x="118157" y="77276"/>
                  <a:pt x="185440" y="77276"/>
                </a:cubicBezTo>
                <a:cubicBezTo>
                  <a:pt x="252724" y="77276"/>
                  <a:pt x="313363" y="117861"/>
                  <a:pt x="339016" y="180063"/>
                </a:cubicBezTo>
                <a:cubicBezTo>
                  <a:pt x="340304" y="183532"/>
                  <a:pt x="340304" y="187349"/>
                  <a:pt x="339016" y="190818"/>
                </a:cubicBezTo>
                <a:cubicBezTo>
                  <a:pt x="313363" y="253019"/>
                  <a:pt x="252724" y="293604"/>
                  <a:pt x="185440" y="293604"/>
                </a:cubicBezTo>
                <a:cubicBezTo>
                  <a:pt x="118157" y="293604"/>
                  <a:pt x="57518" y="253019"/>
                  <a:pt x="31865" y="190818"/>
                </a:cubicBezTo>
                <a:moveTo>
                  <a:pt x="231800" y="185440"/>
                </a:moveTo>
                <a:cubicBezTo>
                  <a:pt x="231800" y="211044"/>
                  <a:pt x="211044" y="231800"/>
                  <a:pt x="185440" y="231800"/>
                </a:cubicBezTo>
                <a:cubicBezTo>
                  <a:pt x="159836" y="231800"/>
                  <a:pt x="139080" y="211044"/>
                  <a:pt x="139080" y="185440"/>
                </a:cubicBezTo>
                <a:cubicBezTo>
                  <a:pt x="139080" y="159836"/>
                  <a:pt x="159836" y="139080"/>
                  <a:pt x="185440" y="139080"/>
                </a:cubicBezTo>
                <a:cubicBezTo>
                  <a:pt x="211044" y="139080"/>
                  <a:pt x="231800" y="159836"/>
                  <a:pt x="231800" y="185440"/>
                </a:cubicBezTo>
                <a:close/>
              </a:path>
            </a:pathLst>
          </a:custGeom>
          <a:noFill/>
          <a:ln w="30907" cap="rnd">
            <a:solidFill>
              <a:srgbClr val="0B2350"/>
            </a:solidFill>
            <a:prstDash val="solid"/>
            <a:round/>
          </a:ln>
        </p:spPr>
      </p:sp>
      <p:sp>
        <p:nvSpPr>
          <p:cNvPr id="35" name="[p3] Forma"/>
          <p:cNvSpPr/>
          <p:nvPr/>
        </p:nvSpPr>
        <p:spPr>
          <a:xfrm>
            <a:off x="5029200" y="4943856"/>
            <a:ext cx="3233136" cy="646481"/>
          </a:xfrm>
          <a:prstGeom prst="rect">
            <a:avLst/>
          </a:prstGeom>
          <a:noFill/>
          <a:ln/>
        </p:spPr>
        <p:txBody>
          <a:bodyPr wrap="square" lIns="0" tIns="0" rIns="0" bIns="0" rtlCol="0" anchor="b">
            <a:normAutofit/>
          </a:bodyPr>
          <a:lstStyle/>
          <a:p>
            <a:pPr algn="l" indent="0" marL="0">
              <a:buNone/>
            </a:pPr>
            <a:r>
              <a:rPr lang="en-US" sz="1700" b="1" dirty="0">
                <a:solidFill>
                  <a:srgbClr val="0B2350"/>
                </a:solidFill>
                <a:latin typeface="Segoe UI Semibold" pitchFamily="34" charset="0"/>
                <a:ea typeface="Segoe UI Semibold" pitchFamily="34" charset="-122"/>
                <a:cs typeface="Segoe UI Semibold" pitchFamily="34" charset="-120"/>
              </a:rPr>
              <a:t>Hacer visible el sistema</a:t>
            </a:r>
            <a:endParaRPr lang="en-US" sz="1700" dirty="0"/>
          </a:p>
        </p:txBody>
      </p:sp>
      <p:sp>
        <p:nvSpPr>
          <p:cNvPr id="36" name="[p3] Forma"/>
          <p:cNvSpPr/>
          <p:nvPr/>
        </p:nvSpPr>
        <p:spPr>
          <a:xfrm>
            <a:off x="5029200" y="5626913"/>
            <a:ext cx="3233136" cy="618439"/>
          </a:xfrm>
          <a:prstGeom prst="rect">
            <a:avLst/>
          </a:prstGeom>
          <a:noFill/>
          <a:ln/>
        </p:spPr>
        <p:txBody>
          <a:bodyPr wrap="square" lIns="0" tIns="0" rIns="0" bIns="0" rtlCol="0" anchor="t">
            <a:normAutofit/>
          </a:bodyPr>
          <a:lstStyle/>
          <a:p>
            <a:pPr algn="l" indent="0" marL="0">
              <a:buNone/>
            </a:pPr>
            <a:r>
              <a:rPr lang="en-US" sz="1300" dirty="0">
                <a:solidFill>
                  <a:srgbClr val="55627E"/>
                </a:solidFill>
                <a:latin typeface="Segoe UI" pitchFamily="34" charset="0"/>
                <a:ea typeface="Segoe UI" pitchFamily="34" charset="-122"/>
                <a:cs typeface="Segoe UI" pitchFamily="34" charset="-120"/>
              </a:rPr>
              <a:t>Logs, trazas, salud, Swagger y la UI.</a:t>
            </a:r>
            <a:endParaRPr lang="en-US" sz="1300" dirty="0"/>
          </a:p>
        </p:txBody>
      </p:sp>
      <p:sp>
        <p:nvSpPr>
          <p:cNvPr id="37" name="[p3] Forma"/>
          <p:cNvSpPr/>
          <p:nvPr/>
        </p:nvSpPr>
        <p:spPr>
          <a:xfrm>
            <a:off x="8490936" y="4925568"/>
            <a:ext cx="2978384" cy="1319784"/>
          </a:xfrm>
          <a:prstGeom prst="roundRect">
            <a:avLst>
              <a:gd name="adj" fmla="val 6928"/>
            </a:avLst>
          </a:prstGeom>
          <a:solidFill>
            <a:srgbClr val="E1F1EA"/>
          </a:solidFill>
          <a:ln w="12700">
            <a:solidFill>
              <a:srgbClr val="E1F1EA"/>
            </a:solidFill>
            <a:prstDash val="solid"/>
          </a:ln>
        </p:spPr>
      </p:sp>
      <p:sp>
        <p:nvSpPr>
          <p:cNvPr id="38" name="[p3] Icono target"/>
          <p:cNvSpPr/>
          <p:nvPr/>
        </p:nvSpPr>
        <p:spPr>
          <a:xfrm>
            <a:off x="8637240" y="5035296"/>
            <a:ext cx="237744" cy="237744"/>
          </a:xfrm>
          <a:custGeom>
            <a:avLst/>
            <a:gdLst/>
            <a:ahLst/>
            <a:cxnLst/>
            <a:rect l="l" t="t" r="r" b="b"/>
            <a:pathLst>
              <a:path w="237744" h="237744">
                <a:moveTo>
                  <a:pt x="217932" y="118872"/>
                </a:moveTo>
                <a:cubicBezTo>
                  <a:pt x="217932" y="173581"/>
                  <a:pt x="173581" y="217932"/>
                  <a:pt x="118872" y="217932"/>
                </a:cubicBezTo>
                <a:cubicBezTo>
                  <a:pt x="64163" y="217932"/>
                  <a:pt x="19812" y="173581"/>
                  <a:pt x="19812" y="118872"/>
                </a:cubicBezTo>
                <a:cubicBezTo>
                  <a:pt x="19812" y="64163"/>
                  <a:pt x="64163" y="19812"/>
                  <a:pt x="118872" y="19812"/>
                </a:cubicBezTo>
                <a:cubicBezTo>
                  <a:pt x="173581" y="19812"/>
                  <a:pt x="217932" y="64163"/>
                  <a:pt x="217932" y="118872"/>
                </a:cubicBezTo>
                <a:close/>
                <a:moveTo>
                  <a:pt x="178308" y="118872"/>
                </a:moveTo>
                <a:cubicBezTo>
                  <a:pt x="178308" y="151698"/>
                  <a:pt x="151698" y="178308"/>
                  <a:pt x="118872" y="178308"/>
                </a:cubicBezTo>
                <a:cubicBezTo>
                  <a:pt x="86046" y="178308"/>
                  <a:pt x="59436" y="151698"/>
                  <a:pt x="59436" y="118872"/>
                </a:cubicBezTo>
                <a:cubicBezTo>
                  <a:pt x="59436" y="86046"/>
                  <a:pt x="86046" y="59436"/>
                  <a:pt x="118872" y="59436"/>
                </a:cubicBezTo>
                <a:cubicBezTo>
                  <a:pt x="151698" y="59436"/>
                  <a:pt x="178308" y="86046"/>
                  <a:pt x="178308" y="118872"/>
                </a:cubicBezTo>
                <a:close/>
                <a:moveTo>
                  <a:pt x="138684" y="118872"/>
                </a:moveTo>
                <a:cubicBezTo>
                  <a:pt x="138684" y="129814"/>
                  <a:pt x="129814" y="138684"/>
                  <a:pt x="118872" y="138684"/>
                </a:cubicBezTo>
                <a:cubicBezTo>
                  <a:pt x="107930" y="138684"/>
                  <a:pt x="99060" y="129814"/>
                  <a:pt x="99060" y="118872"/>
                </a:cubicBezTo>
                <a:cubicBezTo>
                  <a:pt x="99060" y="107930"/>
                  <a:pt x="107930" y="99060"/>
                  <a:pt x="118872" y="99060"/>
                </a:cubicBezTo>
                <a:cubicBezTo>
                  <a:pt x="129814" y="99060"/>
                  <a:pt x="138684" y="107930"/>
                  <a:pt x="138684" y="118872"/>
                </a:cubicBezTo>
                <a:close/>
              </a:path>
            </a:pathLst>
          </a:custGeom>
          <a:noFill/>
          <a:ln w="19812" cap="rnd">
            <a:solidFill>
              <a:srgbClr val="0A6648"/>
            </a:solidFill>
            <a:prstDash val="solid"/>
            <a:round/>
          </a:ln>
        </p:spPr>
      </p:sp>
      <p:sp>
        <p:nvSpPr>
          <p:cNvPr id="39" name="[p3] Forma"/>
          <p:cNvSpPr/>
          <p:nvPr/>
        </p:nvSpPr>
        <p:spPr>
          <a:xfrm>
            <a:off x="8948136" y="5017008"/>
            <a:ext cx="1371600" cy="256032"/>
          </a:xfrm>
          <a:prstGeom prst="rect">
            <a:avLst/>
          </a:prstGeom>
          <a:noFill/>
          <a:ln/>
        </p:spPr>
        <p:txBody>
          <a:bodyPr wrap="square" lIns="0" tIns="0" rIns="0" bIns="0" rtlCol="0" anchor="t">
            <a:normAutofit/>
          </a:bodyPr>
          <a:lstStyle/>
          <a:p>
            <a:pPr algn="l" indent="0" marL="0">
              <a:buNone/>
            </a:pPr>
            <a:r>
              <a:rPr lang="en-US" sz="1000" b="1" dirty="0">
                <a:solidFill>
                  <a:srgbClr val="0A6648"/>
                </a:solidFill>
                <a:latin typeface="Segoe UI" pitchFamily="34" charset="0"/>
                <a:ea typeface="Segoe UI" pitchFamily="34" charset="-122"/>
                <a:cs typeface="Segoe UI" pitchFamily="34" charset="-120"/>
              </a:rPr>
              <a:t>VALOR</a:t>
            </a:r>
            <a:endParaRPr lang="en-US" sz="1000" dirty="0"/>
          </a:p>
        </p:txBody>
      </p:sp>
      <p:sp>
        <p:nvSpPr>
          <p:cNvPr id="40" name="[p3] Forma"/>
          <p:cNvSpPr/>
          <p:nvPr/>
        </p:nvSpPr>
        <p:spPr>
          <a:xfrm>
            <a:off x="8637240" y="5309616"/>
            <a:ext cx="2685776" cy="862584"/>
          </a:xfrm>
          <a:prstGeom prst="rect">
            <a:avLst/>
          </a:prstGeom>
          <a:noFill/>
          <a:ln/>
        </p:spPr>
        <p:txBody>
          <a:bodyPr wrap="square" lIns="0" tIns="0" rIns="0" bIns="0" rtlCol="0" anchor="ctr">
            <a:normAutofit/>
          </a:bodyPr>
          <a:lstStyle/>
          <a:p>
            <a:pPr algn="l" indent="0" marL="0">
              <a:buNone/>
            </a:pPr>
            <a:r>
              <a:rPr lang="en-US" sz="1350" b="1" dirty="0">
                <a:solidFill>
                  <a:srgbClr val="0B1A3C"/>
                </a:solidFill>
                <a:latin typeface="Segoe UI" pitchFamily="34" charset="0"/>
                <a:ea typeface="Segoe UI" pitchFamily="34" charset="-122"/>
                <a:cs typeface="Segoe UI" pitchFamily="34" charset="-120"/>
              </a:rPr>
              <a:t>Diagnosticar y explicar en minutos.</a:t>
            </a:r>
            <a:endParaRPr lang="en-US" sz="135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VALOR Y CIERRE</a:t>
            </a:r>
            <a:endParaRPr lang="en-US" sz="800" dirty="0"/>
          </a:p>
        </p:txBody>
      </p:sp>
      <p:sp>
        <p:nvSpPr>
          <p:cNvPr id="42"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400"/>
                                        <p:tgtEl>
                                          <p:spTgt spid="22"/>
                                        </p:tgtEl>
                                      </p:cBhvr>
                                    </p:animEffect>
                                  </p:childTnLst>
                                </p:cTn>
                              </p:par>
                            </p:childTnLst>
                          </p:cTn>
                        </p:par>
                      </p:childTnLst>
                    </p:cTn>
                  </p:par>
                  <p:par>
                    <p:cTn id="59" fill="hold">
                      <p:stCondLst>
                        <p:cond delay="indefinite"/>
                      </p:stCondLst>
                      <p:childTnLst>
                        <p:par>
                          <p:cTn id="60"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childTnLst>
                          </p:cTn>
                        </p:par>
                      </p:childTnLst>
                    </p:cTn>
                  </p:par>
                  <p:par>
                    <p:cTn id="88" fill="hold">
                      <p:stCondLst>
                        <p:cond delay="indefinite"/>
                      </p:stCondLst>
                      <p:childTnLst>
                        <p:par>
                          <p:cTn id="89"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400"/>
                                        <p:tgtEl>
                                          <p:spTgt spid="3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00"/>
                                        <p:tgtEl>
                                          <p:spTgt spid="3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6080760" y="749808"/>
            <a:ext cx="5303520" cy="5303520"/>
          </a:xfrm>
          <a:prstGeom prst="ellipse">
            <a:avLst/>
          </a:prstGeom>
          <a:solidFill>
            <a:srgbClr val="0B1F3A">
              <a:alpha val="0"/>
            </a:srgbClr>
          </a:solidFill>
          <a:ln w="9525">
            <a:solidFill>
              <a:srgbClr val="2BA6CB">
                <a:alpha val="18000"/>
              </a:srgbClr>
            </a:solidFill>
            <a:prstDash val="solid"/>
          </a:ln>
        </p:spPr>
      </p:sp>
      <p:sp>
        <p:nvSpPr>
          <p:cNvPr id="4" name="Shape 2"/>
          <p:cNvSpPr/>
          <p:nvPr/>
        </p:nvSpPr>
        <p:spPr>
          <a:xfrm>
            <a:off x="6766560" y="1435608"/>
            <a:ext cx="3931920" cy="3931920"/>
          </a:xfrm>
          <a:prstGeom prst="ellipse">
            <a:avLst/>
          </a:prstGeom>
          <a:solidFill>
            <a:srgbClr val="0B1F3A">
              <a:alpha val="0"/>
            </a:srgbClr>
          </a:solidFill>
          <a:ln w="15875">
            <a:solidFill>
              <a:srgbClr val="2BA6CB">
                <a:alpha val="50000"/>
              </a:srgbClr>
            </a:solidFill>
            <a:prstDash val="dash"/>
          </a:ln>
        </p:spPr>
      </p:sp>
      <p:sp>
        <p:nvSpPr>
          <p:cNvPr id="5" name="Shape 3"/>
          <p:cNvSpPr/>
          <p:nvPr/>
        </p:nvSpPr>
        <p:spPr>
          <a:xfrm>
            <a:off x="7543800" y="2212848"/>
            <a:ext cx="2377440" cy="2377440"/>
          </a:xfrm>
          <a:prstGeom prst="ellipse">
            <a:avLst/>
          </a:prstGeom>
          <a:solidFill>
            <a:srgbClr val="0B1F3A">
              <a:alpha val="0"/>
            </a:srgbClr>
          </a:solidFill>
          <a:ln w="9525">
            <a:solidFill>
              <a:srgbClr val="2BA6CB">
                <a:alpha val="25000"/>
              </a:srgbClr>
            </a:solidFill>
            <a:prstDash val="solid"/>
          </a:ln>
        </p:spPr>
      </p:sp>
      <p:sp>
        <p:nvSpPr>
          <p:cNvPr id="6" name="Shape 4"/>
          <p:cNvSpPr/>
          <p:nvPr/>
        </p:nvSpPr>
        <p:spPr>
          <a:xfrm flipV="1">
            <a:off x="9180576" y="1984078"/>
            <a:ext cx="370332" cy="641434"/>
          </a:xfrm>
          <a:prstGeom prst="line">
            <a:avLst/>
          </a:prstGeom>
          <a:noFill/>
          <a:ln w="12700">
            <a:solidFill>
              <a:srgbClr val="2BA6CB">
                <a:alpha val="40000"/>
              </a:srgbClr>
            </a:solidFill>
            <a:prstDash val="solid"/>
          </a:ln>
        </p:spPr>
      </p:sp>
      <p:sp>
        <p:nvSpPr>
          <p:cNvPr id="7" name="Shape 5"/>
          <p:cNvSpPr/>
          <p:nvPr/>
        </p:nvSpPr>
        <p:spPr>
          <a:xfrm>
            <a:off x="9628632" y="3401568"/>
            <a:ext cx="740664" cy="0"/>
          </a:xfrm>
          <a:prstGeom prst="line">
            <a:avLst/>
          </a:prstGeom>
          <a:noFill/>
          <a:ln w="12700">
            <a:solidFill>
              <a:srgbClr val="2BA6CB">
                <a:alpha val="40000"/>
              </a:srgbClr>
            </a:solidFill>
            <a:prstDash val="solid"/>
          </a:ln>
        </p:spPr>
      </p:sp>
      <p:sp>
        <p:nvSpPr>
          <p:cNvPr id="8" name="Shape 6"/>
          <p:cNvSpPr/>
          <p:nvPr/>
        </p:nvSpPr>
        <p:spPr>
          <a:xfrm>
            <a:off x="9180576" y="4177624"/>
            <a:ext cx="370332" cy="641434"/>
          </a:xfrm>
          <a:prstGeom prst="line">
            <a:avLst/>
          </a:prstGeom>
          <a:noFill/>
          <a:ln w="12700">
            <a:solidFill>
              <a:srgbClr val="2BA6CB">
                <a:alpha val="40000"/>
              </a:srgbClr>
            </a:solidFill>
            <a:prstDash val="solid"/>
          </a:ln>
        </p:spPr>
      </p:sp>
      <p:sp>
        <p:nvSpPr>
          <p:cNvPr id="9" name="Shape 7"/>
          <p:cNvSpPr/>
          <p:nvPr/>
        </p:nvSpPr>
        <p:spPr>
          <a:xfrm flipH="1">
            <a:off x="7914132" y="4177624"/>
            <a:ext cx="370332" cy="641434"/>
          </a:xfrm>
          <a:prstGeom prst="line">
            <a:avLst/>
          </a:prstGeom>
          <a:noFill/>
          <a:ln w="12700">
            <a:solidFill>
              <a:srgbClr val="2BA6CB">
                <a:alpha val="40000"/>
              </a:srgbClr>
            </a:solidFill>
            <a:prstDash val="solid"/>
          </a:ln>
        </p:spPr>
      </p:sp>
      <p:sp>
        <p:nvSpPr>
          <p:cNvPr id="10" name="Shape 8"/>
          <p:cNvSpPr/>
          <p:nvPr/>
        </p:nvSpPr>
        <p:spPr>
          <a:xfrm flipH="1">
            <a:off x="7095744" y="3401568"/>
            <a:ext cx="740664" cy="0"/>
          </a:xfrm>
          <a:prstGeom prst="line">
            <a:avLst/>
          </a:prstGeom>
          <a:noFill/>
          <a:ln w="12700">
            <a:solidFill>
              <a:srgbClr val="2BA6CB">
                <a:alpha val="40000"/>
              </a:srgbClr>
            </a:solidFill>
            <a:prstDash val="solid"/>
          </a:ln>
        </p:spPr>
      </p:sp>
      <p:sp>
        <p:nvSpPr>
          <p:cNvPr id="11" name="Shape 9"/>
          <p:cNvSpPr/>
          <p:nvPr/>
        </p:nvSpPr>
        <p:spPr>
          <a:xfrm flipH="1" flipV="1">
            <a:off x="7914132" y="1984078"/>
            <a:ext cx="370332" cy="641434"/>
          </a:xfrm>
          <a:prstGeom prst="line">
            <a:avLst/>
          </a:prstGeom>
          <a:noFill/>
          <a:ln w="12700">
            <a:solidFill>
              <a:srgbClr val="2BA6CB">
                <a:alpha val="40000"/>
              </a:srgbClr>
            </a:solidFill>
            <a:prstDash val="solid"/>
          </a:ln>
        </p:spPr>
      </p:sp>
      <p:sp>
        <p:nvSpPr>
          <p:cNvPr id="12" name="Shape 10"/>
          <p:cNvSpPr/>
          <p:nvPr/>
        </p:nvSpPr>
        <p:spPr>
          <a:xfrm>
            <a:off x="7744968" y="2414016"/>
            <a:ext cx="1975104" cy="1975104"/>
          </a:xfrm>
          <a:prstGeom prst="ellipse">
            <a:avLst/>
          </a:prstGeom>
          <a:solidFill>
            <a:srgbClr val="2BA6CB">
              <a:alpha val="15000"/>
            </a:srgbClr>
          </a:solidFill>
          <a:ln w="9525">
            <a:solidFill>
              <a:srgbClr val="2BA6CB">
                <a:alpha val="40000"/>
              </a:srgbClr>
            </a:solidFill>
            <a:prstDash val="solid"/>
          </a:ln>
        </p:spPr>
      </p:sp>
      <p:sp>
        <p:nvSpPr>
          <p:cNvPr id="13" name="Shape 11"/>
          <p:cNvSpPr/>
          <p:nvPr/>
        </p:nvSpPr>
        <p:spPr>
          <a:xfrm>
            <a:off x="7909560" y="2578608"/>
            <a:ext cx="1645920" cy="1645920"/>
          </a:xfrm>
          <a:prstGeom prst="ellipse">
            <a:avLst/>
          </a:prstGeom>
          <a:solidFill>
            <a:srgbClr val="0B2350"/>
          </a:solidFill>
          <a:ln w="25400">
            <a:solidFill>
              <a:srgbClr val="2BA6CB"/>
            </a:solidFill>
            <a:prstDash val="solid"/>
          </a:ln>
          <a:effectLst>
            <a:outerShdw sx="100000" sy="100000" kx="0" ky="0" algn="bl" rotWithShape="0" blurRad="114300" dist="50800" dir="16200000">
              <a:srgbClr val="2BA6CB">
                <a:alpha val="60000"/>
              </a:srgbClr>
            </a:outerShdw>
          </a:effectLst>
        </p:spPr>
      </p:sp>
      <p:sp>
        <p:nvSpPr>
          <p:cNvPr id="14" name="Icono sparkles"/>
          <p:cNvSpPr/>
          <p:nvPr/>
        </p:nvSpPr>
        <p:spPr>
          <a:xfrm>
            <a:off x="8430768" y="2871216"/>
            <a:ext cx="603504" cy="603504"/>
          </a:xfrm>
          <a:custGeom>
            <a:avLst/>
            <a:gdLst/>
            <a:ahLst/>
            <a:cxnLst/>
            <a:rect l="l" t="t" r="r" b="b"/>
            <a:pathLst>
              <a:path w="603504" h="603504">
                <a:moveTo>
                  <a:pt x="249876" y="389763"/>
                </a:moveTo>
                <a:cubicBezTo>
                  <a:pt x="245304" y="372040"/>
                  <a:pt x="231464" y="358200"/>
                  <a:pt x="213741" y="353628"/>
                </a:cubicBezTo>
                <a:lnTo>
                  <a:pt x="59470" y="313847"/>
                </a:lnTo>
                <a:cubicBezTo>
                  <a:pt x="54062" y="312312"/>
                  <a:pt x="50330" y="307374"/>
                  <a:pt x="50330" y="301752"/>
                </a:cubicBezTo>
                <a:cubicBezTo>
                  <a:pt x="50330" y="296130"/>
                  <a:pt x="54062" y="291192"/>
                  <a:pt x="59470" y="289657"/>
                </a:cubicBezTo>
                <a:lnTo>
                  <a:pt x="213741" y="249851"/>
                </a:lnTo>
                <a:cubicBezTo>
                  <a:pt x="231457" y="245283"/>
                  <a:pt x="245296" y="231454"/>
                  <a:pt x="249876" y="213741"/>
                </a:cubicBezTo>
                <a:lnTo>
                  <a:pt x="289657" y="59470"/>
                </a:lnTo>
                <a:cubicBezTo>
                  <a:pt x="291176" y="54040"/>
                  <a:pt x="296126" y="50286"/>
                  <a:pt x="301765" y="50286"/>
                </a:cubicBezTo>
                <a:cubicBezTo>
                  <a:pt x="307403" y="50286"/>
                  <a:pt x="312353" y="54040"/>
                  <a:pt x="313872" y="59470"/>
                </a:cubicBezTo>
                <a:lnTo>
                  <a:pt x="353628" y="213741"/>
                </a:lnTo>
                <a:cubicBezTo>
                  <a:pt x="358200" y="231464"/>
                  <a:pt x="372040" y="245304"/>
                  <a:pt x="389763" y="249876"/>
                </a:cubicBezTo>
                <a:lnTo>
                  <a:pt x="544034" y="289632"/>
                </a:lnTo>
                <a:cubicBezTo>
                  <a:pt x="549486" y="291136"/>
                  <a:pt x="553264" y="296096"/>
                  <a:pt x="553264" y="301752"/>
                </a:cubicBezTo>
                <a:cubicBezTo>
                  <a:pt x="553264" y="307408"/>
                  <a:pt x="549486" y="312368"/>
                  <a:pt x="544034" y="313872"/>
                </a:cubicBezTo>
                <a:lnTo>
                  <a:pt x="389763" y="353628"/>
                </a:lnTo>
                <a:cubicBezTo>
                  <a:pt x="372040" y="358200"/>
                  <a:pt x="358200" y="372040"/>
                  <a:pt x="353628" y="389763"/>
                </a:cubicBezTo>
                <a:lnTo>
                  <a:pt x="313847" y="544034"/>
                </a:lnTo>
                <a:cubicBezTo>
                  <a:pt x="312328" y="549464"/>
                  <a:pt x="307378" y="553218"/>
                  <a:pt x="301739" y="553218"/>
                </a:cubicBezTo>
                <a:cubicBezTo>
                  <a:pt x="296101" y="553218"/>
                  <a:pt x="291151" y="549464"/>
                  <a:pt x="289632" y="544034"/>
                </a:cubicBezTo>
                <a:close/>
                <a:moveTo>
                  <a:pt x="502920" y="75438"/>
                </a:moveTo>
                <a:lnTo>
                  <a:pt x="502920" y="176022"/>
                </a:lnTo>
                <a:moveTo>
                  <a:pt x="553212" y="125730"/>
                </a:moveTo>
                <a:lnTo>
                  <a:pt x="452628" y="125730"/>
                </a:lnTo>
                <a:moveTo>
                  <a:pt x="100584" y="427482"/>
                </a:moveTo>
                <a:lnTo>
                  <a:pt x="100584" y="477774"/>
                </a:lnTo>
                <a:moveTo>
                  <a:pt x="125730" y="452628"/>
                </a:moveTo>
                <a:lnTo>
                  <a:pt x="75438" y="452628"/>
                </a:lnTo>
              </a:path>
            </a:pathLst>
          </a:custGeom>
          <a:noFill/>
          <a:ln w="37719" cap="rnd">
            <a:solidFill>
              <a:srgbClr val="2BA6CB"/>
            </a:solidFill>
            <a:prstDash val="solid"/>
            <a:round/>
          </a:ln>
        </p:spPr>
      </p:sp>
      <p:sp>
        <p:nvSpPr>
          <p:cNvPr id="15" name="Text 13"/>
          <p:cNvSpPr/>
          <p:nvPr/>
        </p:nvSpPr>
        <p:spPr>
          <a:xfrm>
            <a:off x="8001000" y="3547872"/>
            <a:ext cx="1463040"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Semibold" pitchFamily="34" charset="0"/>
                <a:ea typeface="Segoe UI Semibold" pitchFamily="34" charset="-122"/>
                <a:cs typeface="Segoe UI Semibold" pitchFamily="34" charset="-120"/>
              </a:rPr>
              <a:t>¿Preguntas?</a:t>
            </a:r>
            <a:endParaRPr lang="en-US" sz="1500" dirty="0"/>
          </a:p>
        </p:txBody>
      </p:sp>
      <p:sp>
        <p:nvSpPr>
          <p:cNvPr id="16" name="Shape 14"/>
          <p:cNvSpPr/>
          <p:nvPr/>
        </p:nvSpPr>
        <p:spPr>
          <a:xfrm>
            <a:off x="9413748" y="1397245"/>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17" name="Icono code"/>
          <p:cNvSpPr/>
          <p:nvPr/>
        </p:nvSpPr>
        <p:spPr>
          <a:xfrm>
            <a:off x="9560052" y="1543549"/>
            <a:ext cx="310896" cy="310896"/>
          </a:xfrm>
          <a:custGeom>
            <a:avLst/>
            <a:gdLst/>
            <a:ahLst/>
            <a:cxnLst/>
            <a:rect l="l" t="t" r="r" b="b"/>
            <a:pathLst>
              <a:path w="310896" h="310896">
                <a:moveTo>
                  <a:pt x="207264" y="233172"/>
                </a:moveTo>
                <a:lnTo>
                  <a:pt x="284988" y="155448"/>
                </a:lnTo>
                <a:lnTo>
                  <a:pt x="207264" y="77724"/>
                </a:lnTo>
                <a:moveTo>
                  <a:pt x="103632" y="77724"/>
                </a:moveTo>
                <a:lnTo>
                  <a:pt x="25908" y="155448"/>
                </a:lnTo>
                <a:lnTo>
                  <a:pt x="103632" y="233172"/>
                </a:lnTo>
              </a:path>
            </a:pathLst>
          </a:custGeom>
          <a:noFill/>
          <a:ln w="25908" cap="rnd">
            <a:solidFill>
              <a:srgbClr val="2BA6CB"/>
            </a:solidFill>
            <a:prstDash val="solid"/>
            <a:round/>
          </a:ln>
        </p:spPr>
      </p:sp>
      <p:sp>
        <p:nvSpPr>
          <p:cNvPr id="18" name="Text 16"/>
          <p:cNvSpPr/>
          <p:nvPr/>
        </p:nvSpPr>
        <p:spPr>
          <a:xfrm>
            <a:off x="9834372" y="1324093"/>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1</a:t>
            </a:r>
            <a:endParaRPr lang="en-US" sz="900" dirty="0"/>
          </a:p>
        </p:txBody>
      </p:sp>
      <p:sp>
        <p:nvSpPr>
          <p:cNvPr id="19" name="Text 17"/>
          <p:cNvSpPr/>
          <p:nvPr/>
        </p:nvSpPr>
        <p:spPr>
          <a:xfrm>
            <a:off x="10108692" y="1552693"/>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Fundamentos</a:t>
            </a:r>
            <a:endParaRPr lang="en-US" sz="1050" dirty="0"/>
          </a:p>
        </p:txBody>
      </p:sp>
      <p:sp>
        <p:nvSpPr>
          <p:cNvPr id="20" name="Shape 18"/>
          <p:cNvSpPr/>
          <p:nvPr/>
        </p:nvSpPr>
        <p:spPr>
          <a:xfrm>
            <a:off x="10396728" y="309981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1" name="Icono network"/>
          <p:cNvSpPr/>
          <p:nvPr/>
        </p:nvSpPr>
        <p:spPr>
          <a:xfrm>
            <a:off x="10543032" y="3246120"/>
            <a:ext cx="310896" cy="310896"/>
          </a:xfrm>
          <a:custGeom>
            <a:avLst/>
            <a:gdLst/>
            <a:ahLst/>
            <a:cxnLst/>
            <a:rect l="l" t="t" r="r" b="b"/>
            <a:pathLst>
              <a:path w="310896" h="310896">
                <a:moveTo>
                  <a:pt x="220218" y="207264"/>
                </a:moveTo>
                <a:lnTo>
                  <a:pt x="272034" y="207264"/>
                </a:lnTo>
                <a:cubicBezTo>
                  <a:pt x="279188" y="207264"/>
                  <a:pt x="284988" y="213064"/>
                  <a:pt x="284988" y="220218"/>
                </a:cubicBezTo>
                <a:lnTo>
                  <a:pt x="284988" y="272034"/>
                </a:lnTo>
                <a:cubicBezTo>
                  <a:pt x="284988" y="279188"/>
                  <a:pt x="279188" y="284988"/>
                  <a:pt x="272034" y="284988"/>
                </a:cubicBezTo>
                <a:lnTo>
                  <a:pt x="220218" y="284988"/>
                </a:lnTo>
                <a:cubicBezTo>
                  <a:pt x="213064" y="284988"/>
                  <a:pt x="207264" y="279188"/>
                  <a:pt x="207264" y="272034"/>
                </a:cubicBezTo>
                <a:lnTo>
                  <a:pt x="207264" y="220218"/>
                </a:lnTo>
                <a:cubicBezTo>
                  <a:pt x="207264" y="213064"/>
                  <a:pt x="213064" y="207264"/>
                  <a:pt x="220218" y="207264"/>
                </a:cubicBezTo>
                <a:close/>
                <a:moveTo>
                  <a:pt x="38862" y="207264"/>
                </a:moveTo>
                <a:lnTo>
                  <a:pt x="90678" y="207264"/>
                </a:lnTo>
                <a:cubicBezTo>
                  <a:pt x="97832" y="207264"/>
                  <a:pt x="103632" y="213064"/>
                  <a:pt x="103632" y="220218"/>
                </a:cubicBezTo>
                <a:lnTo>
                  <a:pt x="103632" y="272034"/>
                </a:lnTo>
                <a:cubicBezTo>
                  <a:pt x="103632" y="279188"/>
                  <a:pt x="97832" y="284988"/>
                  <a:pt x="90678" y="284988"/>
                </a:cubicBezTo>
                <a:lnTo>
                  <a:pt x="38862" y="284988"/>
                </a:lnTo>
                <a:cubicBezTo>
                  <a:pt x="31708" y="284988"/>
                  <a:pt x="25908" y="279188"/>
                  <a:pt x="25908" y="272034"/>
                </a:cubicBezTo>
                <a:lnTo>
                  <a:pt x="25908" y="220218"/>
                </a:lnTo>
                <a:cubicBezTo>
                  <a:pt x="25908" y="213064"/>
                  <a:pt x="31708" y="207264"/>
                  <a:pt x="38862" y="207264"/>
                </a:cubicBezTo>
                <a:close/>
                <a:moveTo>
                  <a:pt x="129540" y="25908"/>
                </a:moveTo>
                <a:lnTo>
                  <a:pt x="181356" y="25908"/>
                </a:lnTo>
                <a:cubicBezTo>
                  <a:pt x="188510" y="25908"/>
                  <a:pt x="194310" y="31708"/>
                  <a:pt x="194310" y="38862"/>
                </a:cubicBezTo>
                <a:lnTo>
                  <a:pt x="194310" y="90678"/>
                </a:lnTo>
                <a:cubicBezTo>
                  <a:pt x="194310" y="97832"/>
                  <a:pt x="188510" y="103632"/>
                  <a:pt x="181356" y="103632"/>
                </a:cubicBezTo>
                <a:lnTo>
                  <a:pt x="129540" y="103632"/>
                </a:lnTo>
                <a:cubicBezTo>
                  <a:pt x="122386" y="103632"/>
                  <a:pt x="116586" y="97832"/>
                  <a:pt x="116586" y="90678"/>
                </a:cubicBezTo>
                <a:lnTo>
                  <a:pt x="116586" y="38862"/>
                </a:lnTo>
                <a:cubicBezTo>
                  <a:pt x="116586" y="31708"/>
                  <a:pt x="122386" y="25908"/>
                  <a:pt x="129540" y="25908"/>
                </a:cubicBezTo>
                <a:close/>
                <a:moveTo>
                  <a:pt x="64770" y="207264"/>
                </a:moveTo>
                <a:lnTo>
                  <a:pt x="64770" y="168402"/>
                </a:lnTo>
                <a:cubicBezTo>
                  <a:pt x="64770" y="161248"/>
                  <a:pt x="70570" y="155448"/>
                  <a:pt x="77724" y="155448"/>
                </a:cubicBezTo>
                <a:lnTo>
                  <a:pt x="233172" y="155448"/>
                </a:lnTo>
                <a:cubicBezTo>
                  <a:pt x="240326" y="155448"/>
                  <a:pt x="246126" y="161248"/>
                  <a:pt x="246126" y="168402"/>
                </a:cubicBezTo>
                <a:lnTo>
                  <a:pt x="246126" y="207264"/>
                </a:lnTo>
                <a:moveTo>
                  <a:pt x="155448" y="155448"/>
                </a:moveTo>
                <a:lnTo>
                  <a:pt x="155448" y="103632"/>
                </a:lnTo>
              </a:path>
            </a:pathLst>
          </a:custGeom>
          <a:noFill/>
          <a:ln w="25908" cap="rnd">
            <a:solidFill>
              <a:srgbClr val="2BA6CB"/>
            </a:solidFill>
            <a:prstDash val="solid"/>
            <a:round/>
          </a:ln>
        </p:spPr>
      </p:sp>
      <p:sp>
        <p:nvSpPr>
          <p:cNvPr id="22" name="Text 20"/>
          <p:cNvSpPr/>
          <p:nvPr/>
        </p:nvSpPr>
        <p:spPr>
          <a:xfrm>
            <a:off x="10817352" y="302666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2</a:t>
            </a:r>
            <a:endParaRPr lang="en-US" sz="900" dirty="0"/>
          </a:p>
        </p:txBody>
      </p:sp>
      <p:sp>
        <p:nvSpPr>
          <p:cNvPr id="23" name="Text 21"/>
          <p:cNvSpPr/>
          <p:nvPr/>
        </p:nvSpPr>
        <p:spPr>
          <a:xfrm>
            <a:off x="10126980" y="3739896"/>
            <a:ext cx="1143000" cy="292608"/>
          </a:xfrm>
          <a:prstGeom prst="rect">
            <a:avLst/>
          </a:prstGeom>
          <a:noFill/>
          <a:ln/>
        </p:spPr>
        <p:txBody>
          <a:bodyPr wrap="square" lIns="0" tIns="0" rIns="0" bIns="0" rtlCol="0" anchor="ctr"/>
          <a:lstStyle/>
          <a:p>
            <a:pPr algn="ctr" indent="0" marL="0">
              <a:buNone/>
            </a:pPr>
            <a:r>
              <a:rPr lang="en-US" sz="1050" b="1" dirty="0">
                <a:solidFill>
                  <a:srgbClr val="E8EDF8"/>
                </a:solidFill>
                <a:latin typeface="Segoe UI" pitchFamily="34" charset="0"/>
                <a:ea typeface="Segoe UI" pitchFamily="34" charset="-122"/>
                <a:cs typeface="Segoe UI" pitchFamily="34" charset="-120"/>
              </a:rPr>
              <a:t>Arquitectura</a:t>
            </a:r>
            <a:endParaRPr lang="en-US" sz="1050" dirty="0"/>
          </a:p>
        </p:txBody>
      </p:sp>
      <p:sp>
        <p:nvSpPr>
          <p:cNvPr id="24" name="Shape 22"/>
          <p:cNvSpPr/>
          <p:nvPr/>
        </p:nvSpPr>
        <p:spPr>
          <a:xfrm>
            <a:off x="9413748" y="480238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5" name="Icono database"/>
          <p:cNvSpPr/>
          <p:nvPr/>
        </p:nvSpPr>
        <p:spPr>
          <a:xfrm>
            <a:off x="9560052" y="4948691"/>
            <a:ext cx="310896" cy="310896"/>
          </a:xfrm>
          <a:custGeom>
            <a:avLst/>
            <a:gdLst/>
            <a:ahLst/>
            <a:cxnLst/>
            <a:rect l="l" t="t" r="r" b="b"/>
            <a:pathLst>
              <a:path w="310896" h="310896">
                <a:moveTo>
                  <a:pt x="272034" y="64770"/>
                </a:moveTo>
                <a:cubicBezTo>
                  <a:pt x="272034" y="86233"/>
                  <a:pt x="219837" y="103632"/>
                  <a:pt x="155448" y="103632"/>
                </a:cubicBezTo>
                <a:cubicBezTo>
                  <a:pt x="91059" y="103632"/>
                  <a:pt x="38862" y="86233"/>
                  <a:pt x="38862" y="64770"/>
                </a:cubicBezTo>
                <a:cubicBezTo>
                  <a:pt x="38862" y="43307"/>
                  <a:pt x="91059" y="25908"/>
                  <a:pt x="155448" y="25908"/>
                </a:cubicBezTo>
                <a:cubicBezTo>
                  <a:pt x="219837" y="25908"/>
                  <a:pt x="272034" y="43307"/>
                  <a:pt x="272034" y="64770"/>
                </a:cubicBezTo>
                <a:close/>
                <a:moveTo>
                  <a:pt x="38862" y="64770"/>
                </a:moveTo>
                <a:lnTo>
                  <a:pt x="38862" y="246126"/>
                </a:lnTo>
                <a:cubicBezTo>
                  <a:pt x="38862" y="267589"/>
                  <a:pt x="91059" y="284988"/>
                  <a:pt x="155448" y="284988"/>
                </a:cubicBezTo>
                <a:cubicBezTo>
                  <a:pt x="219837" y="284988"/>
                  <a:pt x="272034" y="267589"/>
                  <a:pt x="272034" y="246126"/>
                </a:cubicBezTo>
                <a:lnTo>
                  <a:pt x="272034" y="64770"/>
                </a:lnTo>
                <a:moveTo>
                  <a:pt x="38862" y="155448"/>
                </a:moveTo>
                <a:cubicBezTo>
                  <a:pt x="38862" y="176911"/>
                  <a:pt x="91059" y="194310"/>
                  <a:pt x="155448" y="194310"/>
                </a:cubicBezTo>
                <a:cubicBezTo>
                  <a:pt x="219837" y="194310"/>
                  <a:pt x="272034" y="176911"/>
                  <a:pt x="272034" y="155448"/>
                </a:cubicBezTo>
              </a:path>
            </a:pathLst>
          </a:custGeom>
          <a:noFill/>
          <a:ln w="25908" cap="rnd">
            <a:solidFill>
              <a:srgbClr val="2BA6CB"/>
            </a:solidFill>
            <a:prstDash val="solid"/>
            <a:round/>
          </a:ln>
        </p:spPr>
      </p:sp>
      <p:sp>
        <p:nvSpPr>
          <p:cNvPr id="26" name="Text 24"/>
          <p:cNvSpPr/>
          <p:nvPr/>
        </p:nvSpPr>
        <p:spPr>
          <a:xfrm>
            <a:off x="9834372" y="472923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3</a:t>
            </a:r>
            <a:endParaRPr lang="en-US" sz="900" dirty="0"/>
          </a:p>
        </p:txBody>
      </p:sp>
      <p:sp>
        <p:nvSpPr>
          <p:cNvPr id="27" name="Text 25"/>
          <p:cNvSpPr/>
          <p:nvPr/>
        </p:nvSpPr>
        <p:spPr>
          <a:xfrm>
            <a:off x="10108692" y="4957835"/>
            <a:ext cx="1143000" cy="292608"/>
          </a:xfrm>
          <a:prstGeom prst="rect">
            <a:avLst/>
          </a:prstGeom>
          <a:noFill/>
          <a:ln/>
        </p:spPr>
        <p:txBody>
          <a:bodyPr wrap="square" lIns="0" tIns="0" rIns="0" bIns="0" rtlCol="0" anchor="ctr"/>
          <a:lstStyle/>
          <a:p>
            <a:pPr algn="l" indent="0" marL="0">
              <a:buNone/>
            </a:pPr>
            <a:r>
              <a:rPr lang="en-US" sz="1050" b="1" dirty="0">
                <a:solidFill>
                  <a:srgbClr val="E8EDF8"/>
                </a:solidFill>
                <a:latin typeface="Segoe UI" pitchFamily="34" charset="0"/>
                <a:ea typeface="Segoe UI" pitchFamily="34" charset="-122"/>
                <a:cs typeface="Segoe UI" pitchFamily="34" charset="-120"/>
              </a:rPr>
              <a:t>Base de datos</a:t>
            </a:r>
            <a:endParaRPr lang="en-US" sz="1050" dirty="0"/>
          </a:p>
        </p:txBody>
      </p:sp>
      <p:sp>
        <p:nvSpPr>
          <p:cNvPr id="28" name="Shape 26"/>
          <p:cNvSpPr/>
          <p:nvPr/>
        </p:nvSpPr>
        <p:spPr>
          <a:xfrm>
            <a:off x="7447788" y="4802387"/>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29" name="Icono waypoints"/>
          <p:cNvSpPr/>
          <p:nvPr/>
        </p:nvSpPr>
        <p:spPr>
          <a:xfrm>
            <a:off x="7594092" y="4948691"/>
            <a:ext cx="310896" cy="310896"/>
          </a:xfrm>
          <a:custGeom>
            <a:avLst/>
            <a:gdLst/>
            <a:ahLst/>
            <a:cxnLst/>
            <a:rect l="l" t="t" r="r" b="b"/>
            <a:pathLst>
              <a:path w="310896" h="310896">
                <a:moveTo>
                  <a:pt x="187833" y="58293"/>
                </a:moveTo>
                <a:cubicBezTo>
                  <a:pt x="187833" y="76179"/>
                  <a:pt x="173334" y="90678"/>
                  <a:pt x="155448" y="90678"/>
                </a:cubicBezTo>
                <a:cubicBezTo>
                  <a:pt x="137562" y="90678"/>
                  <a:pt x="123063" y="76179"/>
                  <a:pt x="123063" y="58293"/>
                </a:cubicBezTo>
                <a:cubicBezTo>
                  <a:pt x="123063" y="40407"/>
                  <a:pt x="137562" y="25908"/>
                  <a:pt x="155448" y="25908"/>
                </a:cubicBezTo>
                <a:cubicBezTo>
                  <a:pt x="173334" y="25908"/>
                  <a:pt x="187833" y="40407"/>
                  <a:pt x="187833" y="58293"/>
                </a:cubicBezTo>
                <a:close/>
                <a:moveTo>
                  <a:pt x="132131" y="81610"/>
                </a:moveTo>
                <a:lnTo>
                  <a:pt x="81610" y="132131"/>
                </a:lnTo>
                <a:moveTo>
                  <a:pt x="90678" y="155448"/>
                </a:moveTo>
                <a:cubicBezTo>
                  <a:pt x="90678" y="173334"/>
                  <a:pt x="76179" y="187833"/>
                  <a:pt x="58293" y="187833"/>
                </a:cubicBezTo>
                <a:cubicBezTo>
                  <a:pt x="40407" y="187833"/>
                  <a:pt x="25908" y="173334"/>
                  <a:pt x="25908" y="155448"/>
                </a:cubicBezTo>
                <a:cubicBezTo>
                  <a:pt x="25908" y="137562"/>
                  <a:pt x="40407" y="123063"/>
                  <a:pt x="58293" y="123063"/>
                </a:cubicBezTo>
                <a:cubicBezTo>
                  <a:pt x="76179" y="123063"/>
                  <a:pt x="90678" y="137562"/>
                  <a:pt x="90678" y="155448"/>
                </a:cubicBezTo>
                <a:close/>
                <a:moveTo>
                  <a:pt x="90678" y="155448"/>
                </a:moveTo>
                <a:lnTo>
                  <a:pt x="220218" y="155448"/>
                </a:lnTo>
                <a:moveTo>
                  <a:pt x="284988" y="155448"/>
                </a:moveTo>
                <a:cubicBezTo>
                  <a:pt x="284988" y="173334"/>
                  <a:pt x="270489" y="187833"/>
                  <a:pt x="252603" y="187833"/>
                </a:cubicBezTo>
                <a:cubicBezTo>
                  <a:pt x="234717" y="187833"/>
                  <a:pt x="220218" y="173334"/>
                  <a:pt x="220218" y="155448"/>
                </a:cubicBezTo>
                <a:cubicBezTo>
                  <a:pt x="220218" y="137562"/>
                  <a:pt x="234717" y="123063"/>
                  <a:pt x="252603" y="123063"/>
                </a:cubicBezTo>
                <a:cubicBezTo>
                  <a:pt x="270489" y="123063"/>
                  <a:pt x="284988" y="137562"/>
                  <a:pt x="284988" y="155448"/>
                </a:cubicBezTo>
                <a:close/>
                <a:moveTo>
                  <a:pt x="178765" y="229286"/>
                </a:moveTo>
                <a:lnTo>
                  <a:pt x="229286" y="178765"/>
                </a:lnTo>
                <a:moveTo>
                  <a:pt x="187833" y="252603"/>
                </a:moveTo>
                <a:cubicBezTo>
                  <a:pt x="187833" y="270489"/>
                  <a:pt x="173334" y="284988"/>
                  <a:pt x="155448" y="284988"/>
                </a:cubicBezTo>
                <a:cubicBezTo>
                  <a:pt x="137562" y="284988"/>
                  <a:pt x="123063" y="270489"/>
                  <a:pt x="123063" y="252603"/>
                </a:cubicBezTo>
                <a:cubicBezTo>
                  <a:pt x="123063" y="234717"/>
                  <a:pt x="137562" y="220218"/>
                  <a:pt x="155448" y="220218"/>
                </a:cubicBezTo>
                <a:cubicBezTo>
                  <a:pt x="173334" y="220218"/>
                  <a:pt x="187833" y="234717"/>
                  <a:pt x="187833" y="252603"/>
                </a:cubicBezTo>
                <a:close/>
              </a:path>
            </a:pathLst>
          </a:custGeom>
          <a:noFill/>
          <a:ln w="25908" cap="rnd">
            <a:solidFill>
              <a:srgbClr val="2BA6CB"/>
            </a:solidFill>
            <a:prstDash val="solid"/>
            <a:round/>
          </a:ln>
        </p:spPr>
      </p:sp>
      <p:sp>
        <p:nvSpPr>
          <p:cNvPr id="30" name="Text 28"/>
          <p:cNvSpPr/>
          <p:nvPr/>
        </p:nvSpPr>
        <p:spPr>
          <a:xfrm>
            <a:off x="7868412" y="4729235"/>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4</a:t>
            </a:r>
            <a:endParaRPr lang="en-US" sz="900" dirty="0"/>
          </a:p>
        </p:txBody>
      </p:sp>
      <p:sp>
        <p:nvSpPr>
          <p:cNvPr id="31" name="Text 29"/>
          <p:cNvSpPr/>
          <p:nvPr/>
        </p:nvSpPr>
        <p:spPr>
          <a:xfrm>
            <a:off x="6213348" y="4957835"/>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Interconexión</a:t>
            </a:r>
            <a:endParaRPr lang="en-US" sz="1050" dirty="0"/>
          </a:p>
        </p:txBody>
      </p:sp>
      <p:sp>
        <p:nvSpPr>
          <p:cNvPr id="32" name="Shape 30"/>
          <p:cNvSpPr/>
          <p:nvPr/>
        </p:nvSpPr>
        <p:spPr>
          <a:xfrm>
            <a:off x="6464808" y="3099816"/>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3" name="Icono container"/>
          <p:cNvSpPr/>
          <p:nvPr/>
        </p:nvSpPr>
        <p:spPr>
          <a:xfrm>
            <a:off x="6611112" y="3246120"/>
            <a:ext cx="310896" cy="310896"/>
          </a:xfrm>
          <a:custGeom>
            <a:avLst/>
            <a:gdLst/>
            <a:ahLst/>
            <a:cxnLst/>
            <a:rect l="l" t="t" r="r" b="b"/>
            <a:pathLst>
              <a:path w="310896" h="310896">
                <a:moveTo>
                  <a:pt x="284988" y="99746"/>
                </a:moveTo>
                <a:cubicBezTo>
                  <a:pt x="284988" y="91973"/>
                  <a:pt x="279806" y="84201"/>
                  <a:pt x="274625" y="80315"/>
                </a:cubicBezTo>
                <a:lnTo>
                  <a:pt x="193015" y="29794"/>
                </a:lnTo>
                <a:cubicBezTo>
                  <a:pt x="186187" y="25913"/>
                  <a:pt x="177820" y="25913"/>
                  <a:pt x="170993" y="29794"/>
                </a:cubicBezTo>
                <a:lnTo>
                  <a:pt x="37567" y="107518"/>
                </a:lnTo>
                <a:cubicBezTo>
                  <a:pt x="31090" y="110109"/>
                  <a:pt x="25908" y="117881"/>
                  <a:pt x="25908" y="125654"/>
                </a:cubicBezTo>
                <a:lnTo>
                  <a:pt x="25908" y="211150"/>
                </a:lnTo>
                <a:cubicBezTo>
                  <a:pt x="25908" y="217627"/>
                  <a:pt x="31090" y="226695"/>
                  <a:pt x="36271" y="230581"/>
                </a:cubicBezTo>
                <a:lnTo>
                  <a:pt x="117881" y="281102"/>
                </a:lnTo>
                <a:cubicBezTo>
                  <a:pt x="124709" y="284983"/>
                  <a:pt x="133076" y="284983"/>
                  <a:pt x="139903" y="281102"/>
                </a:cubicBezTo>
                <a:lnTo>
                  <a:pt x="273329" y="203378"/>
                </a:lnTo>
                <a:cubicBezTo>
                  <a:pt x="279806" y="199492"/>
                  <a:pt x="284988" y="190424"/>
                  <a:pt x="284988" y="183947"/>
                </a:cubicBezTo>
                <a:close/>
                <a:moveTo>
                  <a:pt x="129540" y="283693"/>
                </a:moveTo>
                <a:lnTo>
                  <a:pt x="129540" y="181356"/>
                </a:lnTo>
                <a:lnTo>
                  <a:pt x="27203" y="117881"/>
                </a:lnTo>
                <a:moveTo>
                  <a:pt x="129540" y="181356"/>
                </a:moveTo>
                <a:lnTo>
                  <a:pt x="283693" y="91973"/>
                </a:lnTo>
                <a:moveTo>
                  <a:pt x="181356" y="256489"/>
                </a:moveTo>
                <a:lnTo>
                  <a:pt x="181356" y="151562"/>
                </a:lnTo>
                <a:moveTo>
                  <a:pt x="233172" y="226695"/>
                </a:moveTo>
                <a:lnTo>
                  <a:pt x="233172" y="121768"/>
                </a:lnTo>
              </a:path>
            </a:pathLst>
          </a:custGeom>
          <a:noFill/>
          <a:ln w="25908" cap="rnd">
            <a:solidFill>
              <a:srgbClr val="2BA6CB"/>
            </a:solidFill>
            <a:prstDash val="solid"/>
            <a:round/>
          </a:ln>
        </p:spPr>
      </p:sp>
      <p:sp>
        <p:nvSpPr>
          <p:cNvPr id="34" name="Text 32"/>
          <p:cNvSpPr/>
          <p:nvPr/>
        </p:nvSpPr>
        <p:spPr>
          <a:xfrm>
            <a:off x="6885432" y="3026664"/>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5</a:t>
            </a:r>
            <a:endParaRPr lang="en-US" sz="900" dirty="0"/>
          </a:p>
        </p:txBody>
      </p:sp>
      <p:sp>
        <p:nvSpPr>
          <p:cNvPr id="35" name="Text 33"/>
          <p:cNvSpPr/>
          <p:nvPr/>
        </p:nvSpPr>
        <p:spPr>
          <a:xfrm>
            <a:off x="5230368" y="3255264"/>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DevOps</a:t>
            </a:r>
            <a:endParaRPr lang="en-US" sz="1050" dirty="0"/>
          </a:p>
        </p:txBody>
      </p:sp>
      <p:sp>
        <p:nvSpPr>
          <p:cNvPr id="36" name="Shape 34"/>
          <p:cNvSpPr/>
          <p:nvPr/>
        </p:nvSpPr>
        <p:spPr>
          <a:xfrm>
            <a:off x="7447788" y="1397245"/>
            <a:ext cx="603504" cy="603504"/>
          </a:xfrm>
          <a:prstGeom prst="ellipse">
            <a:avLst/>
          </a:prstGeom>
          <a:solidFill>
            <a:srgbClr val="0F2F4B"/>
          </a:solidFill>
          <a:ln w="19050">
            <a:solidFill>
              <a:srgbClr val="2BA6CB"/>
            </a:solidFill>
            <a:prstDash val="solid"/>
          </a:ln>
          <a:effectLst>
            <a:outerShdw sx="100000" sy="100000" kx="0" ky="0" algn="bl" rotWithShape="0" blurRad="114300" dist="50800" dir="16200000">
              <a:srgbClr val="2BA6CB">
                <a:alpha val="60000"/>
              </a:srgbClr>
            </a:outerShdw>
          </a:effectLst>
        </p:spPr>
      </p:sp>
      <p:sp>
        <p:nvSpPr>
          <p:cNvPr id="37" name="Icono chart-line"/>
          <p:cNvSpPr/>
          <p:nvPr/>
        </p:nvSpPr>
        <p:spPr>
          <a:xfrm>
            <a:off x="7594092" y="1543549"/>
            <a:ext cx="310896" cy="310896"/>
          </a:xfrm>
          <a:custGeom>
            <a:avLst/>
            <a:gdLst/>
            <a:ahLst/>
            <a:cxnLst/>
            <a:rect l="l" t="t" r="r" b="b"/>
            <a:pathLst>
              <a:path w="310896" h="310896">
                <a:moveTo>
                  <a:pt x="38862" y="38862"/>
                </a:moveTo>
                <a:lnTo>
                  <a:pt x="38862" y="246126"/>
                </a:lnTo>
                <a:cubicBezTo>
                  <a:pt x="38862" y="260435"/>
                  <a:pt x="50461" y="272034"/>
                  <a:pt x="64770" y="272034"/>
                </a:cubicBezTo>
                <a:lnTo>
                  <a:pt x="272034" y="272034"/>
                </a:lnTo>
                <a:moveTo>
                  <a:pt x="246126" y="116586"/>
                </a:moveTo>
                <a:lnTo>
                  <a:pt x="181356" y="181356"/>
                </a:lnTo>
                <a:lnTo>
                  <a:pt x="129540" y="129540"/>
                </a:lnTo>
                <a:lnTo>
                  <a:pt x="90678" y="168402"/>
                </a:lnTo>
              </a:path>
            </a:pathLst>
          </a:custGeom>
          <a:noFill/>
          <a:ln w="25908" cap="rnd">
            <a:solidFill>
              <a:srgbClr val="2BA6CB"/>
            </a:solidFill>
            <a:prstDash val="solid"/>
            <a:round/>
          </a:ln>
        </p:spPr>
      </p:sp>
      <p:sp>
        <p:nvSpPr>
          <p:cNvPr id="38" name="Text 36"/>
          <p:cNvSpPr/>
          <p:nvPr/>
        </p:nvSpPr>
        <p:spPr>
          <a:xfrm>
            <a:off x="7868412" y="1324093"/>
            <a:ext cx="237744" cy="237744"/>
          </a:xfrm>
          <a:prstGeom prst="ellipse">
            <a:avLst/>
          </a:prstGeom>
          <a:solidFill>
            <a:srgbClr val="2BA6CB"/>
          </a:solidFill>
          <a:ln w="12700">
            <a:solidFill>
              <a:srgbClr val="0B1F3A"/>
            </a:solidFill>
          </a:ln>
        </p:spPr>
        <p:txBody>
          <a:bodyPr wrap="square" lIns="0" tIns="0" rIns="0" bIns="0" rtlCol="0" anchor="ctr"/>
          <a:lstStyle/>
          <a:p>
            <a:pPr algn="ctr" indent="0" marL="0">
              <a:buNone/>
            </a:pPr>
            <a:r>
              <a:rPr lang="en-US" sz="900" b="1" dirty="0">
                <a:solidFill>
                  <a:srgbClr val="0B1F3A"/>
                </a:solidFill>
                <a:latin typeface="Segoe UI Semibold" pitchFamily="34" charset="0"/>
                <a:ea typeface="Segoe UI Semibold" pitchFamily="34" charset="-122"/>
                <a:cs typeface="Segoe UI Semibold" pitchFamily="34" charset="-120"/>
              </a:rPr>
              <a:t>6</a:t>
            </a:r>
            <a:endParaRPr lang="en-US" sz="900" dirty="0"/>
          </a:p>
        </p:txBody>
      </p:sp>
      <p:sp>
        <p:nvSpPr>
          <p:cNvPr id="39" name="Text 37"/>
          <p:cNvSpPr/>
          <p:nvPr/>
        </p:nvSpPr>
        <p:spPr>
          <a:xfrm>
            <a:off x="6213348" y="1552693"/>
            <a:ext cx="1143000" cy="292608"/>
          </a:xfrm>
          <a:prstGeom prst="rect">
            <a:avLst/>
          </a:prstGeom>
          <a:noFill/>
          <a:ln/>
        </p:spPr>
        <p:txBody>
          <a:bodyPr wrap="square" lIns="0" tIns="0" rIns="0" bIns="0" rtlCol="0" anchor="ctr"/>
          <a:lstStyle/>
          <a:p>
            <a:pPr algn="r" indent="0" marL="0">
              <a:buNone/>
            </a:pPr>
            <a:r>
              <a:rPr lang="en-US" sz="1050" b="1" dirty="0">
                <a:solidFill>
                  <a:srgbClr val="E8EDF8"/>
                </a:solidFill>
                <a:latin typeface="Segoe UI" pitchFamily="34" charset="0"/>
                <a:ea typeface="Segoe UI" pitchFamily="34" charset="-122"/>
                <a:cs typeface="Segoe UI" pitchFamily="34" charset="-120"/>
              </a:rPr>
              <a:t>Observabilidad</a:t>
            </a:r>
            <a:endParaRPr lang="en-US" sz="1050" dirty="0"/>
          </a:p>
        </p:txBody>
      </p:sp>
      <p:sp>
        <p:nvSpPr>
          <p:cNvPr id="40" name="Shape 38"/>
          <p:cNvSpPr/>
          <p:nvPr/>
        </p:nvSpPr>
        <p:spPr>
          <a:xfrm>
            <a:off x="758952" y="530352"/>
            <a:ext cx="329184" cy="329184"/>
          </a:xfrm>
          <a:prstGeom prst="ellipse">
            <a:avLst/>
          </a:prstGeom>
          <a:solidFill>
            <a:srgbClr val="2BA6CB"/>
          </a:solidFill>
          <a:ln w="12700">
            <a:solidFill>
              <a:srgbClr val="2BA6CB"/>
            </a:solidFill>
            <a:prstDash val="solid"/>
          </a:ln>
        </p:spPr>
      </p:sp>
      <p:sp>
        <p:nvSpPr>
          <p:cNvPr id="41" name="Text 39"/>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42" name="Text 40"/>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43" name="Text 41"/>
          <p:cNvSpPr/>
          <p:nvPr/>
        </p:nvSpPr>
        <p:spPr>
          <a:xfrm>
            <a:off x="758952" y="2011680"/>
            <a:ext cx="5486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44" name="Shape 42"/>
          <p:cNvSpPr/>
          <p:nvPr/>
        </p:nvSpPr>
        <p:spPr>
          <a:xfrm>
            <a:off x="758952" y="3429000"/>
            <a:ext cx="822960" cy="54864"/>
          </a:xfrm>
          <a:prstGeom prst="rect">
            <a:avLst/>
          </a:prstGeom>
          <a:solidFill>
            <a:srgbClr val="2BA6CB"/>
          </a:solidFill>
          <a:ln w="12700">
            <a:solidFill>
              <a:srgbClr val="2BA6CB"/>
            </a:solidFill>
            <a:prstDash val="solid"/>
          </a:ln>
        </p:spPr>
      </p:sp>
      <p:sp>
        <p:nvSpPr>
          <p:cNvPr id="45" name="Text 43"/>
          <p:cNvSpPr/>
          <p:nvPr/>
        </p:nvSpPr>
        <p:spPr>
          <a:xfrm>
            <a:off x="758952" y="3657600"/>
            <a:ext cx="5120640" cy="1280160"/>
          </a:xfrm>
          <a:prstGeom prst="rect">
            <a:avLst/>
          </a:prstGeom>
          <a:noFill/>
          <a:ln/>
        </p:spPr>
        <p:txBody>
          <a:bodyPr wrap="square" lIns="0" tIns="0" rIns="0" bIns="0" rtlCol="0" anchor="t"/>
          <a:lstStyle/>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Equipo arka-litos</a:t>
            </a:r>
            <a:endParaRPr lang="en-US" sz="2000" dirty="0"/>
          </a:p>
          <a:p>
            <a:pPr indent="0" marL="0">
              <a:spcAft>
                <a:spcPts val="600"/>
              </a:spcAft>
              <a:buNone/>
            </a:pPr>
            <a:r>
              <a:rPr lang="en-US" sz="2000" dirty="0">
                <a:solidFill>
                  <a:srgbClr val="9FBEE0"/>
                </a:solidFill>
                <a:latin typeface="Segoe UI" pitchFamily="34" charset="0"/>
                <a:ea typeface="Segoe UI" pitchFamily="34" charset="-122"/>
                <a:cs typeface="Segoe UI" pitchFamily="34" charset="-120"/>
              </a:rPr>
              <a:t>Proyecto final · Upskilling Backend Java</a:t>
            </a:r>
            <a:endParaRPr lang="en-US" sz="2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Ejecutivo sin demostración</dc:title>
  <dc:subject>Proyecto final de Upskilling Backend Java</dc:subject>
  <dc:creator>Upskilling Backend Java</dc:creator>
  <cp:lastModifiedBy>Upskilling Backend Java</cp:lastModifiedBy>
  <cp:revision>1</cp:revision>
  <dcterms:created xsi:type="dcterms:W3CDTF">2026-10-29T11:33:52Z</dcterms:created>
  <dcterms:modified xsi:type="dcterms:W3CDTF">2026-10-29T11:33:52Z</dcterms:modified>
</cp:coreProperties>
</file>